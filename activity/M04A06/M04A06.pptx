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85" r:id="rId2"/>
    <p:sldId id="318" r:id="rId3"/>
    <p:sldId id="336" r:id="rId4"/>
    <p:sldId id="337" r:id="rId5"/>
    <p:sldId id="338" r:id="rId6"/>
    <p:sldId id="340" r:id="rId7"/>
    <p:sldId id="341" r:id="rId8"/>
    <p:sldId id="339" r:id="rId9"/>
    <p:sldId id="342" r:id="rId10"/>
    <p:sldId id="343" r:id="rId11"/>
    <p:sldId id="344" r:id="rId12"/>
    <p:sldId id="345" r:id="rId13"/>
    <p:sldId id="346" r:id="rId14"/>
    <p:sldId id="347" r:id="rId15"/>
    <p:sldId id="348" r:id="rId16"/>
    <p:sldId id="349" r:id="rId17"/>
    <p:sldId id="350" r:id="rId18"/>
    <p:sldId id="387" r:id="rId19"/>
    <p:sldId id="384" r:id="rId2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4A4A"/>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416" autoAdjust="0"/>
  </p:normalViewPr>
  <p:slideViewPr>
    <p:cSldViewPr>
      <p:cViewPr varScale="1">
        <p:scale>
          <a:sx n="119" d="100"/>
          <a:sy n="119" d="100"/>
        </p:scale>
        <p:origin x="132" y="132"/>
      </p:cViewPr>
      <p:guideLst>
        <p:guide orient="horz" pos="2160"/>
        <p:guide pos="3840"/>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63D59B85-3E0F-46BB-BCE5-17E4A9AD5FF3}"/>
    <pc:docChg chg="custSel modSld">
      <pc:chgData name="WILLIAM RICARDO AGUILAR PIÑA" userId="25538c52-b196-49fc-9025-2dd86a54f18a" providerId="ADAL" clId="{63D59B85-3E0F-46BB-BCE5-17E4A9AD5FF3}" dt="2022-11-27T15:40:04.740" v="48" actId="20577"/>
      <pc:docMkLst>
        <pc:docMk/>
      </pc:docMkLst>
      <pc:sldChg chg="modSp mod">
        <pc:chgData name="WILLIAM RICARDO AGUILAR PIÑA" userId="25538c52-b196-49fc-9025-2dd86a54f18a" providerId="ADAL" clId="{63D59B85-3E0F-46BB-BCE5-17E4A9AD5FF3}" dt="2022-11-27T15:40:04.740" v="48" actId="20577"/>
        <pc:sldMkLst>
          <pc:docMk/>
          <pc:sldMk cId="2511177573" sldId="344"/>
        </pc:sldMkLst>
        <pc:spChg chg="mod">
          <ac:chgData name="WILLIAM RICARDO AGUILAR PIÑA" userId="25538c52-b196-49fc-9025-2dd86a54f18a" providerId="ADAL" clId="{63D59B85-3E0F-46BB-BCE5-17E4A9AD5FF3}" dt="2022-11-27T15:40:04.740" v="48" actId="20577"/>
          <ac:spMkLst>
            <pc:docMk/>
            <pc:sldMk cId="2511177573" sldId="344"/>
            <ac:spMk id="10" creationId="{084CCD57-F4BD-44D5-8AAA-BE029D4C4CD4}"/>
          </ac:spMkLst>
        </pc:spChg>
      </pc:sldChg>
      <pc:sldChg chg="addSp delSp modSp mod">
        <pc:chgData name="WILLIAM RICARDO AGUILAR PIÑA" userId="25538c52-b196-49fc-9025-2dd86a54f18a" providerId="ADAL" clId="{63D59B85-3E0F-46BB-BCE5-17E4A9AD5FF3}" dt="2022-11-26T16:30:56.431" v="16" actId="6549"/>
        <pc:sldMkLst>
          <pc:docMk/>
          <pc:sldMk cId="4112571550" sldId="345"/>
        </pc:sldMkLst>
        <pc:spChg chg="add del mod">
          <ac:chgData name="WILLIAM RICARDO AGUILAR PIÑA" userId="25538c52-b196-49fc-9025-2dd86a54f18a" providerId="ADAL" clId="{63D59B85-3E0F-46BB-BCE5-17E4A9AD5FF3}" dt="2022-11-26T16:27:15.446" v="1" actId="478"/>
          <ac:spMkLst>
            <pc:docMk/>
            <pc:sldMk cId="4112571550" sldId="345"/>
            <ac:spMk id="2" creationId="{16B43098-04E6-B486-5073-370E522A3635}"/>
          </ac:spMkLst>
        </pc:spChg>
        <pc:spChg chg="mod">
          <ac:chgData name="WILLIAM RICARDO AGUILAR PIÑA" userId="25538c52-b196-49fc-9025-2dd86a54f18a" providerId="ADAL" clId="{63D59B85-3E0F-46BB-BCE5-17E4A9AD5FF3}" dt="2022-11-26T16:30:56.431" v="16" actId="6549"/>
          <ac:spMkLst>
            <pc:docMk/>
            <pc:sldMk cId="4112571550" sldId="345"/>
            <ac:spMk id="9" creationId="{C58D08C9-7607-46D0-A6E5-F40C1ED0D8B3}"/>
          </ac:spMkLst>
        </pc:spChg>
      </pc:sldChg>
      <pc:sldChg chg="modSp mod">
        <pc:chgData name="WILLIAM RICARDO AGUILAR PIÑA" userId="25538c52-b196-49fc-9025-2dd86a54f18a" providerId="ADAL" clId="{63D59B85-3E0F-46BB-BCE5-17E4A9AD5FF3}" dt="2022-11-27T15:39:35.808" v="26" actId="20577"/>
        <pc:sldMkLst>
          <pc:docMk/>
          <pc:sldMk cId="0" sldId="385"/>
        </pc:sldMkLst>
        <pc:spChg chg="mod">
          <ac:chgData name="WILLIAM RICARDO AGUILAR PIÑA" userId="25538c52-b196-49fc-9025-2dd86a54f18a" providerId="ADAL" clId="{63D59B85-3E0F-46BB-BCE5-17E4A9AD5FF3}" dt="2022-11-27T15:39:35.808" v="26" actId="20577"/>
          <ac:spMkLst>
            <pc:docMk/>
            <pc:sldMk cId="0" sldId="385"/>
            <ac:spMk id="9" creationId="{3072C985-1B9B-4BDD-9204-91D61E909C9C}"/>
          </ac:spMkLst>
        </pc:spChg>
      </pc:sldChg>
    </pc:docChg>
  </pc:docChgLst>
  <pc:docChgLst>
    <pc:chgData name="WILLIAM RICARDO AGUILAR PIÑA" userId="25538c52-b196-49fc-9025-2dd86a54f18a" providerId="ADAL" clId="{CAFC97DA-DAE5-4F5E-91D2-B6CA58EDD3E0}"/>
    <pc:docChg chg="custSel addSld modSld">
      <pc:chgData name="WILLIAM RICARDO AGUILAR PIÑA" userId="25538c52-b196-49fc-9025-2dd86a54f18a" providerId="ADAL" clId="{CAFC97DA-DAE5-4F5E-91D2-B6CA58EDD3E0}" dt="2020-02-11T21:35:24.920" v="436" actId="6549"/>
      <pc:docMkLst>
        <pc:docMk/>
      </pc:docMkLst>
      <pc:sldChg chg="addSp delSp modSp add">
        <pc:chgData name="WILLIAM RICARDO AGUILAR PIÑA" userId="25538c52-b196-49fc-9025-2dd86a54f18a" providerId="ADAL" clId="{CAFC97DA-DAE5-4F5E-91D2-B6CA58EDD3E0}" dt="2020-02-11T21:35:24.920" v="436" actId="6549"/>
        <pc:sldMkLst>
          <pc:docMk/>
          <pc:sldMk cId="917270932" sldId="387"/>
        </pc:sldMkLst>
        <pc:spChg chg="mod">
          <ac:chgData name="WILLIAM RICARDO AGUILAR PIÑA" userId="25538c52-b196-49fc-9025-2dd86a54f18a" providerId="ADAL" clId="{CAFC97DA-DAE5-4F5E-91D2-B6CA58EDD3E0}" dt="2020-02-11T21:35:24.920" v="436" actId="6549"/>
          <ac:spMkLst>
            <pc:docMk/>
            <pc:sldMk cId="917270932" sldId="387"/>
            <ac:spMk id="8" creationId="{00000000-0000-0000-0000-000000000000}"/>
          </ac:spMkLst>
        </pc:spChg>
        <pc:spChg chg="del">
          <ac:chgData name="WILLIAM RICARDO AGUILAR PIÑA" userId="25538c52-b196-49fc-9025-2dd86a54f18a" providerId="ADAL" clId="{CAFC97DA-DAE5-4F5E-91D2-B6CA58EDD3E0}" dt="2020-02-11T21:33:29.296" v="427" actId="478"/>
          <ac:spMkLst>
            <pc:docMk/>
            <pc:sldMk cId="917270932" sldId="387"/>
            <ac:spMk id="14" creationId="{31724C46-02EA-4FB4-A24F-530AAB5679D0}"/>
          </ac:spMkLst>
        </pc:spChg>
        <pc:picChg chg="del">
          <ac:chgData name="WILLIAM RICARDO AGUILAR PIÑA" userId="25538c52-b196-49fc-9025-2dd86a54f18a" providerId="ADAL" clId="{CAFC97DA-DAE5-4F5E-91D2-B6CA58EDD3E0}" dt="2020-02-11T21:30:16.327" v="22" actId="478"/>
          <ac:picMkLst>
            <pc:docMk/>
            <pc:sldMk cId="917270932" sldId="387"/>
            <ac:picMk id="2" creationId="{DC272E38-2530-4B2A-82BD-4F00449D4932}"/>
          </ac:picMkLst>
        </pc:picChg>
        <pc:picChg chg="add mod ord">
          <ac:chgData name="WILLIAM RICARDO AGUILAR PIÑA" userId="25538c52-b196-49fc-9025-2dd86a54f18a" providerId="ADAL" clId="{CAFC97DA-DAE5-4F5E-91D2-B6CA58EDD3E0}" dt="2020-02-11T21:34:10.982" v="432" actId="1076"/>
          <ac:picMkLst>
            <pc:docMk/>
            <pc:sldMk cId="917270932" sldId="387"/>
            <ac:picMk id="3" creationId="{FB89A29B-D829-44EC-9526-FB651E5E191C}"/>
          </ac:picMkLst>
        </pc:picChg>
        <pc:picChg chg="del">
          <ac:chgData name="WILLIAM RICARDO AGUILAR PIÑA" userId="25538c52-b196-49fc-9025-2dd86a54f18a" providerId="ADAL" clId="{CAFC97DA-DAE5-4F5E-91D2-B6CA58EDD3E0}" dt="2020-02-11T21:30:16.798" v="23" actId="478"/>
          <ac:picMkLst>
            <pc:docMk/>
            <pc:sldMk cId="917270932" sldId="387"/>
            <ac:picMk id="5" creationId="{CCBED06C-E971-4ECC-B840-73E2CDFA6610}"/>
          </ac:picMkLst>
        </pc:picChg>
        <pc:picChg chg="del">
          <ac:chgData name="WILLIAM RICARDO AGUILAR PIÑA" userId="25538c52-b196-49fc-9025-2dd86a54f18a" providerId="ADAL" clId="{CAFC97DA-DAE5-4F5E-91D2-B6CA58EDD3E0}" dt="2020-02-11T21:30:17.110" v="24" actId="478"/>
          <ac:picMkLst>
            <pc:docMk/>
            <pc:sldMk cId="917270932" sldId="387"/>
            <ac:picMk id="6" creationId="{6A9BEBEC-C40A-4BDB-B35A-606A3C2726ED}"/>
          </ac:picMkLst>
        </pc:picChg>
        <pc:picChg chg="mod">
          <ac:chgData name="WILLIAM RICARDO AGUILAR PIÑA" userId="25538c52-b196-49fc-9025-2dd86a54f18a" providerId="ADAL" clId="{CAFC97DA-DAE5-4F5E-91D2-B6CA58EDD3E0}" dt="2020-02-11T21:34:10.982" v="432" actId="1076"/>
          <ac:picMkLst>
            <pc:docMk/>
            <pc:sldMk cId="917270932" sldId="387"/>
            <ac:picMk id="7" creationId="{2DAF5C0F-F0DA-4746-80F1-45CC676D8B61}"/>
          </ac:picMkLst>
        </pc:picChg>
        <pc:picChg chg="del">
          <ac:chgData name="WILLIAM RICARDO AGUILAR PIÑA" userId="25538c52-b196-49fc-9025-2dd86a54f18a" providerId="ADAL" clId="{CAFC97DA-DAE5-4F5E-91D2-B6CA58EDD3E0}" dt="2020-02-11T21:30:17.878" v="25" actId="478"/>
          <ac:picMkLst>
            <pc:docMk/>
            <pc:sldMk cId="917270932" sldId="387"/>
            <ac:picMk id="12" creationId="{A7AD7894-3B3A-4A71-B757-136103F0F87D}"/>
          </ac:picMkLst>
        </pc:picChg>
        <pc:picChg chg="del">
          <ac:chgData name="WILLIAM RICARDO AGUILAR PIÑA" userId="25538c52-b196-49fc-9025-2dd86a54f18a" providerId="ADAL" clId="{CAFC97DA-DAE5-4F5E-91D2-B6CA58EDD3E0}" dt="2020-02-11T21:30:18.830" v="26" actId="478"/>
          <ac:picMkLst>
            <pc:docMk/>
            <pc:sldMk cId="917270932" sldId="387"/>
            <ac:picMk id="15" creationId="{40B55126-9E8E-44D1-B8BB-DD5B35E26374}"/>
          </ac:picMkLst>
        </pc:picChg>
      </pc:sldChg>
    </pc:docChg>
  </pc:docChgLst>
  <pc:docChgLst>
    <pc:chgData name="WILLIAM RICARDO AGUILAR PIÑA" userId="25538c52-b196-49fc-9025-2dd86a54f18a" providerId="ADAL" clId="{DB3023CB-4887-4513-B78A-098C3A62B9C2}"/>
    <pc:docChg chg="modSld">
      <pc:chgData name="WILLIAM RICARDO AGUILAR PIÑA" userId="25538c52-b196-49fc-9025-2dd86a54f18a" providerId="ADAL" clId="{DB3023CB-4887-4513-B78A-098C3A62B9C2}" dt="2023-12-01T14:22:50.602" v="0" actId="20577"/>
      <pc:docMkLst>
        <pc:docMk/>
      </pc:docMkLst>
      <pc:sldChg chg="modSp mod">
        <pc:chgData name="WILLIAM RICARDO AGUILAR PIÑA" userId="25538c52-b196-49fc-9025-2dd86a54f18a" providerId="ADAL" clId="{DB3023CB-4887-4513-B78A-098C3A62B9C2}" dt="2023-12-01T14:22:50.602" v="0" actId="20577"/>
        <pc:sldMkLst>
          <pc:docMk/>
          <pc:sldMk cId="2171958353" sldId="339"/>
        </pc:sldMkLst>
        <pc:spChg chg="mod">
          <ac:chgData name="WILLIAM RICARDO AGUILAR PIÑA" userId="25538c52-b196-49fc-9025-2dd86a54f18a" providerId="ADAL" clId="{DB3023CB-4887-4513-B78A-098C3A62B9C2}" dt="2023-12-01T14:22:50.602" v="0" actId="20577"/>
          <ac:spMkLst>
            <pc:docMk/>
            <pc:sldMk cId="2171958353" sldId="339"/>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01/12/2023</a:t>
            </a:fld>
            <a:endParaRPr lang="es-CO"/>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a:t>
            </a:fld>
            <a:endParaRPr lang="es-CO"/>
          </a:p>
        </p:txBody>
      </p:sp>
    </p:spTree>
    <p:extLst>
      <p:ext uri="{BB962C8B-B14F-4D97-AF65-F5344CB8AC3E}">
        <p14:creationId xmlns:p14="http://schemas.microsoft.com/office/powerpoint/2010/main" val="1060110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a:t>
            </a:fld>
            <a:endParaRPr lang="es-CO"/>
          </a:p>
        </p:txBody>
      </p:sp>
    </p:spTree>
    <p:extLst>
      <p:ext uri="{BB962C8B-B14F-4D97-AF65-F5344CB8AC3E}">
        <p14:creationId xmlns:p14="http://schemas.microsoft.com/office/powerpoint/2010/main" val="2596857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a:t>
            </a:fld>
            <a:endParaRPr lang="es-CO"/>
          </a:p>
        </p:txBody>
      </p:sp>
    </p:spTree>
    <p:extLst>
      <p:ext uri="{BB962C8B-B14F-4D97-AF65-F5344CB8AC3E}">
        <p14:creationId xmlns:p14="http://schemas.microsoft.com/office/powerpoint/2010/main" val="2242881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a:t>
            </a:fld>
            <a:endParaRPr lang="es-CO"/>
          </a:p>
        </p:txBody>
      </p:sp>
    </p:spTree>
    <p:extLst>
      <p:ext uri="{BB962C8B-B14F-4D97-AF65-F5344CB8AC3E}">
        <p14:creationId xmlns:p14="http://schemas.microsoft.com/office/powerpoint/2010/main" val="2404780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a:t>
            </a:fld>
            <a:endParaRPr lang="es-CO"/>
          </a:p>
        </p:txBody>
      </p:sp>
    </p:spTree>
    <p:extLst>
      <p:ext uri="{BB962C8B-B14F-4D97-AF65-F5344CB8AC3E}">
        <p14:creationId xmlns:p14="http://schemas.microsoft.com/office/powerpoint/2010/main" val="4221421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7</a:t>
            </a:fld>
            <a:endParaRPr lang="es-CO"/>
          </a:p>
        </p:txBody>
      </p:sp>
    </p:spTree>
    <p:extLst>
      <p:ext uri="{BB962C8B-B14F-4D97-AF65-F5344CB8AC3E}">
        <p14:creationId xmlns:p14="http://schemas.microsoft.com/office/powerpoint/2010/main" val="1010684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8</a:t>
            </a:fld>
            <a:endParaRPr lang="es-CO"/>
          </a:p>
        </p:txBody>
      </p:sp>
    </p:spTree>
    <p:extLst>
      <p:ext uri="{BB962C8B-B14F-4D97-AF65-F5344CB8AC3E}">
        <p14:creationId xmlns:p14="http://schemas.microsoft.com/office/powerpoint/2010/main" val="2997377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9</a:t>
            </a:fld>
            <a:endParaRPr lang="es-CO"/>
          </a:p>
        </p:txBody>
      </p:sp>
    </p:spTree>
    <p:extLst>
      <p:ext uri="{BB962C8B-B14F-4D97-AF65-F5344CB8AC3E}">
        <p14:creationId xmlns:p14="http://schemas.microsoft.com/office/powerpoint/2010/main" val="31762152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10</a:t>
            </a:fld>
            <a:endParaRPr lang="es-CO"/>
          </a:p>
        </p:txBody>
      </p:sp>
    </p:spTree>
    <p:extLst>
      <p:ext uri="{BB962C8B-B14F-4D97-AF65-F5344CB8AC3E}">
        <p14:creationId xmlns:p14="http://schemas.microsoft.com/office/powerpoint/2010/main" val="2838662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11</a:t>
            </a:fld>
            <a:endParaRPr lang="es-CO"/>
          </a:p>
        </p:txBody>
      </p:sp>
    </p:spTree>
    <p:extLst>
      <p:ext uri="{BB962C8B-B14F-4D97-AF65-F5344CB8AC3E}">
        <p14:creationId xmlns:p14="http://schemas.microsoft.com/office/powerpoint/2010/main" val="3871204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12</a:t>
            </a:fld>
            <a:endParaRPr lang="es-CO"/>
          </a:p>
        </p:txBody>
      </p:sp>
    </p:spTree>
    <p:extLst>
      <p:ext uri="{BB962C8B-B14F-4D97-AF65-F5344CB8AC3E}">
        <p14:creationId xmlns:p14="http://schemas.microsoft.com/office/powerpoint/2010/main" val="15818237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13</a:t>
            </a:fld>
            <a:endParaRPr lang="es-CO"/>
          </a:p>
        </p:txBody>
      </p:sp>
    </p:spTree>
    <p:extLst>
      <p:ext uri="{BB962C8B-B14F-4D97-AF65-F5344CB8AC3E}">
        <p14:creationId xmlns:p14="http://schemas.microsoft.com/office/powerpoint/2010/main" val="7006005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14</a:t>
            </a:fld>
            <a:endParaRPr lang="es-CO"/>
          </a:p>
        </p:txBody>
      </p:sp>
    </p:spTree>
    <p:extLst>
      <p:ext uri="{BB962C8B-B14F-4D97-AF65-F5344CB8AC3E}">
        <p14:creationId xmlns:p14="http://schemas.microsoft.com/office/powerpoint/2010/main" val="2705108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15</a:t>
            </a:fld>
            <a:endParaRPr lang="es-CO"/>
          </a:p>
        </p:txBody>
      </p:sp>
    </p:spTree>
    <p:extLst>
      <p:ext uri="{BB962C8B-B14F-4D97-AF65-F5344CB8AC3E}">
        <p14:creationId xmlns:p14="http://schemas.microsoft.com/office/powerpoint/2010/main" val="6186782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16</a:t>
            </a:fld>
            <a:endParaRPr lang="es-CO"/>
          </a:p>
        </p:txBody>
      </p:sp>
    </p:spTree>
    <p:extLst>
      <p:ext uri="{BB962C8B-B14F-4D97-AF65-F5344CB8AC3E}">
        <p14:creationId xmlns:p14="http://schemas.microsoft.com/office/powerpoint/2010/main" val="35885284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17</a:t>
            </a:fld>
            <a:endParaRPr lang="es-CO"/>
          </a:p>
        </p:txBody>
      </p:sp>
    </p:spTree>
    <p:extLst>
      <p:ext uri="{BB962C8B-B14F-4D97-AF65-F5344CB8AC3E}">
        <p14:creationId xmlns:p14="http://schemas.microsoft.com/office/powerpoint/2010/main" val="2361958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18</a:t>
            </a:fld>
            <a:endParaRPr lang="es-CO"/>
          </a:p>
        </p:txBody>
      </p:sp>
    </p:spTree>
    <p:extLst>
      <p:ext uri="{BB962C8B-B14F-4D97-AF65-F5344CB8AC3E}">
        <p14:creationId xmlns:p14="http://schemas.microsoft.com/office/powerpoint/2010/main" val="1871116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01/12/2023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01/12/2023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01/12/2023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01/12/2023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01/12/2023</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01/12/2023</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01/12/2023</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01/12/2023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01/12/2023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01/12/2023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01/12/2023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01/12/2023</a:t>
            </a:fld>
            <a:endParaRPr lang="es-CO"/>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0.png"/><Relationship Id="rId7" Type="http://schemas.microsoft.com/office/2007/relationships/hdphoto" Target="../media/hdphoto4.wdp"/><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5.png"/><Relationship Id="rId4" Type="http://schemas.microsoft.com/office/2007/relationships/hdphoto" Target="../media/hdphoto3.wdp"/></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png"/><Relationship Id="rId5" Type="http://schemas.microsoft.com/office/2007/relationships/hdphoto" Target="../media/hdphoto5.wdp"/><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hyperlink" Target="https://www.hec.usace.army.mil/confluence/rasdocs/r2dum/latest/running-a-model-with-2d-flow-areas/shallow-water-or-diffusion-wave-equations" TargetMode="External"/><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es.wikipedia.org/wiki/Ecuaciones_de_Saint-Venant_en_1D" TargetMode="External"/><Relationship Id="rId5" Type="http://schemas.openxmlformats.org/officeDocument/2006/relationships/hyperlink" Target="https://www.hec.usace.army.mil/confluence/rasdocs/rasrn/hec-ras-6-3-new-features" TargetMode="External"/><Relationship Id="rId10" Type="http://schemas.openxmlformats.org/officeDocument/2006/relationships/image" Target="../media/image1.png"/><Relationship Id="rId4" Type="http://schemas.openxmlformats.org/officeDocument/2006/relationships/hyperlink" Target="https://www.hec.usace.army.mil/confluence/rasdocs/r2dum/latest/running-a-model-with-2d-flow-areas/2d-computation-options-and-tolerances" TargetMode="External"/><Relationship Id="rId9"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microsoft.com/office/2007/relationships/hdphoto" Target="../media/hdphoto7.wdp"/></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9.png"/><Relationship Id="rId7"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rcfdtools/R.HydroTools/wiki/License" TargetMode="External"/><Relationship Id="rId2" Type="http://schemas.openxmlformats.org/officeDocument/2006/relationships/hyperlink" Target="https://github.com/rcfdtool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v.20221127</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2D con HEC-RAS y RAS </a:t>
            </a:r>
            <a:r>
              <a:rPr lang="es-CO" sz="1200" dirty="0" err="1">
                <a:latin typeface="Segoe UI Light" panose="020B0502040204020203" pitchFamily="34" charset="0"/>
                <a:cs typeface="Segoe UI Light" panose="020B0502040204020203" pitchFamily="34" charset="0"/>
              </a:rPr>
              <a:t>Mapper</a:t>
            </a:r>
            <a:endParaRPr lang="es-CO" sz="12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Modelación hidráulica 2D</a:t>
            </a: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3AF69A8D-AA68-4D2F-A9C2-B3DAA51BEF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A6372B04-7291-436B-87C8-C6272620A4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367808" y="3259723"/>
            <a:ext cx="3456384" cy="369332"/>
          </a:xfrm>
          <a:prstGeom prst="rect">
            <a:avLst/>
          </a:prstGeom>
          <a:noFill/>
        </p:spPr>
        <p:txBody>
          <a:bodyPr wrap="square" rtlCol="0">
            <a:spAutoFit/>
          </a:bodyPr>
          <a:lstStyle/>
          <a:p>
            <a:pPr algn="ctr"/>
            <a:r>
              <a:rPr lang="en-US" dirty="0">
                <a:latin typeface="Segoe UI Light" panose="020B0502040204020203" pitchFamily="34" charset="0"/>
                <a:cs typeface="Segoe UI Light" panose="020B0502040204020203" pitchFamily="34" charset="0"/>
              </a:rPr>
              <a:t>1. </a:t>
            </a:r>
            <a:r>
              <a:rPr lang="en-US" dirty="0" err="1">
                <a:latin typeface="Segoe UI Light" panose="020B0502040204020203" pitchFamily="34" charset="0"/>
                <a:cs typeface="Segoe UI Light" panose="020B0502040204020203" pitchFamily="34" charset="0"/>
              </a:rPr>
              <a:t>Configuración</a:t>
            </a:r>
            <a:r>
              <a:rPr lang="en-US" dirty="0">
                <a:latin typeface="Segoe UI Light" panose="020B0502040204020203" pitchFamily="34" charset="0"/>
                <a:cs typeface="Segoe UI Light" panose="020B0502040204020203" pitchFamily="34" charset="0"/>
              </a:rPr>
              <a:t> general</a:t>
            </a:r>
            <a:endParaRPr lang="en-US"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96915172-BF63-4026-8622-D1E5EFDC05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409448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127448" y="548680"/>
            <a:ext cx="10081120" cy="1323439"/>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En la ventana principal del proyecto en HEC-RAS, clic en el menú </a:t>
            </a:r>
            <a:r>
              <a:rPr lang="en-US" sz="1600" i="1">
                <a:latin typeface="Segoe UI Light" panose="020B0502040204020203" pitchFamily="34" charset="0"/>
                <a:cs typeface="Segoe UI Light" panose="020B0502040204020203" pitchFamily="34" charset="0"/>
              </a:rPr>
              <a:t>Run – Unsteady Flow Analysis</a:t>
            </a:r>
            <a:r>
              <a:rPr lang="en-US" sz="1600">
                <a:latin typeface="Segoe UI Light" panose="020B0502040204020203" pitchFamily="34" charset="0"/>
                <a:cs typeface="Segoe UI Light" panose="020B0502040204020203" pitchFamily="34" charset="0"/>
              </a:rPr>
              <a:t>…o clic en el ícono </a:t>
            </a:r>
            <a:r>
              <a:rPr lang="en-US" sz="1600" i="1">
                <a:latin typeface="Segoe UI Light" panose="020B0502040204020203" pitchFamily="34" charset="0"/>
                <a:cs typeface="Segoe UI Light" panose="020B0502040204020203" pitchFamily="34" charset="0"/>
              </a:rPr>
              <a:t>Perform an unsteady flow simulation</a:t>
            </a:r>
            <a:r>
              <a:rPr lang="en-US" sz="1600">
                <a:latin typeface="Segoe UI Light" panose="020B0502040204020203" pitchFamily="34" charset="0"/>
                <a:cs typeface="Segoe UI Light" panose="020B0502040204020203" pitchFamily="34" charset="0"/>
              </a:rPr>
              <a:t> y abrir el plan tr2_33yr. Definir los parámetros a ejecutar, simulación en flujo no permanente, post procesamiento, mapificación de resultados y los valores asociados al tiempo de cómputo e intervalos. Recordar que los intervalos de tiempo deberán ser consistentes con los valores definidos en los hidrogramas de entrada.</a:t>
            </a:r>
          </a:p>
        </p:txBody>
      </p:sp>
      <p:sp>
        <p:nvSpPr>
          <p:cNvPr id="10" name="1 Título">
            <a:extLst>
              <a:ext uri="{FF2B5EF4-FFF2-40B4-BE49-F238E27FC236}">
                <a16:creationId xmlns:a16="http://schemas.microsoft.com/office/drawing/2014/main" id="{FFA2EA99-79C8-463F-BD00-7B1F165D6718}"/>
              </a:ext>
            </a:extLst>
          </p:cNvPr>
          <p:cNvSpPr txBox="1">
            <a:spLocks/>
          </p:cNvSpPr>
          <p:nvPr/>
        </p:nvSpPr>
        <p:spPr>
          <a:xfrm>
            <a:off x="0" y="0"/>
            <a:ext cx="12202666"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1. Configuración general</a:t>
            </a:r>
          </a:p>
        </p:txBody>
      </p:sp>
      <p:pic>
        <p:nvPicPr>
          <p:cNvPr id="5" name="Imagen 4">
            <a:extLst>
              <a:ext uri="{FF2B5EF4-FFF2-40B4-BE49-F238E27FC236}">
                <a16:creationId xmlns:a16="http://schemas.microsoft.com/office/drawing/2014/main" id="{9094EB3E-8B6B-4C27-8BC6-CC330ABE98E9}"/>
              </a:ext>
            </a:extLst>
          </p:cNvPr>
          <p:cNvPicPr>
            <a:picLocks noChangeAspect="1"/>
          </p:cNvPicPr>
          <p:nvPr/>
        </p:nvPicPr>
        <p:blipFill>
          <a:blip r:embed="rId3">
            <a:grayscl/>
          </a:blip>
          <a:stretch>
            <a:fillRect/>
          </a:stretch>
        </p:blipFill>
        <p:spPr>
          <a:xfrm>
            <a:off x="191344" y="2003745"/>
            <a:ext cx="6718860" cy="1737636"/>
          </a:xfrm>
          <a:prstGeom prst="rect">
            <a:avLst/>
          </a:prstGeom>
        </p:spPr>
      </p:pic>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94156" y="2571497"/>
            <a:ext cx="360000" cy="360000"/>
          </a:xfrm>
          <a:prstGeom prst="rect">
            <a:avLst/>
          </a:prstGeom>
        </p:spPr>
      </p:pic>
      <p:pic>
        <p:nvPicPr>
          <p:cNvPr id="7" name="Imagen 6">
            <a:extLst>
              <a:ext uri="{FF2B5EF4-FFF2-40B4-BE49-F238E27FC236}">
                <a16:creationId xmlns:a16="http://schemas.microsoft.com/office/drawing/2014/main" id="{8944A64A-B7C4-446E-A35A-AA9EA8789A06}"/>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7114331" y="2007443"/>
            <a:ext cx="4886325" cy="4733925"/>
          </a:xfrm>
          <a:prstGeom prst="rect">
            <a:avLst/>
          </a:prstGeom>
        </p:spPr>
      </p:pic>
      <p:pic>
        <p:nvPicPr>
          <p:cNvPr id="12" name="Imagen 11">
            <a:extLst>
              <a:ext uri="{FF2B5EF4-FFF2-40B4-BE49-F238E27FC236}">
                <a16:creationId xmlns:a16="http://schemas.microsoft.com/office/drawing/2014/main" id="{419D784C-AB23-4A6C-8493-613B0FC135D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181062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127448" y="692696"/>
            <a:ext cx="10081120"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Repita el procedimiento anterior para el plan correspondiente a 100 años de periodo de retorno.</a:t>
            </a:r>
          </a:p>
        </p:txBody>
      </p:sp>
      <p:pic>
        <p:nvPicPr>
          <p:cNvPr id="2" name="Imagen 1">
            <a:extLst>
              <a:ext uri="{FF2B5EF4-FFF2-40B4-BE49-F238E27FC236}">
                <a16:creationId xmlns:a16="http://schemas.microsoft.com/office/drawing/2014/main" id="{2660D311-CAB5-4D9C-AF2D-62BAE8A19ADF}"/>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652837" y="1503387"/>
            <a:ext cx="4886325" cy="4733925"/>
          </a:xfrm>
          <a:prstGeom prst="rect">
            <a:avLst/>
          </a:prstGeom>
        </p:spPr>
      </p:pic>
      <p:pic>
        <p:nvPicPr>
          <p:cNvPr id="6" name="Imagen 5">
            <a:extLst>
              <a:ext uri="{FF2B5EF4-FFF2-40B4-BE49-F238E27FC236}">
                <a16:creationId xmlns:a16="http://schemas.microsoft.com/office/drawing/2014/main" id="{4312ED79-FAD9-4A95-A86C-89C411D00B5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7" name="1 Título">
            <a:extLst>
              <a:ext uri="{FF2B5EF4-FFF2-40B4-BE49-F238E27FC236}">
                <a16:creationId xmlns:a16="http://schemas.microsoft.com/office/drawing/2014/main" id="{CC28D77D-3F6D-4986-BAD8-CC4B9A468DA2}"/>
              </a:ext>
            </a:extLst>
          </p:cNvPr>
          <p:cNvSpPr txBox="1">
            <a:spLocks/>
          </p:cNvSpPr>
          <p:nvPr/>
        </p:nvSpPr>
        <p:spPr>
          <a:xfrm>
            <a:off x="0" y="0"/>
            <a:ext cx="12202666"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1. Configuración general</a:t>
            </a:r>
          </a:p>
        </p:txBody>
      </p:sp>
    </p:spTree>
    <p:extLst>
      <p:ext uri="{BB962C8B-B14F-4D97-AF65-F5344CB8AC3E}">
        <p14:creationId xmlns:p14="http://schemas.microsoft.com/office/powerpoint/2010/main" val="2586660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746739" y="3105834"/>
            <a:ext cx="4698522" cy="646331"/>
          </a:xfrm>
          <a:prstGeom prst="rect">
            <a:avLst/>
          </a:prstGeom>
          <a:noFill/>
        </p:spPr>
        <p:txBody>
          <a:bodyPr wrap="square" rtlCol="0">
            <a:spAutoFit/>
          </a:bodyPr>
          <a:lstStyle/>
          <a:p>
            <a:pPr algn="ctr"/>
            <a:r>
              <a:rPr lang="en-US" dirty="0">
                <a:latin typeface="Segoe UI Light" panose="020B0502040204020203" pitchFamily="34" charset="0"/>
                <a:cs typeface="Segoe UI Light" panose="020B0502040204020203" pitchFamily="34" charset="0"/>
              </a:rPr>
              <a:t>2. </a:t>
            </a:r>
            <a:r>
              <a:rPr lang="es-CO" dirty="0">
                <a:latin typeface="Segoe UI Light" panose="020B0502040204020203" pitchFamily="34" charset="0"/>
                <a:cs typeface="Segoe UI Light" panose="020B0502040204020203" pitchFamily="34" charset="0"/>
              </a:rPr>
              <a:t>Configuración de intervalos de tiempo variables basados en la Condición de </a:t>
            </a:r>
            <a:r>
              <a:rPr lang="es-CO" dirty="0" err="1">
                <a:latin typeface="Segoe UI Light" panose="020B0502040204020203" pitchFamily="34" charset="0"/>
                <a:cs typeface="Segoe UI Light" panose="020B0502040204020203" pitchFamily="34" charset="0"/>
              </a:rPr>
              <a:t>Courant</a:t>
            </a:r>
            <a:endParaRPr lang="en-US"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9D49B4F8-D506-4C01-AA5B-DBF88A0EA0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512670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14423" y="746387"/>
            <a:ext cx="5565553" cy="5262979"/>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Las </a:t>
            </a:r>
            <a:r>
              <a:rPr lang="en-US" sz="1600" dirty="0" err="1">
                <a:latin typeface="Segoe UI Light" panose="020B0502040204020203" pitchFamily="34" charset="0"/>
                <a:cs typeface="Segoe UI Light" panose="020B0502040204020203" pitchFamily="34" charset="0"/>
              </a:rPr>
              <a:t>versiones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recientes</a:t>
            </a:r>
            <a:r>
              <a:rPr lang="en-US" sz="1600" dirty="0">
                <a:latin typeface="Segoe UI Light" panose="020B0502040204020203" pitchFamily="34" charset="0"/>
                <a:cs typeface="Segoe UI Light" panose="020B0502040204020203" pitchFamily="34" charset="0"/>
              </a:rPr>
              <a:t> de HEC-RAS 5, </a:t>
            </a:r>
            <a:r>
              <a:rPr lang="en-US" sz="1600" dirty="0" err="1">
                <a:latin typeface="Segoe UI Light" panose="020B0502040204020203" pitchFamily="34" charset="0"/>
                <a:cs typeface="Segoe UI Light" panose="020B0502040204020203" pitchFamily="34" charset="0"/>
              </a:rPr>
              <a:t>permiten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definición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tiempos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autoajustables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basados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de Courant, para </a:t>
            </a:r>
            <a:r>
              <a:rPr lang="en-US" sz="1600" dirty="0" err="1">
                <a:latin typeface="Segoe UI Light" panose="020B0502040204020203" pitchFamily="34" charset="0"/>
                <a:cs typeface="Segoe UI Light" panose="020B0502040204020203" pitchFamily="34" charset="0"/>
              </a:rPr>
              <a:t>optimizar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precisión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numérica</a:t>
            </a:r>
            <a:r>
              <a:rPr lang="en-US" sz="1600" dirty="0">
                <a:latin typeface="Segoe UI Light" panose="020B0502040204020203" pitchFamily="34" charset="0"/>
                <a:cs typeface="Segoe UI Light" panose="020B0502040204020203" pitchFamily="34" charset="0"/>
              </a:rPr>
              <a:t> de los </a:t>
            </a:r>
            <a:r>
              <a:rPr lang="en-US" sz="1600" dirty="0" err="1">
                <a:latin typeface="Segoe UI Light" panose="020B0502040204020203" pitchFamily="34" charset="0"/>
                <a:cs typeface="Segoe UI Light" panose="020B0502040204020203" pitchFamily="34" charset="0"/>
              </a:rPr>
              <a:t>valores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calculados</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ecuaciones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hidráulicas</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Este </a:t>
            </a:r>
            <a:r>
              <a:rPr lang="en-US" sz="1600" dirty="0" err="1">
                <a:latin typeface="Segoe UI Light" panose="020B0502040204020203" pitchFamily="34" charset="0"/>
                <a:cs typeface="Segoe UI Light" panose="020B0502040204020203" pitchFamily="34" charset="0"/>
              </a:rPr>
              <a:t>criterio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evalúa</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espaciamento</a:t>
            </a:r>
            <a:r>
              <a:rPr lang="en-US" sz="1600" dirty="0">
                <a:latin typeface="Segoe UI Light" panose="020B0502040204020203" pitchFamily="34" charset="0"/>
                <a:cs typeface="Segoe UI Light" panose="020B0502040204020203" pitchFamily="34" charset="0"/>
              </a:rPr>
              <a:t> entre las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transversales</a:t>
            </a:r>
            <a:r>
              <a:rPr lang="en-US" sz="1600" dirty="0">
                <a:latin typeface="Segoe UI Light" panose="020B0502040204020203" pitchFamily="34" charset="0"/>
                <a:cs typeface="Segoe UI Light" panose="020B0502040204020203" pitchFamily="34" charset="0"/>
              </a:rPr>
              <a:t> o el </a:t>
            </a:r>
            <a:r>
              <a:rPr lang="en-US" sz="1600" dirty="0" err="1">
                <a:latin typeface="Segoe UI Light" panose="020B0502040204020203" pitchFamily="34" charset="0"/>
                <a:cs typeface="Segoe UI Light" panose="020B0502040204020203" pitchFamily="34" charset="0"/>
              </a:rPr>
              <a:t>tamaño</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caras</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malla</a:t>
            </a:r>
            <a:r>
              <a:rPr lang="en-US" sz="1600" dirty="0">
                <a:latin typeface="Segoe UI Light" panose="020B0502040204020203" pitchFamily="34" charset="0"/>
                <a:cs typeface="Segoe UI Light" panose="020B0502040204020203" pitchFamily="34" charset="0"/>
              </a:rPr>
              <a:t> y la </a:t>
            </a:r>
            <a:r>
              <a:rPr lang="en-US" sz="1600" dirty="0" err="1">
                <a:latin typeface="Segoe UI Light" panose="020B0502040204020203" pitchFamily="34" charset="0"/>
                <a:cs typeface="Segoe UI Light" panose="020B0502040204020203" pitchFamily="34" charset="0"/>
              </a:rPr>
              <a:t>velocidad</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onda</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general, el </a:t>
            </a:r>
            <a:r>
              <a:rPr lang="en-US" sz="1600" dirty="0" err="1">
                <a:latin typeface="Segoe UI Light" panose="020B0502040204020203" pitchFamily="34" charset="0"/>
                <a:cs typeface="Segoe UI Light" panose="020B0502040204020203" pitchFamily="34" charset="0"/>
              </a:rPr>
              <a:t>intervalo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cálculo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definido</a:t>
            </a:r>
            <a:r>
              <a:rPr lang="en-US" sz="1600" dirty="0">
                <a:latin typeface="Segoe UI Light" panose="020B0502040204020203" pitchFamily="34" charset="0"/>
                <a:cs typeface="Segoe UI Light" panose="020B0502040204020203" pitchFamily="34" charset="0"/>
              </a:rPr>
              <a:t> debe ser </a:t>
            </a:r>
            <a:r>
              <a:rPr lang="en-US" sz="1600" dirty="0" err="1">
                <a:latin typeface="Segoe UI Light" panose="020B0502040204020203" pitchFamily="34" charset="0"/>
                <a:cs typeface="Segoe UI Light" panose="020B0502040204020203" pitchFamily="34" charset="0"/>
              </a:rPr>
              <a:t>igual</a:t>
            </a:r>
            <a:r>
              <a:rPr lang="en-US" sz="1600" dirty="0">
                <a:latin typeface="Segoe UI Light" panose="020B0502040204020203" pitchFamily="34" charset="0"/>
                <a:cs typeface="Segoe UI Light" panose="020B0502040204020203" pitchFamily="34" charset="0"/>
              </a:rPr>
              <a:t> o inferior al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que el </a:t>
            </a:r>
            <a:r>
              <a:rPr lang="en-US" sz="1600" dirty="0" err="1">
                <a:latin typeface="Segoe UI Light" panose="020B0502040204020203" pitchFamily="34" charset="0"/>
                <a:cs typeface="Segoe UI Light" panose="020B0502040204020203" pitchFamily="34" charset="0"/>
              </a:rPr>
              <a:t>agua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necesita</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moverse</a:t>
            </a:r>
            <a:r>
              <a:rPr lang="en-US" sz="1600" dirty="0">
                <a:latin typeface="Segoe UI Light" panose="020B0502040204020203" pitchFamily="34" charset="0"/>
                <a:cs typeface="Segoe UI Light" panose="020B0502040204020203" pitchFamily="34" charset="0"/>
              </a:rPr>
              <a:t> de una </a:t>
            </a:r>
            <a:r>
              <a:rPr lang="en-US" sz="1600" dirty="0" err="1">
                <a:latin typeface="Segoe UI Light" panose="020B0502040204020203" pitchFamily="34" charset="0"/>
                <a:cs typeface="Segoe UI Light" panose="020B0502040204020203" pitchFamily="34" charset="0"/>
              </a:rPr>
              <a:t>sección</a:t>
            </a:r>
            <a:r>
              <a:rPr lang="en-US" sz="1600" dirty="0">
                <a:latin typeface="Segoe UI Light" panose="020B0502040204020203" pitchFamily="34" charset="0"/>
                <a:cs typeface="Segoe UI Light" panose="020B0502040204020203" pitchFamily="34" charset="0"/>
              </a:rPr>
              <a:t> o de una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otra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modelos</a:t>
            </a:r>
            <a:r>
              <a:rPr lang="en-US" sz="1600" dirty="0">
                <a:latin typeface="Segoe UI Light" panose="020B0502040204020203" pitchFamily="34" charset="0"/>
                <a:cs typeface="Segoe UI Light" panose="020B0502040204020203" pitchFamily="34" charset="0"/>
              </a:rPr>
              <a:t> con </a:t>
            </a:r>
            <a:r>
              <a:rPr lang="en-US" sz="1600" dirty="0" err="1">
                <a:latin typeface="Segoe UI Light" panose="020B0502040204020203" pitchFamily="34" charset="0"/>
                <a:cs typeface="Segoe UI Light" panose="020B0502040204020203" pitchFamily="34" charset="0"/>
              </a:rPr>
              <a:t>múltiples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transversales</a:t>
            </a:r>
            <a:r>
              <a:rPr lang="en-US" sz="1600" dirty="0">
                <a:latin typeface="Segoe UI Light" panose="020B0502040204020203" pitchFamily="34" charset="0"/>
                <a:cs typeface="Segoe UI Light" panose="020B0502040204020203" pitchFamily="34" charset="0"/>
              </a:rPr>
              <a:t> o con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muy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pequeñas</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utilización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puede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causar</a:t>
            </a:r>
            <a:r>
              <a:rPr lang="en-US" sz="1600" dirty="0">
                <a:latin typeface="Segoe UI Light" panose="020B0502040204020203" pitchFamily="34" charset="0"/>
                <a:cs typeface="Segoe UI Light" panose="020B0502040204020203" pitchFamily="34" charset="0"/>
              </a:rPr>
              <a:t> que 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requiera</a:t>
            </a:r>
            <a:r>
              <a:rPr lang="en-US" sz="1600" dirty="0">
                <a:latin typeface="Segoe UI Light" panose="020B0502040204020203" pitchFamily="34" charset="0"/>
                <a:cs typeface="Segoe UI Light" panose="020B0502040204020203" pitchFamily="34" charset="0"/>
              </a:rPr>
              <a:t> un largo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para ser </a:t>
            </a:r>
            <a:r>
              <a:rPr lang="en-US" sz="1600" dirty="0" err="1">
                <a:latin typeface="Segoe UI Light" panose="020B0502040204020203" pitchFamily="34" charset="0"/>
                <a:cs typeface="Segoe UI Light" panose="020B0502040204020203" pitchFamily="34" charset="0"/>
              </a:rPr>
              <a:t>solucionado</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Sí</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distancia</a:t>
            </a:r>
            <a:r>
              <a:rPr lang="en-US" sz="1600" dirty="0">
                <a:latin typeface="Segoe UI Light" panose="020B0502040204020203" pitchFamily="34" charset="0"/>
                <a:cs typeface="Segoe UI Light" panose="020B0502040204020203" pitchFamily="34" charset="0"/>
              </a:rPr>
              <a:t> entre dos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transversales</a:t>
            </a:r>
            <a:r>
              <a:rPr lang="en-US" sz="1600" dirty="0">
                <a:latin typeface="Segoe UI Light" panose="020B0502040204020203" pitchFamily="34" charset="0"/>
                <a:cs typeface="Segoe UI Light" panose="020B0502040204020203" pitchFamily="34" charset="0"/>
              </a:rPr>
              <a:t> o el </a:t>
            </a:r>
            <a:r>
              <a:rPr lang="en-US" sz="1600" dirty="0" err="1">
                <a:latin typeface="Segoe UI Light" panose="020B0502040204020203" pitchFamily="34" charset="0"/>
                <a:cs typeface="Segoe UI Light" panose="020B0502040204020203" pitchFamily="34" charset="0"/>
              </a:rPr>
              <a:t>lado</a:t>
            </a:r>
            <a:r>
              <a:rPr lang="en-US" sz="1600" dirty="0">
                <a:latin typeface="Segoe UI Light" panose="020B0502040204020203" pitchFamily="34" charset="0"/>
                <a:cs typeface="Segoe UI Light" panose="020B0502040204020203" pitchFamily="34" charset="0"/>
              </a:rPr>
              <a:t> de una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es </a:t>
            </a:r>
            <a:r>
              <a:rPr lang="en-US" sz="1600" dirty="0" err="1">
                <a:latin typeface="Segoe UI Light" panose="020B0502040204020203" pitchFamily="34" charset="0"/>
                <a:cs typeface="Segoe UI Light" panose="020B0502040204020203" pitchFamily="34" charset="0"/>
              </a:rPr>
              <a:t>muy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grande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número</a:t>
            </a:r>
            <a:r>
              <a:rPr lang="en-US" sz="1600" dirty="0">
                <a:latin typeface="Segoe UI Light" panose="020B0502040204020203" pitchFamily="34" charset="0"/>
                <a:cs typeface="Segoe UI Light" panose="020B0502040204020203" pitchFamily="34" charset="0"/>
              </a:rPr>
              <a:t> de Courant </a:t>
            </a:r>
            <a:r>
              <a:rPr lang="en-US" sz="1600" dirty="0" err="1">
                <a:latin typeface="Segoe UI Light" panose="020B0502040204020203" pitchFamily="34" charset="0"/>
                <a:cs typeface="Segoe UI Light" panose="020B0502040204020203" pitchFamily="34" charset="0"/>
              </a:rPr>
              <a:t>deberá</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menor</a:t>
            </a:r>
            <a:r>
              <a:rPr lang="en-US" sz="1600" dirty="0">
                <a:latin typeface="Segoe UI Light" panose="020B0502040204020203" pitchFamily="34" charset="0"/>
                <a:cs typeface="Segoe UI Light" panose="020B0502040204020203" pitchFamily="34" charset="0"/>
              </a:rPr>
              <a:t> a 1.0.</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HEC-RAS dispone de dos </a:t>
            </a:r>
            <a:r>
              <a:rPr lang="en-US" sz="1600" dirty="0" err="1">
                <a:latin typeface="Segoe UI Light" panose="020B0502040204020203" pitchFamily="34" charset="0"/>
                <a:cs typeface="Segoe UI Light" panose="020B0502040204020203" pitchFamily="34" charset="0"/>
              </a:rPr>
              <a:t>metodologías</a:t>
            </a:r>
            <a:r>
              <a:rPr lang="en-US" sz="1600" dirty="0">
                <a:latin typeface="Segoe UI Light" panose="020B0502040204020203" pitchFamily="34" charset="0"/>
                <a:cs typeface="Segoe UI Light" panose="020B0502040204020203" pitchFamily="34" charset="0"/>
              </a:rPr>
              <a:t> para la </a:t>
            </a:r>
            <a:r>
              <a:rPr lang="en-US" sz="1600" dirty="0" err="1">
                <a:latin typeface="Segoe UI Light" panose="020B0502040204020203" pitchFamily="34" charset="0"/>
                <a:cs typeface="Segoe UI Light" panose="020B0502040204020203" pitchFamily="34" charset="0"/>
              </a:rPr>
              <a:t>aplicación</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criterio</a:t>
            </a:r>
            <a:r>
              <a:rPr lang="en-US" sz="1600" dirty="0">
                <a:latin typeface="Segoe UI Light" panose="020B0502040204020203" pitchFamily="34" charset="0"/>
                <a:cs typeface="Segoe UI Light" panose="020B0502040204020203" pitchFamily="34" charset="0"/>
              </a:rPr>
              <a:t> de Courant, el primero </a:t>
            </a:r>
            <a:r>
              <a:rPr lang="en-US" sz="1600" dirty="0" err="1">
                <a:latin typeface="Segoe UI Light" panose="020B0502040204020203" pitchFamily="34" charset="0"/>
                <a:cs typeface="Segoe UI Light" panose="020B0502040204020203" pitchFamily="34" charset="0"/>
              </a:rPr>
              <a:t>basado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velocidad</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onda</a:t>
            </a:r>
            <a:r>
              <a:rPr lang="en-US" sz="1600" dirty="0">
                <a:latin typeface="Segoe UI Light" panose="020B0502040204020203" pitchFamily="34" charset="0"/>
                <a:cs typeface="Segoe UI Light" panose="020B0502040204020203" pitchFamily="34" charset="0"/>
              </a:rPr>
              <a:t> y el </a:t>
            </a:r>
            <a:r>
              <a:rPr lang="en-US" sz="1600" dirty="0" err="1">
                <a:latin typeface="Segoe UI Light" panose="020B0502040204020203" pitchFamily="34" charset="0"/>
                <a:cs typeface="Segoe UI Light" panose="020B0502040204020203" pitchFamily="34" charset="0"/>
              </a:rPr>
              <a:t>segundo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basado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permanencia</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volúmen</a:t>
            </a:r>
            <a:r>
              <a:rPr lang="en-US" sz="1600" dirty="0">
                <a:latin typeface="Segoe UI Light" panose="020B0502040204020203" pitchFamily="34" charset="0"/>
                <a:cs typeface="Segoe UI Light" panose="020B0502040204020203" pitchFamily="34" charset="0"/>
              </a:rPr>
              <a:t> de control.</a:t>
            </a:r>
          </a:p>
        </p:txBody>
      </p:sp>
      <p:sp>
        <p:nvSpPr>
          <p:cNvPr id="10" name="1 Título">
            <a:extLst>
              <a:ext uri="{FF2B5EF4-FFF2-40B4-BE49-F238E27FC236}">
                <a16:creationId xmlns:a16="http://schemas.microsoft.com/office/drawing/2014/main" id="{FFA2EA99-79C8-463F-BD00-7B1F165D6718}"/>
              </a:ext>
            </a:extLst>
          </p:cNvPr>
          <p:cNvSpPr txBox="1">
            <a:spLocks/>
          </p:cNvSpPr>
          <p:nvPr/>
        </p:nvSpPr>
        <p:spPr>
          <a:xfrm>
            <a:off x="0" y="0"/>
            <a:ext cx="12202666"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Configuración de intervalos de tiempo variables basados en la Condición de </a:t>
            </a:r>
            <a:r>
              <a:rPr lang="es-ES" sz="800" dirty="0" err="1">
                <a:latin typeface="Segoe UI Light" panose="020B0502040204020203" pitchFamily="34" charset="0"/>
                <a:cs typeface="Segoe UI Light" panose="020B0502040204020203" pitchFamily="34" charset="0"/>
              </a:rPr>
              <a:t>Courant</a:t>
            </a:r>
            <a:endParaRPr lang="es-ES" sz="800" dirty="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CA566F9E-E02B-42B0-8856-45AD1923252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219078" y="760400"/>
            <a:ext cx="5565554" cy="5621140"/>
          </a:xfrm>
          <a:prstGeom prst="rect">
            <a:avLst/>
          </a:prstGeom>
        </p:spPr>
      </p:pic>
      <p:sp>
        <p:nvSpPr>
          <p:cNvPr id="7" name="1 Título">
            <a:extLst>
              <a:ext uri="{FF2B5EF4-FFF2-40B4-BE49-F238E27FC236}">
                <a16:creationId xmlns:a16="http://schemas.microsoft.com/office/drawing/2014/main" id="{18107C0A-8D32-487C-B2F2-62B2E3368220}"/>
              </a:ext>
            </a:extLst>
          </p:cNvPr>
          <p:cNvSpPr txBox="1">
            <a:spLocks/>
          </p:cNvSpPr>
          <p:nvPr/>
        </p:nvSpPr>
        <p:spPr>
          <a:xfrm>
            <a:off x="6369918" y="6641975"/>
            <a:ext cx="5832748" cy="216025"/>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CO" sz="800">
                <a:latin typeface="Segoe UI Light" panose="020B0502040204020203" pitchFamily="34" charset="0"/>
                <a:cs typeface="Segoe UI Light" panose="020B0502040204020203" pitchFamily="34" charset="0"/>
              </a:rPr>
              <a:t>Ecuaciones tomadas del manual de HEC-RAS 5.0 2D Modeling Users Manual, pág  4-5.</a:t>
            </a:r>
          </a:p>
        </p:txBody>
      </p:sp>
      <p:pic>
        <p:nvPicPr>
          <p:cNvPr id="11" name="Imagen 10">
            <a:extLst>
              <a:ext uri="{FF2B5EF4-FFF2-40B4-BE49-F238E27FC236}">
                <a16:creationId xmlns:a16="http://schemas.microsoft.com/office/drawing/2014/main" id="{3CC917F7-572D-47BA-9023-EE8F905552F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614515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19880" y="1052736"/>
            <a:ext cx="4320480" cy="4770537"/>
          </a:xfrm>
          <a:prstGeom prst="rect">
            <a:avLst/>
          </a:prstGeom>
          <a:noFill/>
        </p:spPr>
        <p:txBody>
          <a:bodyPr wrap="square" rtlCol="0">
            <a:spAutoFit/>
          </a:bodyPr>
          <a:lstStyle/>
          <a:p>
            <a:pPr algn="ctr"/>
            <a:r>
              <a:rPr lang="en-US" sz="1600" dirty="0" err="1">
                <a:latin typeface="Segoe UI Light" panose="020B0502040204020203" pitchFamily="34" charset="0"/>
                <a:cs typeface="Segoe UI Light" panose="020B0502040204020203" pitchFamily="34" charset="0"/>
              </a:rPr>
              <a:t>Consideraciones</a:t>
            </a:r>
            <a:r>
              <a:rPr lang="en-US" sz="1600" dirty="0">
                <a:latin typeface="Segoe UI Light" panose="020B0502040204020203" pitchFamily="34" charset="0"/>
                <a:cs typeface="Segoe UI Light" panose="020B0502040204020203" pitchFamily="34" charset="0"/>
              </a:rPr>
              <a:t> para el </a:t>
            </a:r>
          </a:p>
          <a:p>
            <a:pPr algn="ct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sinuoso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diseñado</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Para el </a:t>
            </a:r>
            <a:r>
              <a:rPr lang="en-US" sz="1600" dirty="0" err="1">
                <a:latin typeface="Segoe UI Light" panose="020B0502040204020203" pitchFamily="34" charset="0"/>
                <a:cs typeface="Segoe UI Light" panose="020B0502040204020203" pitchFamily="34" charset="0"/>
              </a:rPr>
              <a:t>diseño</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sección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compuesta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inicialmente</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estableció</a:t>
            </a:r>
            <a:r>
              <a:rPr lang="en-US" sz="1600" dirty="0">
                <a:latin typeface="Segoe UI Light" panose="020B0502040204020203" pitchFamily="34" charset="0"/>
                <a:cs typeface="Segoe UI Light" panose="020B0502040204020203" pitchFamily="34" charset="0"/>
              </a:rPr>
              <a:t> que las </a:t>
            </a:r>
            <a:r>
              <a:rPr lang="en-US" sz="1600" dirty="0" err="1">
                <a:latin typeface="Segoe UI Light" panose="020B0502040204020203" pitchFamily="34" charset="0"/>
                <a:cs typeface="Segoe UI Light" panose="020B0502040204020203" pitchFamily="34" charset="0"/>
              </a:rPr>
              <a:t>velocidades</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para la zona de </a:t>
            </a: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dominante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debería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máximo</a:t>
            </a:r>
            <a:r>
              <a:rPr lang="en-US" sz="1600" dirty="0">
                <a:latin typeface="Segoe UI Light" panose="020B0502040204020203" pitchFamily="34" charset="0"/>
                <a:cs typeface="Segoe UI Light" panose="020B0502040204020203" pitchFamily="34" charset="0"/>
              </a:rPr>
              <a:t>, al </a:t>
            </a:r>
            <a:r>
              <a:rPr lang="en-US" sz="1600" dirty="0" err="1">
                <a:latin typeface="Segoe UI Light" panose="020B0502040204020203" pitchFamily="34" charset="0"/>
                <a:cs typeface="Segoe UI Light" panose="020B0502040204020203" pitchFamily="34" charset="0"/>
              </a:rPr>
              <a:t>rededor</a:t>
            </a:r>
            <a:r>
              <a:rPr lang="en-US" sz="1600" dirty="0">
                <a:latin typeface="Segoe UI Light" panose="020B0502040204020203" pitchFamily="34" charset="0"/>
                <a:cs typeface="Segoe UI Light" panose="020B0502040204020203" pitchFamily="34" charset="0"/>
              </a:rPr>
              <a:t> de 2 m/s y para la zona de </a:t>
            </a:r>
            <a:r>
              <a:rPr lang="en-US" sz="1600" dirty="0" err="1">
                <a:latin typeface="Segoe UI Light" panose="020B0502040204020203" pitchFamily="34" charset="0"/>
                <a:cs typeface="Segoe UI Light" panose="020B0502040204020203" pitchFamily="34" charset="0"/>
              </a:rPr>
              <a:t>creciente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3 m/s. </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Aplicando</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criterio</a:t>
            </a:r>
            <a:r>
              <a:rPr lang="en-US" sz="1600" dirty="0">
                <a:latin typeface="Segoe UI Light" panose="020B0502040204020203" pitchFamily="34" charset="0"/>
                <a:cs typeface="Segoe UI Light" panose="020B0502040204020203" pitchFamily="34" charset="0"/>
              </a:rPr>
              <a:t> de Courant y </a:t>
            </a:r>
            <a:r>
              <a:rPr lang="en-US" sz="1600" dirty="0" err="1">
                <a:latin typeface="Segoe UI Light" panose="020B0502040204020203" pitchFamily="34" charset="0"/>
                <a:cs typeface="Segoe UI Light" panose="020B0502040204020203" pitchFamily="34" charset="0"/>
              </a:rPr>
              <a:t>aplicación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completa</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ecuaciones</a:t>
            </a:r>
            <a:r>
              <a:rPr lang="en-US" sz="1600" dirty="0">
                <a:latin typeface="Segoe UI Light" panose="020B0502040204020203" pitchFamily="34" charset="0"/>
                <a:cs typeface="Segoe UI Light" panose="020B0502040204020203" pitchFamily="34" charset="0"/>
              </a:rPr>
              <a:t> de Saint </a:t>
            </a:r>
            <a:r>
              <a:rPr lang="en-US" sz="1600" dirty="0" err="1">
                <a:latin typeface="Segoe UI Light" panose="020B0502040204020203" pitchFamily="34" charset="0"/>
                <a:cs typeface="Segoe UI Light" panose="020B0502040204020203" pitchFamily="34" charset="0"/>
              </a:rPr>
              <a:t>Venan</a:t>
            </a:r>
            <a:r>
              <a:rPr lang="en-US" sz="1600" dirty="0">
                <a:latin typeface="Segoe UI Light" panose="020B0502040204020203" pitchFamily="34" charset="0"/>
                <a:cs typeface="Segoe UI Light" panose="020B0502040204020203" pitchFamily="34" charset="0"/>
              </a:rPr>
              <a:t> (full momentum): para </a:t>
            </a:r>
            <a:r>
              <a:rPr lang="en-US" sz="1600" dirty="0" err="1">
                <a:latin typeface="Segoe UI Light" panose="020B0502040204020203" pitchFamily="34" charset="0"/>
                <a:cs typeface="Segoe UI Light" panose="020B0502040204020203" pitchFamily="34" charset="0"/>
              </a:rPr>
              <a:t>velocidades</a:t>
            </a:r>
            <a:r>
              <a:rPr lang="en-US" sz="1600" dirty="0">
                <a:latin typeface="Segoe UI Light" panose="020B0502040204020203" pitchFamily="34" charset="0"/>
                <a:cs typeface="Segoe UI Light" panose="020B0502040204020203" pitchFamily="34" charset="0"/>
              </a:rPr>
              <a:t> de 2 m/s y </a:t>
            </a:r>
            <a:r>
              <a:rPr lang="en-US" sz="1600" dirty="0" err="1">
                <a:latin typeface="Segoe UI Light" panose="020B0502040204020203" pitchFamily="34" charset="0"/>
                <a:cs typeface="Segoe UI Light" panose="020B0502040204020203" pitchFamily="34" charset="0"/>
              </a:rPr>
              <a:t>lados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aproximados</a:t>
            </a:r>
            <a:r>
              <a:rPr lang="en-US" sz="1600" dirty="0">
                <a:latin typeface="Segoe UI Light" panose="020B0502040204020203" pitchFamily="34" charset="0"/>
                <a:cs typeface="Segoe UI Light" panose="020B0502040204020203" pitchFamily="34" charset="0"/>
              </a:rPr>
              <a:t> a 20 metros, el </a:t>
            </a:r>
            <a:r>
              <a:rPr lang="en-US" sz="1600" dirty="0" err="1">
                <a:latin typeface="Segoe UI Light" panose="020B0502040204020203" pitchFamily="34" charset="0"/>
                <a:cs typeface="Segoe UI Light" panose="020B0502040204020203" pitchFamily="34" charset="0"/>
              </a:rPr>
              <a:t>intervalo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cálculo</a:t>
            </a:r>
            <a:r>
              <a:rPr lang="en-US" sz="1600" dirty="0">
                <a:latin typeface="Segoe UI Light" panose="020B0502040204020203" pitchFamily="34" charset="0"/>
                <a:cs typeface="Segoe UI Light" panose="020B0502040204020203" pitchFamily="34" charset="0"/>
              </a:rPr>
              <a:t> es ser un valor </a:t>
            </a:r>
            <a:r>
              <a:rPr lang="en-US" sz="1600" dirty="0" err="1">
                <a:latin typeface="Segoe UI Light" panose="020B0502040204020203" pitchFamily="34" charset="0"/>
                <a:cs typeface="Segoe UI Light" panose="020B0502040204020203" pitchFamily="34" charset="0"/>
              </a:rPr>
              <a:t>cercano</a:t>
            </a:r>
            <a:r>
              <a:rPr lang="en-US" sz="1600" dirty="0">
                <a:latin typeface="Segoe UI Light" panose="020B0502040204020203" pitchFamily="34" charset="0"/>
                <a:cs typeface="Segoe UI Light" panose="020B0502040204020203" pitchFamily="34" charset="0"/>
              </a:rPr>
              <a:t> a 10 </a:t>
            </a:r>
            <a:r>
              <a:rPr lang="en-US" sz="1600" dirty="0" err="1">
                <a:latin typeface="Segoe UI Light" panose="020B0502040204020203" pitchFamily="34" charset="0"/>
                <a:cs typeface="Segoe UI Light" panose="020B0502040204020203" pitchFamily="34" charset="0"/>
              </a:rPr>
              <a:t>segundos</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velocidades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máximas</a:t>
            </a:r>
            <a:r>
              <a:rPr lang="en-US" sz="1600" dirty="0">
                <a:latin typeface="Segoe UI Light" panose="020B0502040204020203" pitchFamily="34" charset="0"/>
                <a:cs typeface="Segoe UI Light" panose="020B0502040204020203" pitchFamily="34" charset="0"/>
              </a:rPr>
              <a:t> de 3 m/s el </a:t>
            </a:r>
            <a:r>
              <a:rPr lang="en-US" sz="1600" dirty="0" err="1">
                <a:latin typeface="Segoe UI Light" panose="020B0502040204020203" pitchFamily="34" charset="0"/>
                <a:cs typeface="Segoe UI Light" panose="020B0502040204020203" pitchFamily="34" charset="0"/>
              </a:rPr>
              <a:t>intervalo</a:t>
            </a:r>
            <a:r>
              <a:rPr lang="en-US" sz="1600" dirty="0">
                <a:latin typeface="Segoe UI Light" panose="020B0502040204020203" pitchFamily="34" charset="0"/>
                <a:cs typeface="Segoe UI Light" panose="020B0502040204020203" pitchFamily="34" charset="0"/>
              </a:rPr>
              <a:t> es de 5 </a:t>
            </a:r>
            <a:r>
              <a:rPr lang="en-US" sz="1600" dirty="0" err="1">
                <a:latin typeface="Segoe UI Light" panose="020B0502040204020203" pitchFamily="34" charset="0"/>
                <a:cs typeface="Segoe UI Light" panose="020B0502040204020203" pitchFamily="34" charset="0"/>
              </a:rPr>
              <a:t>segundos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aproximadamente</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Para la </a:t>
            </a:r>
            <a:r>
              <a:rPr lang="en-US" sz="1600" dirty="0" err="1">
                <a:latin typeface="Segoe UI Light" panose="020B0502040204020203" pitchFamily="34" charset="0"/>
                <a:cs typeface="Segoe UI Light" panose="020B0502040204020203" pitchFamily="34" charset="0"/>
              </a:rPr>
              <a:t>aplicación</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onda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difusiva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utilizar</a:t>
            </a:r>
            <a:r>
              <a:rPr lang="en-US" sz="1600" dirty="0">
                <a:latin typeface="Segoe UI Light" panose="020B0502040204020203" pitchFamily="34" charset="0"/>
                <a:cs typeface="Segoe UI Light" panose="020B0502040204020203" pitchFamily="34" charset="0"/>
              </a:rPr>
              <a:t> 20 o 10 </a:t>
            </a:r>
            <a:r>
              <a:rPr lang="en-US" sz="1600" dirty="0" err="1">
                <a:latin typeface="Segoe UI Light" panose="020B0502040204020203" pitchFamily="34" charset="0"/>
                <a:cs typeface="Segoe UI Light" panose="020B0502040204020203" pitchFamily="34" charset="0"/>
              </a:rPr>
              <a:t>segundos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respectivamente</a:t>
            </a:r>
            <a:r>
              <a:rPr lang="en-US" sz="1600" dirty="0">
                <a:latin typeface="Segoe UI Light" panose="020B0502040204020203" pitchFamily="34" charset="0"/>
                <a:cs typeface="Segoe UI Light" panose="020B0502040204020203" pitchFamily="34" charset="0"/>
              </a:rPr>
              <a:t>.</a:t>
            </a:r>
          </a:p>
        </p:txBody>
      </p:sp>
      <p:pic>
        <p:nvPicPr>
          <p:cNvPr id="6" name="Imagen 5">
            <a:extLst>
              <a:ext uri="{FF2B5EF4-FFF2-40B4-BE49-F238E27FC236}">
                <a16:creationId xmlns:a16="http://schemas.microsoft.com/office/drawing/2014/main" id="{FF8F2963-DDD1-411B-A1C5-A8C10DD73CD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511824" y="1306710"/>
            <a:ext cx="7422218" cy="4336330"/>
          </a:xfrm>
          <a:prstGeom prst="rect">
            <a:avLst/>
          </a:prstGeom>
        </p:spPr>
      </p:pic>
      <p:pic>
        <p:nvPicPr>
          <p:cNvPr id="7" name="Imagen 6">
            <a:extLst>
              <a:ext uri="{FF2B5EF4-FFF2-40B4-BE49-F238E27FC236}">
                <a16:creationId xmlns:a16="http://schemas.microsoft.com/office/drawing/2014/main" id="{E8C7CCD3-0122-4F0B-B03C-F07B4C500EF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53B89A9F-C9DF-4BDE-910D-68E140BF0EFA}"/>
              </a:ext>
            </a:extLst>
          </p:cNvPr>
          <p:cNvSpPr txBox="1">
            <a:spLocks/>
          </p:cNvSpPr>
          <p:nvPr/>
        </p:nvSpPr>
        <p:spPr>
          <a:xfrm>
            <a:off x="0" y="0"/>
            <a:ext cx="12202666"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Configuración de intervalos de tiempo variables basados en la Condición de </a:t>
            </a:r>
            <a:r>
              <a:rPr lang="es-ES" sz="800" dirty="0" err="1">
                <a:latin typeface="Segoe UI Light" panose="020B0502040204020203" pitchFamily="34" charset="0"/>
                <a:cs typeface="Segoe UI Light" panose="020B0502040204020203" pitchFamily="34" charset="0"/>
              </a:rPr>
              <a:t>Courant</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869324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79C8E78F-6A82-495C-ABCD-371C1FED4F24}"/>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4943872" y="2214726"/>
            <a:ext cx="7072511" cy="4324537"/>
          </a:xfrm>
          <a:prstGeom prst="rect">
            <a:avLst/>
          </a:prstGeom>
        </p:spPr>
      </p:pic>
      <p:sp>
        <p:nvSpPr>
          <p:cNvPr id="8" name="7 CuadroTexto"/>
          <p:cNvSpPr txBox="1"/>
          <p:nvPr/>
        </p:nvSpPr>
        <p:spPr>
          <a:xfrm>
            <a:off x="304477" y="386908"/>
            <a:ext cx="11711906" cy="1815882"/>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menú</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Options – Calculation Options and Tolerances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Seleccionar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casilla</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Adjust Time Step Based on Courant</a:t>
            </a:r>
            <a:r>
              <a:rPr lang="en-US" sz="1600" dirty="0">
                <a:latin typeface="Segoe UI Light" panose="020B0502040204020203" pitchFamily="34" charset="0"/>
                <a:cs typeface="Segoe UI Light" panose="020B0502040204020203" pitchFamily="34" charset="0"/>
              </a:rPr>
              <a:t>. Los </a:t>
            </a:r>
            <a:r>
              <a:rPr lang="en-US" sz="1600" dirty="0" err="1">
                <a:latin typeface="Segoe UI Light" panose="020B0502040204020203" pitchFamily="34" charset="0"/>
                <a:cs typeface="Segoe UI Light" panose="020B0502040204020203" pitchFamily="34" charset="0"/>
              </a:rPr>
              <a:t>valores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definidos</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máximo</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mínimo</a:t>
            </a:r>
            <a:r>
              <a:rPr lang="en-US" sz="1600" dirty="0">
                <a:latin typeface="Segoe UI Light" panose="020B0502040204020203" pitchFamily="34" charset="0"/>
                <a:cs typeface="Segoe UI Light" panose="020B0502040204020203" pitchFamily="34" charset="0"/>
              </a:rPr>
              <a:t> Courant </a:t>
            </a:r>
            <a:r>
              <a:rPr lang="en-US" sz="1600" dirty="0" err="1">
                <a:latin typeface="Segoe UI Light" panose="020B0502040204020203" pitchFamily="34" charset="0"/>
                <a:cs typeface="Segoe UI Light" panose="020B0502040204020203" pitchFamily="34" charset="0"/>
              </a:rPr>
              <a:t>dependerán</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tipo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ecuaciones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utilizado</a:t>
            </a:r>
            <a:r>
              <a:rPr lang="en-US" sz="1600" dirty="0">
                <a:latin typeface="Segoe UI Light" panose="020B0502040204020203" pitchFamily="34" charset="0"/>
                <a:cs typeface="Segoe UI Light" panose="020B0502040204020203" pitchFamily="34" charset="0"/>
              </a:rPr>
              <a:t> para resolver </a:t>
            </a:r>
            <a:r>
              <a:rPr lang="en-US" sz="1600" dirty="0" err="1">
                <a:latin typeface="Segoe UI Light" panose="020B0502040204020203" pitchFamily="34" charset="0"/>
                <a:cs typeface="Segoe UI Light" panose="020B0502040204020203" pitchFamily="34" charset="0"/>
              </a:rPr>
              <a:t>hidráulicamente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configuración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deberá</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aplica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independientemente</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cada</a:t>
            </a:r>
            <a:r>
              <a:rPr lang="en-US" sz="1600" dirty="0">
                <a:latin typeface="Segoe UI Light" panose="020B0502040204020203" pitchFamily="34" charset="0"/>
                <a:cs typeface="Segoe UI Light" panose="020B0502040204020203" pitchFamily="34" charset="0"/>
              </a:rPr>
              <a:t> plan.</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Para </a:t>
            </a:r>
            <a:r>
              <a:rPr lang="en-US" sz="1600" dirty="0" err="1">
                <a:latin typeface="Segoe UI Light" panose="020B0502040204020203" pitchFamily="34" charset="0"/>
                <a:cs typeface="Segoe UI Light" panose="020B0502040204020203" pitchFamily="34" charset="0"/>
              </a:rPr>
              <a:t>aplicar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ecuación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completa</a:t>
            </a:r>
            <a:r>
              <a:rPr lang="en-US" sz="1600" dirty="0">
                <a:latin typeface="Segoe UI Light" panose="020B0502040204020203" pitchFamily="34" charset="0"/>
                <a:cs typeface="Segoe UI Light" panose="020B0502040204020203" pitchFamily="34" charset="0"/>
              </a:rPr>
              <a:t> de Saint </a:t>
            </a:r>
            <a:r>
              <a:rPr lang="en-US" sz="1600" dirty="0" err="1">
                <a:latin typeface="Segoe UI Light" panose="020B0502040204020203" pitchFamily="34" charset="0"/>
                <a:cs typeface="Segoe UI Light" panose="020B0502040204020203" pitchFamily="34" charset="0"/>
              </a:rPr>
              <a:t>Venan</a:t>
            </a:r>
            <a:r>
              <a:rPr lang="en-US" sz="1600" dirty="0">
                <a:latin typeface="Segoe UI Light" panose="020B0502040204020203" pitchFamily="34" charset="0"/>
                <a:cs typeface="Segoe UI Light" panose="020B0502040204020203" pitchFamily="34" charset="0"/>
              </a:rPr>
              <a:t> (full momentum): </a:t>
            </a:r>
            <a:r>
              <a:rPr lang="en-US" sz="1600" dirty="0" err="1">
                <a:latin typeface="Segoe UI Light" panose="020B0502040204020203" pitchFamily="34" charset="0"/>
                <a:cs typeface="Segoe UI Light" panose="020B0502040204020203" pitchFamily="34" charset="0"/>
              </a:rPr>
              <a:t>Utilizar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valores</a:t>
            </a:r>
            <a:r>
              <a:rPr lang="en-US" sz="1600" dirty="0">
                <a:latin typeface="Segoe UI Light" panose="020B0502040204020203" pitchFamily="34" charset="0"/>
                <a:cs typeface="Segoe UI Light" panose="020B0502040204020203" pitchFamily="34" charset="0"/>
              </a:rPr>
              <a:t> de Courant, </a:t>
            </a:r>
            <a:r>
              <a:rPr lang="en-US" sz="1600" dirty="0" err="1">
                <a:latin typeface="Segoe UI Light" panose="020B0502040204020203" pitchFamily="34" charset="0"/>
                <a:cs typeface="Segoe UI Light" panose="020B0502040204020203" pitchFamily="34" charset="0"/>
              </a:rPr>
              <a:t>p.e</a:t>
            </a:r>
            <a:r>
              <a:rPr lang="en-US" sz="1600" dirty="0">
                <a:latin typeface="Segoe UI Light" panose="020B0502040204020203" pitchFamily="34" charset="0"/>
                <a:cs typeface="Segoe UI Light" panose="020B0502040204020203" pitchFamily="34" charset="0"/>
              </a:rPr>
              <a:t>, </a:t>
            </a:r>
            <a:r>
              <a:rPr lang="en-US" sz="1600">
                <a:latin typeface="Segoe UI Light" panose="020B0502040204020203" pitchFamily="34" charset="0"/>
                <a:cs typeface="Segoe UI Light" panose="020B0502040204020203" pitchFamily="34" charset="0"/>
              </a:rPr>
              <a:t>entre +- 1.0 </a:t>
            </a:r>
            <a:r>
              <a:rPr lang="en-US" sz="1600" dirty="0">
                <a:latin typeface="Segoe UI Light" panose="020B0502040204020203" pitchFamily="34" charset="0"/>
                <a:cs typeface="Segoe UI Light" panose="020B0502040204020203" pitchFamily="34" charset="0"/>
              </a:rPr>
              <a:t>y 3.0.</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Para </a:t>
            </a:r>
            <a:r>
              <a:rPr lang="en-US" sz="1600" dirty="0" err="1">
                <a:latin typeface="Segoe UI Light" panose="020B0502040204020203" pitchFamily="34" charset="0"/>
                <a:cs typeface="Segoe UI Light" panose="020B0502040204020203" pitchFamily="34" charset="0"/>
              </a:rPr>
              <a:t>ecuaciones</a:t>
            </a:r>
            <a:r>
              <a:rPr lang="en-US" sz="1600" dirty="0">
                <a:latin typeface="Segoe UI Light" panose="020B0502040204020203" pitchFamily="34" charset="0"/>
                <a:cs typeface="Segoe UI Light" panose="020B0502040204020203" pitchFamily="34" charset="0"/>
              </a:rPr>
              <a:t> solo de </a:t>
            </a:r>
            <a:r>
              <a:rPr lang="en-US" sz="1600" dirty="0" err="1">
                <a:latin typeface="Segoe UI Light" panose="020B0502040204020203" pitchFamily="34" charset="0"/>
                <a:cs typeface="Segoe UI Light" panose="020B0502040204020203" pitchFamily="34" charset="0"/>
              </a:rPr>
              <a:t>onda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difusiva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valores</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ejemplo</a:t>
            </a:r>
            <a:r>
              <a:rPr lang="en-US" sz="1600" dirty="0">
                <a:latin typeface="Segoe UI Light" panose="020B0502040204020203" pitchFamily="34" charset="0"/>
                <a:cs typeface="Segoe UI Light" panose="020B0502040204020203" pitchFamily="34" charset="0"/>
              </a:rPr>
              <a:t>, entre +- 2.0 y 5.0.</a:t>
            </a:r>
          </a:p>
        </p:txBody>
      </p:sp>
      <p:pic>
        <p:nvPicPr>
          <p:cNvPr id="9" name="Imagen 8">
            <a:extLst>
              <a:ext uri="{FF2B5EF4-FFF2-40B4-BE49-F238E27FC236}">
                <a16:creationId xmlns:a16="http://schemas.microsoft.com/office/drawing/2014/main" id="{128DC54F-803B-4C2D-8284-DDAEA61BEC3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00127" y="2659496"/>
            <a:ext cx="360000" cy="360000"/>
          </a:xfrm>
          <a:prstGeom prst="rect">
            <a:avLst/>
          </a:prstGeom>
        </p:spPr>
      </p:pic>
      <p:pic>
        <p:nvPicPr>
          <p:cNvPr id="12" name="Imagen 11">
            <a:extLst>
              <a:ext uri="{FF2B5EF4-FFF2-40B4-BE49-F238E27FC236}">
                <a16:creationId xmlns:a16="http://schemas.microsoft.com/office/drawing/2014/main" id="{01A791F6-1D8D-4F13-BDD2-B43EAB3F48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72932" y="3019496"/>
            <a:ext cx="360000" cy="360000"/>
          </a:xfrm>
          <a:prstGeom prst="rect">
            <a:avLst/>
          </a:prstGeom>
        </p:spPr>
      </p:pic>
      <p:pic>
        <p:nvPicPr>
          <p:cNvPr id="3" name="Imagen 2">
            <a:extLst>
              <a:ext uri="{FF2B5EF4-FFF2-40B4-BE49-F238E27FC236}">
                <a16:creationId xmlns:a16="http://schemas.microsoft.com/office/drawing/2014/main" id="{92EE5D7C-74F6-4E8E-85C9-F1386E91FE57}"/>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304477" y="2180483"/>
            <a:ext cx="4343909" cy="4676776"/>
          </a:xfrm>
          <a:prstGeom prst="rect">
            <a:avLst/>
          </a:prstGeom>
        </p:spPr>
      </p:pic>
      <p:pic>
        <p:nvPicPr>
          <p:cNvPr id="13" name="Imagen 12">
            <a:extLst>
              <a:ext uri="{FF2B5EF4-FFF2-40B4-BE49-F238E27FC236}">
                <a16:creationId xmlns:a16="http://schemas.microsoft.com/office/drawing/2014/main" id="{E079EB1D-F8CF-44E8-A857-4D0A299778F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39616" y="4653136"/>
            <a:ext cx="360000" cy="360000"/>
          </a:xfrm>
          <a:prstGeom prst="rect">
            <a:avLst/>
          </a:prstGeom>
        </p:spPr>
      </p:pic>
      <p:pic>
        <p:nvPicPr>
          <p:cNvPr id="10" name="Imagen 9">
            <a:extLst>
              <a:ext uri="{FF2B5EF4-FFF2-40B4-BE49-F238E27FC236}">
                <a16:creationId xmlns:a16="http://schemas.microsoft.com/office/drawing/2014/main" id="{35874C59-A1E0-4F77-82EA-E3DE96D1C37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683D5997-2E95-4CAC-A663-3A1BF95D44C6}"/>
              </a:ext>
            </a:extLst>
          </p:cNvPr>
          <p:cNvSpPr txBox="1">
            <a:spLocks/>
          </p:cNvSpPr>
          <p:nvPr/>
        </p:nvSpPr>
        <p:spPr>
          <a:xfrm>
            <a:off x="0" y="0"/>
            <a:ext cx="12202666"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Configuración de intervalos de tiempo variables basados en la Condición de </a:t>
            </a:r>
            <a:r>
              <a:rPr lang="es-ES" sz="800" dirty="0" err="1">
                <a:latin typeface="Segoe UI Light" panose="020B0502040204020203" pitchFamily="34" charset="0"/>
                <a:cs typeface="Segoe UI Light" panose="020B0502040204020203" pitchFamily="34" charset="0"/>
              </a:rPr>
              <a:t>Courant</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171958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665730" y="3105834"/>
            <a:ext cx="4860540" cy="646331"/>
          </a:xfrm>
          <a:prstGeom prst="rect">
            <a:avLst/>
          </a:prstGeom>
          <a:noFill/>
        </p:spPr>
        <p:txBody>
          <a:bodyPr wrap="square" rtlCol="0">
            <a:spAutoFit/>
          </a:bodyPr>
          <a:lstStyle/>
          <a:p>
            <a:pPr algn="ctr"/>
            <a:r>
              <a:rPr lang="en-US" dirty="0">
                <a:latin typeface="Segoe UI Light" panose="020B0502040204020203" pitchFamily="34" charset="0"/>
                <a:cs typeface="Segoe UI Light" panose="020B0502040204020203" pitchFamily="34" charset="0"/>
              </a:rPr>
              <a:t>3. </a:t>
            </a:r>
            <a:r>
              <a:rPr lang="es-CO" dirty="0">
                <a:latin typeface="Segoe UI Light" panose="020B0502040204020203" pitchFamily="34" charset="0"/>
                <a:cs typeface="Segoe UI Light" panose="020B0502040204020203" pitchFamily="34" charset="0"/>
              </a:rPr>
              <a:t>Ecuaciones para resolver el modelo hidráulico: Saint </a:t>
            </a:r>
            <a:r>
              <a:rPr lang="es-CO" dirty="0" err="1">
                <a:latin typeface="Segoe UI Light" panose="020B0502040204020203" pitchFamily="34" charset="0"/>
                <a:cs typeface="Segoe UI Light" panose="020B0502040204020203" pitchFamily="34" charset="0"/>
              </a:rPr>
              <a:t>Venan</a:t>
            </a:r>
            <a:r>
              <a:rPr lang="es-CO" dirty="0">
                <a:latin typeface="Segoe UI Light" panose="020B0502040204020203" pitchFamily="34" charset="0"/>
                <a:cs typeface="Segoe UI Light" panose="020B0502040204020203" pitchFamily="34" charset="0"/>
              </a:rPr>
              <a:t> completo u Onda Difusiva</a:t>
            </a:r>
            <a:endParaRPr lang="en-US"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285F740D-0E3A-41A6-BA62-2350590223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438907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63352" y="766732"/>
            <a:ext cx="11665296" cy="5078313"/>
          </a:xfrm>
          <a:prstGeom prst="rect">
            <a:avLst/>
          </a:prstGeom>
          <a:noFill/>
        </p:spPr>
        <p:txBody>
          <a:bodyPr wrap="square" rtlCol="0">
            <a:spAutoFit/>
          </a:bodyPr>
          <a:lstStyle/>
          <a:p>
            <a:pPr algn="just"/>
            <a:r>
              <a:rPr lang="en-US" dirty="0" err="1">
                <a:latin typeface="Segoe UI Light" panose="020B0502040204020203" pitchFamily="34" charset="0"/>
                <a:cs typeface="Segoe UI Light" panose="020B0502040204020203" pitchFamily="34" charset="0"/>
              </a:rPr>
              <a:t>Consideraciones</a:t>
            </a:r>
            <a:r>
              <a:rPr lang="en-US" dirty="0">
                <a:latin typeface="Segoe UI Light" panose="020B0502040204020203" pitchFamily="34" charset="0"/>
                <a:cs typeface="Segoe UI Light" panose="020B0502040204020203" pitchFamily="34" charset="0"/>
              </a:rPr>
              <a:t> </a:t>
            </a:r>
            <a:r>
              <a:rPr lang="en-US" dirty="0" err="1">
                <a:latin typeface="Segoe UI Light" panose="020B0502040204020203" pitchFamily="34" charset="0"/>
                <a:cs typeface="Segoe UI Light" panose="020B0502040204020203" pitchFamily="34" charset="0"/>
              </a:rPr>
              <a:t>generales</a:t>
            </a:r>
            <a:endParaRPr lang="en-US"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HEC-RAS 5, </a:t>
            </a:r>
            <a:r>
              <a:rPr lang="en-US" sz="1600" dirty="0" err="1">
                <a:latin typeface="Segoe UI Light" panose="020B0502040204020203" pitchFamily="34" charset="0"/>
                <a:cs typeface="Segoe UI Light" panose="020B0502040204020203" pitchFamily="34" charset="0"/>
              </a:rPr>
              <a:t>tiene</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habilidad</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ejecutar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modelaciones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bidimensionales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no </a:t>
            </a:r>
            <a:r>
              <a:rPr lang="en-US" sz="1600" dirty="0" err="1">
                <a:latin typeface="Segoe UI Light" panose="020B0502040204020203" pitchFamily="34" charset="0"/>
                <a:cs typeface="Segoe UI Light" panose="020B0502040204020203" pitchFamily="34" charset="0"/>
              </a:rPr>
              <a:t>permanente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utilizando</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ecuaciones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completas</a:t>
            </a:r>
            <a:r>
              <a:rPr lang="en-US" sz="1600" dirty="0">
                <a:latin typeface="Segoe UI Light" panose="020B0502040204020203" pitchFamily="34" charset="0"/>
                <a:cs typeface="Segoe UI Light" panose="020B0502040204020203" pitchFamily="34" charset="0"/>
              </a:rPr>
              <a:t> de Saint </a:t>
            </a:r>
            <a:r>
              <a:rPr lang="en-US" sz="1600" dirty="0" err="1">
                <a:latin typeface="Segoe UI Light" panose="020B0502040204020203" pitchFamily="34" charset="0"/>
                <a:cs typeface="Segoe UI Light" panose="020B0502040204020203" pitchFamily="34" charset="0"/>
              </a:rPr>
              <a:t>Venan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incluídos</a:t>
            </a:r>
            <a:r>
              <a:rPr lang="en-US" sz="1600" dirty="0">
                <a:latin typeface="Segoe UI Light" panose="020B0502040204020203" pitchFamily="34" charset="0"/>
                <a:cs typeface="Segoe UI Light" panose="020B0502040204020203" pitchFamily="34" charset="0"/>
              </a:rPr>
              <a:t> los </a:t>
            </a:r>
            <a:r>
              <a:rPr lang="en-US" sz="1600" dirty="0" err="1">
                <a:latin typeface="Segoe UI Light" panose="020B0502040204020203" pitchFamily="34" charset="0"/>
                <a:cs typeface="Segoe UI Light" panose="020B0502040204020203" pitchFamily="34" charset="0"/>
              </a:rPr>
              <a:t>términos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correspondiente</a:t>
            </a:r>
            <a:r>
              <a:rPr lang="en-US" sz="1600" dirty="0">
                <a:latin typeface="Segoe UI Light" panose="020B0502040204020203" pitchFamily="34" charset="0"/>
                <a:cs typeface="Segoe UI Light" panose="020B0502040204020203" pitchFamily="34" charset="0"/>
              </a:rPr>
              <a:t> a la </a:t>
            </a:r>
            <a:r>
              <a:rPr lang="en-US" sz="1600" dirty="0" err="1">
                <a:latin typeface="Segoe UI Light" panose="020B0502040204020203" pitchFamily="34" charset="0"/>
                <a:cs typeface="Segoe UI Light" panose="020B0502040204020203" pitchFamily="34" charset="0"/>
              </a:rPr>
              <a:t>modelación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turbulencia</a:t>
            </a:r>
            <a:r>
              <a:rPr lang="en-US" sz="1600" dirty="0">
                <a:latin typeface="Segoe UI Light" panose="020B0502040204020203" pitchFamily="34" charset="0"/>
                <a:cs typeface="Segoe UI Light" panose="020B0502040204020203" pitchFamily="34" charset="0"/>
              </a:rPr>
              <a:t> y el </a:t>
            </a:r>
            <a:r>
              <a:rPr lang="en-US" sz="1600" dirty="0" err="1">
                <a:latin typeface="Segoe UI Light" panose="020B0502040204020203" pitchFamily="34" charset="0"/>
                <a:cs typeface="Segoe UI Light" panose="020B0502040204020203" pitchFamily="34" charset="0"/>
              </a:rPr>
              <a:t>efecto</a:t>
            </a:r>
            <a:r>
              <a:rPr lang="en-US" sz="1600" dirty="0">
                <a:latin typeface="Segoe UI Light" panose="020B0502040204020203" pitchFamily="34" charset="0"/>
                <a:cs typeface="Segoe UI Light" panose="020B0502040204020203" pitchFamily="34" charset="0"/>
              </a:rPr>
              <a:t> Coriolis. Por </a:t>
            </a:r>
            <a:r>
              <a:rPr lang="en-US" sz="1600" dirty="0" err="1">
                <a:latin typeface="Segoe UI Light" panose="020B0502040204020203" pitchFamily="34" charset="0"/>
                <a:cs typeface="Segoe UI Light" panose="020B0502040204020203" pitchFamily="34" charset="0"/>
              </a:rPr>
              <a:t>defecto</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herramienta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resuelve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utilizando</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ecuaciones</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Onda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Difusiva</a:t>
            </a:r>
            <a:r>
              <a:rPr lang="en-US" sz="1600" dirty="0">
                <a:latin typeface="Segoe UI Light" panose="020B0502040204020203" pitchFamily="34" charset="0"/>
                <a:cs typeface="Segoe UI Light" panose="020B0502040204020203" pitchFamily="34" charset="0"/>
              </a:rPr>
              <a:t> con el </a:t>
            </a:r>
            <a:r>
              <a:rPr lang="en-US" sz="1600" dirty="0" err="1">
                <a:latin typeface="Segoe UI Light" panose="020B0502040204020203" pitchFamily="34" charset="0"/>
                <a:cs typeface="Segoe UI Light" panose="020B0502040204020203" pitchFamily="34" charset="0"/>
              </a:rPr>
              <a:t>propósito</a:t>
            </a:r>
            <a:r>
              <a:rPr lang="en-US" sz="1600" dirty="0">
                <a:latin typeface="Segoe UI Light" panose="020B0502040204020203" pitchFamily="34" charset="0"/>
                <a:cs typeface="Segoe UI Light" panose="020B0502040204020203" pitchFamily="34" charset="0"/>
              </a:rPr>
              <a:t> de que el </a:t>
            </a:r>
            <a:r>
              <a:rPr lang="en-US" sz="1600" dirty="0" err="1">
                <a:latin typeface="Segoe UI Light" panose="020B0502040204020203" pitchFamily="34" charset="0"/>
                <a:cs typeface="Segoe UI Light" panose="020B0502040204020203" pitchFamily="34" charset="0"/>
              </a:rPr>
              <a:t>usuario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solucione</a:t>
            </a:r>
            <a:r>
              <a:rPr lang="en-US" sz="1600" dirty="0">
                <a:latin typeface="Segoe UI Light" panose="020B0502040204020203" pitchFamily="34" charset="0"/>
                <a:cs typeface="Segoe UI Light" panose="020B0502040204020203" pitchFamily="34" charset="0"/>
              </a:rPr>
              <a:t> primero, </a:t>
            </a:r>
            <a:r>
              <a:rPr lang="en-US" sz="1600" dirty="0" err="1">
                <a:latin typeface="Segoe UI Light" panose="020B0502040204020203" pitchFamily="34" charset="0"/>
                <a:cs typeface="Segoe UI Light" panose="020B0502040204020203" pitchFamily="34" charset="0"/>
              </a:rPr>
              <a:t>todos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aquellos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problemas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relacionados</a:t>
            </a:r>
            <a:r>
              <a:rPr lang="en-US" sz="1600" dirty="0">
                <a:latin typeface="Segoe UI Light" panose="020B0502040204020203" pitchFamily="34" charset="0"/>
                <a:cs typeface="Segoe UI Light" panose="020B0502040204020203" pitchFamily="34" charset="0"/>
              </a:rPr>
              <a:t> con la </a:t>
            </a:r>
            <a:r>
              <a:rPr lang="en-US" sz="1600" dirty="0" err="1">
                <a:latin typeface="Segoe UI Light" panose="020B0502040204020203" pitchFamily="34" charset="0"/>
                <a:cs typeface="Segoe UI Light" panose="020B0502040204020203" pitchFamily="34" charset="0"/>
              </a:rPr>
              <a:t>malla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estructurada</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condiciones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y los </a:t>
            </a:r>
            <a:r>
              <a:rPr lang="en-US" sz="1600" dirty="0" err="1">
                <a:latin typeface="Segoe UI Light" panose="020B0502040204020203" pitchFamily="34" charset="0"/>
                <a:cs typeface="Segoe UI Light" panose="020B0502040204020203" pitchFamily="34" charset="0"/>
              </a:rPr>
              <a:t>datos</a:t>
            </a:r>
            <a:r>
              <a:rPr lang="en-US" sz="1600" dirty="0">
                <a:latin typeface="Segoe UI Light" panose="020B0502040204020203" pitchFamily="34" charset="0"/>
                <a:cs typeface="Segoe UI Light" panose="020B0502040204020203" pitchFamily="34" charset="0"/>
              </a:rPr>
              <a:t> de entrada. </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Una </a:t>
            </a:r>
            <a:r>
              <a:rPr lang="en-US" sz="1600" dirty="0" err="1">
                <a:latin typeface="Segoe UI Light" panose="020B0502040204020203" pitchFamily="34" charset="0"/>
                <a:cs typeface="Segoe UI Light" panose="020B0502040204020203" pitchFamily="34" charset="0"/>
              </a:rPr>
              <a:t>vez</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sea </a:t>
            </a:r>
            <a:r>
              <a:rPr lang="en-US" sz="1600" dirty="0" err="1">
                <a:latin typeface="Segoe UI Light" panose="020B0502040204020203" pitchFamily="34" charset="0"/>
                <a:cs typeface="Segoe UI Light" panose="020B0502040204020203" pitchFamily="34" charset="0"/>
              </a:rPr>
              <a:t>estable</a:t>
            </a:r>
            <a:r>
              <a:rPr lang="en-US" sz="1600" dirty="0">
                <a:latin typeface="Segoe UI Light" panose="020B0502040204020203" pitchFamily="34" charset="0"/>
                <a:cs typeface="Segoe UI Light" panose="020B0502040204020203" pitchFamily="34" charset="0"/>
              </a:rPr>
              <a:t> y se </a:t>
            </a:r>
            <a:r>
              <a:rPr lang="en-US" sz="1600" dirty="0" err="1">
                <a:latin typeface="Segoe UI Light" panose="020B0502040204020203" pitchFamily="34" charset="0"/>
                <a:cs typeface="Segoe UI Light" panose="020B0502040204020203" pitchFamily="34" charset="0"/>
              </a:rPr>
              <a:t>verifiquen</a:t>
            </a:r>
            <a:r>
              <a:rPr lang="en-US" sz="1600" dirty="0">
                <a:latin typeface="Segoe UI Light" panose="020B0502040204020203" pitchFamily="34" charset="0"/>
                <a:cs typeface="Segoe UI Light" panose="020B0502040204020203" pitchFamily="34" charset="0"/>
              </a:rPr>
              <a:t> los </a:t>
            </a:r>
            <a:r>
              <a:rPr lang="en-US" sz="1600" dirty="0" err="1">
                <a:latin typeface="Segoe UI Light" panose="020B0502040204020203" pitchFamily="34" charset="0"/>
                <a:cs typeface="Segoe UI Light" panose="020B0502040204020203" pitchFamily="34" charset="0"/>
              </a:rPr>
              <a:t>numeros</a:t>
            </a:r>
            <a:r>
              <a:rPr lang="en-US" sz="1600" dirty="0">
                <a:latin typeface="Segoe UI Light" panose="020B0502040204020203" pitchFamily="34" charset="0"/>
                <a:cs typeface="Segoe UI Light" panose="020B0502040204020203" pitchFamily="34" charset="0"/>
              </a:rPr>
              <a:t> de Courant por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podrá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optar</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ejecutar</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utilizando</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ecuaciones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completas</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endParaRPr lang="en-US" sz="1600" dirty="0">
              <a:latin typeface="Segoe UI Light" panose="020B0502040204020203" pitchFamily="34" charset="0"/>
              <a:cs typeface="Segoe UI Light" panose="020B0502040204020203" pitchFamily="34" charset="0"/>
            </a:endParaRPr>
          </a:p>
          <a:p>
            <a:pPr algn="just"/>
            <a:r>
              <a:rPr lang="en-US" dirty="0" err="1">
                <a:latin typeface="Segoe UI Light" panose="020B0502040204020203" pitchFamily="34" charset="0"/>
                <a:cs typeface="Segoe UI Light" panose="020B0502040204020203" pitchFamily="34" charset="0"/>
              </a:rPr>
              <a:t>Situaciones</a:t>
            </a:r>
            <a:r>
              <a:rPr lang="en-US" dirty="0">
                <a:latin typeface="Segoe UI Light" panose="020B0502040204020203" pitchFamily="34" charset="0"/>
                <a:cs typeface="Segoe UI Light" panose="020B0502040204020203" pitchFamily="34" charset="0"/>
              </a:rPr>
              <a:t> </a:t>
            </a:r>
            <a:r>
              <a:rPr lang="en-US" dirty="0" err="1">
                <a:latin typeface="Segoe UI Light" panose="020B0502040204020203" pitchFamily="34" charset="0"/>
                <a:cs typeface="Segoe UI Light" panose="020B0502040204020203" pitchFamily="34" charset="0"/>
              </a:rPr>
              <a:t>particulares</a:t>
            </a:r>
            <a:r>
              <a:rPr lang="en-US" dirty="0">
                <a:latin typeface="Segoe UI Light" panose="020B0502040204020203" pitchFamily="34" charset="0"/>
                <a:cs typeface="Segoe UI Light" panose="020B0502040204020203" pitchFamily="34" charset="0"/>
              </a:rPr>
              <a:t> </a:t>
            </a:r>
            <a:r>
              <a:rPr lang="en-US" dirty="0" err="1">
                <a:latin typeface="Segoe UI Light" panose="020B0502040204020203" pitchFamily="34" charset="0"/>
                <a:cs typeface="Segoe UI Light" panose="020B0502040204020203" pitchFamily="34" charset="0"/>
              </a:rPr>
              <a:t>en</a:t>
            </a:r>
            <a:r>
              <a:rPr lang="en-US" dirty="0">
                <a:latin typeface="Segoe UI Light" panose="020B0502040204020203" pitchFamily="34" charset="0"/>
                <a:cs typeface="Segoe UI Light" panose="020B0502040204020203" pitchFamily="34" charset="0"/>
              </a:rPr>
              <a:t> las que se </a:t>
            </a:r>
            <a:r>
              <a:rPr lang="en-US" dirty="0" err="1">
                <a:latin typeface="Segoe UI Light" panose="020B0502040204020203" pitchFamily="34" charset="0"/>
                <a:cs typeface="Segoe UI Light" panose="020B0502040204020203" pitchFamily="34" charset="0"/>
              </a:rPr>
              <a:t>recomienda</a:t>
            </a:r>
            <a:r>
              <a:rPr lang="en-US" dirty="0">
                <a:latin typeface="Segoe UI Light" panose="020B0502040204020203" pitchFamily="34" charset="0"/>
                <a:cs typeface="Segoe UI Light" panose="020B0502040204020203" pitchFamily="34" charset="0"/>
              </a:rPr>
              <a:t> el </a:t>
            </a:r>
            <a:r>
              <a:rPr lang="en-US" dirty="0" err="1">
                <a:latin typeface="Segoe UI Light" panose="020B0502040204020203" pitchFamily="34" charset="0"/>
                <a:cs typeface="Segoe UI Light" panose="020B0502040204020203" pitchFamily="34" charset="0"/>
              </a:rPr>
              <a:t>uso</a:t>
            </a:r>
            <a:r>
              <a:rPr lang="en-US" dirty="0">
                <a:latin typeface="Segoe UI Light" panose="020B0502040204020203" pitchFamily="34" charset="0"/>
                <a:cs typeface="Segoe UI Light" panose="020B0502040204020203" pitchFamily="34" charset="0"/>
              </a:rPr>
              <a:t> de full momentum</a:t>
            </a:r>
          </a:p>
          <a:p>
            <a:pPr algn="just"/>
            <a:endParaRPr lang="en-US" sz="1600" dirty="0">
              <a:latin typeface="Segoe UI Light" panose="020B0502040204020203" pitchFamily="34" charset="0"/>
              <a:cs typeface="Segoe UI Light" panose="020B0502040204020203" pitchFamily="34" charset="0"/>
            </a:endParaRPr>
          </a:p>
          <a:p>
            <a:pPr marL="342900" indent="-342900" algn="just">
              <a:buAutoNum type="arabicPeriod"/>
            </a:pPr>
            <a:r>
              <a:rPr lang="en-US" sz="1600" dirty="0">
                <a:latin typeface="Segoe UI Light" panose="020B0502040204020203" pitchFamily="34" charset="0"/>
                <a:cs typeface="Segoe UI Light" panose="020B0502040204020203" pitchFamily="34" charset="0"/>
              </a:rPr>
              <a:t>Alta </a:t>
            </a:r>
            <a:r>
              <a:rPr lang="en-US" sz="1600" dirty="0" err="1">
                <a:latin typeface="Segoe UI Light" panose="020B0502040204020203" pitchFamily="34" charset="0"/>
                <a:cs typeface="Segoe UI Light" panose="020B0502040204020203" pitchFamily="34" charset="0"/>
              </a:rPr>
              <a:t>variación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dinámica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ondas</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Rompimiento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presas</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modelación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flujos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instantáneos</a:t>
            </a:r>
            <a:r>
              <a:rPr lang="en-US" sz="1600" dirty="0">
                <a:latin typeface="Segoe UI Light" panose="020B0502040204020203" pitchFamily="34" charset="0"/>
                <a:cs typeface="Segoe UI Light" panose="020B0502040204020203" pitchFamily="34" charset="0"/>
              </a:rPr>
              <a:t>.</a:t>
            </a:r>
          </a:p>
          <a:p>
            <a:pPr marL="342900" indent="-342900" algn="just">
              <a:buAutoNum type="arabicPeriod"/>
            </a:pPr>
            <a:r>
              <a:rPr lang="en-US" sz="1600" dirty="0" err="1">
                <a:latin typeface="Segoe UI Light" panose="020B0502040204020203" pitchFamily="34" charset="0"/>
                <a:cs typeface="Segoe UI Light" panose="020B0502040204020203" pitchFamily="34" charset="0"/>
              </a:rPr>
              <a:t>Contracciones</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expansiones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bruscas</a:t>
            </a:r>
            <a:r>
              <a:rPr lang="en-US" sz="1600" dirty="0">
                <a:latin typeface="Segoe UI Light" panose="020B0502040204020203" pitchFamily="34" charset="0"/>
                <a:cs typeface="Segoe UI Light" panose="020B0502040204020203" pitchFamily="34" charset="0"/>
              </a:rPr>
              <a:t>.</a:t>
            </a:r>
          </a:p>
          <a:p>
            <a:pPr marL="342900" indent="-342900" algn="just">
              <a:buAutoNum type="arabicPeriod"/>
            </a:pPr>
            <a:r>
              <a:rPr lang="en-US" sz="1600" dirty="0">
                <a:latin typeface="Segoe UI Light" panose="020B0502040204020203" pitchFamily="34" charset="0"/>
                <a:cs typeface="Segoe UI Light" panose="020B0502040204020203" pitchFamily="34" charset="0"/>
              </a:rPr>
              <a:t>Canales </a:t>
            </a:r>
            <a:r>
              <a:rPr lang="en-US" sz="1600" dirty="0" err="1">
                <a:latin typeface="Segoe UI Light" panose="020B0502040204020203" pitchFamily="34" charset="0"/>
                <a:cs typeface="Segoe UI Light" panose="020B0502040204020203" pitchFamily="34" charset="0"/>
              </a:rPr>
              <a:t>controlados</a:t>
            </a:r>
            <a:r>
              <a:rPr lang="en-US" sz="1600" dirty="0">
                <a:latin typeface="Segoe UI Light" panose="020B0502040204020203" pitchFamily="34" charset="0"/>
                <a:cs typeface="Segoe UI Light" panose="020B0502040204020203" pitchFamily="34" charset="0"/>
              </a:rPr>
              <a:t> por </a:t>
            </a:r>
            <a:r>
              <a:rPr lang="en-US" sz="1600" dirty="0" err="1">
                <a:latin typeface="Segoe UI Light" panose="020B0502040204020203" pitchFamily="34" charset="0"/>
                <a:cs typeface="Segoe UI Light" panose="020B0502040204020203" pitchFamily="34" charset="0"/>
              </a:rPr>
              <a:t>mareas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bahías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estuarios</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ríos</a:t>
            </a:r>
            <a:r>
              <a:rPr lang="en-US" sz="1600" dirty="0">
                <a:latin typeface="Segoe UI Light" panose="020B0502040204020203" pitchFamily="34" charset="0"/>
                <a:cs typeface="Segoe UI Light" panose="020B0502040204020203" pitchFamily="34" charset="0"/>
              </a:rPr>
              <a:t> con alto </a:t>
            </a:r>
            <a:r>
              <a:rPr lang="en-US" sz="1600" dirty="0" err="1">
                <a:latin typeface="Segoe UI Light" panose="020B0502040204020203" pitchFamily="34" charset="0"/>
                <a:cs typeface="Segoe UI Light" panose="020B0502040204020203" pitchFamily="34" charset="0"/>
              </a:rPr>
              <a:t>oleaje</a:t>
            </a:r>
            <a:r>
              <a:rPr lang="en-US" sz="1600" dirty="0">
                <a:latin typeface="Segoe UI Light" panose="020B0502040204020203" pitchFamily="34" charset="0"/>
                <a:cs typeface="Segoe UI Light" panose="020B0502040204020203" pitchFamily="34" charset="0"/>
              </a:rPr>
              <a:t>.</a:t>
            </a:r>
          </a:p>
          <a:p>
            <a:pPr marL="342900" indent="-342900" algn="just">
              <a:buAutoNum type="arabicPeriod"/>
            </a:pPr>
            <a:r>
              <a:rPr lang="en-US" sz="1600" dirty="0" err="1">
                <a:latin typeface="Segoe UI Light" panose="020B0502040204020203" pitchFamily="34" charset="0"/>
                <a:cs typeface="Segoe UI Light" panose="020B0502040204020203" pitchFamily="34" charset="0"/>
              </a:rPr>
              <a:t>Modelación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propagación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ondas</a:t>
            </a:r>
            <a:r>
              <a:rPr lang="en-US" sz="1600" dirty="0">
                <a:latin typeface="Segoe UI Light" panose="020B0502040204020203" pitchFamily="34" charset="0"/>
                <a:cs typeface="Segoe UI Light" panose="020B0502040204020203" pitchFamily="34" charset="0"/>
              </a:rPr>
              <a:t>: Apertura o </a:t>
            </a:r>
            <a:r>
              <a:rPr lang="en-US" sz="1600" dirty="0" err="1">
                <a:latin typeface="Segoe UI Light" panose="020B0502040204020203" pitchFamily="34" charset="0"/>
                <a:cs typeface="Segoe UI Light" panose="020B0502040204020203" pitchFamily="34" charset="0"/>
              </a:rPr>
              <a:t>cierre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instantáneo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compuertas</a:t>
            </a:r>
            <a:r>
              <a:rPr lang="en-US" sz="1600" dirty="0">
                <a:latin typeface="Segoe UI Light" panose="020B0502040204020203" pitchFamily="34" charset="0"/>
                <a:cs typeface="Segoe UI Light" panose="020B0502040204020203" pitchFamily="34" charset="0"/>
              </a:rPr>
              <a:t>.</a:t>
            </a:r>
          </a:p>
          <a:p>
            <a:pPr marL="342900" indent="-342900" algn="just">
              <a:buAutoNum type="arabicPeriod"/>
            </a:pPr>
            <a:r>
              <a:rPr lang="en-US" sz="1600" dirty="0" err="1">
                <a:latin typeface="Segoe UI Light" panose="020B0502040204020203" pitchFamily="34" charset="0"/>
                <a:cs typeface="Segoe UI Light" panose="020B0502040204020203" pitchFamily="34" charset="0"/>
              </a:rPr>
              <a:t>Sobre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elevación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lámina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agua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canales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sinuosos</a:t>
            </a:r>
            <a:r>
              <a:rPr lang="en-US" sz="1600" dirty="0">
                <a:latin typeface="Segoe UI Light" panose="020B0502040204020203" pitchFamily="34" charset="0"/>
                <a:cs typeface="Segoe UI Light" panose="020B0502040204020203" pitchFamily="34" charset="0"/>
              </a:rPr>
              <a:t> con </a:t>
            </a:r>
            <a:r>
              <a:rPr lang="en-US" sz="1600" dirty="0" err="1">
                <a:latin typeface="Segoe UI Light" panose="020B0502040204020203" pitchFamily="34" charset="0"/>
                <a:cs typeface="Segoe UI Light" panose="020B0502040204020203" pitchFamily="34" charset="0"/>
              </a:rPr>
              <a:t>curvas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muy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cerradas</a:t>
            </a:r>
            <a:r>
              <a:rPr lang="en-US" sz="1600" dirty="0">
                <a:latin typeface="Segoe UI Light" panose="020B0502040204020203" pitchFamily="34" charset="0"/>
                <a:cs typeface="Segoe UI Light" panose="020B0502040204020203" pitchFamily="34" charset="0"/>
              </a:rPr>
              <a:t>.</a:t>
            </a:r>
          </a:p>
          <a:p>
            <a:pPr marL="342900" indent="-342900" algn="just">
              <a:buAutoNum type="arabicPeriod"/>
            </a:pPr>
            <a:r>
              <a:rPr lang="en-US" sz="1600" dirty="0" err="1">
                <a:latin typeface="Segoe UI Light" panose="020B0502040204020203" pitchFamily="34" charset="0"/>
                <a:cs typeface="Segoe UI Light" panose="020B0502040204020203" pitchFamily="34" charset="0"/>
              </a:rPr>
              <a:t>Velocidades</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alturas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lámina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detalladas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modelación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estructuras</a:t>
            </a:r>
            <a:r>
              <a:rPr lang="en-US" sz="1600" dirty="0">
                <a:latin typeface="Segoe UI Light" panose="020B0502040204020203" pitchFamily="34" charset="0"/>
                <a:cs typeface="Segoe UI Light" panose="020B0502040204020203" pitchFamily="34" charset="0"/>
              </a:rPr>
              <a:t>.</a:t>
            </a:r>
          </a:p>
          <a:p>
            <a:pPr marL="342900" indent="-342900" algn="just">
              <a:buAutoNum type="arabicPeriod"/>
            </a:pPr>
            <a:r>
              <a:rPr lang="en-US" sz="1600" dirty="0" err="1">
                <a:latin typeface="Segoe UI Light" panose="020B0502040204020203" pitchFamily="34" charset="0"/>
                <a:cs typeface="Segoe UI Light" panose="020B0502040204020203" pitchFamily="34" charset="0"/>
              </a:rPr>
              <a:t>Sistemas</a:t>
            </a:r>
            <a:r>
              <a:rPr lang="en-US" sz="1600" dirty="0">
                <a:latin typeface="Segoe UI Light" panose="020B0502040204020203" pitchFamily="34" charset="0"/>
                <a:cs typeface="Segoe UI Light" panose="020B0502040204020203" pitchFamily="34" charset="0"/>
              </a:rPr>
              <a:t> con </a:t>
            </a:r>
            <a:r>
              <a:rPr lang="en-US" sz="1600" dirty="0" err="1">
                <a:latin typeface="Segoe UI Light" panose="020B0502040204020203" pitchFamily="34" charset="0"/>
                <a:cs typeface="Segoe UI Light" panose="020B0502040204020203" pitchFamily="34" charset="0"/>
              </a:rPr>
              <a:t>régimenes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mixtos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subcrítico</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supercrítico</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viceversa</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modelar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resaltos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hidráulicos</a:t>
            </a:r>
            <a:r>
              <a:rPr lang="en-US" sz="1600" dirty="0">
                <a:latin typeface="Segoe UI Light" panose="020B0502040204020203" pitchFamily="34" charset="0"/>
                <a:cs typeface="Segoe UI Light" panose="020B0502040204020203" pitchFamily="34" charset="0"/>
              </a:rPr>
              <a:t>.</a:t>
            </a:r>
          </a:p>
        </p:txBody>
      </p:sp>
      <p:sp>
        <p:nvSpPr>
          <p:cNvPr id="10" name="1 Título">
            <a:extLst>
              <a:ext uri="{FF2B5EF4-FFF2-40B4-BE49-F238E27FC236}">
                <a16:creationId xmlns:a16="http://schemas.microsoft.com/office/drawing/2014/main" id="{FFA2EA99-79C8-463F-BD00-7B1F165D6718}"/>
              </a:ext>
            </a:extLst>
          </p:cNvPr>
          <p:cNvSpPr txBox="1">
            <a:spLocks/>
          </p:cNvSpPr>
          <p:nvPr/>
        </p:nvSpPr>
        <p:spPr>
          <a:xfrm>
            <a:off x="0" y="0"/>
            <a:ext cx="12202666"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Ecuaciones para resolver el modelo hidráulico: Saint </a:t>
            </a:r>
            <a:r>
              <a:rPr lang="es-ES" sz="800" dirty="0" err="1">
                <a:latin typeface="Segoe UI Light" panose="020B0502040204020203" pitchFamily="34" charset="0"/>
                <a:cs typeface="Segoe UI Light" panose="020B0502040204020203" pitchFamily="34" charset="0"/>
              </a:rPr>
              <a:t>Venan</a:t>
            </a:r>
            <a:r>
              <a:rPr lang="es-ES" sz="800" dirty="0">
                <a:latin typeface="Segoe UI Light" panose="020B0502040204020203" pitchFamily="34" charset="0"/>
                <a:cs typeface="Segoe UI Light" panose="020B0502040204020203" pitchFamily="34" charset="0"/>
              </a:rPr>
              <a:t> completo u Onda Difusiva</a:t>
            </a:r>
          </a:p>
        </p:txBody>
      </p:sp>
      <p:sp>
        <p:nvSpPr>
          <p:cNvPr id="9" name="1 Título">
            <a:extLst>
              <a:ext uri="{FF2B5EF4-FFF2-40B4-BE49-F238E27FC236}">
                <a16:creationId xmlns:a16="http://schemas.microsoft.com/office/drawing/2014/main" id="{C58D08C9-7607-46D0-A6E5-F40C1ED0D8B3}"/>
              </a:ext>
            </a:extLst>
          </p:cNvPr>
          <p:cNvSpPr txBox="1">
            <a:spLocks/>
          </p:cNvSpPr>
          <p:nvPr/>
        </p:nvSpPr>
        <p:spPr>
          <a:xfrm>
            <a:off x="0" y="6662980"/>
            <a:ext cx="12192000" cy="19502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CO" sz="800">
                <a:latin typeface="Segoe UI Light" panose="020B0502040204020203" pitchFamily="34" charset="0"/>
                <a:cs typeface="Segoe UI Light" panose="020B0502040204020203" pitchFamily="34" charset="0"/>
              </a:rPr>
              <a:t>Tomadas del manual de HEC-RAS 5.0 2D Modeling Users Manual, pág  4-3. Para mayor información consulte el Manual de Referencia de HEC-RAS 5.0, Chapter 2 - 2D Unsteady Flow Hydrodynamics, pag 2-53.</a:t>
            </a:r>
          </a:p>
        </p:txBody>
      </p:sp>
      <p:pic>
        <p:nvPicPr>
          <p:cNvPr id="6" name="Imagen 5">
            <a:extLst>
              <a:ext uri="{FF2B5EF4-FFF2-40B4-BE49-F238E27FC236}">
                <a16:creationId xmlns:a16="http://schemas.microsoft.com/office/drawing/2014/main" id="{765981D6-4F4D-418B-8DFF-100E45AE03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626160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C58D08C9-7607-46D0-A6E5-F40C1ED0D8B3}"/>
              </a:ext>
            </a:extLst>
          </p:cNvPr>
          <p:cNvSpPr txBox="1">
            <a:spLocks/>
          </p:cNvSpPr>
          <p:nvPr/>
        </p:nvSpPr>
        <p:spPr>
          <a:xfrm>
            <a:off x="0" y="6662980"/>
            <a:ext cx="12192000" cy="19502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CO" sz="800">
                <a:latin typeface="Segoe UI Light" panose="020B0502040204020203" pitchFamily="34" charset="0"/>
                <a:cs typeface="Segoe UI Light" panose="020B0502040204020203" pitchFamily="34" charset="0"/>
              </a:rPr>
              <a:t>Tomado de https://es.wikipedia.org/wiki/Ecuaciones_de_Saint-Venant_en_1D, http://fluidos.eia.edu.co/fluidos/cinematica/aceleracion.htm</a:t>
            </a:r>
          </a:p>
        </p:txBody>
      </p:sp>
      <p:pic>
        <p:nvPicPr>
          <p:cNvPr id="2" name="Imagen 1">
            <a:extLst>
              <a:ext uri="{FF2B5EF4-FFF2-40B4-BE49-F238E27FC236}">
                <a16:creationId xmlns:a16="http://schemas.microsoft.com/office/drawing/2014/main" id="{FBB94E3E-4ACB-4B4A-B54D-F7E7A88A9AF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349573" y="919837"/>
            <a:ext cx="5492854" cy="783450"/>
          </a:xfrm>
          <a:prstGeom prst="rect">
            <a:avLst/>
          </a:prstGeom>
        </p:spPr>
      </p:pic>
      <p:sp>
        <p:nvSpPr>
          <p:cNvPr id="7" name="7 CuadroTexto">
            <a:extLst>
              <a:ext uri="{FF2B5EF4-FFF2-40B4-BE49-F238E27FC236}">
                <a16:creationId xmlns:a16="http://schemas.microsoft.com/office/drawing/2014/main" id="{418AC987-2FA8-429D-A2E8-247AC8A50070}"/>
              </a:ext>
            </a:extLst>
          </p:cNvPr>
          <p:cNvSpPr txBox="1"/>
          <p:nvPr/>
        </p:nvSpPr>
        <p:spPr>
          <a:xfrm>
            <a:off x="1199456" y="404664"/>
            <a:ext cx="9721080" cy="338554"/>
          </a:xfrm>
          <a:prstGeom prst="rect">
            <a:avLst/>
          </a:prstGeom>
          <a:noFill/>
        </p:spPr>
        <p:txBody>
          <a:bodyPr wrap="square" rtlCol="0">
            <a:spAutoFit/>
          </a:bodyPr>
          <a:lstStyle/>
          <a:p>
            <a:pPr algn="ctr"/>
            <a:r>
              <a:rPr lang="en-US" sz="1600" dirty="0" err="1">
                <a:latin typeface="Segoe UI Light" panose="020B0502040204020203" pitchFamily="34" charset="0"/>
                <a:cs typeface="Segoe UI Light" panose="020B0502040204020203" pitchFamily="34" charset="0"/>
              </a:rPr>
              <a:t>Ecuación</a:t>
            </a:r>
            <a:r>
              <a:rPr lang="en-US" sz="1600" dirty="0">
                <a:latin typeface="Segoe UI Light" panose="020B0502040204020203" pitchFamily="34" charset="0"/>
                <a:cs typeface="Segoe UI Light" panose="020B0502040204020203" pitchFamily="34" charset="0"/>
              </a:rPr>
              <a:t> de momentum (unidimensional)</a:t>
            </a:r>
          </a:p>
        </p:txBody>
      </p:sp>
      <p:pic>
        <p:nvPicPr>
          <p:cNvPr id="3" name="Imagen 2">
            <a:extLst>
              <a:ext uri="{FF2B5EF4-FFF2-40B4-BE49-F238E27FC236}">
                <a16:creationId xmlns:a16="http://schemas.microsoft.com/office/drawing/2014/main" id="{A2BD5B93-FF3F-4D97-80B3-ED68B5E9B6EB}"/>
              </a:ext>
            </a:extLst>
          </p:cNvPr>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1328837" y="1916686"/>
            <a:ext cx="9534326" cy="3621672"/>
          </a:xfrm>
          <a:prstGeom prst="rect">
            <a:avLst/>
          </a:prstGeom>
        </p:spPr>
      </p:pic>
      <p:sp>
        <p:nvSpPr>
          <p:cNvPr id="12" name="7 CuadroTexto">
            <a:extLst>
              <a:ext uri="{FF2B5EF4-FFF2-40B4-BE49-F238E27FC236}">
                <a16:creationId xmlns:a16="http://schemas.microsoft.com/office/drawing/2014/main" id="{D34108E7-CF26-4377-8144-6593818D24FC}"/>
              </a:ext>
            </a:extLst>
          </p:cNvPr>
          <p:cNvSpPr txBox="1"/>
          <p:nvPr/>
        </p:nvSpPr>
        <p:spPr>
          <a:xfrm>
            <a:off x="695400" y="5574304"/>
            <a:ext cx="10317390"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Onda Dinámica + Turbulencia +  Coriolis = HEC-RAS Full Momentum</a:t>
            </a:r>
          </a:p>
        </p:txBody>
      </p:sp>
      <p:sp>
        <p:nvSpPr>
          <p:cNvPr id="10" name="7 CuadroTexto">
            <a:extLst>
              <a:ext uri="{FF2B5EF4-FFF2-40B4-BE49-F238E27FC236}">
                <a16:creationId xmlns:a16="http://schemas.microsoft.com/office/drawing/2014/main" id="{084CCD57-F4BD-44D5-8AAA-BE029D4C4CD4}"/>
              </a:ext>
            </a:extLst>
          </p:cNvPr>
          <p:cNvSpPr txBox="1"/>
          <p:nvPr/>
        </p:nvSpPr>
        <p:spPr>
          <a:xfrm>
            <a:off x="695400" y="5939407"/>
            <a:ext cx="10317390" cy="584775"/>
          </a:xfrm>
          <a:prstGeom prst="rect">
            <a:avLst/>
          </a:prstGeom>
          <a:noFill/>
        </p:spPr>
        <p:txBody>
          <a:bodyPr wrap="square" rtlCol="0">
            <a:spAutoFit/>
          </a:bodyPr>
          <a:lstStyle/>
          <a:p>
            <a:pPr algn="ctr"/>
            <a:r>
              <a:rPr lang="en-US" sz="1600" dirty="0" err="1">
                <a:latin typeface="Segoe UI Light" panose="020B0502040204020203" pitchFamily="34" charset="0"/>
                <a:cs typeface="Segoe UI Light" panose="020B0502040204020203" pitchFamily="34" charset="0"/>
              </a:rPr>
              <a:t>Aceleración</a:t>
            </a:r>
            <a:r>
              <a:rPr lang="en-US" sz="1600" dirty="0">
                <a:latin typeface="Segoe UI Light" panose="020B0502040204020203" pitchFamily="34" charset="0"/>
                <a:cs typeface="Segoe UI Light" panose="020B0502040204020203" pitchFamily="34" charset="0"/>
              </a:rPr>
              <a:t> Local: </a:t>
            </a:r>
            <a:r>
              <a:rPr lang="en-US" sz="1600" dirty="0" err="1">
                <a:latin typeface="Segoe UI Light" panose="020B0502040204020203" pitchFamily="34" charset="0"/>
                <a:cs typeface="Segoe UI Light" panose="020B0502040204020203" pitchFamily="34" charset="0"/>
              </a:rPr>
              <a:t>cambio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velocidad</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una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partícula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fluida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respecto</a:t>
            </a:r>
            <a:r>
              <a:rPr lang="en-US" sz="1600" dirty="0">
                <a:latin typeface="Segoe UI Light" panose="020B0502040204020203" pitchFamily="34" charset="0"/>
                <a:cs typeface="Segoe UI Light" panose="020B0502040204020203" pitchFamily="34" charset="0"/>
              </a:rPr>
              <a:t> al </a:t>
            </a:r>
            <a:r>
              <a:rPr lang="en-US" sz="1600" dirty="0" err="1">
                <a:latin typeface="Segoe UI Light" panose="020B0502040204020203" pitchFamily="34" charset="0"/>
                <a:cs typeface="Segoe UI Light" panose="020B0502040204020203" pitchFamily="34" charset="0"/>
              </a:rPr>
              <a:t>tiempo</a:t>
            </a:r>
            <a:r>
              <a:rPr lang="en-US" sz="1600" dirty="0">
                <a:latin typeface="Segoe UI Light" panose="020B0502040204020203" pitchFamily="34" charset="0"/>
                <a:cs typeface="Segoe UI Light" panose="020B0502040204020203" pitchFamily="34" charset="0"/>
              </a:rPr>
              <a:t>.</a:t>
            </a:r>
          </a:p>
          <a:p>
            <a:pPr algn="ctr"/>
            <a:r>
              <a:rPr lang="en-US" sz="1600" dirty="0" err="1">
                <a:latin typeface="Segoe UI Light" panose="020B0502040204020203" pitchFamily="34" charset="0"/>
                <a:cs typeface="Segoe UI Light" panose="020B0502040204020203" pitchFamily="34" charset="0"/>
              </a:rPr>
              <a:t>Aceleración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Convectiva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cambio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velocidad</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una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partícula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fluida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espacio</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dominio</a:t>
            </a:r>
            <a:r>
              <a:rPr lang="en-US" sz="1600" dirty="0">
                <a:latin typeface="Segoe UI Light" panose="020B0502040204020203" pitchFamily="34" charset="0"/>
                <a:cs typeface="Segoe UI Light" panose="020B0502040204020203" pitchFamily="34" charset="0"/>
              </a:rPr>
              <a:t>.</a:t>
            </a:r>
          </a:p>
        </p:txBody>
      </p:sp>
      <p:pic>
        <p:nvPicPr>
          <p:cNvPr id="11" name="Imagen 10">
            <a:extLst>
              <a:ext uri="{FF2B5EF4-FFF2-40B4-BE49-F238E27FC236}">
                <a16:creationId xmlns:a16="http://schemas.microsoft.com/office/drawing/2014/main" id="{4C02A202-3A69-4434-99CC-B22FC3219DC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13CA62B6-63CA-4DD1-895D-EA555B600F89}"/>
              </a:ext>
            </a:extLst>
          </p:cNvPr>
          <p:cNvSpPr txBox="1">
            <a:spLocks/>
          </p:cNvSpPr>
          <p:nvPr/>
        </p:nvSpPr>
        <p:spPr>
          <a:xfrm>
            <a:off x="0" y="0"/>
            <a:ext cx="12202666"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Ecuaciones para resolver el modelo hidráulico: Saint </a:t>
            </a:r>
            <a:r>
              <a:rPr lang="es-ES" sz="800" dirty="0" err="1">
                <a:latin typeface="Segoe UI Light" panose="020B0502040204020203" pitchFamily="34" charset="0"/>
                <a:cs typeface="Segoe UI Light" panose="020B0502040204020203" pitchFamily="34" charset="0"/>
              </a:rPr>
              <a:t>Venan</a:t>
            </a:r>
            <a:r>
              <a:rPr lang="es-ES" sz="800" dirty="0">
                <a:latin typeface="Segoe UI Light" panose="020B0502040204020203" pitchFamily="34" charset="0"/>
                <a:cs typeface="Segoe UI Light" panose="020B0502040204020203" pitchFamily="34" charset="0"/>
              </a:rPr>
              <a:t> completo u Onda Difusiva</a:t>
            </a:r>
          </a:p>
        </p:txBody>
      </p:sp>
    </p:spTree>
    <p:extLst>
      <p:ext uri="{BB962C8B-B14F-4D97-AF65-F5344CB8AC3E}">
        <p14:creationId xmlns:p14="http://schemas.microsoft.com/office/powerpoint/2010/main" val="2511177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C58D08C9-7607-46D0-A6E5-F40C1ED0D8B3}"/>
              </a:ext>
            </a:extLst>
          </p:cNvPr>
          <p:cNvSpPr txBox="1">
            <a:spLocks/>
          </p:cNvSpPr>
          <p:nvPr/>
        </p:nvSpPr>
        <p:spPr>
          <a:xfrm>
            <a:off x="0" y="6279050"/>
            <a:ext cx="12192000" cy="57895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CO" sz="800" dirty="0">
                <a:latin typeface="Segoe UI Light" panose="020B0502040204020203" pitchFamily="34" charset="0"/>
                <a:cs typeface="Segoe UI Light" panose="020B0502040204020203" pitchFamily="34" charset="0"/>
                <a:hlinkClick r:id="rId3"/>
              </a:rPr>
              <a:t>https://www.hec.usace.army.mil/confluence/rasdocs/r2dum/latest/running-a-model-with-2d-flow-areas/shallow-water-or-diffusion-wave-equations</a:t>
            </a:r>
            <a:endParaRPr lang="es-CO" sz="800" dirty="0">
              <a:latin typeface="Segoe UI Light" panose="020B0502040204020203" pitchFamily="34" charset="0"/>
              <a:cs typeface="Segoe UI Light" panose="020B0502040204020203" pitchFamily="34" charset="0"/>
            </a:endParaRPr>
          </a:p>
          <a:p>
            <a:pPr algn="r"/>
            <a:r>
              <a:rPr lang="es-CO" sz="800" dirty="0">
                <a:latin typeface="Segoe UI Light" panose="020B0502040204020203" pitchFamily="34" charset="0"/>
                <a:cs typeface="Segoe UI Light" panose="020B0502040204020203" pitchFamily="34" charset="0"/>
                <a:hlinkClick r:id="rId4"/>
              </a:rPr>
              <a:t>https://www.hec.usace.army.mil/confluence/rasdocs/r2dum/latest/running-a-model-with-2d-flow-areas/2d-computation-options-and-tolerances</a:t>
            </a:r>
            <a:endParaRPr lang="es-CO" sz="800" dirty="0">
              <a:latin typeface="Segoe UI Light" panose="020B0502040204020203" pitchFamily="34" charset="0"/>
              <a:cs typeface="Segoe UI Light" panose="020B0502040204020203" pitchFamily="34" charset="0"/>
            </a:endParaRPr>
          </a:p>
          <a:p>
            <a:pPr algn="r"/>
            <a:r>
              <a:rPr lang="es-CO" sz="800" dirty="0">
                <a:latin typeface="Segoe UI Light" panose="020B0502040204020203" pitchFamily="34" charset="0"/>
                <a:cs typeface="Segoe UI Light" panose="020B0502040204020203" pitchFamily="34" charset="0"/>
                <a:hlinkClick r:id="rId5"/>
              </a:rPr>
              <a:t>https://www.hec.usace.army.mil/confluence/rasdocs/rasrn/hec-ras-6-3-new-features</a:t>
            </a:r>
            <a:endParaRPr lang="es-CO" sz="800" dirty="0">
              <a:latin typeface="Segoe UI Light" panose="020B0502040204020203" pitchFamily="34" charset="0"/>
              <a:cs typeface="Segoe UI Light" panose="020B0502040204020203" pitchFamily="34" charset="0"/>
            </a:endParaRPr>
          </a:p>
          <a:p>
            <a:pPr algn="r"/>
            <a:r>
              <a:rPr lang="es-CO" sz="800" dirty="0">
                <a:latin typeface="Segoe UI Light" panose="020B0502040204020203" pitchFamily="34" charset="0"/>
                <a:cs typeface="Segoe UI Light" panose="020B0502040204020203" pitchFamily="34" charset="0"/>
              </a:rPr>
              <a:t>Tomado de </a:t>
            </a:r>
            <a:r>
              <a:rPr lang="es-CO" sz="800" dirty="0">
                <a:latin typeface="Segoe UI Light" panose="020B0502040204020203" pitchFamily="34" charset="0"/>
                <a:cs typeface="Segoe UI Light" panose="020B0502040204020203" pitchFamily="34" charset="0"/>
                <a:hlinkClick r:id="rId6"/>
              </a:rPr>
              <a:t>https://es.wikipedia.org/wiki/Ecuaciones_de_Saint-Venant_en_1D</a:t>
            </a:r>
            <a:endParaRPr lang="es-CO" sz="800" dirty="0">
              <a:latin typeface="Segoe UI Light" panose="020B0502040204020203" pitchFamily="34" charset="0"/>
              <a:cs typeface="Segoe UI Light" panose="020B0502040204020203" pitchFamily="34" charset="0"/>
            </a:endParaRPr>
          </a:p>
          <a:p>
            <a:pPr algn="r"/>
            <a:endParaRPr lang="es-CO" sz="800" dirty="0">
              <a:latin typeface="Segoe UI Light" panose="020B0502040204020203" pitchFamily="34" charset="0"/>
              <a:cs typeface="Segoe UI Light" panose="020B0502040204020203" pitchFamily="34" charset="0"/>
            </a:endParaRPr>
          </a:p>
        </p:txBody>
      </p:sp>
      <p:sp>
        <p:nvSpPr>
          <p:cNvPr id="7" name="7 CuadroTexto">
            <a:extLst>
              <a:ext uri="{FF2B5EF4-FFF2-40B4-BE49-F238E27FC236}">
                <a16:creationId xmlns:a16="http://schemas.microsoft.com/office/drawing/2014/main" id="{418AC987-2FA8-429D-A2E8-247AC8A50070}"/>
              </a:ext>
            </a:extLst>
          </p:cNvPr>
          <p:cNvSpPr txBox="1"/>
          <p:nvPr/>
        </p:nvSpPr>
        <p:spPr>
          <a:xfrm>
            <a:off x="164436" y="701242"/>
            <a:ext cx="4219857" cy="5509200"/>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HEC-RAS y </a:t>
            </a:r>
            <a:r>
              <a:rPr lang="en-US" sz="1600" dirty="0" err="1">
                <a:latin typeface="Segoe UI Light" panose="020B0502040204020203" pitchFamily="34" charset="0"/>
                <a:cs typeface="Segoe UI Light" panose="020B0502040204020203" pitchFamily="34" charset="0"/>
              </a:rPr>
              <a:t>desde</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ventana</a:t>
            </a:r>
            <a:r>
              <a:rPr lang="en-US" sz="1600" dirty="0">
                <a:latin typeface="Segoe UI Light" panose="020B0502040204020203" pitchFamily="34" charset="0"/>
                <a:cs typeface="Segoe UI Light" panose="020B0502040204020203" pitchFamily="34" charset="0"/>
              </a:rPr>
              <a:t> del plan,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menú</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Options – Calculation Options and Tolerances. </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Seleccione</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pestaña</a:t>
            </a:r>
            <a:r>
              <a:rPr lang="en-US" sz="1600" dirty="0">
                <a:latin typeface="Segoe UI Light" panose="020B0502040204020203" pitchFamily="34" charset="0"/>
                <a:cs typeface="Segoe UI Light" panose="020B0502040204020203" pitchFamily="34" charset="0"/>
              </a:rPr>
              <a:t> 2D Flow Options y para Perimeter 1 </a:t>
            </a:r>
            <a:r>
              <a:rPr lang="en-US" sz="1600" dirty="0" err="1">
                <a:latin typeface="Segoe UI Light" panose="020B0502040204020203" pitchFamily="34" charset="0"/>
                <a:cs typeface="Segoe UI Light" panose="020B0502040204020203" pitchFamily="34" charset="0"/>
              </a:rPr>
              <a:t>seleccione</a:t>
            </a:r>
            <a:r>
              <a:rPr lang="en-US" sz="1600" dirty="0">
                <a:latin typeface="Segoe UI Light" panose="020B0502040204020203" pitchFamily="34" charset="0"/>
                <a:cs typeface="Segoe UI Light" panose="020B0502040204020203" pitchFamily="34" charset="0"/>
              </a:rPr>
              <a:t> Diffusion Wave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Equation Set. </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Para </a:t>
            </a:r>
            <a:r>
              <a:rPr lang="en-US" sz="1600" dirty="0" err="1">
                <a:latin typeface="Segoe UI Light" panose="020B0502040204020203" pitchFamily="34" charset="0"/>
                <a:cs typeface="Segoe UI Light" panose="020B0502040204020203" pitchFamily="34" charset="0"/>
              </a:rPr>
              <a:t>mejorar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estabilidad</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recomienda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precalentar</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tomando</a:t>
            </a:r>
            <a:r>
              <a:rPr lang="en-US" sz="1600" dirty="0">
                <a:latin typeface="Segoe UI Light" panose="020B0502040204020203" pitchFamily="34" charset="0"/>
                <a:cs typeface="Segoe UI Light" panose="020B0502040204020203" pitchFamily="34" charset="0"/>
              </a:rPr>
              <a:t> una </a:t>
            </a:r>
            <a:r>
              <a:rPr lang="en-US" sz="1600" dirty="0" err="1">
                <a:latin typeface="Segoe UI Light" panose="020B0502040204020203" pitchFamily="34" charset="0"/>
                <a:cs typeface="Segoe UI Light" panose="020B0502040204020203" pitchFamily="34" charset="0"/>
              </a:rPr>
              <a:t>fracción</a:t>
            </a:r>
            <a:r>
              <a:rPr lang="en-US" sz="1600" dirty="0">
                <a:latin typeface="Segoe UI Light" panose="020B0502040204020203" pitchFamily="34" charset="0"/>
                <a:cs typeface="Segoe UI Light" panose="020B0502040204020203" pitchFamily="34" charset="0"/>
              </a:rPr>
              <a:t> del valor </a:t>
            </a:r>
            <a:r>
              <a:rPr lang="en-US" sz="1600" dirty="0" err="1">
                <a:latin typeface="Segoe UI Light" panose="020B0502040204020203" pitchFamily="34" charset="0"/>
                <a:cs typeface="Segoe UI Light" panose="020B0502040204020203" pitchFamily="34" charset="0"/>
              </a:rPr>
              <a:t>inicial</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uno</a:t>
            </a:r>
            <a:r>
              <a:rPr lang="en-US" sz="1600" dirty="0">
                <a:latin typeface="Segoe UI Light" panose="020B0502040204020203" pitchFamily="34" charset="0"/>
                <a:cs typeface="Segoe UI Light" panose="020B0502040204020203" pitchFamily="34" charset="0"/>
              </a:rPr>
              <a:t> de los </a:t>
            </a:r>
            <a:r>
              <a:rPr lang="en-US" sz="1600" dirty="0" err="1">
                <a:latin typeface="Segoe UI Light" panose="020B0502040204020203" pitchFamily="34" charset="0"/>
                <a:cs typeface="Segoe UI Light" panose="020B0502040204020203" pitchFamily="34" charset="0"/>
              </a:rPr>
              <a:t>pulsos</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hidrograma</a:t>
            </a:r>
            <a:r>
              <a:rPr lang="en-US" sz="1600" dirty="0">
                <a:latin typeface="Segoe UI Light" panose="020B0502040204020203" pitchFamily="34" charset="0"/>
                <a:cs typeface="Segoe UI Light" panose="020B0502040204020203" pitchFamily="34" charset="0"/>
              </a:rPr>
              <a:t> de entrada, por </a:t>
            </a:r>
            <a:r>
              <a:rPr lang="en-US" sz="1600" dirty="0" err="1">
                <a:latin typeface="Segoe UI Light" panose="020B0502040204020203" pitchFamily="34" charset="0"/>
                <a:cs typeface="Segoe UI Light" panose="020B0502040204020203" pitchFamily="34" charset="0"/>
              </a:rPr>
              <a:t>ejemplo</a:t>
            </a:r>
            <a:r>
              <a:rPr lang="en-US" sz="1600" dirty="0">
                <a:latin typeface="Segoe UI Light" panose="020B0502040204020203" pitchFamily="34" charset="0"/>
                <a:cs typeface="Segoe UI Light" panose="020B0502040204020203" pitchFamily="34" charset="0"/>
              </a:rPr>
              <a:t>, 0.1 del valor </a:t>
            </a:r>
            <a:r>
              <a:rPr lang="en-US" sz="1600" dirty="0" err="1">
                <a:latin typeface="Segoe UI Light" panose="020B0502040204020203" pitchFamily="34" charset="0"/>
                <a:cs typeface="Segoe UI Light" panose="020B0502040204020203" pitchFamily="34" charset="0"/>
              </a:rPr>
              <a:t>correspondiente</a:t>
            </a:r>
            <a:r>
              <a:rPr lang="en-US" sz="1600" dirty="0">
                <a:latin typeface="Segoe UI Light" panose="020B0502040204020203" pitchFamily="34" charset="0"/>
                <a:cs typeface="Segoe UI Light" panose="020B0502040204020203" pitchFamily="34" charset="0"/>
              </a:rPr>
              <a:t> a la hora 2 del </a:t>
            </a:r>
            <a:r>
              <a:rPr lang="en-US" sz="1600" dirty="0" err="1">
                <a:latin typeface="Segoe UI Light" panose="020B0502040204020203" pitchFamily="34" charset="0"/>
                <a:cs typeface="Segoe UI Light" panose="020B0502040204020203" pitchFamily="34" charset="0"/>
              </a:rPr>
              <a:t>hietograma</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cada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periodo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retorno</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Para </a:t>
            </a:r>
            <a:r>
              <a:rPr lang="en-US" sz="1600" dirty="0" err="1">
                <a:latin typeface="Segoe UI Light" panose="020B0502040204020203" pitchFamily="34" charset="0"/>
                <a:cs typeface="Segoe UI Light" panose="020B0502040204020203" pitchFamily="34" charset="0"/>
              </a:rPr>
              <a:t>mallados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complejos</a:t>
            </a:r>
            <a:r>
              <a:rPr lang="en-US" sz="1600" dirty="0">
                <a:latin typeface="Segoe UI Light" panose="020B0502040204020203" pitchFamily="34" charset="0"/>
                <a:cs typeface="Segoe UI Light" panose="020B0502040204020203" pitchFamily="34" charset="0"/>
              </a:rPr>
              <a:t>, es </a:t>
            </a:r>
            <a:r>
              <a:rPr lang="en-US" sz="1600" dirty="0" err="1">
                <a:latin typeface="Segoe UI Light" panose="020B0502040204020203" pitchFamily="34" charset="0"/>
                <a:cs typeface="Segoe UI Light" panose="020B0502040204020203" pitchFamily="34" charset="0"/>
              </a:rPr>
              <a:t>recomendable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todos</a:t>
            </a:r>
            <a:r>
              <a:rPr lang="en-US" sz="1600" dirty="0">
                <a:latin typeface="Segoe UI Light" panose="020B0502040204020203" pitchFamily="34" charset="0"/>
                <a:cs typeface="Segoe UI Light" panose="020B0502040204020203" pitchFamily="34" charset="0"/>
              </a:rPr>
              <a:t> los </a:t>
            </a:r>
            <a:r>
              <a:rPr lang="en-US" sz="1600" dirty="0" err="1">
                <a:latin typeface="Segoe UI Light" panose="020B0502040204020203" pitchFamily="34" charset="0"/>
                <a:cs typeface="Segoe UI Light" panose="020B0502040204020203" pitchFamily="34" charset="0"/>
              </a:rPr>
              <a:t>nucleos</a:t>
            </a:r>
            <a:r>
              <a:rPr lang="en-US" sz="1600" dirty="0">
                <a:latin typeface="Segoe UI Light" panose="020B0502040204020203" pitchFamily="34" charset="0"/>
                <a:cs typeface="Segoe UI Light" panose="020B0502040204020203" pitchFamily="34" charset="0"/>
              </a:rPr>
              <a:t> e </a:t>
            </a:r>
            <a:r>
              <a:rPr lang="en-US" sz="1600" dirty="0" err="1">
                <a:latin typeface="Segoe UI Light" panose="020B0502040204020203" pitchFamily="34" charset="0"/>
                <a:cs typeface="Segoe UI Light" panose="020B0502040204020203" pitchFamily="34" charset="0"/>
              </a:rPr>
              <a:t>hijos</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procesador</a:t>
            </a:r>
            <a:r>
              <a:rPr lang="en-US" sz="1600" dirty="0">
                <a:latin typeface="Segoe UI Light" panose="020B0502040204020203" pitchFamily="34" charset="0"/>
                <a:cs typeface="Segoe UI Light" panose="020B0502040204020203" pitchFamily="34" charset="0"/>
              </a:rPr>
              <a:t> para resolver </a:t>
            </a:r>
            <a:r>
              <a:rPr lang="en-US" sz="1600" dirty="0" err="1">
                <a:latin typeface="Segoe UI Light" panose="020B0502040204020203" pitchFamily="34" charset="0"/>
                <a:cs typeface="Segoe UI Light" panose="020B0502040204020203" pitchFamily="34" charset="0"/>
              </a:rPr>
              <a:t>más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rápidamente</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ecuaciones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celda</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cara</a:t>
            </a:r>
            <a:r>
              <a:rPr lang="en-US" sz="1600" dirty="0">
                <a:latin typeface="Segoe UI Light" panose="020B0502040204020203" pitchFamily="34" charset="0"/>
                <a:cs typeface="Segoe UI Light" panose="020B0502040204020203" pitchFamily="34" charset="0"/>
              </a:rPr>
              <a:t>.</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configuración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deberá</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aplicada</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cada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uno</a:t>
            </a:r>
            <a:r>
              <a:rPr lang="en-US" sz="1600" dirty="0">
                <a:latin typeface="Segoe UI Light" panose="020B0502040204020203" pitchFamily="34" charset="0"/>
                <a:cs typeface="Segoe UI Light" panose="020B0502040204020203" pitchFamily="34" charset="0"/>
              </a:rPr>
              <a:t> de los planes </a:t>
            </a:r>
            <a:r>
              <a:rPr lang="en-US" sz="1600" dirty="0" err="1">
                <a:latin typeface="Segoe UI Light" panose="020B0502040204020203" pitchFamily="34" charset="0"/>
                <a:cs typeface="Segoe UI Light" panose="020B0502040204020203" pitchFamily="34" charset="0"/>
              </a:rPr>
              <a:t>establecidos</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cada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periodo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retorno</a:t>
            </a:r>
            <a:r>
              <a:rPr lang="en-US" sz="1600" dirty="0">
                <a:latin typeface="Segoe UI Light" panose="020B0502040204020203" pitchFamily="34" charset="0"/>
                <a:cs typeface="Segoe UI Light" panose="020B0502040204020203" pitchFamily="34" charset="0"/>
              </a:rPr>
              <a:t>.</a:t>
            </a:r>
          </a:p>
        </p:txBody>
      </p:sp>
      <p:pic>
        <p:nvPicPr>
          <p:cNvPr id="4" name="Imagen 3">
            <a:extLst>
              <a:ext uri="{FF2B5EF4-FFF2-40B4-BE49-F238E27FC236}">
                <a16:creationId xmlns:a16="http://schemas.microsoft.com/office/drawing/2014/main" id="{FBF8A6D2-D805-4998-8687-73A6C5D33239}"/>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4559711" y="1268760"/>
            <a:ext cx="7476399" cy="4571497"/>
          </a:xfrm>
          <a:prstGeom prst="rect">
            <a:avLst/>
          </a:prstGeom>
        </p:spPr>
      </p:pic>
      <p:pic>
        <p:nvPicPr>
          <p:cNvPr id="11" name="Imagen 10">
            <a:extLst>
              <a:ext uri="{FF2B5EF4-FFF2-40B4-BE49-F238E27FC236}">
                <a16:creationId xmlns:a16="http://schemas.microsoft.com/office/drawing/2014/main" id="{9EA1A889-3B80-4692-AC83-85509BBB55B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879976" y="1707553"/>
            <a:ext cx="360000" cy="360000"/>
          </a:xfrm>
          <a:prstGeom prst="rect">
            <a:avLst/>
          </a:prstGeom>
        </p:spPr>
      </p:pic>
      <p:pic>
        <p:nvPicPr>
          <p:cNvPr id="12" name="Imagen 11">
            <a:extLst>
              <a:ext uri="{FF2B5EF4-FFF2-40B4-BE49-F238E27FC236}">
                <a16:creationId xmlns:a16="http://schemas.microsoft.com/office/drawing/2014/main" id="{9EED9B1D-85C6-4B4C-95F3-5959AAC903D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752184" y="2204864"/>
            <a:ext cx="360000" cy="360000"/>
          </a:xfrm>
          <a:prstGeom prst="rect">
            <a:avLst/>
          </a:prstGeom>
        </p:spPr>
      </p:pic>
      <p:pic>
        <p:nvPicPr>
          <p:cNvPr id="13" name="Imagen 12">
            <a:extLst>
              <a:ext uri="{FF2B5EF4-FFF2-40B4-BE49-F238E27FC236}">
                <a16:creationId xmlns:a16="http://schemas.microsoft.com/office/drawing/2014/main" id="{C573689B-BAB4-4B1A-8CC1-6269DDC1EE1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492147" y="3374508"/>
            <a:ext cx="360000" cy="360000"/>
          </a:xfrm>
          <a:prstGeom prst="rect">
            <a:avLst/>
          </a:prstGeom>
        </p:spPr>
      </p:pic>
      <p:pic>
        <p:nvPicPr>
          <p:cNvPr id="10" name="Imagen 9">
            <a:extLst>
              <a:ext uri="{FF2B5EF4-FFF2-40B4-BE49-F238E27FC236}">
                <a16:creationId xmlns:a16="http://schemas.microsoft.com/office/drawing/2014/main" id="{CD57AC8D-AD12-4274-9C27-5D4B26DA178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4" name="1 Título">
            <a:extLst>
              <a:ext uri="{FF2B5EF4-FFF2-40B4-BE49-F238E27FC236}">
                <a16:creationId xmlns:a16="http://schemas.microsoft.com/office/drawing/2014/main" id="{BC30AE89-4686-4267-BE9A-B7353689B8CB}"/>
              </a:ext>
            </a:extLst>
          </p:cNvPr>
          <p:cNvSpPr txBox="1">
            <a:spLocks/>
          </p:cNvSpPr>
          <p:nvPr/>
        </p:nvSpPr>
        <p:spPr>
          <a:xfrm>
            <a:off x="0" y="0"/>
            <a:ext cx="12202666"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Ecuaciones para resolver el modelo hidráulico: Saint </a:t>
            </a:r>
            <a:r>
              <a:rPr lang="es-ES" sz="800" dirty="0" err="1">
                <a:latin typeface="Segoe UI Light" panose="020B0502040204020203" pitchFamily="34" charset="0"/>
                <a:cs typeface="Segoe UI Light" panose="020B0502040204020203" pitchFamily="34" charset="0"/>
              </a:rPr>
              <a:t>Venan</a:t>
            </a:r>
            <a:r>
              <a:rPr lang="es-ES" sz="800" dirty="0">
                <a:latin typeface="Segoe UI Light" panose="020B0502040204020203" pitchFamily="34" charset="0"/>
                <a:cs typeface="Segoe UI Light" panose="020B0502040204020203" pitchFamily="34" charset="0"/>
              </a:rPr>
              <a:t> completo u Onda Difusiva</a:t>
            </a:r>
          </a:p>
        </p:txBody>
      </p:sp>
    </p:spTree>
    <p:extLst>
      <p:ext uri="{BB962C8B-B14F-4D97-AF65-F5344CB8AC3E}">
        <p14:creationId xmlns:p14="http://schemas.microsoft.com/office/powerpoint/2010/main" val="4112571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921542" y="3105834"/>
            <a:ext cx="4348915" cy="646331"/>
          </a:xfrm>
          <a:prstGeom prst="rect">
            <a:avLst/>
          </a:prstGeom>
          <a:noFill/>
        </p:spPr>
        <p:txBody>
          <a:bodyPr wrap="square" rtlCol="0">
            <a:spAutoFit/>
          </a:bodyPr>
          <a:lstStyle/>
          <a:p>
            <a:pPr algn="ctr"/>
            <a:r>
              <a:rPr lang="en-US" dirty="0">
                <a:latin typeface="Segoe UI Light" panose="020B0502040204020203" pitchFamily="34" charset="0"/>
                <a:cs typeface="Segoe UI Light" panose="020B0502040204020203" pitchFamily="34" charset="0"/>
              </a:rPr>
              <a:t>4. </a:t>
            </a:r>
            <a:r>
              <a:rPr lang="es-CO" dirty="0">
                <a:latin typeface="Segoe UI Light" panose="020B0502040204020203" pitchFamily="34" charset="0"/>
                <a:cs typeface="Segoe UI Light" panose="020B0502040204020203" pitchFamily="34" charset="0"/>
              </a:rPr>
              <a:t>Configuración del Efecto Coriolis para considerar el efecto rotacional de la tierra</a:t>
            </a:r>
            <a:endParaRPr lang="en-US"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2073564F-73D3-44C9-8672-36D3C7F3C7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900758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91344" y="898685"/>
            <a:ext cx="4104456" cy="4524315"/>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Una vez se obtenga un modelo numéricamente estable, podrá considerar la solución utilizando las ecuaciones completas de Saint Venan. El efecto Coriolis permite modelar el efecto rotacional de la tierra en la solución numérica de Full Momentum. Es necesario ingresar la latitud en grados decimales; valores mayores que cero se consideran al norte de la línea equatorial y negativos los del emisferio sur. </a:t>
            </a:r>
          </a:p>
          <a:p>
            <a:pPr algn="just"/>
            <a:endParaRPr lang="en-US" sz="1600">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En la ventana del plan, clic en el menú </a:t>
            </a:r>
            <a:r>
              <a:rPr lang="en-US" sz="1600" i="1">
                <a:latin typeface="Segoe UI Light" panose="020B0502040204020203" pitchFamily="34" charset="0"/>
                <a:cs typeface="Segoe UI Light" panose="020B0502040204020203" pitchFamily="34" charset="0"/>
              </a:rPr>
              <a:t>Options – Calculation Options and Tolerances. </a:t>
            </a:r>
            <a:r>
              <a:rPr lang="en-US" sz="1600">
                <a:latin typeface="Segoe UI Light" panose="020B0502040204020203" pitchFamily="34" charset="0"/>
                <a:cs typeface="Segoe UI Light" panose="020B0502040204020203" pitchFamily="34" charset="0"/>
              </a:rPr>
              <a:t> Seleccione la pestaña 2D Flow Options y para Perimeter 1 seleccione Full Momentum, active la casilla Use Coriolis Effects e ingrese la latitud. Para el ejercicio del curso, el canal a modelar se encuentra en la latitud 9.779586°</a:t>
            </a:r>
          </a:p>
        </p:txBody>
      </p:sp>
      <p:sp>
        <p:nvSpPr>
          <p:cNvPr id="10" name="1 Título">
            <a:extLst>
              <a:ext uri="{FF2B5EF4-FFF2-40B4-BE49-F238E27FC236}">
                <a16:creationId xmlns:a16="http://schemas.microsoft.com/office/drawing/2014/main" id="{FFA2EA99-79C8-463F-BD00-7B1F165D6718}"/>
              </a:ext>
            </a:extLst>
          </p:cNvPr>
          <p:cNvSpPr txBox="1">
            <a:spLocks/>
          </p:cNvSpPr>
          <p:nvPr/>
        </p:nvSpPr>
        <p:spPr>
          <a:xfrm>
            <a:off x="0" y="0"/>
            <a:ext cx="12202666"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Configuración del Efecto Coriolis para considerar el efecto rotacional de la tierra</a:t>
            </a:r>
          </a:p>
        </p:txBody>
      </p:sp>
      <p:sp>
        <p:nvSpPr>
          <p:cNvPr id="9" name="1 Título">
            <a:extLst>
              <a:ext uri="{FF2B5EF4-FFF2-40B4-BE49-F238E27FC236}">
                <a16:creationId xmlns:a16="http://schemas.microsoft.com/office/drawing/2014/main" id="{C58D08C9-7607-46D0-A6E5-F40C1ED0D8B3}"/>
              </a:ext>
            </a:extLst>
          </p:cNvPr>
          <p:cNvSpPr txBox="1">
            <a:spLocks/>
          </p:cNvSpPr>
          <p:nvPr/>
        </p:nvSpPr>
        <p:spPr>
          <a:xfrm>
            <a:off x="0" y="6662980"/>
            <a:ext cx="12192000" cy="19502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CO" sz="800">
                <a:latin typeface="Segoe UI Light" panose="020B0502040204020203" pitchFamily="34" charset="0"/>
                <a:cs typeface="Segoe UI Light" panose="020B0502040204020203" pitchFamily="34" charset="0"/>
              </a:rPr>
              <a:t>Tomadas del manual de HEC-RAS 5.0 2D Modeling Users Manual, pág  4-3. Para mayor información consulte el Manual de Referencia de HEC-RAS 5.0, Chapter 2 - 2D Unsteady Flow Hydrodynamics, pag 2-53.</a:t>
            </a:r>
          </a:p>
        </p:txBody>
      </p:sp>
      <p:pic>
        <p:nvPicPr>
          <p:cNvPr id="2" name="Imagen 1">
            <a:extLst>
              <a:ext uri="{FF2B5EF4-FFF2-40B4-BE49-F238E27FC236}">
                <a16:creationId xmlns:a16="http://schemas.microsoft.com/office/drawing/2014/main" id="{4D4153FB-4DE4-4DD9-B781-33BDC8F9E50C}"/>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4439816" y="1327133"/>
            <a:ext cx="7432551" cy="4544686"/>
          </a:xfrm>
          <a:prstGeom prst="rect">
            <a:avLst/>
          </a:prstGeom>
        </p:spPr>
      </p:pic>
      <p:pic>
        <p:nvPicPr>
          <p:cNvPr id="7" name="Imagen 6">
            <a:extLst>
              <a:ext uri="{FF2B5EF4-FFF2-40B4-BE49-F238E27FC236}">
                <a16:creationId xmlns:a16="http://schemas.microsoft.com/office/drawing/2014/main" id="{2DAF5C0F-F0DA-4746-80F1-45CC676D8B6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27848" y="2060848"/>
            <a:ext cx="360000" cy="360000"/>
          </a:xfrm>
          <a:prstGeom prst="rect">
            <a:avLst/>
          </a:prstGeom>
        </p:spPr>
      </p:pic>
      <p:pic>
        <p:nvPicPr>
          <p:cNvPr id="11" name="Imagen 10">
            <a:extLst>
              <a:ext uri="{FF2B5EF4-FFF2-40B4-BE49-F238E27FC236}">
                <a16:creationId xmlns:a16="http://schemas.microsoft.com/office/drawing/2014/main" id="{C80C8856-164E-4291-B84A-A54694C24E0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04312" y="3424311"/>
            <a:ext cx="360000" cy="360000"/>
          </a:xfrm>
          <a:prstGeom prst="rect">
            <a:avLst/>
          </a:prstGeom>
        </p:spPr>
      </p:pic>
      <p:pic>
        <p:nvPicPr>
          <p:cNvPr id="12" name="Imagen 11">
            <a:extLst>
              <a:ext uri="{FF2B5EF4-FFF2-40B4-BE49-F238E27FC236}">
                <a16:creationId xmlns:a16="http://schemas.microsoft.com/office/drawing/2014/main" id="{B235B7E6-000B-4317-83F8-D3FBF6F8C8B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44725" y="4281611"/>
            <a:ext cx="360000" cy="360000"/>
          </a:xfrm>
          <a:prstGeom prst="rect">
            <a:avLst/>
          </a:prstGeom>
        </p:spPr>
      </p:pic>
      <p:pic>
        <p:nvPicPr>
          <p:cNvPr id="14" name="Imagen 13">
            <a:extLst>
              <a:ext uri="{FF2B5EF4-FFF2-40B4-BE49-F238E27FC236}">
                <a16:creationId xmlns:a16="http://schemas.microsoft.com/office/drawing/2014/main" id="{ADAF3FE3-DF7E-4718-9F60-78805103255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035113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349806" y="3244334"/>
            <a:ext cx="3492388" cy="369332"/>
          </a:xfrm>
          <a:prstGeom prst="rect">
            <a:avLst/>
          </a:prstGeom>
          <a:noFill/>
        </p:spPr>
        <p:txBody>
          <a:bodyPr wrap="square" rtlCol="0">
            <a:spAutoFit/>
          </a:bodyPr>
          <a:lstStyle/>
          <a:p>
            <a:pPr algn="ctr"/>
            <a:r>
              <a:rPr lang="en-US" dirty="0">
                <a:latin typeface="Segoe UI Light" panose="020B0502040204020203" pitchFamily="34" charset="0"/>
                <a:cs typeface="Segoe UI Light" panose="020B0502040204020203" pitchFamily="34" charset="0"/>
              </a:rPr>
              <a:t>5. </a:t>
            </a:r>
            <a:r>
              <a:rPr lang="es-CO" dirty="0">
                <a:latin typeface="Segoe UI Light" panose="020B0502040204020203" pitchFamily="34" charset="0"/>
                <a:cs typeface="Segoe UI Light" panose="020B0502040204020203" pitchFamily="34" charset="0"/>
              </a:rPr>
              <a:t>Modelación hidráulica</a:t>
            </a:r>
            <a:endParaRPr lang="en-US" sz="1600" dirty="0">
              <a:solidFill>
                <a:schemeClr val="tx1">
                  <a:lumMod val="65000"/>
                  <a:lumOff val="35000"/>
                </a:schemeClr>
              </a:solidFill>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CFC54D03-E2D4-4C38-AA95-7B7C36518A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913786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ADCC31D-F136-4A94-B4D1-6CF0413ECE82}"/>
              </a:ext>
            </a:extLst>
          </p:cNvPr>
          <p:cNvPicPr>
            <a:picLocks noChangeAspect="1"/>
          </p:cNvPicPr>
          <p:nvPr/>
        </p:nvPicPr>
        <p:blipFill>
          <a:blip r:embed="rId3">
            <a:grayscl/>
          </a:blip>
          <a:stretch>
            <a:fillRect/>
          </a:stretch>
        </p:blipFill>
        <p:spPr>
          <a:xfrm>
            <a:off x="988342" y="1416613"/>
            <a:ext cx="4886325" cy="4733925"/>
          </a:xfrm>
          <a:prstGeom prst="rect">
            <a:avLst/>
          </a:prstGeom>
        </p:spPr>
      </p:pic>
      <p:sp>
        <p:nvSpPr>
          <p:cNvPr id="8" name="7 CuadroTexto"/>
          <p:cNvSpPr txBox="1"/>
          <p:nvPr/>
        </p:nvSpPr>
        <p:spPr>
          <a:xfrm>
            <a:off x="911384" y="413542"/>
            <a:ext cx="10585216" cy="830997"/>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Luego de establecidas las configuraciones y parámetro requeridos, en la ventana del plan de clic en el botón Compute. Revise la ventana y mensajes de la ventana de resultados de la modelación. Realice este procedimiento para cada plan. Modelar inicialmente usando las ecuaciones de la Onda Difusiva.</a:t>
            </a:r>
          </a:p>
        </p:txBody>
      </p:sp>
      <p:sp>
        <p:nvSpPr>
          <p:cNvPr id="10" name="1 Título">
            <a:extLst>
              <a:ext uri="{FF2B5EF4-FFF2-40B4-BE49-F238E27FC236}">
                <a16:creationId xmlns:a16="http://schemas.microsoft.com/office/drawing/2014/main" id="{FFA2EA99-79C8-463F-BD00-7B1F165D6718}"/>
              </a:ext>
            </a:extLst>
          </p:cNvPr>
          <p:cNvSpPr txBox="1">
            <a:spLocks/>
          </p:cNvSpPr>
          <p:nvPr/>
        </p:nvSpPr>
        <p:spPr>
          <a:xfrm>
            <a:off x="0" y="0"/>
            <a:ext cx="12202666"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5. Modelación hidráulica</a:t>
            </a:r>
          </a:p>
        </p:txBody>
      </p:sp>
      <p:pic>
        <p:nvPicPr>
          <p:cNvPr id="7" name="Imagen 6">
            <a:extLst>
              <a:ext uri="{FF2B5EF4-FFF2-40B4-BE49-F238E27FC236}">
                <a16:creationId xmlns:a16="http://schemas.microsoft.com/office/drawing/2014/main" id="{2DAF5C0F-F0DA-4746-80F1-45CC676D8B6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24646" y="5970538"/>
            <a:ext cx="360000" cy="360000"/>
          </a:xfrm>
          <a:prstGeom prst="rect">
            <a:avLst/>
          </a:prstGeom>
        </p:spPr>
      </p:pic>
      <p:pic>
        <p:nvPicPr>
          <p:cNvPr id="4" name="Imagen 3">
            <a:extLst>
              <a:ext uri="{FF2B5EF4-FFF2-40B4-BE49-F238E27FC236}">
                <a16:creationId xmlns:a16="http://schemas.microsoft.com/office/drawing/2014/main" id="{8B299795-4D25-4093-BF7A-5D4FB40176F9}"/>
              </a:ext>
            </a:extLst>
          </p:cNvPr>
          <p:cNvPicPr>
            <a:picLocks noChangeAspect="1"/>
          </p:cNvPicPr>
          <p:nvPr/>
        </p:nvPicPr>
        <p:blipFill>
          <a:blip r:embed="rId5">
            <a:grayscl/>
          </a:blip>
          <a:stretch>
            <a:fillRect/>
          </a:stretch>
        </p:blipFill>
        <p:spPr>
          <a:xfrm>
            <a:off x="6599897" y="1416613"/>
            <a:ext cx="4896703" cy="5339524"/>
          </a:xfrm>
          <a:prstGeom prst="rect">
            <a:avLst/>
          </a:prstGeom>
        </p:spPr>
      </p:pic>
      <p:pic>
        <p:nvPicPr>
          <p:cNvPr id="17" name="Imagen 16">
            <a:extLst>
              <a:ext uri="{FF2B5EF4-FFF2-40B4-BE49-F238E27FC236}">
                <a16:creationId xmlns:a16="http://schemas.microsoft.com/office/drawing/2014/main" id="{874A257C-3A78-45D7-BDAC-9AA1B130203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12065" y="4945005"/>
            <a:ext cx="360000" cy="360000"/>
          </a:xfrm>
          <a:prstGeom prst="rect">
            <a:avLst/>
          </a:prstGeom>
        </p:spPr>
      </p:pic>
      <p:pic>
        <p:nvPicPr>
          <p:cNvPr id="9" name="Imagen 8">
            <a:extLst>
              <a:ext uri="{FF2B5EF4-FFF2-40B4-BE49-F238E27FC236}">
                <a16:creationId xmlns:a16="http://schemas.microsoft.com/office/drawing/2014/main" id="{D46EDA45-35A5-4929-9ACB-23FBDDE439F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003937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DC272E38-2530-4B2A-82BD-4F00449D4932}"/>
              </a:ext>
            </a:extLst>
          </p:cNvPr>
          <p:cNvPicPr>
            <a:picLocks noChangeAspect="1"/>
          </p:cNvPicPr>
          <p:nvPr/>
        </p:nvPicPr>
        <p:blipFill>
          <a:blip r:embed="rId3">
            <a:grayscl/>
          </a:blip>
          <a:stretch>
            <a:fillRect/>
          </a:stretch>
        </p:blipFill>
        <p:spPr>
          <a:xfrm>
            <a:off x="278161" y="1052736"/>
            <a:ext cx="5757219" cy="1736304"/>
          </a:xfrm>
          <a:prstGeom prst="rect">
            <a:avLst/>
          </a:prstGeom>
        </p:spPr>
      </p:pic>
      <p:sp>
        <p:nvSpPr>
          <p:cNvPr id="8" name="7 CuadroTexto"/>
          <p:cNvSpPr txBox="1"/>
          <p:nvPr/>
        </p:nvSpPr>
        <p:spPr>
          <a:xfrm>
            <a:off x="905311" y="385248"/>
            <a:ext cx="10585216" cy="584775"/>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caso</a:t>
            </a:r>
            <a:r>
              <a:rPr lang="en-US" sz="1600" dirty="0">
                <a:latin typeface="Segoe UI Light" panose="020B0502040204020203" pitchFamily="34" charset="0"/>
                <a:cs typeface="Segoe UI Light" panose="020B0502040204020203" pitchFamily="34" charset="0"/>
              </a:rPr>
              <a:t> de que </a:t>
            </a:r>
            <a:r>
              <a:rPr lang="en-US" sz="1600" dirty="0" err="1">
                <a:latin typeface="Segoe UI Light" panose="020B0502040204020203" pitchFamily="34" charset="0"/>
                <a:cs typeface="Segoe UI Light" panose="020B0502040204020203" pitchFamily="34" charset="0"/>
              </a:rPr>
              <a:t>requiera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modelar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simultáneamente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múltiples</a:t>
            </a:r>
            <a:r>
              <a:rPr lang="en-US" sz="1600" dirty="0">
                <a:latin typeface="Segoe UI Light" panose="020B0502040204020203" pitchFamily="34" charset="0"/>
                <a:cs typeface="Segoe UI Light" panose="020B0502040204020203" pitchFamily="34" charset="0"/>
              </a:rPr>
              <a:t> planes, </a:t>
            </a:r>
            <a:r>
              <a:rPr lang="en-US" sz="1600" dirty="0" err="1">
                <a:latin typeface="Segoe UI Light" panose="020B0502040204020203" pitchFamily="34" charset="0"/>
                <a:cs typeface="Segoe UI Light" panose="020B0502040204020203" pitchFamily="34" charset="0"/>
              </a:rPr>
              <a:t>correspondientes</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direfentes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periodos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retorno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ventana</a:t>
            </a:r>
            <a:r>
              <a:rPr lang="en-US" sz="1600" dirty="0">
                <a:latin typeface="Segoe UI Light" panose="020B0502040204020203" pitchFamily="34" charset="0"/>
                <a:cs typeface="Segoe UI Light" panose="020B0502040204020203" pitchFamily="34" charset="0"/>
              </a:rPr>
              <a:t> principal de </a:t>
            </a:r>
            <a:r>
              <a:rPr lang="en-US" sz="1600" dirty="0" err="1">
                <a:latin typeface="Segoe UI Light" panose="020B0502040204020203" pitchFamily="34" charset="0"/>
                <a:cs typeface="Segoe UI Light" panose="020B0502040204020203" pitchFamily="34" charset="0"/>
              </a:rPr>
              <a:t>proyecto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menú</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Run – Run Multiples Plans…</a:t>
            </a:r>
          </a:p>
        </p:txBody>
      </p:sp>
      <p:pic>
        <p:nvPicPr>
          <p:cNvPr id="7" name="Imagen 6">
            <a:extLst>
              <a:ext uri="{FF2B5EF4-FFF2-40B4-BE49-F238E27FC236}">
                <a16:creationId xmlns:a16="http://schemas.microsoft.com/office/drawing/2014/main" id="{2DAF5C0F-F0DA-4746-80F1-45CC676D8B6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74940" y="2247706"/>
            <a:ext cx="360000" cy="360000"/>
          </a:xfrm>
          <a:prstGeom prst="rect">
            <a:avLst/>
          </a:prstGeom>
        </p:spPr>
      </p:pic>
      <p:pic>
        <p:nvPicPr>
          <p:cNvPr id="5" name="Imagen 4">
            <a:extLst>
              <a:ext uri="{FF2B5EF4-FFF2-40B4-BE49-F238E27FC236}">
                <a16:creationId xmlns:a16="http://schemas.microsoft.com/office/drawing/2014/main" id="{CCBED06C-E971-4ECC-B840-73E2CDFA6610}"/>
              </a:ext>
            </a:extLst>
          </p:cNvPr>
          <p:cNvPicPr>
            <a:picLocks noChangeAspect="1"/>
          </p:cNvPicPr>
          <p:nvPr/>
        </p:nvPicPr>
        <p:blipFill>
          <a:blip r:embed="rId5">
            <a:grayscl/>
          </a:blip>
          <a:stretch>
            <a:fillRect/>
          </a:stretch>
        </p:blipFill>
        <p:spPr>
          <a:xfrm>
            <a:off x="1794126" y="2852936"/>
            <a:ext cx="3009900" cy="2295525"/>
          </a:xfrm>
          <a:prstGeom prst="rect">
            <a:avLst/>
          </a:prstGeom>
        </p:spPr>
      </p:pic>
      <p:pic>
        <p:nvPicPr>
          <p:cNvPr id="6" name="Imagen 5">
            <a:extLst>
              <a:ext uri="{FF2B5EF4-FFF2-40B4-BE49-F238E27FC236}">
                <a16:creationId xmlns:a16="http://schemas.microsoft.com/office/drawing/2014/main" id="{6A9BEBEC-C40A-4BDB-B35A-606A3C2726ED}"/>
              </a:ext>
            </a:extLst>
          </p:cNvPr>
          <p:cNvPicPr>
            <a:picLocks noChangeAspect="1"/>
          </p:cNvPicPr>
          <p:nvPr/>
        </p:nvPicPr>
        <p:blipFill>
          <a:blip r:embed="rId6">
            <a:grayscl/>
          </a:blip>
          <a:stretch>
            <a:fillRect/>
          </a:stretch>
        </p:blipFill>
        <p:spPr>
          <a:xfrm>
            <a:off x="6166517" y="1077150"/>
            <a:ext cx="5690123" cy="4512090"/>
          </a:xfrm>
          <a:prstGeom prst="rect">
            <a:avLst/>
          </a:prstGeom>
        </p:spPr>
      </p:pic>
      <p:pic>
        <p:nvPicPr>
          <p:cNvPr id="12" name="Imagen 11">
            <a:extLst>
              <a:ext uri="{FF2B5EF4-FFF2-40B4-BE49-F238E27FC236}">
                <a16:creationId xmlns:a16="http://schemas.microsoft.com/office/drawing/2014/main" id="{A7AD7894-3B3A-4A71-B757-136103F0F8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8996" y="3500483"/>
            <a:ext cx="360000" cy="360000"/>
          </a:xfrm>
          <a:prstGeom prst="rect">
            <a:avLst/>
          </a:prstGeom>
        </p:spPr>
      </p:pic>
      <p:sp>
        <p:nvSpPr>
          <p:cNvPr id="14" name="7 CuadroTexto">
            <a:extLst>
              <a:ext uri="{FF2B5EF4-FFF2-40B4-BE49-F238E27FC236}">
                <a16:creationId xmlns:a16="http://schemas.microsoft.com/office/drawing/2014/main" id="{31724C46-02EA-4FB4-A24F-530AAB5679D0}"/>
              </a:ext>
            </a:extLst>
          </p:cNvPr>
          <p:cNvSpPr txBox="1"/>
          <p:nvPr/>
        </p:nvSpPr>
        <p:spPr>
          <a:xfrm>
            <a:off x="309222" y="5301208"/>
            <a:ext cx="5470076" cy="1384995"/>
          </a:xfrm>
          <a:prstGeom prst="rect">
            <a:avLst/>
          </a:prstGeom>
          <a:noFill/>
        </p:spPr>
        <p:txBody>
          <a:bodyPr wrap="square" rtlCol="0">
            <a:spAutoFit/>
          </a:bodyPr>
          <a:lstStyle/>
          <a:p>
            <a:pPr algn="just"/>
            <a:r>
              <a:rPr lang="en-US" sz="1400">
                <a:latin typeface="Segoe UI Light" panose="020B0502040204020203" pitchFamily="34" charset="0"/>
                <a:cs typeface="Segoe UI Light" panose="020B0502040204020203" pitchFamily="34" charset="0"/>
              </a:rPr>
              <a:t>En la ventana de resultados podrá observar el valor autoajustado de salto de tiempo para cumplir con la condición de Courant.</a:t>
            </a:r>
          </a:p>
          <a:p>
            <a:pPr algn="just"/>
            <a:endParaRPr lang="en-US" sz="1400" i="1">
              <a:latin typeface="Segoe UI Light" panose="020B0502040204020203" pitchFamily="34" charset="0"/>
              <a:cs typeface="Segoe UI Light" panose="020B0502040204020203" pitchFamily="34" charset="0"/>
            </a:endParaRPr>
          </a:p>
          <a:p>
            <a:pPr algn="just"/>
            <a:r>
              <a:rPr lang="en-US" sz="1400">
                <a:latin typeface="Segoe UI Light" panose="020B0502040204020203" pitchFamily="34" charset="0"/>
                <a:cs typeface="Segoe UI Light" panose="020B0502040204020203" pitchFamily="34" charset="0"/>
              </a:rPr>
              <a:t>Maximum adaptive timestep = 01:00.0</a:t>
            </a:r>
          </a:p>
          <a:p>
            <a:pPr algn="just"/>
            <a:r>
              <a:rPr lang="en-US" sz="1400">
                <a:latin typeface="Segoe UI Light" panose="020B0502040204020203" pitchFamily="34" charset="0"/>
                <a:cs typeface="Segoe UI Light" panose="020B0502040204020203" pitchFamily="34" charset="0"/>
              </a:rPr>
              <a:t>Minimum adaptive timestep = 01:00.0</a:t>
            </a:r>
          </a:p>
          <a:p>
            <a:pPr algn="just"/>
            <a:r>
              <a:rPr lang="en-US" sz="1400">
                <a:latin typeface="Segoe UI Light" panose="020B0502040204020203" pitchFamily="34" charset="0"/>
                <a:cs typeface="Segoe UI Light" panose="020B0502040204020203" pitchFamily="34" charset="0"/>
              </a:rPr>
              <a:t>Initial adaptive timestep = 01:00.0</a:t>
            </a:r>
          </a:p>
        </p:txBody>
      </p:sp>
      <p:pic>
        <p:nvPicPr>
          <p:cNvPr id="15" name="Imagen 14">
            <a:extLst>
              <a:ext uri="{FF2B5EF4-FFF2-40B4-BE49-F238E27FC236}">
                <a16:creationId xmlns:a16="http://schemas.microsoft.com/office/drawing/2014/main" id="{40B55126-9E8E-44D1-B8BB-DD5B35E2637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55225" y="3695531"/>
            <a:ext cx="360000" cy="360000"/>
          </a:xfrm>
          <a:prstGeom prst="rect">
            <a:avLst/>
          </a:prstGeom>
        </p:spPr>
      </p:pic>
      <p:pic>
        <p:nvPicPr>
          <p:cNvPr id="13" name="Imagen 12">
            <a:extLst>
              <a:ext uri="{FF2B5EF4-FFF2-40B4-BE49-F238E27FC236}">
                <a16:creationId xmlns:a16="http://schemas.microsoft.com/office/drawing/2014/main" id="{2E1D5A4B-712C-4884-B272-939DFD763C3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6" name="1 Título">
            <a:extLst>
              <a:ext uri="{FF2B5EF4-FFF2-40B4-BE49-F238E27FC236}">
                <a16:creationId xmlns:a16="http://schemas.microsoft.com/office/drawing/2014/main" id="{5F5813E6-46CC-4727-82BA-78592989F4BA}"/>
              </a:ext>
            </a:extLst>
          </p:cNvPr>
          <p:cNvSpPr txBox="1">
            <a:spLocks/>
          </p:cNvSpPr>
          <p:nvPr/>
        </p:nvSpPr>
        <p:spPr>
          <a:xfrm>
            <a:off x="0" y="0"/>
            <a:ext cx="12202666"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5. Modelación hidráulica</a:t>
            </a:r>
          </a:p>
        </p:txBody>
      </p:sp>
    </p:spTree>
    <p:extLst>
      <p:ext uri="{BB962C8B-B14F-4D97-AF65-F5344CB8AC3E}">
        <p14:creationId xmlns:p14="http://schemas.microsoft.com/office/powerpoint/2010/main" val="2571316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B89A29B-D829-44EC-9526-FB651E5E191C}"/>
              </a:ext>
            </a:extLst>
          </p:cNvPr>
          <p:cNvPicPr>
            <a:picLocks noChangeAspect="1"/>
          </p:cNvPicPr>
          <p:nvPr/>
        </p:nvPicPr>
        <p:blipFill>
          <a:blip r:embed="rId3"/>
          <a:stretch>
            <a:fillRect/>
          </a:stretch>
        </p:blipFill>
        <p:spPr>
          <a:xfrm>
            <a:off x="7392144" y="1124744"/>
            <a:ext cx="4610100" cy="5181600"/>
          </a:xfrm>
          <a:prstGeom prst="rect">
            <a:avLst/>
          </a:prstGeom>
        </p:spPr>
      </p:pic>
      <p:sp>
        <p:nvSpPr>
          <p:cNvPr id="8" name="7 CuadroTexto"/>
          <p:cNvSpPr txBox="1"/>
          <p:nvPr/>
        </p:nvSpPr>
        <p:spPr>
          <a:xfrm>
            <a:off x="227993" y="1289953"/>
            <a:ext cx="6986889" cy="4278094"/>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caso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presentarse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siguiente</a:t>
            </a:r>
            <a:r>
              <a:rPr lang="en-US" sz="1600" dirty="0">
                <a:latin typeface="Segoe UI Light" panose="020B0502040204020203" pitchFamily="34" charset="0"/>
                <a:cs typeface="Segoe UI Light" panose="020B0502040204020203" pitchFamily="34" charset="0"/>
              </a:rPr>
              <a:t> error </a:t>
            </a:r>
            <a:r>
              <a:rPr lang="en-US" sz="1600" dirty="0" err="1">
                <a:latin typeface="Segoe UI Light" panose="020B0502040204020203" pitchFamily="34" charset="0"/>
                <a:cs typeface="Segoe UI Light" panose="020B0502040204020203" pitchFamily="34" charset="0"/>
              </a:rPr>
              <a:t>debido</a:t>
            </a:r>
            <a:r>
              <a:rPr lang="en-US" sz="1600" dirty="0">
                <a:latin typeface="Segoe UI Light" panose="020B0502040204020203" pitchFamily="34" charset="0"/>
                <a:cs typeface="Segoe UI Light" panose="020B0502040204020203" pitchFamily="34" charset="0"/>
              </a:rPr>
              <a:t> al </a:t>
            </a:r>
            <a:r>
              <a:rPr lang="en-US" sz="1600" dirty="0" err="1">
                <a:latin typeface="Segoe UI Light" panose="020B0502040204020203" pitchFamily="34" charset="0"/>
                <a:cs typeface="Segoe UI Light" panose="020B0502040204020203" pitchFamily="34" charset="0"/>
              </a:rPr>
              <a:t>formato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inadecuado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fechas</a:t>
            </a:r>
            <a:r>
              <a:rPr lang="en-US" sz="1600" dirty="0">
                <a:latin typeface="Segoe UI Light" panose="020B0502040204020203" pitchFamily="34" charset="0"/>
                <a:cs typeface="Segoe UI Light" panose="020B0502040204020203" pitchFamily="34" charset="0"/>
              </a:rPr>
              <a:t> y horas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sistema</a:t>
            </a:r>
            <a:r>
              <a:rPr lang="en-US" sz="1600" dirty="0">
                <a:latin typeface="Segoe UI Light" panose="020B0502040204020203" pitchFamily="34" charset="0"/>
                <a:cs typeface="Segoe UI Light" panose="020B0502040204020203" pitchFamily="34" charset="0"/>
              </a:rPr>
              <a:t> </a:t>
            </a:r>
            <a:r>
              <a:rPr lang="en-US" sz="1600">
                <a:latin typeface="Segoe UI Light" panose="020B0502040204020203" pitchFamily="34" charset="0"/>
                <a:cs typeface="Segoe UI Light" panose="020B0502040204020203" pitchFamily="34" charset="0"/>
              </a:rPr>
              <a:t>operativo </a:t>
            </a:r>
            <a:r>
              <a:rPr lang="en-US" sz="1600" dirty="0">
                <a:latin typeface="Segoe UI Light" panose="020B0502040204020203" pitchFamily="34" charset="0"/>
                <a:cs typeface="Segoe UI Light" panose="020B0502040204020203" pitchFamily="34" charset="0"/>
              </a:rPr>
              <a:t>Microsoft Windows:</a:t>
            </a:r>
          </a:p>
          <a:p>
            <a:pPr algn="just"/>
            <a:endParaRPr lang="en-US" sz="1600" i="1" dirty="0">
              <a:latin typeface="Segoe UI Light" panose="020B0502040204020203" pitchFamily="34" charset="0"/>
              <a:cs typeface="Segoe UI Light" panose="020B0502040204020203" pitchFamily="34" charset="0"/>
            </a:endParaRPr>
          </a:p>
          <a:p>
            <a:pPr lvl="1" algn="just"/>
            <a:r>
              <a:rPr lang="en-US" sz="1600" i="1" dirty="0">
                <a:latin typeface="Segoe UI Light" panose="020B0502040204020203" pitchFamily="34" charset="0"/>
                <a:cs typeface="Segoe UI Light" panose="020B0502040204020203" pitchFamily="34" charset="0"/>
              </a:rPr>
              <a:t>+STOP!  Error in the time window.</a:t>
            </a:r>
          </a:p>
          <a:p>
            <a:pPr lvl="1" algn="just"/>
            <a:r>
              <a:rPr lang="en-US" sz="1600" i="1" dirty="0">
                <a:latin typeface="Segoe UI Light" panose="020B0502040204020203" pitchFamily="34" charset="0"/>
                <a:cs typeface="Segoe UI Light" panose="020B0502040204020203" pitchFamily="34" charset="0"/>
              </a:rPr>
              <a:t>HDF_ERROR trying to close HDF output file:</a:t>
            </a:r>
          </a:p>
          <a:p>
            <a:pPr lvl="1" algn="just"/>
            <a:r>
              <a:rPr lang="en-US" sz="1600" i="1" dirty="0">
                <a:latin typeface="Segoe UI Light" panose="020B0502040204020203" pitchFamily="34" charset="0"/>
                <a:cs typeface="Segoe UI Light" panose="020B0502040204020203" pitchFamily="34" charset="0"/>
              </a:rPr>
              <a:t>HDF5-DIAG: Error detected in HDF5 (1.8.11) thread 0:</a:t>
            </a:r>
          </a:p>
          <a:p>
            <a:pPr lvl="1" algn="just"/>
            <a:r>
              <a:rPr lang="en-US" sz="1600" i="1" dirty="0">
                <a:latin typeface="Segoe UI Light" panose="020B0502040204020203" pitchFamily="34" charset="0"/>
                <a:cs typeface="Segoe UI Light" panose="020B0502040204020203" pitchFamily="34" charset="0"/>
              </a:rPr>
              <a:t>  #000: ..\..\</a:t>
            </a:r>
            <a:r>
              <a:rPr lang="en-US" sz="1600" i="1" dirty="0" err="1">
                <a:latin typeface="Segoe UI Light" panose="020B0502040204020203" pitchFamily="34" charset="0"/>
                <a:cs typeface="Segoe UI Light" panose="020B0502040204020203" pitchFamily="34" charset="0"/>
              </a:rPr>
              <a:t>src</a:t>
            </a:r>
            <a:r>
              <a:rPr lang="en-US" sz="1600" i="1" dirty="0">
                <a:latin typeface="Segoe UI Light" panose="020B0502040204020203" pitchFamily="34" charset="0"/>
                <a:cs typeface="Segoe UI Light" panose="020B0502040204020203" pitchFamily="34" charset="0"/>
              </a:rPr>
              <a:t>\H5F.c line 2044 in H5Fclose(): invalid file identifier</a:t>
            </a:r>
          </a:p>
          <a:p>
            <a:pPr lvl="1" algn="just"/>
            <a:r>
              <a:rPr lang="en-US" sz="1600" i="1" dirty="0">
                <a:latin typeface="Segoe UI Light" panose="020B0502040204020203" pitchFamily="34" charset="0"/>
                <a:cs typeface="Segoe UI Light" panose="020B0502040204020203" pitchFamily="34" charset="0"/>
              </a:rPr>
              <a:t>    major: Invalid arguments to routine</a:t>
            </a:r>
          </a:p>
          <a:p>
            <a:pPr lvl="1" algn="just"/>
            <a:r>
              <a:rPr lang="en-US" sz="1600" i="1" dirty="0">
                <a:latin typeface="Segoe UI Light" panose="020B0502040204020203" pitchFamily="34" charset="0"/>
                <a:cs typeface="Segoe UI Light" panose="020B0502040204020203" pitchFamily="34" charset="0"/>
              </a:rPr>
              <a:t>    minor: Inappropriate type</a:t>
            </a:r>
          </a:p>
          <a:p>
            <a:pPr lvl="1" algn="just"/>
            <a:r>
              <a:rPr lang="en-US" sz="1600" i="1" dirty="0">
                <a:latin typeface="Segoe UI Light" panose="020B0502040204020203" pitchFamily="34" charset="0"/>
                <a:cs typeface="Segoe UI Light" panose="020B0502040204020203" pitchFamily="34" charset="0"/>
              </a:rPr>
              <a:t>HDF5-DIAG: Error detected in HDF5 (1.8.11) thread 0:</a:t>
            </a:r>
          </a:p>
          <a:p>
            <a:pPr lvl="1" algn="just"/>
            <a:r>
              <a:rPr lang="en-US" sz="1600" i="1" dirty="0">
                <a:latin typeface="Segoe UI Light" panose="020B0502040204020203" pitchFamily="34" charset="0"/>
                <a:cs typeface="Segoe UI Light" panose="020B0502040204020203" pitchFamily="34" charset="0"/>
              </a:rPr>
              <a:t>  #000: ..\..\</a:t>
            </a:r>
            <a:r>
              <a:rPr lang="en-US" sz="1600" i="1" dirty="0" err="1">
                <a:latin typeface="Segoe UI Light" panose="020B0502040204020203" pitchFamily="34" charset="0"/>
                <a:cs typeface="Segoe UI Light" panose="020B0502040204020203" pitchFamily="34" charset="0"/>
              </a:rPr>
              <a:t>src</a:t>
            </a:r>
            <a:r>
              <a:rPr lang="en-US" sz="1600" i="1" dirty="0">
                <a:latin typeface="Segoe UI Light" panose="020B0502040204020203" pitchFamily="34" charset="0"/>
                <a:cs typeface="Segoe UI Light" panose="020B0502040204020203" pitchFamily="34" charset="0"/>
              </a:rPr>
              <a:t>\H5T.c line 1761 in H5Tclose(): not a datatype</a:t>
            </a:r>
          </a:p>
          <a:p>
            <a:pPr lvl="1" algn="just"/>
            <a:r>
              <a:rPr lang="en-US" sz="1600" i="1" dirty="0">
                <a:latin typeface="Segoe UI Light" panose="020B0502040204020203" pitchFamily="34" charset="0"/>
                <a:cs typeface="Segoe UI Light" panose="020B0502040204020203" pitchFamily="34" charset="0"/>
              </a:rPr>
              <a:t>    major: Invalid arguments to routine</a:t>
            </a:r>
          </a:p>
          <a:p>
            <a:pPr lvl="1" algn="just"/>
            <a:r>
              <a:rPr lang="en-US" sz="1600" i="1" dirty="0">
                <a:latin typeface="Segoe UI Light" panose="020B0502040204020203" pitchFamily="34" charset="0"/>
                <a:cs typeface="Segoe UI Light" panose="020B0502040204020203" pitchFamily="34" charset="0"/>
              </a:rPr>
              <a:t>    minor: Inappropriate type</a:t>
            </a:r>
          </a:p>
          <a:p>
            <a:pPr algn="just"/>
            <a:endParaRPr lang="en-US" sz="1600" i="1"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Ir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configuración</a:t>
            </a:r>
            <a:r>
              <a:rPr lang="en-US" sz="1600" dirty="0">
                <a:latin typeface="Segoe UI Light" panose="020B0502040204020203" pitchFamily="34" charset="0"/>
                <a:cs typeface="Segoe UI Light" panose="020B0502040204020203" pitchFamily="34" charset="0"/>
              </a:rPr>
              <a:t> regional de Microsoft Windows y </a:t>
            </a:r>
            <a:r>
              <a:rPr lang="en-US" sz="1600" dirty="0" err="1">
                <a:latin typeface="Segoe UI Light" panose="020B0502040204020203" pitchFamily="34" charset="0"/>
                <a:cs typeface="Segoe UI Light" panose="020B0502040204020203" pitchFamily="34" charset="0"/>
              </a:rPr>
              <a:t>seleccionar</a:t>
            </a:r>
            <a:r>
              <a:rPr lang="en-US" sz="1600" dirty="0">
                <a:latin typeface="Segoe UI Light" panose="020B0502040204020203" pitchFamily="34" charset="0"/>
                <a:cs typeface="Segoe UI Light" panose="020B0502040204020203" pitchFamily="34" charset="0"/>
              </a:rPr>
              <a:t> la region </a:t>
            </a:r>
            <a:r>
              <a:rPr lang="en-US" sz="1600" dirty="0" err="1">
                <a:latin typeface="Segoe UI Light" panose="020B0502040204020203" pitchFamily="34" charset="0"/>
                <a:cs typeface="Segoe UI Light" panose="020B0502040204020203" pitchFamily="34" charset="0"/>
              </a:rPr>
              <a:t>Inglés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Estados</a:t>
            </a:r>
            <a:r>
              <a:rPr lang="en-US" sz="1600" dirty="0">
                <a:latin typeface="Segoe UI Light" panose="020B0502040204020203" pitchFamily="34" charset="0"/>
                <a:cs typeface="Segoe UI Light" panose="020B0502040204020203" pitchFamily="34" charset="0"/>
              </a:rPr>
              <a:t> Unidos). </a:t>
            </a:r>
            <a:r>
              <a:rPr lang="en-US" sz="1600" dirty="0" err="1">
                <a:latin typeface="Segoe UI Light" panose="020B0502040204020203" pitchFamily="34" charset="0"/>
                <a:cs typeface="Segoe UI Light" panose="020B0502040204020203" pitchFamily="34" charset="0"/>
              </a:rPr>
              <a:t>Verificar</a:t>
            </a:r>
            <a:r>
              <a:rPr lang="en-US" sz="1600" dirty="0">
                <a:latin typeface="Segoe UI Light" panose="020B0502040204020203" pitchFamily="34" charset="0"/>
                <a:cs typeface="Segoe UI Light" panose="020B0502040204020203" pitchFamily="34" charset="0"/>
              </a:rPr>
              <a:t> que el </a:t>
            </a:r>
            <a:r>
              <a:rPr lang="en-US" sz="1600" dirty="0" err="1">
                <a:latin typeface="Segoe UI Light" panose="020B0502040204020203" pitchFamily="34" charset="0"/>
                <a:cs typeface="Segoe UI Light" panose="020B0502040204020203" pitchFamily="34" charset="0"/>
              </a:rPr>
              <a:t>separador</a:t>
            </a:r>
            <a:r>
              <a:rPr lang="en-US" sz="1600" dirty="0">
                <a:latin typeface="Segoe UI Light" panose="020B0502040204020203" pitchFamily="34" charset="0"/>
                <a:cs typeface="Segoe UI Light" panose="020B0502040204020203" pitchFamily="34" charset="0"/>
              </a:rPr>
              <a:t> decimal </a:t>
            </a:r>
            <a:r>
              <a:rPr lang="en-US" sz="1600" dirty="0" err="1">
                <a:latin typeface="Segoe UI Light" panose="020B0502040204020203" pitchFamily="34" charset="0"/>
                <a:cs typeface="Segoe UI Light" panose="020B0502040204020203" pitchFamily="34" charset="0"/>
              </a:rPr>
              <a:t>este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definido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punto (.) y miles y </a:t>
            </a:r>
            <a:r>
              <a:rPr lang="en-US" sz="1600" dirty="0" err="1">
                <a:latin typeface="Segoe UI Light" panose="020B0502040204020203" pitchFamily="34" charset="0"/>
                <a:cs typeface="Segoe UI Light" panose="020B0502040204020203" pitchFamily="34" charset="0"/>
              </a:rPr>
              <a:t>listas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coma (,).</a:t>
            </a:r>
          </a:p>
        </p:txBody>
      </p:sp>
      <p:pic>
        <p:nvPicPr>
          <p:cNvPr id="7" name="Imagen 6">
            <a:extLst>
              <a:ext uri="{FF2B5EF4-FFF2-40B4-BE49-F238E27FC236}">
                <a16:creationId xmlns:a16="http://schemas.microsoft.com/office/drawing/2014/main" id="{2DAF5C0F-F0DA-4746-80F1-45CC676D8B6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54409" y="2060848"/>
            <a:ext cx="360000" cy="360000"/>
          </a:xfrm>
          <a:prstGeom prst="rect">
            <a:avLst/>
          </a:prstGeom>
        </p:spPr>
      </p:pic>
      <p:pic>
        <p:nvPicPr>
          <p:cNvPr id="13" name="Imagen 12">
            <a:extLst>
              <a:ext uri="{FF2B5EF4-FFF2-40B4-BE49-F238E27FC236}">
                <a16:creationId xmlns:a16="http://schemas.microsoft.com/office/drawing/2014/main" id="{2E1D5A4B-712C-4884-B272-939DFD763C3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2885F7BF-5BED-422A-B871-4A53254CE1B8}"/>
              </a:ext>
            </a:extLst>
          </p:cNvPr>
          <p:cNvSpPr txBox="1">
            <a:spLocks/>
          </p:cNvSpPr>
          <p:nvPr/>
        </p:nvSpPr>
        <p:spPr>
          <a:xfrm>
            <a:off x="0" y="0"/>
            <a:ext cx="12202666"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latin typeface="Segoe UI Light" panose="020B0502040204020203" pitchFamily="34" charset="0"/>
                <a:cs typeface="Segoe UI Light" panose="020B0502040204020203" pitchFamily="34" charset="0"/>
              </a:rPr>
              <a:t>5. Modelación hidráulica</a:t>
            </a:r>
          </a:p>
        </p:txBody>
      </p:sp>
    </p:spTree>
    <p:extLst>
      <p:ext uri="{BB962C8B-B14F-4D97-AF65-F5344CB8AC3E}">
        <p14:creationId xmlns:p14="http://schemas.microsoft.com/office/powerpoint/2010/main" val="917270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70EE07A-5BFD-466E-B14A-12C366129646}"/>
              </a:ext>
            </a:extLst>
          </p:cNvPr>
          <p:cNvGrpSpPr/>
          <p:nvPr/>
        </p:nvGrpSpPr>
        <p:grpSpPr>
          <a:xfrm>
            <a:off x="4331804" y="1579664"/>
            <a:ext cx="3528392" cy="3698672"/>
            <a:chOff x="4223792" y="1628800"/>
            <a:chExt cx="3528392" cy="3698672"/>
          </a:xfrm>
        </p:grpSpPr>
        <p:sp>
          <p:nvSpPr>
            <p:cNvPr id="6" name="7 CuadroTexto">
              <a:extLst>
                <a:ext uri="{FF2B5EF4-FFF2-40B4-BE49-F238E27FC236}">
                  <a16:creationId xmlns:a16="http://schemas.microsoft.com/office/drawing/2014/main" id="{3572065F-81C1-454C-8E77-453E36FB65E9}"/>
                </a:ext>
              </a:extLst>
            </p:cNvPr>
            <p:cNvSpPr txBox="1"/>
            <p:nvPr/>
          </p:nvSpPr>
          <p:spPr>
            <a:xfrm>
              <a:off x="4223792" y="1628800"/>
              <a:ext cx="3528392" cy="861774"/>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r.cfdtools@gmail.com</a:t>
              </a:r>
            </a:p>
            <a:p>
              <a:pPr algn="ctr"/>
              <a:r>
                <a:rPr lang="es-ES" sz="1000" dirty="0">
                  <a:latin typeface="Segoe UI Light" panose="020B0502040204020203" pitchFamily="34" charset="0"/>
                  <a:cs typeface="Segoe UI Light" panose="020B0502040204020203" pitchFamily="34" charset="0"/>
                  <a:hlinkClick r:id="rId2"/>
                </a:rPr>
                <a:t>https://github.com/rcfdtools</a:t>
              </a:r>
              <a:endParaRPr lang="es-ES" sz="1000" dirty="0">
                <a:latin typeface="Segoe UI Light" panose="020B0502040204020203" pitchFamily="34" charset="0"/>
                <a:cs typeface="Segoe UI Light" panose="020B0502040204020203" pitchFamily="34" charset="0"/>
              </a:endParaRPr>
            </a:p>
            <a:p>
              <a:pPr algn="ctr"/>
              <a:endParaRPr lang="es-ES" sz="1000" dirty="0">
                <a:latin typeface="Segoe UI Light" panose="020B0502040204020203" pitchFamily="34" charset="0"/>
                <a:cs typeface="Segoe UI Light" panose="020B0502040204020203" pitchFamily="34" charset="0"/>
              </a:endParaRPr>
            </a:p>
            <a:p>
              <a:pPr algn="ctr"/>
              <a:r>
                <a:rPr lang="es-ES" sz="1000" dirty="0">
                  <a:latin typeface="Segoe UI Light" panose="020B0502040204020203" pitchFamily="34" charset="0"/>
                  <a:cs typeface="Segoe UI Light" panose="020B0502040204020203" pitchFamily="34" charset="0"/>
                </a:rPr>
                <a:t>Licencia, cláusulas y condiciones de uso en:</a:t>
              </a:r>
            </a:p>
            <a:p>
              <a:pPr algn="ctr"/>
              <a:r>
                <a:rPr lang="es-ES" sz="1000" dirty="0">
                  <a:latin typeface="Segoe UI Light" panose="020B0502040204020203" pitchFamily="34" charset="0"/>
                  <a:cs typeface="Segoe UI Light" panose="020B0502040204020203" pitchFamily="34" charset="0"/>
                  <a:hlinkClick r:id="rId3"/>
                </a:rPr>
                <a:t>https://github.com/rcfdtools/R.HydroTools/wiki/License</a:t>
              </a:r>
              <a:endParaRPr lang="es-ES" sz="1000" dirty="0">
                <a:latin typeface="Segoe UI Light" panose="020B0502040204020203" pitchFamily="34" charset="0"/>
                <a:cs typeface="Segoe UI Light" panose="020B0502040204020203" pitchFamily="34" charset="0"/>
              </a:endParaRPr>
            </a:p>
          </p:txBody>
        </p:sp>
        <p:pic>
          <p:nvPicPr>
            <p:cNvPr id="7" name="Picture 6" descr="Qr code&#10;&#10;Description automatically generated">
              <a:extLst>
                <a:ext uri="{FF2B5EF4-FFF2-40B4-BE49-F238E27FC236}">
                  <a16:creationId xmlns:a16="http://schemas.microsoft.com/office/drawing/2014/main" id="{90F7619C-3D91-416E-B1F4-909E882E7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988" y="2627472"/>
              <a:ext cx="2700000" cy="2700000"/>
            </a:xfrm>
            <a:prstGeom prst="rect">
              <a:avLst/>
            </a:prstGeom>
          </p:spPr>
        </p:pic>
      </p:gr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10812</TotalTime>
  <Words>1796</Words>
  <Application>Microsoft Office PowerPoint</Application>
  <PresentationFormat>Widescreen</PresentationFormat>
  <Paragraphs>123</Paragraphs>
  <Slides>19</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Segoe UI Light</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HCMC_5_9</dc:title>
  <dc:creator>master</dc:creator>
  <cp:lastModifiedBy>WILLIAM RICARDO AGUILAR PIÑA</cp:lastModifiedBy>
  <cp:revision>609</cp:revision>
  <dcterms:created xsi:type="dcterms:W3CDTF">2010-05-17T13:13:34Z</dcterms:created>
  <dcterms:modified xsi:type="dcterms:W3CDTF">2023-12-01T14:23:01Z</dcterms:modified>
</cp:coreProperties>
</file>