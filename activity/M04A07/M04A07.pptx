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408" r:id="rId2"/>
    <p:sldId id="406" r:id="rId3"/>
    <p:sldId id="386" r:id="rId4"/>
    <p:sldId id="361" r:id="rId5"/>
    <p:sldId id="356" r:id="rId6"/>
    <p:sldId id="357" r:id="rId7"/>
    <p:sldId id="358" r:id="rId8"/>
    <p:sldId id="359" r:id="rId9"/>
    <p:sldId id="360" r:id="rId10"/>
    <p:sldId id="401" r:id="rId11"/>
    <p:sldId id="402" r:id="rId12"/>
    <p:sldId id="363" r:id="rId13"/>
    <p:sldId id="364" r:id="rId14"/>
    <p:sldId id="365" r:id="rId15"/>
    <p:sldId id="366" r:id="rId16"/>
    <p:sldId id="368" r:id="rId17"/>
    <p:sldId id="369" r:id="rId18"/>
    <p:sldId id="370" r:id="rId19"/>
    <p:sldId id="371" r:id="rId20"/>
    <p:sldId id="374" r:id="rId21"/>
    <p:sldId id="375" r:id="rId22"/>
    <p:sldId id="372" r:id="rId23"/>
    <p:sldId id="376" r:id="rId24"/>
    <p:sldId id="377" r:id="rId25"/>
    <p:sldId id="378" r:id="rId26"/>
    <p:sldId id="379" r:id="rId27"/>
    <p:sldId id="380" r:id="rId28"/>
    <p:sldId id="381" r:id="rId29"/>
    <p:sldId id="382" r:id="rId30"/>
    <p:sldId id="383" r:id="rId31"/>
    <p:sldId id="384" r:id="rId32"/>
    <p:sldId id="385" r:id="rId33"/>
    <p:sldId id="387" r:id="rId34"/>
    <p:sldId id="388" r:id="rId35"/>
    <p:sldId id="389" r:id="rId36"/>
    <p:sldId id="390" r:id="rId37"/>
    <p:sldId id="391" r:id="rId38"/>
    <p:sldId id="392" r:id="rId39"/>
    <p:sldId id="393" r:id="rId40"/>
    <p:sldId id="394" r:id="rId41"/>
    <p:sldId id="395" r:id="rId42"/>
    <p:sldId id="396" r:id="rId43"/>
    <p:sldId id="397" r:id="rId44"/>
    <p:sldId id="398" r:id="rId45"/>
    <p:sldId id="399" r:id="rId46"/>
    <p:sldId id="400" r:id="rId47"/>
    <p:sldId id="403" r:id="rId48"/>
    <p:sldId id="411" r:id="rId4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A4A"/>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16" autoAdjust="0"/>
  </p:normalViewPr>
  <p:slideViewPr>
    <p:cSldViewPr>
      <p:cViewPr varScale="1">
        <p:scale>
          <a:sx n="119" d="100"/>
          <a:sy n="119" d="100"/>
        </p:scale>
        <p:origin x="132" y="132"/>
      </p:cViewPr>
      <p:guideLst>
        <p:guide orient="horz" pos="2160"/>
        <p:guide pos="384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51AE2F63-1A27-43EF-B5E3-319C3DEB3A1F}"/>
    <pc:docChg chg="undo custSel addSld delSld modSld sldOrd">
      <pc:chgData name="WILLIAM RICARDO AGUILAR PIÑA" userId="25538c52-b196-49fc-9025-2dd86a54f18a" providerId="ADAL" clId="{51AE2F63-1A27-43EF-B5E3-319C3DEB3A1F}" dt="2018-11-14T15:23:53.489" v="2563" actId="6549"/>
      <pc:docMkLst>
        <pc:docMk/>
      </pc:docMkLst>
      <pc:sldChg chg="modSp">
        <pc:chgData name="WILLIAM RICARDO AGUILAR PIÑA" userId="25538c52-b196-49fc-9025-2dd86a54f18a" providerId="ADAL" clId="{51AE2F63-1A27-43EF-B5E3-319C3DEB3A1F}" dt="2018-11-13T14:12:22.028" v="6" actId="20577"/>
        <pc:sldMkLst>
          <pc:docMk/>
          <pc:sldMk cId="0" sldId="256"/>
        </pc:sldMkLst>
      </pc:sldChg>
    </pc:docChg>
  </pc:docChgLst>
  <pc:docChgLst>
    <pc:chgData name="WILLIAM RICARDO AGUILAR PIÑA" userId="25538c52-b196-49fc-9025-2dd86a54f18a" providerId="ADAL" clId="{2DA2E2AA-32ED-4E62-9543-739F06394AE1}"/>
    <pc:docChg chg="modSld">
      <pc:chgData name="WILLIAM RICARDO AGUILAR PIÑA" userId="25538c52-b196-49fc-9025-2dd86a54f18a" providerId="ADAL" clId="{2DA2E2AA-32ED-4E62-9543-739F06394AE1}" dt="2022-11-27T15:39:03.136" v="17" actId="20577"/>
      <pc:docMkLst>
        <pc:docMk/>
      </pc:docMkLst>
      <pc:sldChg chg="modSp mod">
        <pc:chgData name="WILLIAM RICARDO AGUILAR PIÑA" userId="25538c52-b196-49fc-9025-2dd86a54f18a" providerId="ADAL" clId="{2DA2E2AA-32ED-4E62-9543-739F06394AE1}" dt="2022-11-26T16:44:39.104" v="4" actId="20577"/>
        <pc:sldMkLst>
          <pc:docMk/>
          <pc:sldMk cId="57056315" sldId="378"/>
        </pc:sldMkLst>
      </pc:sldChg>
      <pc:sldChg chg="modSp mod">
        <pc:chgData name="WILLIAM RICARDO AGUILAR PIÑA" userId="25538c52-b196-49fc-9025-2dd86a54f18a" providerId="ADAL" clId="{2DA2E2AA-32ED-4E62-9543-739F06394AE1}" dt="2022-11-26T16:46:30.625" v="5" actId="6549"/>
        <pc:sldMkLst>
          <pc:docMk/>
          <pc:sldMk cId="2373552157" sldId="380"/>
        </pc:sldMkLst>
      </pc:sldChg>
      <pc:sldChg chg="modSp mod">
        <pc:chgData name="WILLIAM RICARDO AGUILAR PIÑA" userId="25538c52-b196-49fc-9025-2dd86a54f18a" providerId="ADAL" clId="{2DA2E2AA-32ED-4E62-9543-739F06394AE1}" dt="2022-11-26T16:32:27.552" v="1" actId="20577"/>
        <pc:sldMkLst>
          <pc:docMk/>
          <pc:sldMk cId="496489274" sldId="386"/>
        </pc:sldMkLst>
      </pc:sldChg>
      <pc:sldChg chg="modSp mod">
        <pc:chgData name="WILLIAM RICARDO AGUILAR PIÑA" userId="25538c52-b196-49fc-9025-2dd86a54f18a" providerId="ADAL" clId="{2DA2E2AA-32ED-4E62-9543-739F06394AE1}" dt="2022-11-27T15:39:03.136" v="17" actId="20577"/>
        <pc:sldMkLst>
          <pc:docMk/>
          <pc:sldMk cId="0" sldId="408"/>
        </pc:sldMkLst>
      </pc:sldChg>
    </pc:docChg>
  </pc:docChgLst>
  <pc:docChgLst>
    <pc:chgData name="WILLIAM RICARDO AGUILAR PIÑA" userId="25538c52-b196-49fc-9025-2dd86a54f18a" providerId="ADAL" clId="{6EA509F5-78FC-4DB8-8705-992E03FD31B3}"/>
    <pc:docChg chg="undo custSel modSld">
      <pc:chgData name="WILLIAM RICARDO AGUILAR PIÑA" userId="25538c52-b196-49fc-9025-2dd86a54f18a" providerId="ADAL" clId="{6EA509F5-78FC-4DB8-8705-992E03FD31B3}" dt="2018-11-21T18:45:49.562" v="204" actId="478"/>
      <pc:docMkLst>
        <pc:docMk/>
      </pc:docMkLst>
      <pc:sldChg chg="addSp delSp modSp">
        <pc:chgData name="WILLIAM RICARDO AGUILAR PIÑA" userId="25538c52-b196-49fc-9025-2dd86a54f18a" providerId="ADAL" clId="{6EA509F5-78FC-4DB8-8705-992E03FD31B3}" dt="2018-11-21T18:45:44.013" v="203" actId="1076"/>
        <pc:sldMkLst>
          <pc:docMk/>
          <pc:sldMk cId="0" sldId="256"/>
        </pc:sldMkLst>
      </pc:sldChg>
      <pc:sldChg chg="addSp delSp modSp">
        <pc:chgData name="WILLIAM RICARDO AGUILAR PIÑA" userId="25538c52-b196-49fc-9025-2dd86a54f18a" providerId="ADAL" clId="{6EA509F5-78FC-4DB8-8705-992E03FD31B3}" dt="2018-11-21T18:45:49.562" v="204" actId="478"/>
        <pc:sldMkLst>
          <pc:docMk/>
          <pc:sldMk cId="159271927" sldId="351"/>
        </pc:sldMkLst>
      </pc:sldChg>
    </pc:docChg>
  </pc:docChgLst>
  <pc:docChgLst>
    <pc:chgData name="WILLIAM RICARDO AGUILAR PIÑA" userId="25538c52-b196-49fc-9025-2dd86a54f18a" providerId="ADAL" clId="{DD60351F-C335-42D5-BA12-EBE9881F21A1}"/>
    <pc:docChg chg="modSld">
      <pc:chgData name="WILLIAM RICARDO AGUILAR PIÑA" userId="25538c52-b196-49fc-9025-2dd86a54f18a" providerId="ADAL" clId="{DD60351F-C335-42D5-BA12-EBE9881F21A1}" dt="2024-11-21T16:45:42.362" v="3" actId="1076"/>
      <pc:docMkLst>
        <pc:docMk/>
      </pc:docMkLst>
      <pc:sldChg chg="modSp mod">
        <pc:chgData name="WILLIAM RICARDO AGUILAR PIÑA" userId="25538c52-b196-49fc-9025-2dd86a54f18a" providerId="ADAL" clId="{DD60351F-C335-42D5-BA12-EBE9881F21A1}" dt="2024-11-21T16:40:18.013" v="2" actId="20577"/>
        <pc:sldMkLst>
          <pc:docMk/>
          <pc:sldMk cId="2783687245" sldId="363"/>
        </pc:sldMkLst>
        <pc:spChg chg="mod">
          <ac:chgData name="WILLIAM RICARDO AGUILAR PIÑA" userId="25538c52-b196-49fc-9025-2dd86a54f18a" providerId="ADAL" clId="{DD60351F-C335-42D5-BA12-EBE9881F21A1}" dt="2024-11-21T16:40:18.013" v="2" actId="20577"/>
          <ac:spMkLst>
            <pc:docMk/>
            <pc:sldMk cId="2783687245" sldId="363"/>
            <ac:spMk id="8" creationId="{00000000-0000-0000-0000-000000000000}"/>
          </ac:spMkLst>
        </pc:spChg>
      </pc:sldChg>
      <pc:sldChg chg="modSp mod">
        <pc:chgData name="WILLIAM RICARDO AGUILAR PIÑA" userId="25538c52-b196-49fc-9025-2dd86a54f18a" providerId="ADAL" clId="{DD60351F-C335-42D5-BA12-EBE9881F21A1}" dt="2024-11-21T16:45:42.362" v="3" actId="1076"/>
        <pc:sldMkLst>
          <pc:docMk/>
          <pc:sldMk cId="950328840" sldId="390"/>
        </pc:sldMkLst>
        <pc:picChg chg="mod">
          <ac:chgData name="WILLIAM RICARDO AGUILAR PIÑA" userId="25538c52-b196-49fc-9025-2dd86a54f18a" providerId="ADAL" clId="{DD60351F-C335-42D5-BA12-EBE9881F21A1}" dt="2024-11-21T16:45:42.362" v="3" actId="1076"/>
          <ac:picMkLst>
            <pc:docMk/>
            <pc:sldMk cId="950328840" sldId="390"/>
            <ac:picMk id="14" creationId="{CCF079F9-C80D-4ED6-86EB-8360E9DF9B76}"/>
          </ac:picMkLst>
        </pc:picChg>
      </pc:sldChg>
      <pc:sldChg chg="modSp mod">
        <pc:chgData name="WILLIAM RICARDO AGUILAR PIÑA" userId="25538c52-b196-49fc-9025-2dd86a54f18a" providerId="ADAL" clId="{DD60351F-C335-42D5-BA12-EBE9881F21A1}" dt="2024-11-21T16:39:34.951" v="1" actId="20577"/>
        <pc:sldMkLst>
          <pc:docMk/>
          <pc:sldMk cId="4144833444" sldId="401"/>
        </pc:sldMkLst>
        <pc:spChg chg="mod">
          <ac:chgData name="WILLIAM RICARDO AGUILAR PIÑA" userId="25538c52-b196-49fc-9025-2dd86a54f18a" providerId="ADAL" clId="{DD60351F-C335-42D5-BA12-EBE9881F21A1}" dt="2024-11-21T16:39:34.951" v="1" actId="20577"/>
          <ac:spMkLst>
            <pc:docMk/>
            <pc:sldMk cId="4144833444" sldId="401"/>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a:p>
        </p:txBody>
      </p:sp>
    </p:spTree>
    <p:extLst>
      <p:ext uri="{BB962C8B-B14F-4D97-AF65-F5344CB8AC3E}">
        <p14:creationId xmlns:p14="http://schemas.microsoft.com/office/powerpoint/2010/main" val="3456011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a:p>
        </p:txBody>
      </p:sp>
    </p:spTree>
    <p:extLst>
      <p:ext uri="{BB962C8B-B14F-4D97-AF65-F5344CB8AC3E}">
        <p14:creationId xmlns:p14="http://schemas.microsoft.com/office/powerpoint/2010/main" val="239484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a:p>
        </p:txBody>
      </p:sp>
    </p:spTree>
    <p:extLst>
      <p:ext uri="{BB962C8B-B14F-4D97-AF65-F5344CB8AC3E}">
        <p14:creationId xmlns:p14="http://schemas.microsoft.com/office/powerpoint/2010/main" val="2247161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4053472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a:p>
        </p:txBody>
      </p:sp>
    </p:spTree>
    <p:extLst>
      <p:ext uri="{BB962C8B-B14F-4D97-AF65-F5344CB8AC3E}">
        <p14:creationId xmlns:p14="http://schemas.microsoft.com/office/powerpoint/2010/main" val="3372228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a:p>
        </p:txBody>
      </p:sp>
    </p:spTree>
    <p:extLst>
      <p:ext uri="{BB962C8B-B14F-4D97-AF65-F5344CB8AC3E}">
        <p14:creationId xmlns:p14="http://schemas.microsoft.com/office/powerpoint/2010/main" val="396355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a:p>
        </p:txBody>
      </p:sp>
    </p:spTree>
    <p:extLst>
      <p:ext uri="{BB962C8B-B14F-4D97-AF65-F5344CB8AC3E}">
        <p14:creationId xmlns:p14="http://schemas.microsoft.com/office/powerpoint/2010/main" val="2195433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a:p>
        </p:txBody>
      </p:sp>
    </p:spTree>
    <p:extLst>
      <p:ext uri="{BB962C8B-B14F-4D97-AF65-F5344CB8AC3E}">
        <p14:creationId xmlns:p14="http://schemas.microsoft.com/office/powerpoint/2010/main" val="3983312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a:p>
        </p:txBody>
      </p:sp>
    </p:spTree>
    <p:extLst>
      <p:ext uri="{BB962C8B-B14F-4D97-AF65-F5344CB8AC3E}">
        <p14:creationId xmlns:p14="http://schemas.microsoft.com/office/powerpoint/2010/main" val="2664385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a:p>
        </p:txBody>
      </p:sp>
    </p:spTree>
    <p:extLst>
      <p:ext uri="{BB962C8B-B14F-4D97-AF65-F5344CB8AC3E}">
        <p14:creationId xmlns:p14="http://schemas.microsoft.com/office/powerpoint/2010/main" val="3045092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3071983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a:p>
        </p:txBody>
      </p:sp>
    </p:spTree>
    <p:extLst>
      <p:ext uri="{BB962C8B-B14F-4D97-AF65-F5344CB8AC3E}">
        <p14:creationId xmlns:p14="http://schemas.microsoft.com/office/powerpoint/2010/main" val="2865819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a:p>
        </p:txBody>
      </p:sp>
    </p:spTree>
    <p:extLst>
      <p:ext uri="{BB962C8B-B14F-4D97-AF65-F5344CB8AC3E}">
        <p14:creationId xmlns:p14="http://schemas.microsoft.com/office/powerpoint/2010/main" val="45775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a:p>
        </p:txBody>
      </p:sp>
    </p:spTree>
    <p:extLst>
      <p:ext uri="{BB962C8B-B14F-4D97-AF65-F5344CB8AC3E}">
        <p14:creationId xmlns:p14="http://schemas.microsoft.com/office/powerpoint/2010/main" val="1465152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a:p>
        </p:txBody>
      </p:sp>
    </p:spTree>
    <p:extLst>
      <p:ext uri="{BB962C8B-B14F-4D97-AF65-F5344CB8AC3E}">
        <p14:creationId xmlns:p14="http://schemas.microsoft.com/office/powerpoint/2010/main" val="4156516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a:p>
        </p:txBody>
      </p:sp>
    </p:spTree>
    <p:extLst>
      <p:ext uri="{BB962C8B-B14F-4D97-AF65-F5344CB8AC3E}">
        <p14:creationId xmlns:p14="http://schemas.microsoft.com/office/powerpoint/2010/main" val="4052784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18</a:t>
            </a:fld>
            <a:endParaRPr lang="es-CO"/>
          </a:p>
        </p:txBody>
      </p:sp>
    </p:spTree>
    <p:extLst>
      <p:ext uri="{BB962C8B-B14F-4D97-AF65-F5344CB8AC3E}">
        <p14:creationId xmlns:p14="http://schemas.microsoft.com/office/powerpoint/2010/main" val="4246165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a:p>
        </p:txBody>
      </p:sp>
    </p:spTree>
    <p:extLst>
      <p:ext uri="{BB962C8B-B14F-4D97-AF65-F5344CB8AC3E}">
        <p14:creationId xmlns:p14="http://schemas.microsoft.com/office/powerpoint/2010/main" val="2487811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a:p>
        </p:txBody>
      </p:sp>
    </p:spTree>
    <p:extLst>
      <p:ext uri="{BB962C8B-B14F-4D97-AF65-F5344CB8AC3E}">
        <p14:creationId xmlns:p14="http://schemas.microsoft.com/office/powerpoint/2010/main" val="3048152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a:p>
        </p:txBody>
      </p:sp>
    </p:spTree>
    <p:extLst>
      <p:ext uri="{BB962C8B-B14F-4D97-AF65-F5344CB8AC3E}">
        <p14:creationId xmlns:p14="http://schemas.microsoft.com/office/powerpoint/2010/main" val="2857044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a:p>
        </p:txBody>
      </p:sp>
    </p:spTree>
    <p:extLst>
      <p:ext uri="{BB962C8B-B14F-4D97-AF65-F5344CB8AC3E}">
        <p14:creationId xmlns:p14="http://schemas.microsoft.com/office/powerpoint/2010/main" val="1592791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23</a:t>
            </a:fld>
            <a:endParaRPr lang="es-CO"/>
          </a:p>
        </p:txBody>
      </p:sp>
    </p:spTree>
    <p:extLst>
      <p:ext uri="{BB962C8B-B14F-4D97-AF65-F5344CB8AC3E}">
        <p14:creationId xmlns:p14="http://schemas.microsoft.com/office/powerpoint/2010/main" val="1545450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a:p>
        </p:txBody>
      </p:sp>
    </p:spTree>
    <p:extLst>
      <p:ext uri="{BB962C8B-B14F-4D97-AF65-F5344CB8AC3E}">
        <p14:creationId xmlns:p14="http://schemas.microsoft.com/office/powerpoint/2010/main" val="1526665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a:p>
        </p:txBody>
      </p:sp>
    </p:spTree>
    <p:extLst>
      <p:ext uri="{BB962C8B-B14F-4D97-AF65-F5344CB8AC3E}">
        <p14:creationId xmlns:p14="http://schemas.microsoft.com/office/powerpoint/2010/main" val="2667159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a:p>
        </p:txBody>
      </p:sp>
    </p:spTree>
    <p:extLst>
      <p:ext uri="{BB962C8B-B14F-4D97-AF65-F5344CB8AC3E}">
        <p14:creationId xmlns:p14="http://schemas.microsoft.com/office/powerpoint/2010/main" val="2793513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a:p>
        </p:txBody>
      </p:sp>
    </p:spTree>
    <p:extLst>
      <p:ext uri="{BB962C8B-B14F-4D97-AF65-F5344CB8AC3E}">
        <p14:creationId xmlns:p14="http://schemas.microsoft.com/office/powerpoint/2010/main" val="2400413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a:p>
        </p:txBody>
      </p:sp>
    </p:spTree>
    <p:extLst>
      <p:ext uri="{BB962C8B-B14F-4D97-AF65-F5344CB8AC3E}">
        <p14:creationId xmlns:p14="http://schemas.microsoft.com/office/powerpoint/2010/main" val="2180536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29</a:t>
            </a:fld>
            <a:endParaRPr lang="es-CO"/>
          </a:p>
        </p:txBody>
      </p:sp>
    </p:spTree>
    <p:extLst>
      <p:ext uri="{BB962C8B-B14F-4D97-AF65-F5344CB8AC3E}">
        <p14:creationId xmlns:p14="http://schemas.microsoft.com/office/powerpoint/2010/main" val="12414010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30</a:t>
            </a:fld>
            <a:endParaRPr lang="es-CO"/>
          </a:p>
        </p:txBody>
      </p:sp>
    </p:spTree>
    <p:extLst>
      <p:ext uri="{BB962C8B-B14F-4D97-AF65-F5344CB8AC3E}">
        <p14:creationId xmlns:p14="http://schemas.microsoft.com/office/powerpoint/2010/main" val="36564422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31</a:t>
            </a:fld>
            <a:endParaRPr lang="es-CO"/>
          </a:p>
        </p:txBody>
      </p:sp>
    </p:spTree>
    <p:extLst>
      <p:ext uri="{BB962C8B-B14F-4D97-AF65-F5344CB8AC3E}">
        <p14:creationId xmlns:p14="http://schemas.microsoft.com/office/powerpoint/2010/main" val="8825582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32</a:t>
            </a:fld>
            <a:endParaRPr lang="es-CO"/>
          </a:p>
        </p:txBody>
      </p:sp>
    </p:spTree>
    <p:extLst>
      <p:ext uri="{BB962C8B-B14F-4D97-AF65-F5344CB8AC3E}">
        <p14:creationId xmlns:p14="http://schemas.microsoft.com/office/powerpoint/2010/main" val="3223255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33</a:t>
            </a:fld>
            <a:endParaRPr lang="es-CO"/>
          </a:p>
        </p:txBody>
      </p:sp>
    </p:spTree>
    <p:extLst>
      <p:ext uri="{BB962C8B-B14F-4D97-AF65-F5344CB8AC3E}">
        <p14:creationId xmlns:p14="http://schemas.microsoft.com/office/powerpoint/2010/main" val="3677740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34</a:t>
            </a:fld>
            <a:endParaRPr lang="es-CO"/>
          </a:p>
        </p:txBody>
      </p:sp>
    </p:spTree>
    <p:extLst>
      <p:ext uri="{BB962C8B-B14F-4D97-AF65-F5344CB8AC3E}">
        <p14:creationId xmlns:p14="http://schemas.microsoft.com/office/powerpoint/2010/main" val="13973794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35</a:t>
            </a:fld>
            <a:endParaRPr lang="es-CO"/>
          </a:p>
        </p:txBody>
      </p:sp>
    </p:spTree>
    <p:extLst>
      <p:ext uri="{BB962C8B-B14F-4D97-AF65-F5344CB8AC3E}">
        <p14:creationId xmlns:p14="http://schemas.microsoft.com/office/powerpoint/2010/main" val="19186509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36</a:t>
            </a:fld>
            <a:endParaRPr lang="es-CO"/>
          </a:p>
        </p:txBody>
      </p:sp>
    </p:spTree>
    <p:extLst>
      <p:ext uri="{BB962C8B-B14F-4D97-AF65-F5344CB8AC3E}">
        <p14:creationId xmlns:p14="http://schemas.microsoft.com/office/powerpoint/2010/main" val="1965021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37</a:t>
            </a:fld>
            <a:endParaRPr lang="es-CO"/>
          </a:p>
        </p:txBody>
      </p:sp>
    </p:spTree>
    <p:extLst>
      <p:ext uri="{BB962C8B-B14F-4D97-AF65-F5344CB8AC3E}">
        <p14:creationId xmlns:p14="http://schemas.microsoft.com/office/powerpoint/2010/main" val="40375351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38</a:t>
            </a:fld>
            <a:endParaRPr lang="es-CO"/>
          </a:p>
        </p:txBody>
      </p:sp>
    </p:spTree>
    <p:extLst>
      <p:ext uri="{BB962C8B-B14F-4D97-AF65-F5344CB8AC3E}">
        <p14:creationId xmlns:p14="http://schemas.microsoft.com/office/powerpoint/2010/main" val="59434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39</a:t>
            </a:fld>
            <a:endParaRPr lang="es-CO"/>
          </a:p>
        </p:txBody>
      </p:sp>
    </p:spTree>
    <p:extLst>
      <p:ext uri="{BB962C8B-B14F-4D97-AF65-F5344CB8AC3E}">
        <p14:creationId xmlns:p14="http://schemas.microsoft.com/office/powerpoint/2010/main" val="6721510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40</a:t>
            </a:fld>
            <a:endParaRPr lang="es-CO"/>
          </a:p>
        </p:txBody>
      </p:sp>
    </p:spTree>
    <p:extLst>
      <p:ext uri="{BB962C8B-B14F-4D97-AF65-F5344CB8AC3E}">
        <p14:creationId xmlns:p14="http://schemas.microsoft.com/office/powerpoint/2010/main" val="28313609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41</a:t>
            </a:fld>
            <a:endParaRPr lang="es-CO"/>
          </a:p>
        </p:txBody>
      </p:sp>
    </p:spTree>
    <p:extLst>
      <p:ext uri="{BB962C8B-B14F-4D97-AF65-F5344CB8AC3E}">
        <p14:creationId xmlns:p14="http://schemas.microsoft.com/office/powerpoint/2010/main" val="2128752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42</a:t>
            </a:fld>
            <a:endParaRPr lang="es-CO"/>
          </a:p>
        </p:txBody>
      </p:sp>
    </p:spTree>
    <p:extLst>
      <p:ext uri="{BB962C8B-B14F-4D97-AF65-F5344CB8AC3E}">
        <p14:creationId xmlns:p14="http://schemas.microsoft.com/office/powerpoint/2010/main" val="12214349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43</a:t>
            </a:fld>
            <a:endParaRPr lang="es-CO"/>
          </a:p>
        </p:txBody>
      </p:sp>
    </p:spTree>
    <p:extLst>
      <p:ext uri="{BB962C8B-B14F-4D97-AF65-F5344CB8AC3E}">
        <p14:creationId xmlns:p14="http://schemas.microsoft.com/office/powerpoint/2010/main" val="36592512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44</a:t>
            </a:fld>
            <a:endParaRPr lang="es-CO"/>
          </a:p>
        </p:txBody>
      </p:sp>
    </p:spTree>
    <p:extLst>
      <p:ext uri="{BB962C8B-B14F-4D97-AF65-F5344CB8AC3E}">
        <p14:creationId xmlns:p14="http://schemas.microsoft.com/office/powerpoint/2010/main" val="14695395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45</a:t>
            </a:fld>
            <a:endParaRPr lang="es-CO"/>
          </a:p>
        </p:txBody>
      </p:sp>
    </p:spTree>
    <p:extLst>
      <p:ext uri="{BB962C8B-B14F-4D97-AF65-F5344CB8AC3E}">
        <p14:creationId xmlns:p14="http://schemas.microsoft.com/office/powerpoint/2010/main" val="26565463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46</a:t>
            </a:fld>
            <a:endParaRPr lang="es-CO"/>
          </a:p>
        </p:txBody>
      </p:sp>
    </p:spTree>
    <p:extLst>
      <p:ext uri="{BB962C8B-B14F-4D97-AF65-F5344CB8AC3E}">
        <p14:creationId xmlns:p14="http://schemas.microsoft.com/office/powerpoint/2010/main" val="20301180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47</a:t>
            </a:fld>
            <a:endParaRPr lang="es-CO"/>
          </a:p>
        </p:txBody>
      </p:sp>
    </p:spTree>
    <p:extLst>
      <p:ext uri="{BB962C8B-B14F-4D97-AF65-F5344CB8AC3E}">
        <p14:creationId xmlns:p14="http://schemas.microsoft.com/office/powerpoint/2010/main" val="3757436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1.xml"/><Relationship Id="rId7" Type="http://schemas.openxmlformats.org/officeDocument/2006/relationships/hyperlink" Target="HCMC_5_10_Depth.mp4"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notesSlide" Target="../notesSlides/notesSlide8.xml"/><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0.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Layout" Target="../slideLayouts/slideLayout1.xml"/><Relationship Id="rId7" Type="http://schemas.openxmlformats.org/officeDocument/2006/relationships/image" Target="../media/image22.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5.png"/><Relationship Id="rId5" Type="http://schemas.openxmlformats.org/officeDocument/2006/relationships/image" Target="../media/image21.png"/><Relationship Id="rId10" Type="http://schemas.openxmlformats.org/officeDocument/2006/relationships/image" Target="../media/image1.png"/><Relationship Id="rId4" Type="http://schemas.openxmlformats.org/officeDocument/2006/relationships/notesSlide" Target="../notesSlides/notesSlide16.xm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xml"/><Relationship Id="rId7" Type="http://schemas.openxmlformats.org/officeDocument/2006/relationships/image" Target="../media/image13.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5.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7.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microsoft.com/office/2007/relationships/hdphoto" Target="../media/hdphoto3.wdp"/></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v.20221127</a:t>
            </a: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Mapificación general</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8E141101-D36A-4FFF-9F68-F38711CC34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EFB2ED26-32FE-4C7A-8D0A-6D60092E09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19736" y="3275111"/>
            <a:ext cx="4752528"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0. Conceptos generales</a:t>
            </a:r>
          </a:p>
        </p:txBody>
      </p:sp>
      <p:pic>
        <p:nvPicPr>
          <p:cNvPr id="4" name="Imagen 3">
            <a:extLst>
              <a:ext uri="{FF2B5EF4-FFF2-40B4-BE49-F238E27FC236}">
                <a16:creationId xmlns:a16="http://schemas.microsoft.com/office/drawing/2014/main" id="{191E21EB-C358-4E31-A352-D272E48345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66346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32248" y="797510"/>
            <a:ext cx="4527503" cy="5262979"/>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RAS Mapper dispone de </a:t>
            </a:r>
            <a:r>
              <a:rPr lang="en-US" sz="1600" dirty="0" err="1">
                <a:latin typeface="Segoe UI Light" panose="020B0502040204020203" pitchFamily="34" charset="0"/>
                <a:cs typeface="Segoe UI Light" panose="020B0502040204020203" pitchFamily="34" charset="0"/>
              </a:rPr>
              <a:t>diferentes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tipos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mapas</a:t>
            </a:r>
            <a:r>
              <a:rPr lang="en-US" sz="1600" dirty="0">
                <a:latin typeface="Segoe UI Light" panose="020B0502040204020203" pitchFamily="34" charset="0"/>
                <a:cs typeface="Segoe UI Light" panose="020B0502040204020203" pitchFamily="34" charset="0"/>
              </a:rPr>
              <a:t> para la </a:t>
            </a:r>
            <a:r>
              <a:rPr lang="en-US" sz="1600" dirty="0" err="1">
                <a:latin typeface="Segoe UI Light" panose="020B0502040204020203" pitchFamily="34" charset="0"/>
                <a:cs typeface="Segoe UI Light" panose="020B0502040204020203" pitchFamily="34" charset="0"/>
              </a:rPr>
              <a:t>visualización</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resultados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obtenidos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Profundidad de lámina de agua</a:t>
            </a:r>
          </a:p>
          <a:p>
            <a:pPr marL="285750" indent="-285750" algn="just">
              <a:buFont typeface="Wingdings" panose="05000000000000000000" pitchFamily="2" charset="2"/>
              <a:buChar char="ü"/>
            </a:pPr>
            <a:r>
              <a:rPr lang="es-CO" sz="1600" dirty="0" err="1">
                <a:latin typeface="Segoe UI Light" panose="020B0502040204020203" pitchFamily="34" charset="0"/>
                <a:cs typeface="Segoe UI Light" panose="020B0502040204020203" pitchFamily="34" charset="0"/>
              </a:rPr>
              <a:t>Gradiantes</a:t>
            </a:r>
            <a:r>
              <a:rPr lang="es-CO" sz="1600" dirty="0">
                <a:latin typeface="Segoe UI Light" panose="020B0502040204020203" pitchFamily="34" charset="0"/>
                <a:cs typeface="Segoe UI Light" panose="020B0502040204020203" pitchFamily="34" charset="0"/>
              </a:rPr>
              <a:t> de Conectividad entre Celdas</a:t>
            </a:r>
          </a:p>
          <a:p>
            <a:pPr marL="285750" indent="-285750" algn="just">
              <a:buFont typeface="Wingdings" panose="05000000000000000000" pitchFamily="2" charset="2"/>
              <a:buChar char="ü"/>
            </a:pPr>
            <a:r>
              <a:rPr lang="en-US" sz="1600" dirty="0">
                <a:latin typeface="Segoe UI Light" panose="020B0502040204020203" pitchFamily="34" charset="0"/>
                <a:cs typeface="Segoe UI Light" panose="020B0502040204020203" pitchFamily="34" charset="0"/>
              </a:rPr>
              <a:t>L</a:t>
            </a:r>
            <a:r>
              <a:rPr lang="es-CO" sz="1600" dirty="0">
                <a:latin typeface="Segoe UI Light" panose="020B0502040204020203" pitchFamily="34" charset="0"/>
                <a:cs typeface="Segoe UI Light" panose="020B0502040204020203" pitchFamily="34" charset="0"/>
              </a:rPr>
              <a:t>imite de la zona inundada</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Elevación inversa o cota</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Velocidad</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Esfuerzo Cortante</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Número de </a:t>
            </a:r>
            <a:r>
              <a:rPr lang="es-CO" sz="1600" dirty="0" err="1">
                <a:latin typeface="Segoe UI Light" panose="020B0502040204020203" pitchFamily="34" charset="0"/>
                <a:cs typeface="Segoe UI Light" panose="020B0502040204020203" pitchFamily="34" charset="0"/>
              </a:rPr>
              <a:t>Courant</a:t>
            </a: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Número de Froude</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Porcentaje de Tiempo Inundado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Tiempo de Permanencia del Flujo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Profundidad x Velocidad</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Profundidad x Velocidad²</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Hora de Llegada</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Recesión</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Duración de Inundación</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Celdas Inundadas</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Potencia de la Corriente</a:t>
            </a:r>
            <a:endParaRPr lang="en-US" sz="16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0. Conceptos generales</a:t>
            </a:r>
          </a:p>
        </p:txBody>
      </p:sp>
      <p:pic>
        <p:nvPicPr>
          <p:cNvPr id="5" name="Imagen 4">
            <a:extLst>
              <a:ext uri="{FF2B5EF4-FFF2-40B4-BE49-F238E27FC236}">
                <a16:creationId xmlns:a16="http://schemas.microsoft.com/office/drawing/2014/main" id="{1874576D-863C-4741-9915-F32303FFCA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96489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15680" y="2505670"/>
            <a:ext cx="5760640"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Profundidad de lámina de agua (Depth)</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Calcula la diferencia entre la elevación de la lámina de agua y la cota de terreno. En el sistema </a:t>
            </a:r>
            <a:r>
              <a:rPr lang="es-CO" sz="1600" dirty="0" err="1">
                <a:latin typeface="Segoe UI Light" panose="020B0502040204020203" pitchFamily="34" charset="0"/>
                <a:cs typeface="Segoe UI Light" panose="020B0502040204020203" pitchFamily="34" charset="0"/>
              </a:rPr>
              <a:t>intenacional</a:t>
            </a:r>
            <a:r>
              <a:rPr lang="es-CO" sz="1600" dirty="0">
                <a:latin typeface="Segoe UI Light" panose="020B0502040204020203" pitchFamily="34" charset="0"/>
                <a:cs typeface="Segoe UI Light" panose="020B0502040204020203" pitchFamily="34" charset="0"/>
              </a:rPr>
              <a:t> de unidades, este resultado es presentado en metros. Opcionalmente, el usuario podrá observar los </a:t>
            </a:r>
            <a:r>
              <a:rPr lang="es-CO" sz="1600" dirty="0" err="1">
                <a:latin typeface="Segoe UI Light" panose="020B0502040204020203" pitchFamily="34" charset="0"/>
                <a:cs typeface="Segoe UI Light" panose="020B0502040204020203" pitchFamily="34" charset="0"/>
              </a:rPr>
              <a:t>gradiantes</a:t>
            </a:r>
            <a:r>
              <a:rPr lang="es-CO" sz="1600" dirty="0">
                <a:latin typeface="Segoe UI Light" panose="020B0502040204020203" pitchFamily="34" charset="0"/>
                <a:cs typeface="Segoe UI Light" panose="020B0502040204020203" pitchFamily="34" charset="0"/>
              </a:rPr>
              <a:t> de conectividad entre celdas. </a:t>
            </a:r>
          </a:p>
        </p:txBody>
      </p:sp>
      <p:pic>
        <p:nvPicPr>
          <p:cNvPr id="4" name="Imagen 3">
            <a:extLst>
              <a:ext uri="{FF2B5EF4-FFF2-40B4-BE49-F238E27FC236}">
                <a16:creationId xmlns:a16="http://schemas.microsoft.com/office/drawing/2014/main" id="{C8EBB37E-80BF-48D1-9F95-DB18144B0D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081833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05216CE-E089-45C6-8AA5-B2E84BE7DCFB}"/>
              </a:ext>
            </a:extLst>
          </p:cNvPr>
          <p:cNvPicPr>
            <a:picLocks noChangeAspect="1"/>
          </p:cNvPicPr>
          <p:nvPr/>
        </p:nvPicPr>
        <p:blipFill>
          <a:blip r:embed="rId3"/>
          <a:stretch>
            <a:fillRect/>
          </a:stretch>
        </p:blipFill>
        <p:spPr>
          <a:xfrm>
            <a:off x="907469" y="1268760"/>
            <a:ext cx="10377061" cy="5224096"/>
          </a:xfrm>
          <a:prstGeom prst="rect">
            <a:avLst/>
          </a:prstGeom>
        </p:spPr>
      </p:pic>
      <p:sp>
        <p:nvSpPr>
          <p:cNvPr id="8" name="7 CuadroTexto"/>
          <p:cNvSpPr txBox="1"/>
          <p:nvPr/>
        </p:nvSpPr>
        <p:spPr>
          <a:xfrm>
            <a:off x="959726" y="672951"/>
            <a:ext cx="10272543" cy="338554"/>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En Results - activar tr2_33yr – Depth. En la parte superior de la ventana de resultados, oprimir en Max.</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91171" y="3609192"/>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Profundidad de lámina de agua (Depth)</a:t>
            </a:r>
          </a:p>
        </p:txBody>
      </p:sp>
      <p:pic>
        <p:nvPicPr>
          <p:cNvPr id="11" name="Imagen 10">
            <a:extLst>
              <a:ext uri="{FF2B5EF4-FFF2-40B4-BE49-F238E27FC236}">
                <a16:creationId xmlns:a16="http://schemas.microsoft.com/office/drawing/2014/main" id="{CB9022E8-6738-4FB1-8D8B-7AABD85D03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88088" y="1834186"/>
            <a:ext cx="360000" cy="360000"/>
          </a:xfrm>
          <a:prstGeom prst="rect">
            <a:avLst/>
          </a:prstGeom>
        </p:spPr>
      </p:pic>
      <p:pic>
        <p:nvPicPr>
          <p:cNvPr id="13" name="Imagen 12">
            <a:extLst>
              <a:ext uri="{FF2B5EF4-FFF2-40B4-BE49-F238E27FC236}">
                <a16:creationId xmlns:a16="http://schemas.microsoft.com/office/drawing/2014/main" id="{D299B2E4-FC46-4C30-8A66-61291F22734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25941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03B551F-BAB5-45EE-A3C7-629927BE0218}"/>
              </a:ext>
            </a:extLst>
          </p:cNvPr>
          <p:cNvPicPr>
            <a:picLocks noChangeAspect="1"/>
          </p:cNvPicPr>
          <p:nvPr/>
        </p:nvPicPr>
        <p:blipFill>
          <a:blip r:embed="rId3"/>
          <a:stretch>
            <a:fillRect/>
          </a:stretch>
        </p:blipFill>
        <p:spPr>
          <a:xfrm>
            <a:off x="613451" y="1974324"/>
            <a:ext cx="6772275" cy="4800600"/>
          </a:xfrm>
          <a:prstGeom prst="rect">
            <a:avLst/>
          </a:prstGeom>
        </p:spPr>
      </p:pic>
      <p:pic>
        <p:nvPicPr>
          <p:cNvPr id="4" name="Imagen 3">
            <a:extLst>
              <a:ext uri="{FF2B5EF4-FFF2-40B4-BE49-F238E27FC236}">
                <a16:creationId xmlns:a16="http://schemas.microsoft.com/office/drawing/2014/main" id="{01740BF2-8100-42F3-A13C-D2C8CF577254}"/>
              </a:ext>
            </a:extLst>
          </p:cNvPr>
          <p:cNvPicPr>
            <a:picLocks noChangeAspect="1"/>
          </p:cNvPicPr>
          <p:nvPr/>
        </p:nvPicPr>
        <p:blipFill>
          <a:blip r:embed="rId4"/>
          <a:stretch>
            <a:fillRect/>
          </a:stretch>
        </p:blipFill>
        <p:spPr>
          <a:xfrm>
            <a:off x="7613235" y="1974324"/>
            <a:ext cx="3884455" cy="4800600"/>
          </a:xfrm>
          <a:prstGeom prst="rect">
            <a:avLst/>
          </a:prstGeom>
        </p:spPr>
      </p:pic>
      <p:sp>
        <p:nvSpPr>
          <p:cNvPr id="8" name="7 CuadroTexto"/>
          <p:cNvSpPr txBox="1"/>
          <p:nvPr/>
        </p:nvSpPr>
        <p:spPr>
          <a:xfrm>
            <a:off x="613451" y="404664"/>
            <a:ext cx="10898843" cy="1323439"/>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Para la visualización correcta de los resultados es necesario ajustar la rampa de color al rango de profundidades del cauce sinuoso dominante, para el ejercicio corresponde a valores entre 0 y 1.5 metros debido a que esta es la altura de diseño. Doble clic en Depth (Max) – Surface – Edit. Opcionalmente podrá incluir la impresión de contornos o líneas con igual valor de profundidad, por ejemplo cada 0.5 metros, definir transparencia para visualizar el modelo de terreno bajo el espejo de agua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1784" y="3738541"/>
            <a:ext cx="360000" cy="360000"/>
          </a:xfrm>
          <a:prstGeom prst="rect">
            <a:avLst/>
          </a:prstGeom>
        </p:spPr>
      </p:pic>
      <p:pic>
        <p:nvPicPr>
          <p:cNvPr id="11" name="Imagen 10">
            <a:extLst>
              <a:ext uri="{FF2B5EF4-FFF2-40B4-BE49-F238E27FC236}">
                <a16:creationId xmlns:a16="http://schemas.microsoft.com/office/drawing/2014/main" id="{CB9022E8-6738-4FB1-8D8B-7AABD85D03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27915" y="3378541"/>
            <a:ext cx="360000" cy="360000"/>
          </a:xfrm>
          <a:prstGeom prst="rect">
            <a:avLst/>
          </a:prstGeom>
        </p:spPr>
      </p:pic>
      <p:pic>
        <p:nvPicPr>
          <p:cNvPr id="12" name="Imagen 11">
            <a:extLst>
              <a:ext uri="{FF2B5EF4-FFF2-40B4-BE49-F238E27FC236}">
                <a16:creationId xmlns:a16="http://schemas.microsoft.com/office/drawing/2014/main" id="{8B746C73-3176-4ABE-BF78-0951582111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26737" y="3126453"/>
            <a:ext cx="360000" cy="360000"/>
          </a:xfrm>
          <a:prstGeom prst="rect">
            <a:avLst/>
          </a:prstGeom>
        </p:spPr>
      </p:pic>
      <p:pic>
        <p:nvPicPr>
          <p:cNvPr id="13" name="Imagen 12">
            <a:extLst>
              <a:ext uri="{FF2B5EF4-FFF2-40B4-BE49-F238E27FC236}">
                <a16:creationId xmlns:a16="http://schemas.microsoft.com/office/drawing/2014/main" id="{6743E215-6DBE-4F97-9F3F-F63017100D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808" y="3320468"/>
            <a:ext cx="360000" cy="360000"/>
          </a:xfrm>
          <a:prstGeom prst="rect">
            <a:avLst/>
          </a:prstGeom>
        </p:spPr>
      </p:pic>
      <p:pic>
        <p:nvPicPr>
          <p:cNvPr id="15" name="Imagen 14">
            <a:extLst>
              <a:ext uri="{FF2B5EF4-FFF2-40B4-BE49-F238E27FC236}">
                <a16:creationId xmlns:a16="http://schemas.microsoft.com/office/drawing/2014/main" id="{56BE474F-EC01-4153-B4A7-720E7B32D9D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6C42E385-31C0-49FC-A0C5-2D36596E294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Profundidad de lámina de agua (Depth)</a:t>
            </a:r>
          </a:p>
        </p:txBody>
      </p:sp>
    </p:spTree>
    <p:extLst>
      <p:ext uri="{BB962C8B-B14F-4D97-AF65-F5344CB8AC3E}">
        <p14:creationId xmlns:p14="http://schemas.microsoft.com/office/powerpoint/2010/main" val="3168294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27840" y="305361"/>
            <a:ext cx="11701522"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Visualice los resultados en la zona de inicio y entrega. Observará que en la zona de entrega aparece un remanso debido a la </a:t>
            </a:r>
            <a:r>
              <a:rPr lang="es-CO" sz="1600" dirty="0" err="1">
                <a:latin typeface="Segoe UI Light" panose="020B0502040204020203" pitchFamily="34" charset="0"/>
                <a:cs typeface="Segoe UI Light" panose="020B0502040204020203" pitchFamily="34" charset="0"/>
              </a:rPr>
              <a:t>condici</a:t>
            </a:r>
            <a:r>
              <a:rPr lang="en-US" sz="1600" dirty="0" err="1">
                <a:latin typeface="Segoe UI Light" panose="020B0502040204020203" pitchFamily="34" charset="0"/>
                <a:cs typeface="Segoe UI Light" panose="020B0502040204020203" pitchFamily="34" charset="0"/>
              </a:rPr>
              <a:t>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definida</a:t>
            </a:r>
            <a:r>
              <a:rPr lang="en-US" sz="1600" dirty="0">
                <a:latin typeface="Segoe UI Light" panose="020B0502040204020203" pitchFamily="34" charset="0"/>
                <a:cs typeface="Segoe UI Light" panose="020B0502040204020203" pitchFamily="34" charset="0"/>
              </a:rPr>
              <a:t> con la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normal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calculada</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 0.0008969 m/m. Para </a:t>
            </a:r>
            <a:r>
              <a:rPr lang="en-US" sz="1600" dirty="0" err="1">
                <a:latin typeface="Segoe UI Light" panose="020B0502040204020203" pitchFamily="34" charset="0"/>
                <a:cs typeface="Segoe UI Light" panose="020B0502040204020203" pitchFamily="34" charset="0"/>
              </a:rPr>
              <a:t>optimizar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proceso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recomienda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(Stage Hydrograph) </a:t>
            </a:r>
            <a:r>
              <a:rPr lang="en-US" sz="1600" dirty="0" err="1">
                <a:latin typeface="Segoe UI Light" panose="020B0502040204020203" pitchFamily="34" charset="0"/>
                <a:cs typeface="Segoe UI Light" panose="020B0502040204020203" pitchFamily="34" charset="0"/>
              </a:rPr>
              <a:t>observados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natural de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correspondientes</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creciente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transitada</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B0D39A70-B5F2-44C3-ACA4-74B617430A8C}"/>
              </a:ext>
            </a:extLst>
          </p:cNvPr>
          <p:cNvPicPr>
            <a:picLocks noChangeAspect="1"/>
          </p:cNvPicPr>
          <p:nvPr/>
        </p:nvPicPr>
        <p:blipFill>
          <a:blip r:embed="rId3"/>
          <a:stretch>
            <a:fillRect/>
          </a:stretch>
        </p:blipFill>
        <p:spPr>
          <a:xfrm>
            <a:off x="6159100" y="1906910"/>
            <a:ext cx="5770262" cy="4858781"/>
          </a:xfrm>
          <a:prstGeom prst="rect">
            <a:avLst/>
          </a:prstGeom>
        </p:spPr>
      </p:pic>
      <p:pic>
        <p:nvPicPr>
          <p:cNvPr id="7" name="Imagen 6">
            <a:extLst>
              <a:ext uri="{FF2B5EF4-FFF2-40B4-BE49-F238E27FC236}">
                <a16:creationId xmlns:a16="http://schemas.microsoft.com/office/drawing/2014/main" id="{A7C56881-2D9B-4C58-B224-00DFAEA75685}"/>
              </a:ext>
            </a:extLst>
          </p:cNvPr>
          <p:cNvPicPr>
            <a:picLocks noChangeAspect="1"/>
          </p:cNvPicPr>
          <p:nvPr/>
        </p:nvPicPr>
        <p:blipFill>
          <a:blip r:embed="rId4"/>
          <a:stretch>
            <a:fillRect/>
          </a:stretch>
        </p:blipFill>
        <p:spPr>
          <a:xfrm>
            <a:off x="227840" y="1906911"/>
            <a:ext cx="5770262" cy="4858781"/>
          </a:xfrm>
          <a:prstGeom prst="rect">
            <a:avLst/>
          </a:prstGeom>
        </p:spPr>
      </p:pic>
      <p:sp>
        <p:nvSpPr>
          <p:cNvPr id="16" name="7 CuadroTexto">
            <a:extLst>
              <a:ext uri="{FF2B5EF4-FFF2-40B4-BE49-F238E27FC236}">
                <a16:creationId xmlns:a16="http://schemas.microsoft.com/office/drawing/2014/main" id="{78A96A99-FB45-4E87-B0CC-0AE389E1AD90}"/>
              </a:ext>
            </a:extLst>
          </p:cNvPr>
          <p:cNvSpPr txBox="1"/>
          <p:nvPr/>
        </p:nvSpPr>
        <p:spPr>
          <a:xfrm>
            <a:off x="1919536" y="1618879"/>
            <a:ext cx="1359768" cy="307777"/>
          </a:xfrm>
          <a:prstGeom prst="rect">
            <a:avLst/>
          </a:prstGeom>
          <a:noFill/>
        </p:spPr>
        <p:txBody>
          <a:bodyPr wrap="square" rtlCol="0">
            <a:spAutoFit/>
          </a:bodyPr>
          <a:lstStyle/>
          <a:p>
            <a:pPr algn="ctr"/>
            <a:r>
              <a:rPr lang="en-US" sz="1400">
                <a:latin typeface="Segoe UI Light" panose="020B0502040204020203" pitchFamily="34" charset="0"/>
                <a:cs typeface="Segoe UI Light" panose="020B0502040204020203" pitchFamily="34" charset="0"/>
              </a:rPr>
              <a:t>Inicio</a:t>
            </a:r>
            <a:endParaRPr lang="es-CO" sz="1400">
              <a:latin typeface="Segoe UI Light" panose="020B0502040204020203" pitchFamily="34" charset="0"/>
              <a:cs typeface="Segoe UI Light" panose="020B0502040204020203" pitchFamily="34" charset="0"/>
            </a:endParaRPr>
          </a:p>
        </p:txBody>
      </p:sp>
      <p:sp>
        <p:nvSpPr>
          <p:cNvPr id="17" name="7 CuadroTexto">
            <a:extLst>
              <a:ext uri="{FF2B5EF4-FFF2-40B4-BE49-F238E27FC236}">
                <a16:creationId xmlns:a16="http://schemas.microsoft.com/office/drawing/2014/main" id="{052361C2-1A36-48A3-8113-30863ED24E43}"/>
              </a:ext>
            </a:extLst>
          </p:cNvPr>
          <p:cNvSpPr txBox="1"/>
          <p:nvPr/>
        </p:nvSpPr>
        <p:spPr>
          <a:xfrm>
            <a:off x="8364347" y="1618878"/>
            <a:ext cx="1359768" cy="307777"/>
          </a:xfrm>
          <a:prstGeom prst="rect">
            <a:avLst/>
          </a:prstGeom>
          <a:noFill/>
        </p:spPr>
        <p:txBody>
          <a:bodyPr wrap="square" rtlCol="0">
            <a:spAutoFit/>
          </a:bodyPr>
          <a:lstStyle/>
          <a:p>
            <a:pPr algn="ctr"/>
            <a:r>
              <a:rPr lang="en-US" sz="1400">
                <a:latin typeface="Segoe UI Light" panose="020B0502040204020203" pitchFamily="34" charset="0"/>
                <a:cs typeface="Segoe UI Light" panose="020B0502040204020203" pitchFamily="34" charset="0"/>
              </a:rPr>
              <a:t>Entrega</a:t>
            </a:r>
            <a:endParaRPr lang="es-CO" sz="140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32FBA7A5-11C6-4646-834C-66AFE7D205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BACA2240-67B4-4CE9-8E5D-68ADCE185A5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Profundidad de lámina de agua (Depth)</a:t>
            </a:r>
          </a:p>
        </p:txBody>
      </p:sp>
    </p:spTree>
    <p:extLst>
      <p:ext uri="{BB962C8B-B14F-4D97-AF65-F5344CB8AC3E}">
        <p14:creationId xmlns:p14="http://schemas.microsoft.com/office/powerpoint/2010/main" val="1149784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01176" y="404664"/>
            <a:ext cx="11593288"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Adicionalmente, desde la ventana de propiedades (doble clic en Depth) podrá activar diferentes casillas para la visualización de: Conectividad hidráulica entre celdas, Flechas de gradiante de dirección de flujo entre celdas, Profundidad de lámina en cada celda, Flechas perpendiculares de velocidad para cada cara de celda, Centroide de localización de elevación mínima de lámina de agua. Todas estas propiedades podrán ser visualizadas dinámicamente al realizar la visualización de cada instante de tiempo y al vuelo ubicando el puntero del mouse sobre cualquier ubicación del mapa.</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931138AB-7DF3-47B5-B529-3C7F2A4B011B}"/>
              </a:ext>
            </a:extLst>
          </p:cNvPr>
          <p:cNvPicPr>
            <a:picLocks noChangeAspect="1"/>
          </p:cNvPicPr>
          <p:nvPr/>
        </p:nvPicPr>
        <p:blipFill>
          <a:blip r:embed="rId3"/>
          <a:stretch>
            <a:fillRect/>
          </a:stretch>
        </p:blipFill>
        <p:spPr>
          <a:xfrm>
            <a:off x="352452" y="1732301"/>
            <a:ext cx="7272808" cy="5060343"/>
          </a:xfrm>
          <a:prstGeom prst="rect">
            <a:avLst/>
          </a:prstGeom>
        </p:spPr>
      </p:pic>
      <p:pic>
        <p:nvPicPr>
          <p:cNvPr id="4" name="Imagen 3">
            <a:extLst>
              <a:ext uri="{FF2B5EF4-FFF2-40B4-BE49-F238E27FC236}">
                <a16:creationId xmlns:a16="http://schemas.microsoft.com/office/drawing/2014/main" id="{284F28A7-E18F-4411-BB55-67CC06DE650A}"/>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Lst>
          </a:blip>
          <a:srcRect l="53024" t="13001" r="1496" b="46499"/>
          <a:stretch/>
        </p:blipFill>
        <p:spPr>
          <a:xfrm>
            <a:off x="8358463" y="2924944"/>
            <a:ext cx="3480388" cy="2088232"/>
          </a:xfrm>
          <a:prstGeom prst="rect">
            <a:avLst/>
          </a:prstGeom>
        </p:spPr>
      </p:pic>
      <p:pic>
        <p:nvPicPr>
          <p:cNvPr id="12" name="Imagen 11">
            <a:extLst>
              <a:ext uri="{FF2B5EF4-FFF2-40B4-BE49-F238E27FC236}">
                <a16:creationId xmlns:a16="http://schemas.microsoft.com/office/drawing/2014/main" id="{6E26ECD9-550B-4B48-A991-209130E81C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626716" y="3589580"/>
            <a:ext cx="360000" cy="360000"/>
          </a:xfrm>
          <a:prstGeom prst="rect">
            <a:avLst/>
          </a:prstGeom>
        </p:spPr>
      </p:pic>
      <p:pic>
        <p:nvPicPr>
          <p:cNvPr id="10" name="Imagen 9">
            <a:extLst>
              <a:ext uri="{FF2B5EF4-FFF2-40B4-BE49-F238E27FC236}">
                <a16:creationId xmlns:a16="http://schemas.microsoft.com/office/drawing/2014/main" id="{7CD3ED4C-BC27-4202-B779-C7488CAED07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6F10D088-C6AE-417A-802F-AD3F1BED3A6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Profundidad de lámina de agua (Depth)</a:t>
            </a:r>
          </a:p>
        </p:txBody>
      </p:sp>
    </p:spTree>
    <p:extLst>
      <p:ext uri="{BB962C8B-B14F-4D97-AF65-F5344CB8AC3E}">
        <p14:creationId xmlns:p14="http://schemas.microsoft.com/office/powerpoint/2010/main" val="102278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CMC_Subtema_5_10Depth v1_0">
            <a:hlinkClick r:id="" action="ppaction://media"/>
            <a:extLst>
              <a:ext uri="{FF2B5EF4-FFF2-40B4-BE49-F238E27FC236}">
                <a16:creationId xmlns:a16="http://schemas.microsoft.com/office/drawing/2014/main" id="{0D67BB64-6AAC-4A54-958C-60593F09AC6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2160984"/>
            <a:ext cx="12192000" cy="4695825"/>
          </a:xfrm>
          <a:prstGeom prst="rect">
            <a:avLst/>
          </a:prstGeom>
        </p:spPr>
      </p:pic>
      <p:sp>
        <p:nvSpPr>
          <p:cNvPr id="8" name="7 CuadroTexto"/>
          <p:cNvSpPr txBox="1"/>
          <p:nvPr/>
        </p:nvSpPr>
        <p:spPr>
          <a:xfrm>
            <a:off x="1245513" y="620688"/>
            <a:ext cx="10320847"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Visualización dinámica: RAS Mapper permite la visualización dinámica de resultados para cada instante de tiempo calculado a partir de la definición realizada en el plan de datos para modelación (para el ejemplo, cada 15 min). En la parte superior de la ventana de resultado encontrará diferentes opciones que le permitirán visualizar la envolvente de máximo y mínimos, la barra de desplazamiento de intervalos de tiempo para resultados y el ícono de configuración de velocidad de reproducción.</a:t>
            </a:r>
          </a:p>
        </p:txBody>
      </p:sp>
      <p:pic>
        <p:nvPicPr>
          <p:cNvPr id="12" name="Imagen 11">
            <a:extLst>
              <a:ext uri="{FF2B5EF4-FFF2-40B4-BE49-F238E27FC236}">
                <a16:creationId xmlns:a16="http://schemas.microsoft.com/office/drawing/2014/main" id="{6E26ECD9-550B-4B48-A991-209130E81C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40390" y="2824361"/>
            <a:ext cx="360000" cy="360000"/>
          </a:xfrm>
          <a:prstGeom prst="rect">
            <a:avLst/>
          </a:prstGeom>
        </p:spPr>
      </p:pic>
      <p:pic>
        <p:nvPicPr>
          <p:cNvPr id="7" name="Imagen 6">
            <a:hlinkClick r:id="rId7" action="ppaction://hlinkfile"/>
            <a:extLst>
              <a:ext uri="{FF2B5EF4-FFF2-40B4-BE49-F238E27FC236}">
                <a16:creationId xmlns:a16="http://schemas.microsoft.com/office/drawing/2014/main" id="{9CF25ABF-FFA8-4944-907F-8A416736660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42689" y="886996"/>
            <a:ext cx="720000" cy="720000"/>
          </a:xfrm>
          <a:prstGeom prst="rect">
            <a:avLst/>
          </a:prstGeom>
        </p:spPr>
      </p:pic>
      <p:pic>
        <p:nvPicPr>
          <p:cNvPr id="10" name="Imagen 9">
            <a:extLst>
              <a:ext uri="{FF2B5EF4-FFF2-40B4-BE49-F238E27FC236}">
                <a16:creationId xmlns:a16="http://schemas.microsoft.com/office/drawing/2014/main" id="{6A578AB9-FF39-466A-B7F9-7CFEFD2DA9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CA945044-51E3-4874-8FB1-1C307BD9EC7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Profundidad de lámina de agua (Depth)</a:t>
            </a:r>
          </a:p>
        </p:txBody>
      </p:sp>
    </p:spTree>
    <p:extLst>
      <p:ext uri="{BB962C8B-B14F-4D97-AF65-F5344CB8AC3E}">
        <p14:creationId xmlns:p14="http://schemas.microsoft.com/office/powerpoint/2010/main" val="316183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3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603612" y="2751891"/>
            <a:ext cx="6984776" cy="110799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Límite de zona inundada (</a:t>
            </a:r>
            <a:r>
              <a:rPr lang="es-CO" dirty="0" err="1">
                <a:latin typeface="Segoe UI Light" panose="020B0502040204020203" pitchFamily="34" charset="0"/>
                <a:cs typeface="Segoe UI Light" panose="020B0502040204020203" pitchFamily="34" charset="0"/>
              </a:rPr>
              <a:t>Inundation</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Boundary</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Corresponde al polígono que delimita la zona m</a:t>
            </a:r>
            <a:r>
              <a:rPr lang="en-US" sz="1600" dirty="0">
                <a:latin typeface="Segoe UI Light" panose="020B0502040204020203" pitchFamily="34" charset="0"/>
                <a:cs typeface="Segoe UI Light" panose="020B0502040204020203" pitchFamily="34" charset="0"/>
              </a:rPr>
              <a:t>á</a:t>
            </a:r>
            <a:r>
              <a:rPr lang="es-CO" sz="1600" dirty="0" err="1">
                <a:latin typeface="Segoe UI Light" panose="020B0502040204020203" pitchFamily="34" charset="0"/>
                <a:cs typeface="Segoe UI Light" panose="020B0502040204020203" pitchFamily="34" charset="0"/>
              </a:rPr>
              <a:t>xima</a:t>
            </a:r>
            <a:r>
              <a:rPr lang="es-CO" sz="1600" dirty="0">
                <a:latin typeface="Segoe UI Light" panose="020B0502040204020203" pitchFamily="34" charset="0"/>
                <a:cs typeface="Segoe UI Light" panose="020B0502040204020203" pitchFamily="34" charset="0"/>
              </a:rPr>
              <a:t> inundada. Puede ser exportado a diferentes formatos, incluidos los archivos de forma </a:t>
            </a:r>
            <a:r>
              <a:rPr lang="es-CO" sz="1600" dirty="0" err="1">
                <a:latin typeface="Segoe UI Light" panose="020B0502040204020203" pitchFamily="34" charset="0"/>
                <a:cs typeface="Segoe UI Light" panose="020B0502040204020203" pitchFamily="34" charset="0"/>
              </a:rPr>
              <a:t>shapefile</a:t>
            </a:r>
            <a:r>
              <a:rPr lang="es-CO" sz="1600" dirty="0">
                <a:latin typeface="Segoe UI Light" panose="020B0502040204020203" pitchFamily="34" charset="0"/>
                <a:cs typeface="Segoe UI Light" panose="020B0502040204020203" pitchFamily="34" charset="0"/>
              </a:rPr>
              <a:t>.</a:t>
            </a:r>
          </a:p>
        </p:txBody>
      </p:sp>
      <p:pic>
        <p:nvPicPr>
          <p:cNvPr id="4" name="Imagen 3">
            <a:extLst>
              <a:ext uri="{FF2B5EF4-FFF2-40B4-BE49-F238E27FC236}">
                <a16:creationId xmlns:a16="http://schemas.microsoft.com/office/drawing/2014/main" id="{4CD82FAA-78D7-45B2-9B05-4F10FBA3A8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44833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E7BA2C3-BA0F-4716-ABC9-C82BDCF28176}"/>
              </a:ext>
            </a:extLst>
          </p:cNvPr>
          <p:cNvPicPr>
            <a:picLocks noChangeAspect="1"/>
          </p:cNvPicPr>
          <p:nvPr/>
        </p:nvPicPr>
        <p:blipFill>
          <a:blip r:embed="rId3"/>
          <a:stretch>
            <a:fillRect/>
          </a:stretch>
        </p:blipFill>
        <p:spPr>
          <a:xfrm>
            <a:off x="203684" y="1556792"/>
            <a:ext cx="11784632" cy="5240265"/>
          </a:xfrm>
          <a:prstGeom prst="rect">
            <a:avLst/>
          </a:prstGeom>
        </p:spPr>
      </p:pic>
      <p:sp>
        <p:nvSpPr>
          <p:cNvPr id="8" name="7 CuadroTexto"/>
          <p:cNvSpPr txBox="1"/>
          <p:nvPr/>
        </p:nvSpPr>
        <p:spPr>
          <a:xfrm>
            <a:off x="959726" y="294832"/>
            <a:ext cx="10272543" cy="1107996"/>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Para el ejercicio corresponde a un área de 60.5 </a:t>
            </a:r>
            <a:r>
              <a:rPr lang="es-CO">
                <a:latin typeface="Segoe UI Light" panose="020B0502040204020203" pitchFamily="34" charset="0"/>
                <a:cs typeface="Segoe UI Light" panose="020B0502040204020203" pitchFamily="34" charset="0"/>
              </a:rPr>
              <a:t>hectáreas</a:t>
            </a:r>
            <a:r>
              <a:rPr lang="es-CO" sz="1600">
                <a:latin typeface="Segoe UI Light" panose="020B0502040204020203" pitchFamily="34" charset="0"/>
                <a:cs typeface="Segoe UI Light" panose="020B0502040204020203" pitchFamily="34" charset="0"/>
              </a:rPr>
              <a:t> inundadas. Para realizar la exportación, clic derecho en </a:t>
            </a:r>
            <a:r>
              <a:rPr lang="es-CO" sz="1600" i="1">
                <a:latin typeface="Segoe UI Light" panose="020B0502040204020203" pitchFamily="34" charset="0"/>
                <a:cs typeface="Segoe UI Light" panose="020B0502040204020203" pitchFamily="34" charset="0"/>
              </a:rPr>
              <a:t>Inundation Boundary – Export Layers – Save Features to Shapefile</a:t>
            </a:r>
            <a:r>
              <a:rPr lang="es-CO" sz="1600">
                <a:latin typeface="Segoe UI Light" panose="020B0502040204020203" pitchFamily="34" charset="0"/>
                <a:cs typeface="Segoe UI Light" panose="020B0502040204020203" pitchFamily="34" charset="0"/>
              </a:rPr>
              <a:t>.</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84432" y="5994178"/>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Límite de zona inundada (</a:t>
            </a:r>
            <a:r>
              <a:rPr lang="es-ES" sz="800" dirty="0" err="1">
                <a:latin typeface="Segoe UI Light" panose="020B0502040204020203" pitchFamily="34" charset="0"/>
                <a:cs typeface="Segoe UI Light" panose="020B0502040204020203" pitchFamily="34" charset="0"/>
              </a:rPr>
              <a:t>Inundation</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Boundary</a:t>
            </a:r>
            <a:r>
              <a:rPr lang="es-ES"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3F43F021-09AF-474B-BB76-BA2A07678F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08732" y="4725144"/>
            <a:ext cx="360000" cy="360000"/>
          </a:xfrm>
          <a:prstGeom prst="rect">
            <a:avLst/>
          </a:prstGeom>
        </p:spPr>
      </p:pic>
      <p:pic>
        <p:nvPicPr>
          <p:cNvPr id="12" name="Imagen 11">
            <a:extLst>
              <a:ext uri="{FF2B5EF4-FFF2-40B4-BE49-F238E27FC236}">
                <a16:creationId xmlns:a16="http://schemas.microsoft.com/office/drawing/2014/main" id="{725AD75C-5FF3-459F-AFB1-734EFD8A92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84032" y="6174178"/>
            <a:ext cx="360000" cy="360000"/>
          </a:xfrm>
          <a:prstGeom prst="rect">
            <a:avLst/>
          </a:prstGeom>
        </p:spPr>
      </p:pic>
      <p:pic>
        <p:nvPicPr>
          <p:cNvPr id="14" name="Imagen 13">
            <a:extLst>
              <a:ext uri="{FF2B5EF4-FFF2-40B4-BE49-F238E27FC236}">
                <a16:creationId xmlns:a16="http://schemas.microsoft.com/office/drawing/2014/main" id="{95E9884A-0607-480E-97D3-72AFCD20E7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636320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75720" y="2367171"/>
            <a:ext cx="5040560" cy="212365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Elevación inversa o cota</a:t>
            </a:r>
          </a:p>
          <a:p>
            <a:pPr algn="ctr"/>
            <a:r>
              <a:rPr lang="es-CO" dirty="0">
                <a:latin typeface="Segoe UI Light" panose="020B0502040204020203" pitchFamily="34" charset="0"/>
                <a:cs typeface="Segoe UI Light" panose="020B0502040204020203" pitchFamily="34" charset="0"/>
              </a:rPr>
              <a:t>(</a:t>
            </a:r>
            <a:r>
              <a:rPr lang="es-CO" dirty="0" err="1">
                <a:latin typeface="Segoe UI Light" panose="020B0502040204020203" pitchFamily="34" charset="0"/>
                <a:cs typeface="Segoe UI Light" panose="020B0502040204020203" pitchFamily="34" charset="0"/>
              </a:rPr>
              <a:t>Water</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surface</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elevation</a:t>
            </a:r>
            <a:r>
              <a:rPr lang="es-CO" dirty="0">
                <a:latin typeface="Segoe UI Light" panose="020B0502040204020203" pitchFamily="34" charset="0"/>
                <a:cs typeface="Segoe UI Light" panose="020B0502040204020203" pitchFamily="34" charset="0"/>
              </a:rPr>
              <a:t> – WSE)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Corresponde a la cota de elevación de la lámina de agua, para sistema internacional de unidades en metros sobre nivel del mar, referido al sistema de proyección de coordenadas utilizado para la </a:t>
            </a:r>
            <a:r>
              <a:rPr lang="es-CO" sz="1600" dirty="0" err="1">
                <a:latin typeface="Segoe UI Light" panose="020B0502040204020203" pitchFamily="34" charset="0"/>
                <a:cs typeface="Segoe UI Light" panose="020B0502040204020203" pitchFamily="34" charset="0"/>
              </a:rPr>
              <a:t>georrefenciación</a:t>
            </a:r>
            <a:r>
              <a:rPr lang="es-CO" sz="1600" dirty="0">
                <a:latin typeface="Segoe UI Light" panose="020B0502040204020203" pitchFamily="34" charset="0"/>
                <a:cs typeface="Segoe UI Light" panose="020B0502040204020203" pitchFamily="34" charset="0"/>
              </a:rPr>
              <a:t> del terreno.</a:t>
            </a:r>
          </a:p>
        </p:txBody>
      </p:sp>
      <p:pic>
        <p:nvPicPr>
          <p:cNvPr id="4" name="Imagen 3">
            <a:extLst>
              <a:ext uri="{FF2B5EF4-FFF2-40B4-BE49-F238E27FC236}">
                <a16:creationId xmlns:a16="http://schemas.microsoft.com/office/drawing/2014/main" id="{18A70E33-FC11-4D83-B16B-73FB8F6D75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83687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1CD9D9A-1DF4-498C-9A7A-66E5E8D87D97}"/>
              </a:ext>
            </a:extLst>
          </p:cNvPr>
          <p:cNvPicPr>
            <a:picLocks noChangeAspect="1"/>
          </p:cNvPicPr>
          <p:nvPr/>
        </p:nvPicPr>
        <p:blipFill>
          <a:blip r:embed="rId3"/>
          <a:stretch>
            <a:fillRect/>
          </a:stretch>
        </p:blipFill>
        <p:spPr>
          <a:xfrm>
            <a:off x="7672758" y="1944638"/>
            <a:ext cx="3906658" cy="4754329"/>
          </a:xfrm>
          <a:prstGeom prst="rect">
            <a:avLst/>
          </a:prstGeom>
        </p:spPr>
      </p:pic>
      <p:pic>
        <p:nvPicPr>
          <p:cNvPr id="4" name="Imagen 3">
            <a:extLst>
              <a:ext uri="{FF2B5EF4-FFF2-40B4-BE49-F238E27FC236}">
                <a16:creationId xmlns:a16="http://schemas.microsoft.com/office/drawing/2014/main" id="{024C7972-286E-4263-9BBD-CABA77803A9A}"/>
              </a:ext>
            </a:extLst>
          </p:cNvPr>
          <p:cNvPicPr>
            <a:picLocks noChangeAspect="1"/>
          </p:cNvPicPr>
          <p:nvPr/>
        </p:nvPicPr>
        <p:blipFill>
          <a:blip r:embed="rId4"/>
          <a:stretch>
            <a:fillRect/>
          </a:stretch>
        </p:blipFill>
        <p:spPr>
          <a:xfrm>
            <a:off x="604342" y="1926357"/>
            <a:ext cx="6755847" cy="4772610"/>
          </a:xfrm>
          <a:prstGeom prst="rect">
            <a:avLst/>
          </a:prstGeom>
        </p:spPr>
      </p:pic>
      <p:sp>
        <p:nvSpPr>
          <p:cNvPr id="8" name="7 CuadroTexto"/>
          <p:cNvSpPr txBox="1"/>
          <p:nvPr/>
        </p:nvSpPr>
        <p:spPr>
          <a:xfrm>
            <a:off x="612584" y="365574"/>
            <a:ext cx="10975074" cy="1323439"/>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En Results - activar tr2_33yr – WSE. En la parte superior de la ventana de resultados, oprimir en Max. Desde las propiedades del mapa (doble clic en WSE), definir los valores de la rampa de colores entre la cota mínima y máxima de terreno. Para el cauce dominante corresponde del fondo o Thalweg en la entrega y la corona al inicio del cauce dominante. El rango de elevaciones puede ser manualmente seleccionando la superficie de terreno y localizando el puntero del mouse sobre las zonas indicadas (Para el ejercicio: cota mínima 64.5msnm, cota máxima 72msnm) o mediante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78537" y="3171136"/>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Elevación inversa o cota (</a:t>
            </a:r>
            <a:r>
              <a:rPr lang="es-ES" sz="800" dirty="0" err="1">
                <a:latin typeface="Segoe UI Light" panose="020B0502040204020203" pitchFamily="34" charset="0"/>
                <a:cs typeface="Segoe UI Light" panose="020B0502040204020203" pitchFamily="34" charset="0"/>
              </a:rPr>
              <a:t>Water</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surface</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elevation</a:t>
            </a:r>
            <a:r>
              <a:rPr lang="es-ES" sz="800" dirty="0">
                <a:latin typeface="Segoe UI Light" panose="020B0502040204020203" pitchFamily="34" charset="0"/>
                <a:cs typeface="Segoe UI Light" panose="020B0502040204020203" pitchFamily="34" charset="0"/>
              </a:rPr>
              <a:t> – WSE)</a:t>
            </a:r>
          </a:p>
        </p:txBody>
      </p:sp>
      <p:pic>
        <p:nvPicPr>
          <p:cNvPr id="12" name="Imagen 11">
            <a:extLst>
              <a:ext uri="{FF2B5EF4-FFF2-40B4-BE49-F238E27FC236}">
                <a16:creationId xmlns:a16="http://schemas.microsoft.com/office/drawing/2014/main" id="{601CCFAA-E0A3-49F6-8FA8-5B8D6902C4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6818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09746" y="2998113"/>
            <a:ext cx="4572508" cy="861774"/>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Velocidad del flujo (</a:t>
            </a:r>
            <a:r>
              <a:rPr lang="es-CO" dirty="0" err="1">
                <a:latin typeface="Segoe UI Light" panose="020B0502040204020203" pitchFamily="34" charset="0"/>
                <a:cs typeface="Segoe UI Light" panose="020B0502040204020203" pitchFamily="34" charset="0"/>
              </a:rPr>
              <a:t>Velocity</a:t>
            </a:r>
            <a:r>
              <a:rPr lang="es-CO" dirty="0">
                <a:latin typeface="Segoe UI Light" panose="020B0502040204020203" pitchFamily="34" charset="0"/>
                <a:cs typeface="Segoe UI Light" panose="020B0502040204020203" pitchFamily="34" charset="0"/>
              </a:rPr>
              <a:t>)</a:t>
            </a:r>
          </a:p>
          <a:p>
            <a:pPr algn="ctr"/>
            <a:endParaRPr lang="es-CO" sz="1600" dirty="0">
              <a:latin typeface="Segoe UI Light" panose="020B0502040204020203" pitchFamily="34" charset="0"/>
              <a:cs typeface="Segoe UI Light" panose="020B0502040204020203" pitchFamily="34" charset="0"/>
            </a:endParaRPr>
          </a:p>
          <a:p>
            <a:pPr algn="ctr"/>
            <a:r>
              <a:rPr lang="es-CO" sz="1600" dirty="0">
                <a:latin typeface="Segoe UI Light" panose="020B0502040204020203" pitchFamily="34" charset="0"/>
                <a:cs typeface="Segoe UI Light" panose="020B0502040204020203" pitchFamily="34" charset="0"/>
              </a:rPr>
              <a:t>Para sistema internacional de unidades en m/s.</a:t>
            </a:r>
          </a:p>
        </p:txBody>
      </p:sp>
      <p:pic>
        <p:nvPicPr>
          <p:cNvPr id="4" name="Imagen 3">
            <a:extLst>
              <a:ext uri="{FF2B5EF4-FFF2-40B4-BE49-F238E27FC236}">
                <a16:creationId xmlns:a16="http://schemas.microsoft.com/office/drawing/2014/main" id="{58F1F465-9195-4AA2-8CFC-DB3F57909D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400052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312FF14-02B6-41B5-80F1-D3F1190A0942}"/>
              </a:ext>
            </a:extLst>
          </p:cNvPr>
          <p:cNvPicPr>
            <a:picLocks noChangeAspect="1"/>
          </p:cNvPicPr>
          <p:nvPr/>
        </p:nvPicPr>
        <p:blipFill>
          <a:blip r:embed="rId3"/>
          <a:stretch>
            <a:fillRect/>
          </a:stretch>
        </p:blipFill>
        <p:spPr>
          <a:xfrm>
            <a:off x="695400" y="1916832"/>
            <a:ext cx="7124700" cy="4152900"/>
          </a:xfrm>
          <a:prstGeom prst="rect">
            <a:avLst/>
          </a:prstGeom>
        </p:spPr>
      </p:pic>
      <p:sp>
        <p:nvSpPr>
          <p:cNvPr id="8" name="7 CuadroTexto"/>
          <p:cNvSpPr txBox="1"/>
          <p:nvPr/>
        </p:nvSpPr>
        <p:spPr>
          <a:xfrm>
            <a:off x="695400" y="746120"/>
            <a:ext cx="10816895" cy="83099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En Results - activar tr2_33yr – Velocity. En la parte superior de la ventana de resultados, oprimir en Max. Desde las propiedades del mapa (doble clic en Velocity), definir los valores de la rampa de colores entre 0.0 y 2.0m/s, rango utilizado para el diseño de la sección dominante. </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9921" y="3104984"/>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Velocidad del flujo (</a:t>
            </a:r>
            <a:r>
              <a:rPr lang="es-ES" sz="800" dirty="0" err="1">
                <a:latin typeface="Segoe UI Light" panose="020B0502040204020203" pitchFamily="34" charset="0"/>
                <a:cs typeface="Segoe UI Light" panose="020B0502040204020203" pitchFamily="34" charset="0"/>
              </a:rPr>
              <a:t>Velocity</a:t>
            </a:r>
            <a:r>
              <a:rPr lang="es-ES"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1DACD61E-4ADE-4BE9-A71C-1E5961B422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1609" y="5445224"/>
            <a:ext cx="360000" cy="360000"/>
          </a:xfrm>
          <a:prstGeom prst="rect">
            <a:avLst/>
          </a:prstGeom>
        </p:spPr>
      </p:pic>
      <p:pic>
        <p:nvPicPr>
          <p:cNvPr id="5" name="Imagen 4">
            <a:extLst>
              <a:ext uri="{FF2B5EF4-FFF2-40B4-BE49-F238E27FC236}">
                <a16:creationId xmlns:a16="http://schemas.microsoft.com/office/drawing/2014/main" id="{F058215C-905C-4D23-88F0-E3F32CE1740D}"/>
              </a:ext>
            </a:extLst>
          </p:cNvPr>
          <p:cNvPicPr>
            <a:picLocks noChangeAspect="1"/>
          </p:cNvPicPr>
          <p:nvPr/>
        </p:nvPicPr>
        <p:blipFill>
          <a:blip r:embed="rId5"/>
          <a:stretch>
            <a:fillRect/>
          </a:stretch>
        </p:blipFill>
        <p:spPr>
          <a:xfrm>
            <a:off x="8124352" y="1916833"/>
            <a:ext cx="3399285" cy="4152900"/>
          </a:xfrm>
          <a:prstGeom prst="rect">
            <a:avLst/>
          </a:prstGeom>
        </p:spPr>
      </p:pic>
      <p:pic>
        <p:nvPicPr>
          <p:cNvPr id="13" name="Imagen 12">
            <a:extLst>
              <a:ext uri="{FF2B5EF4-FFF2-40B4-BE49-F238E27FC236}">
                <a16:creationId xmlns:a16="http://schemas.microsoft.com/office/drawing/2014/main" id="{B45AF999-E544-4895-B233-08F3A1DA4A6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23159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0882799-B76E-4854-8E79-510AE7EEE20B}"/>
              </a:ext>
            </a:extLst>
          </p:cNvPr>
          <p:cNvPicPr>
            <a:picLocks noChangeAspect="1"/>
          </p:cNvPicPr>
          <p:nvPr/>
        </p:nvPicPr>
        <p:blipFill>
          <a:blip r:embed="rId3"/>
          <a:stretch>
            <a:fillRect/>
          </a:stretch>
        </p:blipFill>
        <p:spPr>
          <a:xfrm>
            <a:off x="307818" y="1339245"/>
            <a:ext cx="5716174" cy="5058360"/>
          </a:xfrm>
          <a:prstGeom prst="rect">
            <a:avLst/>
          </a:prstGeom>
        </p:spPr>
      </p:pic>
      <p:sp>
        <p:nvSpPr>
          <p:cNvPr id="8" name="7 CuadroTexto"/>
          <p:cNvSpPr txBox="1"/>
          <p:nvPr/>
        </p:nvSpPr>
        <p:spPr>
          <a:xfrm>
            <a:off x="307818" y="531257"/>
            <a:ext cx="11567980" cy="338554"/>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Observe los resultados al inicio y la entrega incluyendo los rótulos por cada celda y contornos cada 0.5m/s.</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941" y="3688457"/>
            <a:ext cx="360000" cy="360000"/>
          </a:xfrm>
          <a:prstGeom prst="rect">
            <a:avLst/>
          </a:prstGeom>
        </p:spPr>
      </p:pic>
      <p:pic>
        <p:nvPicPr>
          <p:cNvPr id="4" name="Imagen 3">
            <a:extLst>
              <a:ext uri="{FF2B5EF4-FFF2-40B4-BE49-F238E27FC236}">
                <a16:creationId xmlns:a16="http://schemas.microsoft.com/office/drawing/2014/main" id="{20FBADEC-CEE7-4BC8-9D94-DA53B7CC4072}"/>
              </a:ext>
            </a:extLst>
          </p:cNvPr>
          <p:cNvPicPr>
            <a:picLocks noChangeAspect="1"/>
          </p:cNvPicPr>
          <p:nvPr/>
        </p:nvPicPr>
        <p:blipFill>
          <a:blip r:embed="rId5"/>
          <a:stretch>
            <a:fillRect/>
          </a:stretch>
        </p:blipFill>
        <p:spPr>
          <a:xfrm>
            <a:off x="6159624" y="1339277"/>
            <a:ext cx="5716174" cy="5058360"/>
          </a:xfrm>
          <a:prstGeom prst="rect">
            <a:avLst/>
          </a:prstGeom>
        </p:spPr>
      </p:pic>
      <p:sp>
        <p:nvSpPr>
          <p:cNvPr id="11" name="7 CuadroTexto">
            <a:extLst>
              <a:ext uri="{FF2B5EF4-FFF2-40B4-BE49-F238E27FC236}">
                <a16:creationId xmlns:a16="http://schemas.microsoft.com/office/drawing/2014/main" id="{7078E3A4-9BC1-4405-AE60-CAA6278F9B5D}"/>
              </a:ext>
            </a:extLst>
          </p:cNvPr>
          <p:cNvSpPr txBox="1"/>
          <p:nvPr/>
        </p:nvSpPr>
        <p:spPr>
          <a:xfrm>
            <a:off x="2486021" y="1031468"/>
            <a:ext cx="1359768" cy="307777"/>
          </a:xfrm>
          <a:prstGeom prst="rect">
            <a:avLst/>
          </a:prstGeom>
          <a:noFill/>
        </p:spPr>
        <p:txBody>
          <a:bodyPr wrap="square" rtlCol="0">
            <a:spAutoFit/>
          </a:bodyPr>
          <a:lstStyle/>
          <a:p>
            <a:pPr algn="ctr"/>
            <a:r>
              <a:rPr lang="en-US" sz="1400">
                <a:latin typeface="Segoe UI Light" panose="020B0502040204020203" pitchFamily="34" charset="0"/>
                <a:cs typeface="Segoe UI Light" panose="020B0502040204020203" pitchFamily="34" charset="0"/>
              </a:rPr>
              <a:t>Inicio</a:t>
            </a:r>
            <a:endParaRPr lang="es-CO" sz="1400">
              <a:latin typeface="Segoe UI Light" panose="020B0502040204020203" pitchFamily="34" charset="0"/>
              <a:cs typeface="Segoe UI Light" panose="020B0502040204020203" pitchFamily="34" charset="0"/>
            </a:endParaRPr>
          </a:p>
        </p:txBody>
      </p:sp>
      <p:sp>
        <p:nvSpPr>
          <p:cNvPr id="12" name="7 CuadroTexto">
            <a:extLst>
              <a:ext uri="{FF2B5EF4-FFF2-40B4-BE49-F238E27FC236}">
                <a16:creationId xmlns:a16="http://schemas.microsoft.com/office/drawing/2014/main" id="{7989F388-E401-4942-8FCA-CA99F0E586CF}"/>
              </a:ext>
            </a:extLst>
          </p:cNvPr>
          <p:cNvSpPr txBox="1"/>
          <p:nvPr/>
        </p:nvSpPr>
        <p:spPr>
          <a:xfrm>
            <a:off x="8337827" y="1031468"/>
            <a:ext cx="1359768" cy="307777"/>
          </a:xfrm>
          <a:prstGeom prst="rect">
            <a:avLst/>
          </a:prstGeom>
          <a:noFill/>
        </p:spPr>
        <p:txBody>
          <a:bodyPr wrap="square" rtlCol="0">
            <a:spAutoFit/>
          </a:bodyPr>
          <a:lstStyle/>
          <a:p>
            <a:pPr algn="ctr"/>
            <a:r>
              <a:rPr lang="en-US" sz="1400">
                <a:latin typeface="Segoe UI Light" panose="020B0502040204020203" pitchFamily="34" charset="0"/>
                <a:cs typeface="Segoe UI Light" panose="020B0502040204020203" pitchFamily="34" charset="0"/>
              </a:rPr>
              <a:t>Entrega</a:t>
            </a:r>
            <a:endParaRPr lang="es-CO" sz="1400">
              <a:latin typeface="Segoe UI Light" panose="020B0502040204020203" pitchFamily="34" charset="0"/>
              <a:cs typeface="Segoe UI Light" panose="020B0502040204020203" pitchFamily="34" charset="0"/>
            </a:endParaRPr>
          </a:p>
        </p:txBody>
      </p:sp>
      <p:pic>
        <p:nvPicPr>
          <p:cNvPr id="10" name="Imagen 9">
            <a:extLst>
              <a:ext uri="{FF2B5EF4-FFF2-40B4-BE49-F238E27FC236}">
                <a16:creationId xmlns:a16="http://schemas.microsoft.com/office/drawing/2014/main" id="{AA6FDAFF-5DAF-48AE-85C4-6E168BA9125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561AC3CF-1F5F-43A3-845E-42A1B286BDD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Velocidad del flujo (</a:t>
            </a:r>
            <a:r>
              <a:rPr lang="es-ES" sz="800" dirty="0" err="1">
                <a:latin typeface="Segoe UI Light" panose="020B0502040204020203" pitchFamily="34" charset="0"/>
                <a:cs typeface="Segoe UI Light" panose="020B0502040204020203" pitchFamily="34" charset="0"/>
              </a:rPr>
              <a:t>Velocity</a:t>
            </a:r>
            <a:r>
              <a:rPr lang="es-ES" sz="800" dirty="0">
                <a:latin typeface="Segoe UI Light" panose="020B0502040204020203" pitchFamily="34" charset="0"/>
                <a:cs typeface="Segoe UI Light" panose="020B0502040204020203" pitchFamily="34" charset="0"/>
              </a:rPr>
              <a:t>)</a:t>
            </a:r>
          </a:p>
        </p:txBody>
      </p:sp>
    </p:spTree>
    <p:extLst>
      <p:ext uri="{BB962C8B-B14F-4D97-AF65-F5344CB8AC3E}">
        <p14:creationId xmlns:p14="http://schemas.microsoft.com/office/powerpoint/2010/main" val="429073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HCMC_Subtema_5_10Velocity v1_0">
            <a:hlinkClick r:id="" action="ppaction://media"/>
            <a:extLst>
              <a:ext uri="{FF2B5EF4-FFF2-40B4-BE49-F238E27FC236}">
                <a16:creationId xmlns:a16="http://schemas.microsoft.com/office/drawing/2014/main" id="{4F1EE54F-4456-4D7A-8B82-6FA226DABEC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320626"/>
            <a:ext cx="12192000" cy="5530850"/>
          </a:xfrm>
          <a:prstGeom prst="rect">
            <a:avLst/>
          </a:prstGeom>
        </p:spPr>
      </p:pic>
      <p:sp>
        <p:nvSpPr>
          <p:cNvPr id="8" name="7 CuadroTexto"/>
          <p:cNvSpPr txBox="1"/>
          <p:nvPr/>
        </p:nvSpPr>
        <p:spPr>
          <a:xfrm>
            <a:off x="3935598" y="589499"/>
            <a:ext cx="6264858" cy="338554"/>
          </a:xfrm>
          <a:prstGeom prst="rect">
            <a:avLst/>
          </a:prstGeom>
          <a:noFill/>
        </p:spPr>
        <p:txBody>
          <a:bodyPr wrap="square" rtlCol="0">
            <a:spAutoFit/>
          </a:bodyPr>
          <a:lstStyle/>
          <a:p>
            <a:r>
              <a:rPr lang="es-CO" sz="1600">
                <a:latin typeface="Segoe UI Light" panose="020B0502040204020203" pitchFamily="34" charset="0"/>
                <a:cs typeface="Segoe UI Light" panose="020B0502040204020203" pitchFamily="34" charset="0"/>
              </a:rPr>
              <a:t>Video de resultados utilizando renderizado horizontal.</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661525" y="1907307"/>
            <a:ext cx="360000" cy="360000"/>
          </a:xfrm>
          <a:prstGeom prst="rect">
            <a:avLst/>
          </a:prstGeom>
        </p:spPr>
      </p:pic>
      <p:pic>
        <p:nvPicPr>
          <p:cNvPr id="5" name="Imagen 4">
            <a:extLst>
              <a:ext uri="{FF2B5EF4-FFF2-40B4-BE49-F238E27FC236}">
                <a16:creationId xmlns:a16="http://schemas.microsoft.com/office/drawing/2014/main" id="{82D12ED8-595B-486A-84AC-9A724E0962AE}"/>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263352" y="4005064"/>
            <a:ext cx="1819077" cy="1958470"/>
          </a:xfrm>
          <a:prstGeom prst="rect">
            <a:avLst/>
          </a:prstGeom>
        </p:spPr>
      </p:pic>
      <p:pic>
        <p:nvPicPr>
          <p:cNvPr id="13" name="Imagen 12">
            <a:extLst>
              <a:ext uri="{FF2B5EF4-FFF2-40B4-BE49-F238E27FC236}">
                <a16:creationId xmlns:a16="http://schemas.microsoft.com/office/drawing/2014/main" id="{BBB07A83-C363-49EB-82A9-A5D3C4B0E89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15597" y="404664"/>
            <a:ext cx="720000" cy="720000"/>
          </a:xfrm>
          <a:prstGeom prst="rect">
            <a:avLst/>
          </a:prstGeom>
        </p:spPr>
      </p:pic>
      <p:pic>
        <p:nvPicPr>
          <p:cNvPr id="10" name="Imagen 9">
            <a:extLst>
              <a:ext uri="{FF2B5EF4-FFF2-40B4-BE49-F238E27FC236}">
                <a16:creationId xmlns:a16="http://schemas.microsoft.com/office/drawing/2014/main" id="{56B528B9-2796-4974-93B3-FCF519B35FF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E38DE969-D014-4727-8DE5-60E035B5036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Velocidad del flujo (</a:t>
            </a:r>
            <a:r>
              <a:rPr lang="es-ES" sz="800" dirty="0" err="1">
                <a:latin typeface="Segoe UI Light" panose="020B0502040204020203" pitchFamily="34" charset="0"/>
                <a:cs typeface="Segoe UI Light" panose="020B0502040204020203" pitchFamily="34" charset="0"/>
              </a:rPr>
              <a:t>Velocity</a:t>
            </a:r>
            <a:r>
              <a:rPr lang="es-ES" sz="800" dirty="0">
                <a:latin typeface="Segoe UI Light" panose="020B0502040204020203" pitchFamily="34" charset="0"/>
                <a:cs typeface="Segoe UI Light" panose="020B0502040204020203" pitchFamily="34" charset="0"/>
              </a:rPr>
              <a:t>)</a:t>
            </a:r>
          </a:p>
        </p:txBody>
      </p:sp>
    </p:spTree>
    <p:extLst>
      <p:ext uri="{BB962C8B-B14F-4D97-AF65-F5344CB8AC3E}">
        <p14:creationId xmlns:p14="http://schemas.microsoft.com/office/powerpoint/2010/main" val="101224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73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CMC_Subtema_5_10ParticleTracing v1_0">
            <a:hlinkClick r:id="" action="ppaction://media"/>
            <a:extLst>
              <a:ext uri="{FF2B5EF4-FFF2-40B4-BE49-F238E27FC236}">
                <a16:creationId xmlns:a16="http://schemas.microsoft.com/office/drawing/2014/main" id="{67B883FE-D0C1-4B45-A2A3-5D348571E81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324818"/>
            <a:ext cx="12192000" cy="5530850"/>
          </a:xfrm>
          <a:prstGeom prst="rect">
            <a:avLst/>
          </a:prstGeom>
        </p:spPr>
      </p:pic>
      <p:sp>
        <p:nvSpPr>
          <p:cNvPr id="8" name="7 CuadroTexto"/>
          <p:cNvSpPr txBox="1"/>
          <p:nvPr/>
        </p:nvSpPr>
        <p:spPr>
          <a:xfrm>
            <a:off x="3071584" y="386000"/>
            <a:ext cx="7272888" cy="83099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RAS Mapper permite además, la visualización de flechas de dirección de flujo y el segimiento de partículas para cualquier instante de tiempo. Esta opción no se encuentra disponible para envolventes de máximos o mínimos. </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14850" y="1928532"/>
            <a:ext cx="360000" cy="360000"/>
          </a:xfrm>
          <a:prstGeom prst="rect">
            <a:avLst/>
          </a:prstGeom>
        </p:spPr>
      </p:pic>
      <p:pic>
        <p:nvPicPr>
          <p:cNvPr id="13" name="Imagen 12">
            <a:extLst>
              <a:ext uri="{FF2B5EF4-FFF2-40B4-BE49-F238E27FC236}">
                <a16:creationId xmlns:a16="http://schemas.microsoft.com/office/drawing/2014/main" id="{FC116FFF-036D-4AB3-AABC-D88B8FA57F3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51584" y="404664"/>
            <a:ext cx="720000" cy="720000"/>
          </a:xfrm>
          <a:prstGeom prst="rect">
            <a:avLst/>
          </a:prstGeom>
        </p:spPr>
      </p:pic>
      <p:pic>
        <p:nvPicPr>
          <p:cNvPr id="10" name="Imagen 9">
            <a:extLst>
              <a:ext uri="{FF2B5EF4-FFF2-40B4-BE49-F238E27FC236}">
                <a16:creationId xmlns:a16="http://schemas.microsoft.com/office/drawing/2014/main" id="{38634492-B032-41AA-8B2A-2B31DE52A8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FCA9A24B-BF5C-49A2-A36D-5E87CA609B5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Velocidad del flujo (</a:t>
            </a:r>
            <a:r>
              <a:rPr lang="es-ES" sz="800" dirty="0" err="1">
                <a:latin typeface="Segoe UI Light" panose="020B0502040204020203" pitchFamily="34" charset="0"/>
                <a:cs typeface="Segoe UI Light" panose="020B0502040204020203" pitchFamily="34" charset="0"/>
              </a:rPr>
              <a:t>Velocity</a:t>
            </a:r>
            <a:r>
              <a:rPr lang="es-ES" sz="800" dirty="0">
                <a:latin typeface="Segoe UI Light" panose="020B0502040204020203" pitchFamily="34" charset="0"/>
                <a:cs typeface="Segoe UI Light" panose="020B0502040204020203" pitchFamily="34" charset="0"/>
              </a:rPr>
              <a:t>)</a:t>
            </a:r>
          </a:p>
        </p:txBody>
      </p:sp>
    </p:spTree>
    <p:extLst>
      <p:ext uri="{BB962C8B-B14F-4D97-AF65-F5344CB8AC3E}">
        <p14:creationId xmlns:p14="http://schemas.microsoft.com/office/powerpoint/2010/main" val="186408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31704" y="2628781"/>
            <a:ext cx="5328592"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5. Esfuerzo cortante (</a:t>
            </a:r>
            <a:r>
              <a:rPr lang="es-CO" dirty="0" err="1">
                <a:latin typeface="Segoe UI Light" panose="020B0502040204020203" pitchFamily="34" charset="0"/>
                <a:cs typeface="Segoe UI Light" panose="020B0502040204020203" pitchFamily="34" charset="0"/>
              </a:rPr>
              <a:t>Shear</a:t>
            </a:r>
            <a:r>
              <a:rPr lang="es-CO" dirty="0">
                <a:latin typeface="Segoe UI Light" panose="020B0502040204020203" pitchFamily="34" charset="0"/>
                <a:cs typeface="Segoe UI Light" panose="020B0502040204020203" pitchFamily="34" charset="0"/>
              </a:rPr>
              <a:t> Stress)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Corresponde al esfuerzo ejercido por el fluido en función de la profundidad de lámina de agua, el radio hidráulico y la pendiente de fricción.  Para sistema internacional de unidades se presenta en N/m².</a:t>
            </a:r>
          </a:p>
        </p:txBody>
      </p:sp>
      <p:pic>
        <p:nvPicPr>
          <p:cNvPr id="4" name="Imagen 3">
            <a:extLst>
              <a:ext uri="{FF2B5EF4-FFF2-40B4-BE49-F238E27FC236}">
                <a16:creationId xmlns:a16="http://schemas.microsoft.com/office/drawing/2014/main" id="{4FD30B05-F59A-4FCA-A431-5A46D44CA8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72619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4530106-C5A5-4C9D-953C-A6E4D59ADB4A}"/>
              </a:ext>
            </a:extLst>
          </p:cNvPr>
          <p:cNvPicPr>
            <a:picLocks noChangeAspect="1"/>
          </p:cNvPicPr>
          <p:nvPr/>
        </p:nvPicPr>
        <p:blipFill>
          <a:blip r:embed="rId3">
            <a:clrChange>
              <a:clrFrom>
                <a:srgbClr val="FFFFFF"/>
              </a:clrFrom>
              <a:clrTo>
                <a:srgbClr val="FFFFFF">
                  <a:alpha val="0"/>
                </a:srgbClr>
              </a:clrTo>
            </a:clrChange>
            <a:grayscl/>
          </a:blip>
          <a:stretch>
            <a:fillRect/>
          </a:stretch>
        </p:blipFill>
        <p:spPr>
          <a:xfrm>
            <a:off x="225318" y="2185987"/>
            <a:ext cx="3438525" cy="2486025"/>
          </a:xfrm>
          <a:prstGeom prst="rect">
            <a:avLst/>
          </a:prstGeom>
        </p:spPr>
      </p:pic>
      <p:sp>
        <p:nvSpPr>
          <p:cNvPr id="8" name="7 CuadroTexto"/>
          <p:cNvSpPr txBox="1"/>
          <p:nvPr/>
        </p:nvSpPr>
        <p:spPr>
          <a:xfrm>
            <a:off x="959726" y="548680"/>
            <a:ext cx="10272543" cy="1077218"/>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Por defecto, RAS Mapper incluye automáticamente los mapas de resultado relacionados con Profundidad, Elevación inversa y Velocidad. Para visualizar otros mapas adicionales, clic derecho en el grupo de resultados del plan tr2_33yr – </a:t>
            </a:r>
            <a:r>
              <a:rPr lang="es-CO" sz="1600" i="1">
                <a:latin typeface="Segoe UI Light" panose="020B0502040204020203" pitchFamily="34" charset="0"/>
                <a:cs typeface="Segoe UI Light" panose="020B0502040204020203" pitchFamily="34" charset="0"/>
              </a:rPr>
              <a:t>Add New Results Map Layer</a:t>
            </a:r>
            <a:r>
              <a:rPr lang="es-CO" sz="1600">
                <a:latin typeface="Segoe UI Light" panose="020B0502040204020203" pitchFamily="34" charset="0"/>
                <a:cs typeface="Segoe UI Light" panose="020B0502040204020203" pitchFamily="34" charset="0"/>
              </a:rPr>
              <a:t>… Seleccionar el mapa correspondiente al esfuerzo cortande y activar la casilla Maximum. En la ventana principal de visualización, activar y desactivar el mapa para recalcular el mapa requerido.</a:t>
            </a:r>
          </a:p>
        </p:txBody>
      </p:sp>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Esfuerzo cortante (</a:t>
            </a:r>
            <a:r>
              <a:rPr lang="es-ES" sz="800" dirty="0" err="1">
                <a:latin typeface="Segoe UI Light" panose="020B0502040204020203" pitchFamily="34" charset="0"/>
                <a:cs typeface="Segoe UI Light" panose="020B0502040204020203" pitchFamily="34" charset="0"/>
              </a:rPr>
              <a:t>Shear</a:t>
            </a:r>
            <a:r>
              <a:rPr lang="es-ES" sz="800" dirty="0">
                <a:latin typeface="Segoe UI Light" panose="020B0502040204020203" pitchFamily="34" charset="0"/>
                <a:cs typeface="Segoe UI Light" panose="020B0502040204020203" pitchFamily="34" charset="0"/>
              </a:rPr>
              <a:t> Stress)</a:t>
            </a:r>
          </a:p>
        </p:txBody>
      </p:sp>
      <p:pic>
        <p:nvPicPr>
          <p:cNvPr id="16" name="Imagen 15">
            <a:extLst>
              <a:ext uri="{FF2B5EF4-FFF2-40B4-BE49-F238E27FC236}">
                <a16:creationId xmlns:a16="http://schemas.microsoft.com/office/drawing/2014/main" id="{12CEE014-CEB3-4B4D-A58C-3DA90F1579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1938" y="2636912"/>
            <a:ext cx="360000" cy="360000"/>
          </a:xfrm>
          <a:prstGeom prst="rect">
            <a:avLst/>
          </a:prstGeom>
        </p:spPr>
      </p:pic>
      <p:pic>
        <p:nvPicPr>
          <p:cNvPr id="5" name="Imagen 4">
            <a:extLst>
              <a:ext uri="{FF2B5EF4-FFF2-40B4-BE49-F238E27FC236}">
                <a16:creationId xmlns:a16="http://schemas.microsoft.com/office/drawing/2014/main" id="{A0EDA865-3C36-488D-855D-DD771224D5C7}"/>
              </a:ext>
            </a:extLst>
          </p:cNvPr>
          <p:cNvPicPr>
            <a:picLocks noChangeAspect="1"/>
          </p:cNvPicPr>
          <p:nvPr/>
        </p:nvPicPr>
        <p:blipFill>
          <a:blip r:embed="rId5">
            <a:grayscl/>
          </a:blip>
          <a:stretch>
            <a:fillRect/>
          </a:stretch>
        </p:blipFill>
        <p:spPr>
          <a:xfrm>
            <a:off x="3822873" y="2185987"/>
            <a:ext cx="8105775" cy="3657600"/>
          </a:xfrm>
          <a:prstGeom prst="rect">
            <a:avLst/>
          </a:prstGeom>
        </p:spPr>
      </p:pic>
      <p:pic>
        <p:nvPicPr>
          <p:cNvPr id="17" name="Imagen 16">
            <a:extLst>
              <a:ext uri="{FF2B5EF4-FFF2-40B4-BE49-F238E27FC236}">
                <a16:creationId xmlns:a16="http://schemas.microsoft.com/office/drawing/2014/main" id="{999AD694-3710-4595-A6CC-5C4946A1FB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83358" y="4014787"/>
            <a:ext cx="360000" cy="360000"/>
          </a:xfrm>
          <a:prstGeom prst="rect">
            <a:avLst/>
          </a:prstGeom>
        </p:spPr>
      </p:pic>
      <p:pic>
        <p:nvPicPr>
          <p:cNvPr id="18" name="Imagen 17">
            <a:extLst>
              <a:ext uri="{FF2B5EF4-FFF2-40B4-BE49-F238E27FC236}">
                <a16:creationId xmlns:a16="http://schemas.microsoft.com/office/drawing/2014/main" id="{ABBC719C-F141-47B3-8960-71D06E50A3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31185" y="2706082"/>
            <a:ext cx="360000" cy="360000"/>
          </a:xfrm>
          <a:prstGeom prst="rect">
            <a:avLst/>
          </a:prstGeom>
        </p:spPr>
      </p:pic>
      <p:pic>
        <p:nvPicPr>
          <p:cNvPr id="19" name="Imagen 18">
            <a:extLst>
              <a:ext uri="{FF2B5EF4-FFF2-40B4-BE49-F238E27FC236}">
                <a16:creationId xmlns:a16="http://schemas.microsoft.com/office/drawing/2014/main" id="{F6A70A90-5CBD-4E7F-B925-CAC1D98E7A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5544" y="3783699"/>
            <a:ext cx="360000" cy="360000"/>
          </a:xfrm>
          <a:prstGeom prst="rect">
            <a:avLst/>
          </a:prstGeom>
        </p:spPr>
      </p:pic>
      <p:pic>
        <p:nvPicPr>
          <p:cNvPr id="11" name="Imagen 10">
            <a:extLst>
              <a:ext uri="{FF2B5EF4-FFF2-40B4-BE49-F238E27FC236}">
                <a16:creationId xmlns:a16="http://schemas.microsoft.com/office/drawing/2014/main" id="{9FCF0F36-4D0F-44D4-A4FF-B54C88E0BC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259309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07F4178-169C-41D1-B124-CF484FF5D391}"/>
              </a:ext>
            </a:extLst>
          </p:cNvPr>
          <p:cNvPicPr>
            <a:picLocks noChangeAspect="1"/>
          </p:cNvPicPr>
          <p:nvPr/>
        </p:nvPicPr>
        <p:blipFill>
          <a:blip r:embed="rId3">
            <a:clrChange>
              <a:clrFrom>
                <a:srgbClr val="FFFFFF"/>
              </a:clrFrom>
              <a:clrTo>
                <a:srgbClr val="FFFFFF">
                  <a:alpha val="0"/>
                </a:srgbClr>
              </a:clrTo>
            </a:clrChange>
            <a:grayscl/>
          </a:blip>
          <a:stretch>
            <a:fillRect/>
          </a:stretch>
        </p:blipFill>
        <p:spPr>
          <a:xfrm>
            <a:off x="1127448" y="2379804"/>
            <a:ext cx="3562350" cy="2628900"/>
          </a:xfrm>
          <a:prstGeom prst="rect">
            <a:avLst/>
          </a:prstGeom>
        </p:spPr>
      </p:pic>
      <p:sp>
        <p:nvSpPr>
          <p:cNvPr id="8" name="7 CuadroTexto"/>
          <p:cNvSpPr txBox="1"/>
          <p:nvPr/>
        </p:nvSpPr>
        <p:spPr>
          <a:xfrm>
            <a:off x="959726" y="746120"/>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Opcionalmente podrá agregar o modificar multiples mapas de resultados para cualquier plan ejecutado. Clic derecho en el plan tr2_33yr – Manage Results Map Layers…</a:t>
            </a:r>
          </a:p>
        </p:txBody>
      </p:sp>
      <p:pic>
        <p:nvPicPr>
          <p:cNvPr id="16" name="Imagen 15">
            <a:extLst>
              <a:ext uri="{FF2B5EF4-FFF2-40B4-BE49-F238E27FC236}">
                <a16:creationId xmlns:a16="http://schemas.microsoft.com/office/drawing/2014/main" id="{12CEE014-CEB3-4B4D-A58C-3DA90F1579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5280" y="2826710"/>
            <a:ext cx="360000" cy="360000"/>
          </a:xfrm>
          <a:prstGeom prst="rect">
            <a:avLst/>
          </a:prstGeom>
        </p:spPr>
      </p:pic>
      <p:pic>
        <p:nvPicPr>
          <p:cNvPr id="13" name="Imagen 12">
            <a:extLst>
              <a:ext uri="{FF2B5EF4-FFF2-40B4-BE49-F238E27FC236}">
                <a16:creationId xmlns:a16="http://schemas.microsoft.com/office/drawing/2014/main" id="{E25474EE-509E-49CB-AD9F-CBBCDB587F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29798" y="4396028"/>
            <a:ext cx="360000" cy="360000"/>
          </a:xfrm>
          <a:prstGeom prst="rect">
            <a:avLst/>
          </a:prstGeom>
        </p:spPr>
      </p:pic>
      <p:pic>
        <p:nvPicPr>
          <p:cNvPr id="4" name="Imagen 3">
            <a:extLst>
              <a:ext uri="{FF2B5EF4-FFF2-40B4-BE49-F238E27FC236}">
                <a16:creationId xmlns:a16="http://schemas.microsoft.com/office/drawing/2014/main" id="{FACD55EC-A6BA-4585-BC9A-80D17C6BA304}"/>
              </a:ext>
            </a:extLst>
          </p:cNvPr>
          <p:cNvPicPr>
            <a:picLocks noChangeAspect="1"/>
          </p:cNvPicPr>
          <p:nvPr/>
        </p:nvPicPr>
        <p:blipFill>
          <a:blip r:embed="rId5">
            <a:grayscl/>
          </a:blip>
          <a:stretch>
            <a:fillRect/>
          </a:stretch>
        </p:blipFill>
        <p:spPr>
          <a:xfrm>
            <a:off x="5303912" y="2604914"/>
            <a:ext cx="6010275" cy="2228850"/>
          </a:xfrm>
          <a:prstGeom prst="rect">
            <a:avLst/>
          </a:prstGeom>
        </p:spPr>
      </p:pic>
      <p:pic>
        <p:nvPicPr>
          <p:cNvPr id="20" name="Imagen 19">
            <a:extLst>
              <a:ext uri="{FF2B5EF4-FFF2-40B4-BE49-F238E27FC236}">
                <a16:creationId xmlns:a16="http://schemas.microsoft.com/office/drawing/2014/main" id="{FC388C22-3623-42B9-9D53-4EA6A1A2DB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70515" y="3087579"/>
            <a:ext cx="360000" cy="360000"/>
          </a:xfrm>
          <a:prstGeom prst="rect">
            <a:avLst/>
          </a:prstGeom>
        </p:spPr>
      </p:pic>
      <p:pic>
        <p:nvPicPr>
          <p:cNvPr id="21" name="Imagen 20">
            <a:extLst>
              <a:ext uri="{FF2B5EF4-FFF2-40B4-BE49-F238E27FC236}">
                <a16:creationId xmlns:a16="http://schemas.microsoft.com/office/drawing/2014/main" id="{3ADCB94F-4873-4554-8FFD-21230461C5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32504" y="3514254"/>
            <a:ext cx="360000" cy="360000"/>
          </a:xfrm>
          <a:prstGeom prst="rect">
            <a:avLst/>
          </a:prstGeom>
        </p:spPr>
      </p:pic>
      <p:pic>
        <p:nvPicPr>
          <p:cNvPr id="11" name="Imagen 10">
            <a:extLst>
              <a:ext uri="{FF2B5EF4-FFF2-40B4-BE49-F238E27FC236}">
                <a16:creationId xmlns:a16="http://schemas.microsoft.com/office/drawing/2014/main" id="{718FC950-D763-4ABB-BC9A-901AADD614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E4D2445C-DBCB-4367-A202-C6096CFB802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Esfuerzo cortante (</a:t>
            </a:r>
            <a:r>
              <a:rPr lang="es-ES" sz="800" dirty="0" err="1">
                <a:latin typeface="Segoe UI Light" panose="020B0502040204020203" pitchFamily="34" charset="0"/>
                <a:cs typeface="Segoe UI Light" panose="020B0502040204020203" pitchFamily="34" charset="0"/>
              </a:rPr>
              <a:t>Shear</a:t>
            </a:r>
            <a:r>
              <a:rPr lang="es-ES" sz="800" dirty="0">
                <a:latin typeface="Segoe UI Light" panose="020B0502040204020203" pitchFamily="34" charset="0"/>
                <a:cs typeface="Segoe UI Light" panose="020B0502040204020203" pitchFamily="34" charset="0"/>
              </a:rPr>
              <a:t> Stress)</a:t>
            </a:r>
          </a:p>
        </p:txBody>
      </p:sp>
    </p:spTree>
    <p:extLst>
      <p:ext uri="{BB962C8B-B14F-4D97-AF65-F5344CB8AC3E}">
        <p14:creationId xmlns:p14="http://schemas.microsoft.com/office/powerpoint/2010/main" val="2886323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25FC49D-11D5-43B9-A394-A3D055C2A88E}"/>
              </a:ext>
            </a:extLst>
          </p:cNvPr>
          <p:cNvPicPr>
            <a:picLocks noChangeAspect="1"/>
          </p:cNvPicPr>
          <p:nvPr/>
        </p:nvPicPr>
        <p:blipFill>
          <a:blip r:embed="rId3"/>
          <a:stretch>
            <a:fillRect/>
          </a:stretch>
        </p:blipFill>
        <p:spPr>
          <a:xfrm>
            <a:off x="0" y="1331206"/>
            <a:ext cx="12192000" cy="5529795"/>
          </a:xfrm>
          <a:prstGeom prst="rect">
            <a:avLst/>
          </a:prstGeom>
        </p:spPr>
      </p:pic>
      <p:sp>
        <p:nvSpPr>
          <p:cNvPr id="8" name="7 CuadroTexto"/>
          <p:cNvSpPr txBox="1"/>
          <p:nvPr/>
        </p:nvSpPr>
        <p:spPr>
          <a:xfrm>
            <a:off x="959726" y="620688"/>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Para la visualización correcta de los resultados dentro de los valores mínimos y máximos de cortante obtenido,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8741" y="3126150"/>
            <a:ext cx="360000" cy="360000"/>
          </a:xfrm>
          <a:prstGeom prst="rect">
            <a:avLst/>
          </a:prstGeom>
        </p:spPr>
      </p:pic>
      <p:pic>
        <p:nvPicPr>
          <p:cNvPr id="10" name="Imagen 9">
            <a:extLst>
              <a:ext uri="{FF2B5EF4-FFF2-40B4-BE49-F238E27FC236}">
                <a16:creationId xmlns:a16="http://schemas.microsoft.com/office/drawing/2014/main" id="{0AD904B4-725D-4C01-8649-94E2CCF376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65DD6AE7-EF14-4DFD-A716-F9626F6DF9A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Esfuerzo cortante (</a:t>
            </a:r>
            <a:r>
              <a:rPr lang="es-ES" sz="800" dirty="0" err="1">
                <a:latin typeface="Segoe UI Light" panose="020B0502040204020203" pitchFamily="34" charset="0"/>
                <a:cs typeface="Segoe UI Light" panose="020B0502040204020203" pitchFamily="34" charset="0"/>
              </a:rPr>
              <a:t>Shear</a:t>
            </a:r>
            <a:r>
              <a:rPr lang="es-ES" sz="800" dirty="0">
                <a:latin typeface="Segoe UI Light" panose="020B0502040204020203" pitchFamily="34" charset="0"/>
                <a:cs typeface="Segoe UI Light" panose="020B0502040204020203" pitchFamily="34" charset="0"/>
              </a:rPr>
              <a:t> Stress)</a:t>
            </a:r>
          </a:p>
        </p:txBody>
      </p:sp>
    </p:spTree>
    <p:extLst>
      <p:ext uri="{BB962C8B-B14F-4D97-AF65-F5344CB8AC3E}">
        <p14:creationId xmlns:p14="http://schemas.microsoft.com/office/powerpoint/2010/main" val="711814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43672" y="2382559"/>
            <a:ext cx="5904656" cy="209288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6. Número de </a:t>
            </a:r>
            <a:r>
              <a:rPr lang="es-CO" dirty="0" err="1">
                <a:latin typeface="Segoe UI Light" panose="020B0502040204020203" pitchFamily="34" charset="0"/>
                <a:cs typeface="Segoe UI Light" panose="020B0502040204020203" pitchFamily="34" charset="0"/>
              </a:rPr>
              <a:t>Courant</a:t>
            </a:r>
            <a:endParaRPr lang="es-CO"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Valor adimensional que representa </a:t>
            </a:r>
            <a:r>
              <a:rPr lang="en-US" sz="1600" dirty="0">
                <a:latin typeface="Segoe UI Light" panose="020B0502040204020203" pitchFamily="34" charset="0"/>
                <a:cs typeface="Segoe UI Light" panose="020B0502040204020203" pitchFamily="34" charset="0"/>
              </a:rPr>
              <a:t>el </a:t>
            </a:r>
            <a:r>
              <a:rPr lang="en-US" sz="1600" dirty="0" err="1">
                <a:latin typeface="Segoe UI Light" panose="020B0502040204020203" pitchFamily="34" charset="0"/>
                <a:cs typeface="Segoe UI Light" panose="020B0502040204020203" pitchFamily="34" charset="0"/>
              </a:rPr>
              <a:t>criterio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evaluar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espaciamento</a:t>
            </a:r>
            <a:r>
              <a:rPr lang="en-US" sz="1600" dirty="0">
                <a:latin typeface="Segoe UI Light" panose="020B0502040204020203" pitchFamily="34" charset="0"/>
                <a:cs typeface="Segoe UI Light" panose="020B0502040204020203" pitchFamily="34" charset="0"/>
              </a:rPr>
              <a:t> entre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o el </a:t>
            </a:r>
            <a:r>
              <a:rPr lang="en-US" sz="1600" dirty="0" err="1">
                <a:latin typeface="Segoe UI Light" panose="020B0502040204020203" pitchFamily="34" charset="0"/>
                <a:cs typeface="Segoe UI Light" panose="020B0502040204020203" pitchFamily="34" charset="0"/>
              </a:rPr>
              <a:t>tamaño</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y la </a:t>
            </a:r>
            <a:r>
              <a:rPr lang="en-US" sz="1600" dirty="0" err="1">
                <a:latin typeface="Segoe UI Light" panose="020B0502040204020203" pitchFamily="34" charset="0"/>
                <a:cs typeface="Segoe UI Light" panose="020B0502040204020203" pitchFamily="34" charset="0"/>
              </a:rPr>
              <a:t>velocidad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general, el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debe ser </a:t>
            </a:r>
            <a:r>
              <a:rPr lang="en-US" sz="1600" dirty="0" err="1">
                <a:latin typeface="Segoe UI Light" panose="020B0502040204020203" pitchFamily="34" charset="0"/>
                <a:cs typeface="Segoe UI Light" panose="020B0502040204020203" pitchFamily="34" charset="0"/>
              </a:rPr>
              <a:t>igual</a:t>
            </a:r>
            <a:r>
              <a:rPr lang="en-US" sz="1600" dirty="0">
                <a:latin typeface="Segoe UI Light" panose="020B0502040204020203" pitchFamily="34" charset="0"/>
                <a:cs typeface="Segoe UI Light" panose="020B0502040204020203" pitchFamily="34" charset="0"/>
              </a:rPr>
              <a:t> o inferior al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que el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necesita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moverse</a:t>
            </a:r>
            <a:r>
              <a:rPr lang="en-US" sz="1600" dirty="0">
                <a:latin typeface="Segoe UI Light" panose="020B0502040204020203" pitchFamily="34" charset="0"/>
                <a:cs typeface="Segoe UI Light" panose="020B0502040204020203" pitchFamily="34" charset="0"/>
              </a:rPr>
              <a:t> de una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o de una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otra</a:t>
            </a:r>
            <a:r>
              <a:rPr lang="en-US" sz="1600" dirty="0">
                <a:latin typeface="Segoe UI Light" panose="020B0502040204020203" pitchFamily="34" charset="0"/>
                <a:cs typeface="Segoe UI Light" panose="020B0502040204020203" pitchFamily="34" charset="0"/>
              </a:rPr>
              <a:t>. </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7FC35E0C-7696-4A14-93D0-E3CA627E18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445329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8AF5F45-1BDE-421C-8D99-F70863A422E7}"/>
              </a:ext>
            </a:extLst>
          </p:cNvPr>
          <p:cNvPicPr>
            <a:picLocks noChangeAspect="1"/>
          </p:cNvPicPr>
          <p:nvPr/>
        </p:nvPicPr>
        <p:blipFill>
          <a:blip r:embed="rId3"/>
          <a:stretch>
            <a:fillRect/>
          </a:stretch>
        </p:blipFill>
        <p:spPr>
          <a:xfrm>
            <a:off x="0" y="1330102"/>
            <a:ext cx="12192000" cy="5529795"/>
          </a:xfrm>
          <a:prstGeom prst="rect">
            <a:avLst/>
          </a:prstGeom>
        </p:spPr>
      </p:pic>
      <p:sp>
        <p:nvSpPr>
          <p:cNvPr id="8" name="7 CuadroTexto"/>
          <p:cNvSpPr txBox="1"/>
          <p:nvPr/>
        </p:nvSpPr>
        <p:spPr>
          <a:xfrm>
            <a:off x="959728" y="552663"/>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3552" y="3249000"/>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6. Número de </a:t>
            </a:r>
            <a:r>
              <a:rPr lang="es-CO" sz="800" dirty="0" err="1">
                <a:latin typeface="Segoe UI Light" panose="020B0502040204020203" pitchFamily="34" charset="0"/>
                <a:cs typeface="Segoe UI Light" panose="020B0502040204020203" pitchFamily="34" charset="0"/>
              </a:rPr>
              <a:t>Courant</a:t>
            </a:r>
            <a:endParaRPr lang="es-CO" sz="8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353F2580-55D2-44FC-8136-5354FF37441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654232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811524" y="980728"/>
            <a:ext cx="8568952" cy="504753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7. Número de Froude</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Representa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relación</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fuerzas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gravitacionales</a:t>
            </a:r>
            <a:r>
              <a:rPr lang="en-US" sz="1600" dirty="0">
                <a:latin typeface="Segoe UI Light" panose="020B0502040204020203" pitchFamily="34" charset="0"/>
                <a:cs typeface="Segoe UI Light" panose="020B0502040204020203" pitchFamily="34" charset="0"/>
              </a:rPr>
              <a:t> entre las </a:t>
            </a:r>
            <a:r>
              <a:rPr lang="en-US" sz="1600" dirty="0" err="1">
                <a:latin typeface="Segoe UI Light" panose="020B0502040204020203" pitchFamily="34" charset="0"/>
                <a:cs typeface="Segoe UI Light" panose="020B0502040204020203" pitchFamily="34" charset="0"/>
              </a:rPr>
              <a:t>fuerzas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inerciales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revisar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preliminarmente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tipo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régimen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ocurre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diferentes</a:t>
            </a:r>
            <a:r>
              <a:rPr lang="en-US" sz="1600" dirty="0">
                <a:latin typeface="Segoe UI Light" panose="020B0502040204020203" pitchFamily="34" charset="0"/>
                <a:cs typeface="Segoe UI Light" panose="020B0502040204020203" pitchFamily="34" charset="0"/>
              </a:rPr>
              <a:t> zonas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HEC-RAS </a:t>
            </a:r>
            <a:r>
              <a:rPr lang="en-US" sz="1600" dirty="0" err="1">
                <a:latin typeface="Segoe UI Light" panose="020B0502040204020203" pitchFamily="34" charset="0"/>
                <a:cs typeface="Segoe UI Light" panose="020B0502040204020203" pitchFamily="34" charset="0"/>
              </a:rPr>
              <a:t>calcula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valor para la zona del canal principal y para la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cualquiera</a:t>
            </a:r>
            <a:r>
              <a:rPr lang="en-US" sz="1600" dirty="0">
                <a:latin typeface="Segoe UI Light" panose="020B0502040204020203" pitchFamily="34" charset="0"/>
                <a:cs typeface="Segoe UI Light" panose="020B0502040204020203" pitchFamily="34" charset="0"/>
              </a:rPr>
              <a:t> de los dos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calculados</a:t>
            </a:r>
            <a:r>
              <a:rPr lang="en-US" sz="1600" dirty="0">
                <a:latin typeface="Segoe UI Light" panose="020B0502040204020203" pitchFamily="34" charset="0"/>
                <a:cs typeface="Segoe UI Light" panose="020B0502040204020203" pitchFamily="34" charset="0"/>
              </a:rPr>
              <a:t> es mayor que 0.94, el </a:t>
            </a:r>
            <a:r>
              <a:rPr lang="en-US" sz="1600" dirty="0" err="1">
                <a:latin typeface="Segoe UI Light" panose="020B0502040204020203" pitchFamily="34" charset="0"/>
                <a:cs typeface="Segoe UI Light" panose="020B0502040204020203" pitchFamily="34" charset="0"/>
              </a:rPr>
              <a:t>programa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automáticamente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verifica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régimen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obtener</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mejor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aproximación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crítica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usando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método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energía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específica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mínima</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Según su valor, el flujo puede ser clasificado como subcrítico, crítico o supercrítico. F &lt; 1: Flujo subcrítico, F = 1: Flujo crítico, F &gt; 1: Flujo supercrítico. En la ecuación, V: Velocidad media del flujo en la sección, g: Aceleración de la gravedad, D: Profundidad hidráulica D = A / T, A: Área de la sección, T: Ancho superficial, ɑ:Factor de corrección de la energía cinética o coeficiente de Coriolis, Cos θ: Corrector de la energía potencial debida al ángulo de la pendiente del fondo, θ: Ángulo de inclinación del fondo en grados. </a:t>
            </a:r>
          </a:p>
        </p:txBody>
      </p:sp>
      <p:pic>
        <p:nvPicPr>
          <p:cNvPr id="1026" name="Picture 2" descr="http://localhost/R_CFD/pic/keyword/144.png">
            <a:extLst>
              <a:ext uri="{FF2B5EF4-FFF2-40B4-BE49-F238E27FC236}">
                <a16:creationId xmlns:a16="http://schemas.microsoft.com/office/drawing/2014/main" id="{E0CFCB2E-B8A4-4D41-99BA-CFC4135F69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33230" y="3227739"/>
            <a:ext cx="3325540" cy="83340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FBD81D49-FBFE-470D-91B2-0AC089BC61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7056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58352F5-D265-4010-8C92-4375BE4D76AC}"/>
              </a:ext>
            </a:extLst>
          </p:cNvPr>
          <p:cNvPicPr>
            <a:picLocks noChangeAspect="1"/>
          </p:cNvPicPr>
          <p:nvPr/>
        </p:nvPicPr>
        <p:blipFill>
          <a:blip r:embed="rId3"/>
          <a:stretch>
            <a:fillRect/>
          </a:stretch>
        </p:blipFill>
        <p:spPr>
          <a:xfrm>
            <a:off x="0" y="1331206"/>
            <a:ext cx="12192000" cy="5529795"/>
          </a:xfrm>
          <a:prstGeom prst="rect">
            <a:avLst/>
          </a:prstGeom>
        </p:spPr>
      </p:pic>
      <p:sp>
        <p:nvSpPr>
          <p:cNvPr id="8" name="7 CuadroTexto"/>
          <p:cNvSpPr txBox="1"/>
          <p:nvPr/>
        </p:nvSpPr>
        <p:spPr>
          <a:xfrm>
            <a:off x="479376" y="457622"/>
            <a:ext cx="11233248" cy="83099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Como se observa en la zona central del canal, los valores obtenidos son menores NF </a:t>
            </a:r>
            <a:r>
              <a:rPr lang="en-US" sz="1600">
                <a:latin typeface="Segoe UI Light" panose="020B0502040204020203" pitchFamily="34" charset="0"/>
                <a:cs typeface="Segoe UI Light" panose="020B0502040204020203" pitchFamily="34" charset="0"/>
              </a:rPr>
              <a:t>&lt; 1, correspondiente a régimen de flujo subcrítico.</a:t>
            </a:r>
            <a:endParaRPr lang="es-CO" sz="160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3552" y="3356992"/>
            <a:ext cx="360000" cy="360000"/>
          </a:xfrm>
          <a:prstGeom prst="rect">
            <a:avLst/>
          </a:prstGeom>
        </p:spPr>
      </p:pic>
      <p:sp>
        <p:nvSpPr>
          <p:cNvPr id="12" name="1 Título">
            <a:extLst>
              <a:ext uri="{FF2B5EF4-FFF2-40B4-BE49-F238E27FC236}">
                <a16:creationId xmlns:a16="http://schemas.microsoft.com/office/drawing/2014/main" id="{EC3EF740-EDE5-4915-B45A-3D6D6AF30F7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7. Número de Froude</a:t>
            </a:r>
          </a:p>
        </p:txBody>
      </p:sp>
      <p:pic>
        <p:nvPicPr>
          <p:cNvPr id="10" name="Imagen 9">
            <a:extLst>
              <a:ext uri="{FF2B5EF4-FFF2-40B4-BE49-F238E27FC236}">
                <a16:creationId xmlns:a16="http://schemas.microsoft.com/office/drawing/2014/main" id="{3A5E8181-BA70-44BE-B714-5169C3139C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66208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24681" y="2613392"/>
            <a:ext cx="5742638" cy="163121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8. Porcentaje de tiempo inundado</a:t>
            </a:r>
          </a:p>
          <a:p>
            <a:pPr algn="ct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Percent</a:t>
            </a:r>
            <a:r>
              <a:rPr lang="es-CO" dirty="0">
                <a:latin typeface="Segoe UI Light" panose="020B0502040204020203" pitchFamily="34" charset="0"/>
                <a:cs typeface="Segoe UI Light" panose="020B0502040204020203" pitchFamily="34" charset="0"/>
              </a:rPr>
              <a:t> time </a:t>
            </a:r>
            <a:r>
              <a:rPr lang="es-CO" dirty="0" err="1">
                <a:latin typeface="Segoe UI Light" panose="020B0502040204020203" pitchFamily="34" charset="0"/>
                <a:cs typeface="Segoe UI Light" panose="020B0502040204020203" pitchFamily="34" charset="0"/>
              </a:rPr>
              <a:t>inundated</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Este mapa r</a:t>
            </a:r>
            <a:r>
              <a:rPr lang="en-US" sz="1600" dirty="0" err="1">
                <a:latin typeface="Segoe UI Light" panose="020B0502040204020203" pitchFamily="34" charset="0"/>
                <a:cs typeface="Segoe UI Light" panose="020B0502040204020203" pitchFamily="34" charset="0"/>
              </a:rPr>
              <a:t>epresenta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cantidad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que el </a:t>
            </a:r>
            <a:r>
              <a:rPr lang="en-US" sz="1600" dirty="0" err="1">
                <a:latin typeface="Segoe UI Light" panose="020B0502040204020203" pitchFamily="34" charset="0"/>
                <a:cs typeface="Segoe UI Light" panose="020B0502040204020203" pitchFamily="34" charset="0"/>
              </a:rPr>
              <a:t>área</a:t>
            </a:r>
            <a:r>
              <a:rPr lang="en-US" sz="1600" dirty="0">
                <a:latin typeface="Segoe UI Light" panose="020B0502040204020203" pitchFamily="34" charset="0"/>
                <a:cs typeface="Segoe UI Light" panose="020B0502040204020203" pitchFamily="34" charset="0"/>
              </a:rPr>
              <a:t> o la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inundada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porcentaje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total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125FC936-0662-4808-BB29-04FAC4FD16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373552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7057BAA-4C58-48A2-97AB-F2ECA70999B6}"/>
              </a:ext>
            </a:extLst>
          </p:cNvPr>
          <p:cNvPicPr>
            <a:picLocks noChangeAspect="1"/>
          </p:cNvPicPr>
          <p:nvPr/>
        </p:nvPicPr>
        <p:blipFill>
          <a:blip r:embed="rId3"/>
          <a:stretch>
            <a:fillRect/>
          </a:stretch>
        </p:blipFill>
        <p:spPr>
          <a:xfrm>
            <a:off x="0" y="1303488"/>
            <a:ext cx="12192000" cy="5557513"/>
          </a:xfrm>
          <a:prstGeom prst="rect">
            <a:avLst/>
          </a:prstGeom>
        </p:spPr>
      </p:pic>
      <p:sp>
        <p:nvSpPr>
          <p:cNvPr id="8" name="7 CuadroTexto"/>
          <p:cNvSpPr txBox="1"/>
          <p:nvPr/>
        </p:nvSpPr>
        <p:spPr>
          <a:xfrm>
            <a:off x="479376" y="437763"/>
            <a:ext cx="11233248" cy="83099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r>
              <a:rPr lang="en-US" sz="1600">
                <a:latin typeface="Segoe UI Light" panose="020B0502040204020203" pitchFamily="34" charset="0"/>
                <a:cs typeface="Segoe UI Light" panose="020B0502040204020203" pitchFamily="34" charset="0"/>
              </a:rPr>
              <a:t>Para visualizar correctamente este mapa, es necesario ejecutar la opción </a:t>
            </a:r>
            <a:r>
              <a:rPr lang="en-US" sz="1600" i="1">
                <a:latin typeface="Segoe UI Light" panose="020B0502040204020203" pitchFamily="34" charset="0"/>
                <a:cs typeface="Segoe UI Light" panose="020B0502040204020203" pitchFamily="34" charset="0"/>
              </a:rPr>
              <a:t>Compute/Update Sored Map (Map files up to date.)</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17293" y="4027376"/>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8. Porcentaje de tiempo inundado (</a:t>
            </a:r>
            <a:r>
              <a:rPr lang="es-ES" sz="800" dirty="0" err="1">
                <a:latin typeface="Segoe UI Light" panose="020B0502040204020203" pitchFamily="34" charset="0"/>
                <a:cs typeface="Segoe UI Light" panose="020B0502040204020203" pitchFamily="34" charset="0"/>
              </a:rPr>
              <a:t>Percent</a:t>
            </a:r>
            <a:r>
              <a:rPr lang="es-ES" sz="800" dirty="0">
                <a:latin typeface="Segoe UI Light" panose="020B0502040204020203" pitchFamily="34" charset="0"/>
                <a:cs typeface="Segoe UI Light" panose="020B0502040204020203" pitchFamily="34" charset="0"/>
              </a:rPr>
              <a:t> time </a:t>
            </a:r>
            <a:r>
              <a:rPr lang="es-ES" sz="800" dirty="0" err="1">
                <a:latin typeface="Segoe UI Light" panose="020B0502040204020203" pitchFamily="34" charset="0"/>
                <a:cs typeface="Segoe UI Light" panose="020B0502040204020203" pitchFamily="34" charset="0"/>
              </a:rPr>
              <a:t>inoundated</a:t>
            </a:r>
            <a:r>
              <a:rPr lang="es-ES"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E2E0E2CD-B41C-4C2D-893D-C737AD4381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745905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32693" y="2736502"/>
            <a:ext cx="5526614" cy="1384995"/>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9. Tiempo de permanencia del flujo</a:t>
            </a:r>
          </a:p>
          <a:p>
            <a:pPr algn="ctr"/>
            <a:r>
              <a:rPr lang="es-CO" dirty="0">
                <a:latin typeface="Segoe UI Light" panose="020B0502040204020203" pitchFamily="34" charset="0"/>
                <a:cs typeface="Segoe UI Light" panose="020B0502040204020203" pitchFamily="34" charset="0"/>
              </a:rPr>
              <a:t>(</a:t>
            </a:r>
            <a:r>
              <a:rPr lang="es-CO" dirty="0" err="1">
                <a:latin typeface="Segoe UI Light" panose="020B0502040204020203" pitchFamily="34" charset="0"/>
                <a:cs typeface="Segoe UI Light" panose="020B0502040204020203" pitchFamily="34" charset="0"/>
              </a:rPr>
              <a:t>Residence</a:t>
            </a:r>
            <a:r>
              <a:rPr lang="es-CO" dirty="0">
                <a:latin typeface="Segoe UI Light" panose="020B0502040204020203" pitchFamily="34" charset="0"/>
                <a:cs typeface="Segoe UI Light" panose="020B0502040204020203" pitchFamily="34" charset="0"/>
              </a:rPr>
              <a:t> time)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Este mapa r</a:t>
            </a:r>
            <a:r>
              <a:rPr lang="en-US" sz="1600" dirty="0" err="1">
                <a:latin typeface="Segoe UI Light" panose="020B0502040204020203" pitchFamily="34" charset="0"/>
                <a:cs typeface="Segoe UI Light" panose="020B0502040204020203" pitchFamily="34" charset="0"/>
              </a:rPr>
              <a:t>epresenta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de residencia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horas por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hasta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instante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(horas)</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D3D31C7-8952-47E3-B458-4D46EBBA1B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754985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1C6EB0C-CC9F-4D48-8D1E-648E3372C531}"/>
              </a:ext>
            </a:extLst>
          </p:cNvPr>
          <p:cNvPicPr>
            <a:picLocks noChangeAspect="1"/>
          </p:cNvPicPr>
          <p:nvPr/>
        </p:nvPicPr>
        <p:blipFill>
          <a:blip r:embed="rId3"/>
          <a:stretch>
            <a:fillRect/>
          </a:stretch>
        </p:blipFill>
        <p:spPr>
          <a:xfrm>
            <a:off x="0" y="1331206"/>
            <a:ext cx="12192000" cy="5529795"/>
          </a:xfrm>
          <a:prstGeom prst="rect">
            <a:avLst/>
          </a:prstGeom>
        </p:spPr>
      </p:pic>
      <p:sp>
        <p:nvSpPr>
          <p:cNvPr id="8" name="7 CuadroTexto"/>
          <p:cNvSpPr txBox="1"/>
          <p:nvPr/>
        </p:nvSpPr>
        <p:spPr>
          <a:xfrm>
            <a:off x="263352" y="286713"/>
            <a:ext cx="11665296" cy="1077218"/>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Como se observa en la zona de inicio central del canal, los valores obtenidos </a:t>
            </a:r>
            <a:r>
              <a:rPr lang="en-US" sz="1600">
                <a:latin typeface="Segoe UI Light" panose="020B0502040204020203" pitchFamily="34" charset="0"/>
                <a:cs typeface="Segoe UI Light" panose="020B0502040204020203" pitchFamily="34" charset="0"/>
              </a:rPr>
              <a:t>son cercanos a 10 horas, correspondiente a 1 hora más respecto al tiempo completo incluido en el hidrograma de entrada, cuyos pulsos corresponden a una duración acumulada de 9 horas.</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5560" y="3645024"/>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9. Tiempo de permanencia del flujo (</a:t>
            </a:r>
            <a:r>
              <a:rPr lang="es-ES" sz="800" dirty="0" err="1">
                <a:latin typeface="Segoe UI Light" panose="020B0502040204020203" pitchFamily="34" charset="0"/>
                <a:cs typeface="Segoe UI Light" panose="020B0502040204020203" pitchFamily="34" charset="0"/>
              </a:rPr>
              <a:t>Residence</a:t>
            </a:r>
            <a:r>
              <a:rPr lang="es-ES" sz="800" dirty="0">
                <a:latin typeface="Segoe UI Light" panose="020B0502040204020203" pitchFamily="34" charset="0"/>
                <a:cs typeface="Segoe UI Light" panose="020B0502040204020203" pitchFamily="34" charset="0"/>
              </a:rPr>
              <a:t> time)</a:t>
            </a:r>
          </a:p>
        </p:txBody>
      </p:sp>
      <p:pic>
        <p:nvPicPr>
          <p:cNvPr id="11" name="Imagen 10">
            <a:extLst>
              <a:ext uri="{FF2B5EF4-FFF2-40B4-BE49-F238E27FC236}">
                <a16:creationId xmlns:a16="http://schemas.microsoft.com/office/drawing/2014/main" id="{0720554D-3546-4434-A6EC-9F922C6E4B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99138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040160" y="2628781"/>
            <a:ext cx="6111679"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10. Profundidad x velocidad (Depth x </a:t>
            </a:r>
            <a:r>
              <a:rPr lang="es-CO" dirty="0" err="1">
                <a:latin typeface="Segoe UI Light" panose="020B0502040204020203" pitchFamily="34" charset="0"/>
                <a:cs typeface="Segoe UI Light" panose="020B0502040204020203" pitchFamily="34" charset="0"/>
              </a:rPr>
              <a:t>Velocity</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Este mapa r</a:t>
            </a:r>
            <a:r>
              <a:rPr lang="en-US" sz="1600" dirty="0" err="1">
                <a:latin typeface="Segoe UI Light" panose="020B0502040204020203" pitchFamily="34" charset="0"/>
                <a:cs typeface="Segoe UI Light" panose="020B0502040204020203" pitchFamily="34" charset="0"/>
              </a:rPr>
              <a:t>epresenta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capacidad</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producir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riesgo</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volcamiento</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arrastre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modelos</a:t>
            </a:r>
            <a:r>
              <a:rPr lang="en-US" sz="1600" dirty="0">
                <a:latin typeface="Segoe UI Light" panose="020B0502040204020203" pitchFamily="34" charset="0"/>
                <a:cs typeface="Segoe UI Light" panose="020B0502040204020203" pitchFamily="34" charset="0"/>
              </a:rPr>
              <a:t> 2D, la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multiplicada</a:t>
            </a:r>
            <a:r>
              <a:rPr lang="en-US" sz="1600" dirty="0">
                <a:latin typeface="Segoe UI Light" panose="020B0502040204020203" pitchFamily="34" charset="0"/>
                <a:cs typeface="Segoe UI Light" panose="020B0502040204020203" pitchFamily="34" charset="0"/>
              </a:rPr>
              <a:t> por la media de las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obtenidas</a:t>
            </a:r>
            <a:r>
              <a:rPr lang="en-US" sz="1600" dirty="0">
                <a:latin typeface="Segoe UI Light" panose="020B0502040204020203" pitchFamily="34" charset="0"/>
                <a:cs typeface="Segoe UI Light" panose="020B0502040204020203" pitchFamily="34" charset="0"/>
              </a:rPr>
              <a:t> a lo largo de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(m²/s)</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0955C510-E131-4466-BE3B-7F7EAEC0C5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4233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5CA3F8D-EBAE-4D0A-84B0-18B7650862E1}"/>
              </a:ext>
            </a:extLst>
          </p:cNvPr>
          <p:cNvPicPr>
            <a:picLocks noChangeAspect="1"/>
          </p:cNvPicPr>
          <p:nvPr/>
        </p:nvPicPr>
        <p:blipFill>
          <a:blip r:embed="rId3"/>
          <a:stretch>
            <a:fillRect/>
          </a:stretch>
        </p:blipFill>
        <p:spPr>
          <a:xfrm>
            <a:off x="0" y="1331206"/>
            <a:ext cx="12192000" cy="5529795"/>
          </a:xfrm>
          <a:prstGeom prst="rect">
            <a:avLst/>
          </a:prstGeom>
        </p:spPr>
      </p:pic>
      <p:sp>
        <p:nvSpPr>
          <p:cNvPr id="8" name="7 CuadroTexto"/>
          <p:cNvSpPr txBox="1"/>
          <p:nvPr/>
        </p:nvSpPr>
        <p:spPr>
          <a:xfrm>
            <a:off x="407368" y="274792"/>
            <a:ext cx="11233248" cy="1077218"/>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Se puede crear un mapa de valores máximos dando clic derecho en la capa – Edit Map Parameters – Maximum. Es necesario ejecutar la opción </a:t>
            </a:r>
            <a:r>
              <a:rPr lang="es-CO" sz="1600" i="1">
                <a:latin typeface="Segoe UI Light" panose="020B0502040204020203" pitchFamily="34" charset="0"/>
                <a:cs typeface="Segoe UI Light" panose="020B0502040204020203" pitchFamily="34" charset="0"/>
              </a:rPr>
              <a:t>Compute/Update</a:t>
            </a:r>
            <a:r>
              <a:rPr lang="es-CO" sz="1600">
                <a:latin typeface="Segoe UI Light" panose="020B0502040204020203" pitchFamily="34" charset="0"/>
                <a:cs typeface="Segoe UI Light" panose="020B0502040204020203" pitchFamily="34" charset="0"/>
              </a:rPr>
              <a:t> para recalcular los valores de la envolvente.</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0486" y="3768101"/>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10. Profundidad x velocidad (Depth x </a:t>
            </a:r>
            <a:r>
              <a:rPr lang="es-ES" sz="800" dirty="0" err="1">
                <a:latin typeface="Segoe UI Light" panose="020B0502040204020203" pitchFamily="34" charset="0"/>
                <a:cs typeface="Segoe UI Light" panose="020B0502040204020203" pitchFamily="34" charset="0"/>
              </a:rPr>
              <a:t>Velocity</a:t>
            </a:r>
            <a:r>
              <a:rPr lang="es-ES"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CB0BB390-4068-43D9-8467-B073571BC2E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66748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14146" y="2628781"/>
            <a:ext cx="6363707"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11. Profundidad x velocidad² (Depth x Velocity²)</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Este mapa r</a:t>
            </a:r>
            <a:r>
              <a:rPr lang="en-US" sz="1600" dirty="0" err="1">
                <a:latin typeface="Segoe UI Light" panose="020B0502040204020203" pitchFamily="34" charset="0"/>
                <a:cs typeface="Segoe UI Light" panose="020B0502040204020203" pitchFamily="34" charset="0"/>
              </a:rPr>
              <a:t>epresenta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capacidad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cambio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producir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riesgo</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volcamiento</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arrastre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modelos</a:t>
            </a:r>
            <a:r>
              <a:rPr lang="en-US" sz="1600" dirty="0">
                <a:latin typeface="Segoe UI Light" panose="020B0502040204020203" pitchFamily="34" charset="0"/>
                <a:cs typeface="Segoe UI Light" panose="020B0502040204020203" pitchFamily="34" charset="0"/>
              </a:rPr>
              <a:t> 2D, la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multiplicada</a:t>
            </a:r>
            <a:r>
              <a:rPr lang="en-US" sz="1600" dirty="0">
                <a:latin typeface="Segoe UI Light" panose="020B0502040204020203" pitchFamily="34" charset="0"/>
                <a:cs typeface="Segoe UI Light" panose="020B0502040204020203" pitchFamily="34" charset="0"/>
              </a:rPr>
              <a:t> por la media de las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obtenidas</a:t>
            </a:r>
            <a:r>
              <a:rPr lang="en-US" sz="1600" dirty="0">
                <a:latin typeface="Segoe UI Light" panose="020B0502040204020203" pitchFamily="34" charset="0"/>
                <a:cs typeface="Segoe UI Light" panose="020B0502040204020203" pitchFamily="34" charset="0"/>
              </a:rPr>
              <a:t> a lo largo de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(m³/s²)</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FFA5DCB5-A714-4EE9-8E86-CBF663AD8C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938006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47FC1EC-AB8F-4AD5-8555-86B8139C3C3D}"/>
              </a:ext>
            </a:extLst>
          </p:cNvPr>
          <p:cNvPicPr>
            <a:picLocks noChangeAspect="1"/>
          </p:cNvPicPr>
          <p:nvPr/>
        </p:nvPicPr>
        <p:blipFill>
          <a:blip r:embed="rId3"/>
          <a:stretch>
            <a:fillRect/>
          </a:stretch>
        </p:blipFill>
        <p:spPr>
          <a:xfrm>
            <a:off x="0" y="1426203"/>
            <a:ext cx="12192000" cy="5430606"/>
          </a:xfrm>
          <a:prstGeom prst="rect">
            <a:avLst/>
          </a:prstGeom>
        </p:spPr>
      </p:pic>
      <p:sp>
        <p:nvSpPr>
          <p:cNvPr id="8" name="7 CuadroTexto"/>
          <p:cNvSpPr txBox="1"/>
          <p:nvPr/>
        </p:nvSpPr>
        <p:spPr>
          <a:xfrm>
            <a:off x="959726" y="333703"/>
            <a:ext cx="10272543" cy="1077218"/>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Se puede crear un mapa de valores máximos dando clic derecho en la capa – Edit Map Parameters – Maximum. Es necesario ejecutar la opción </a:t>
            </a:r>
            <a:r>
              <a:rPr lang="es-CO" sz="1600" i="1">
                <a:latin typeface="Segoe UI Light" panose="020B0502040204020203" pitchFamily="34" charset="0"/>
                <a:cs typeface="Segoe UI Light" panose="020B0502040204020203" pitchFamily="34" charset="0"/>
              </a:rPr>
              <a:t>Compute/Update</a:t>
            </a:r>
            <a:r>
              <a:rPr lang="es-CO" sz="1600">
                <a:latin typeface="Segoe UI Light" panose="020B0502040204020203" pitchFamily="34" charset="0"/>
                <a:cs typeface="Segoe UI Light" panose="020B0502040204020203" pitchFamily="34" charset="0"/>
              </a:rPr>
              <a:t> para recalcular los valores de la envolvente.</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5196" y="4028181"/>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11. Profundidad x velocidad² (Depth x Velocity²)</a:t>
            </a:r>
          </a:p>
        </p:txBody>
      </p:sp>
      <p:pic>
        <p:nvPicPr>
          <p:cNvPr id="11" name="Imagen 10">
            <a:extLst>
              <a:ext uri="{FF2B5EF4-FFF2-40B4-BE49-F238E27FC236}">
                <a16:creationId xmlns:a16="http://schemas.microsoft.com/office/drawing/2014/main" id="{73F536E8-FDF2-48B3-B2CA-03D834A1AF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86646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96689" y="2505670"/>
            <a:ext cx="5598622" cy="1846659"/>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12. Tiempo de llegada (</a:t>
            </a:r>
            <a:r>
              <a:rPr lang="es-CO" dirty="0" err="1">
                <a:latin typeface="Segoe UI Light" panose="020B0502040204020203" pitchFamily="34" charset="0"/>
                <a:cs typeface="Segoe UI Light" panose="020B0502040204020203" pitchFamily="34" charset="0"/>
              </a:rPr>
              <a:t>Arrival</a:t>
            </a:r>
            <a:r>
              <a:rPr lang="es-CO" dirty="0">
                <a:latin typeface="Segoe UI Light" panose="020B0502040204020203" pitchFamily="34" charset="0"/>
                <a:cs typeface="Segoe UI Light" panose="020B0502040204020203" pitchFamily="34" charset="0"/>
              </a:rPr>
              <a:t> time)</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Calcula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horas o </a:t>
            </a:r>
            <a:r>
              <a:rPr lang="en-US" sz="1600" dirty="0" err="1">
                <a:latin typeface="Segoe UI Light" panose="020B0502040204020203" pitchFamily="34" charset="0"/>
                <a:cs typeface="Segoe UI Light" panose="020B0502040204020203" pitchFamily="34" charset="0"/>
              </a:rPr>
              <a:t>dias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cual</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excede</a:t>
            </a:r>
            <a:r>
              <a:rPr lang="en-US" sz="1600" dirty="0">
                <a:latin typeface="Segoe UI Light" panose="020B0502040204020203" pitchFamily="34" charset="0"/>
                <a:cs typeface="Segoe UI Light" panose="020B0502040204020203" pitchFamily="34" charset="0"/>
              </a:rPr>
              <a:t> un valor de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especificado</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cual</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exceden</a:t>
            </a:r>
            <a:r>
              <a:rPr lang="en-US" sz="1600" dirty="0">
                <a:latin typeface="Segoe UI Light" panose="020B0502040204020203" pitchFamily="34" charset="0"/>
                <a:cs typeface="Segoe UI Light" panose="020B0502040204020203" pitchFamily="34" charset="0"/>
              </a:rPr>
              <a:t> 1.5 metros de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 la zona de </a:t>
            </a:r>
            <a:r>
              <a:rPr lang="en-US" sz="1600" dirty="0" err="1">
                <a:latin typeface="Segoe UI Light" panose="020B0502040204020203" pitchFamily="34" charset="0"/>
                <a:cs typeface="Segoe UI Light" panose="020B0502040204020203" pitchFamily="34" charset="0"/>
              </a:rPr>
              <a:t>remanso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 del canal. (horas o </a:t>
            </a:r>
            <a:r>
              <a:rPr lang="en-US" sz="1600" dirty="0" err="1">
                <a:latin typeface="Segoe UI Light" panose="020B0502040204020203" pitchFamily="34" charset="0"/>
                <a:cs typeface="Segoe UI Light" panose="020B0502040204020203" pitchFamily="34" charset="0"/>
              </a:rPr>
              <a:t>días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FD476C26-BD6A-4D46-9974-7466930AA3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610325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1683F2A-059D-4046-A28C-AE08995CE2A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043109" y="2199381"/>
            <a:ext cx="8105775" cy="3657600"/>
          </a:xfrm>
          <a:prstGeom prst="rect">
            <a:avLst/>
          </a:prstGeom>
        </p:spPr>
      </p:pic>
      <p:sp>
        <p:nvSpPr>
          <p:cNvPr id="8" name="7 CuadroTexto"/>
          <p:cNvSpPr txBox="1"/>
          <p:nvPr/>
        </p:nvSpPr>
        <p:spPr>
          <a:xfrm>
            <a:off x="2043108" y="980728"/>
            <a:ext cx="8105775" cy="83099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65748" y="4102512"/>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12. Tiempo de llegada (</a:t>
            </a:r>
            <a:r>
              <a:rPr lang="es-ES" sz="800" dirty="0" err="1">
                <a:latin typeface="Segoe UI Light" panose="020B0502040204020203" pitchFamily="34" charset="0"/>
                <a:cs typeface="Segoe UI Light" panose="020B0502040204020203" pitchFamily="34" charset="0"/>
              </a:rPr>
              <a:t>Arrival</a:t>
            </a:r>
            <a:r>
              <a:rPr lang="es-ES" sz="800" dirty="0">
                <a:latin typeface="Segoe UI Light" panose="020B0502040204020203" pitchFamily="34" charset="0"/>
                <a:cs typeface="Segoe UI Light" panose="020B0502040204020203" pitchFamily="34" charset="0"/>
              </a:rPr>
              <a:t> time)</a:t>
            </a:r>
          </a:p>
        </p:txBody>
      </p:sp>
      <p:pic>
        <p:nvPicPr>
          <p:cNvPr id="11" name="Imagen 10">
            <a:extLst>
              <a:ext uri="{FF2B5EF4-FFF2-40B4-BE49-F238E27FC236}">
                <a16:creationId xmlns:a16="http://schemas.microsoft.com/office/drawing/2014/main" id="{41228A83-5596-47AD-A84B-AA76F8E392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3912" y="2924944"/>
            <a:ext cx="360000" cy="360000"/>
          </a:xfrm>
          <a:prstGeom prst="rect">
            <a:avLst/>
          </a:prstGeom>
        </p:spPr>
      </p:pic>
      <p:pic>
        <p:nvPicPr>
          <p:cNvPr id="12" name="Imagen 11">
            <a:extLst>
              <a:ext uri="{FF2B5EF4-FFF2-40B4-BE49-F238E27FC236}">
                <a16:creationId xmlns:a16="http://schemas.microsoft.com/office/drawing/2014/main" id="{7E8AE8B1-A671-41DA-9FB7-95ADD04000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2024" y="5085184"/>
            <a:ext cx="360000" cy="360000"/>
          </a:xfrm>
          <a:prstGeom prst="rect">
            <a:avLst/>
          </a:prstGeom>
        </p:spPr>
      </p:pic>
      <p:pic>
        <p:nvPicPr>
          <p:cNvPr id="13" name="Imagen 12">
            <a:extLst>
              <a:ext uri="{FF2B5EF4-FFF2-40B4-BE49-F238E27FC236}">
                <a16:creationId xmlns:a16="http://schemas.microsoft.com/office/drawing/2014/main" id="{BFE14FA4-4734-41F7-ADA6-F6FE174030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55840" y="4462512"/>
            <a:ext cx="360000" cy="360000"/>
          </a:xfrm>
          <a:prstGeom prst="rect">
            <a:avLst/>
          </a:prstGeom>
        </p:spPr>
      </p:pic>
      <p:pic>
        <p:nvPicPr>
          <p:cNvPr id="14" name="Imagen 13">
            <a:extLst>
              <a:ext uri="{FF2B5EF4-FFF2-40B4-BE49-F238E27FC236}">
                <a16:creationId xmlns:a16="http://schemas.microsoft.com/office/drawing/2014/main" id="{CCF079F9-C80D-4ED6-86EB-8360E9DF9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64352" y="5157192"/>
            <a:ext cx="360000" cy="360000"/>
          </a:xfrm>
          <a:prstGeom prst="rect">
            <a:avLst/>
          </a:prstGeom>
        </p:spPr>
      </p:pic>
      <p:pic>
        <p:nvPicPr>
          <p:cNvPr id="15" name="Imagen 14">
            <a:extLst>
              <a:ext uri="{FF2B5EF4-FFF2-40B4-BE49-F238E27FC236}">
                <a16:creationId xmlns:a16="http://schemas.microsoft.com/office/drawing/2014/main" id="{F83447DC-C719-4A53-B162-AC32994DEE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50328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59726" y="674693"/>
            <a:ext cx="10272543" cy="338554"/>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Mapa obtenido.</a:t>
            </a:r>
            <a:endParaRPr lang="es-CO" sz="1600" i="1">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F28050AF-EE3B-4592-9D57-CD57D3759010}"/>
              </a:ext>
            </a:extLst>
          </p:cNvPr>
          <p:cNvPicPr>
            <a:picLocks noChangeAspect="1"/>
          </p:cNvPicPr>
          <p:nvPr/>
        </p:nvPicPr>
        <p:blipFill>
          <a:blip r:embed="rId3"/>
          <a:stretch>
            <a:fillRect/>
          </a:stretch>
        </p:blipFill>
        <p:spPr>
          <a:xfrm>
            <a:off x="0" y="1426493"/>
            <a:ext cx="12192000" cy="5430606"/>
          </a:xfrm>
          <a:prstGeom prst="rect">
            <a:avLst/>
          </a:prstGeom>
        </p:spPr>
      </p:pic>
      <p:pic>
        <p:nvPicPr>
          <p:cNvPr id="9" name="Imagen 8">
            <a:extLst>
              <a:ext uri="{FF2B5EF4-FFF2-40B4-BE49-F238E27FC236}">
                <a16:creationId xmlns:a16="http://schemas.microsoft.com/office/drawing/2014/main" id="{2461AA5E-122C-4BB3-886F-EF51A43807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4A5471F2-3A78-4DC8-B104-C8B3620012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12. Tiempo de llegada (</a:t>
            </a:r>
            <a:r>
              <a:rPr lang="es-ES" sz="800" dirty="0" err="1">
                <a:latin typeface="Segoe UI Light" panose="020B0502040204020203" pitchFamily="34" charset="0"/>
                <a:cs typeface="Segoe UI Light" panose="020B0502040204020203" pitchFamily="34" charset="0"/>
              </a:rPr>
              <a:t>Arrival</a:t>
            </a:r>
            <a:r>
              <a:rPr lang="es-ES" sz="800" dirty="0">
                <a:latin typeface="Segoe UI Light" panose="020B0502040204020203" pitchFamily="34" charset="0"/>
                <a:cs typeface="Segoe UI Light" panose="020B0502040204020203" pitchFamily="34" charset="0"/>
              </a:rPr>
              <a:t> time)</a:t>
            </a:r>
          </a:p>
        </p:txBody>
      </p:sp>
    </p:spTree>
    <p:extLst>
      <p:ext uri="{BB962C8B-B14F-4D97-AF65-F5344CB8AC3E}">
        <p14:creationId xmlns:p14="http://schemas.microsoft.com/office/powerpoint/2010/main" val="4242544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01DAFB8-03DB-4CBE-BCE3-8E60530E6DD3}"/>
              </a:ext>
            </a:extLst>
          </p:cNvPr>
          <p:cNvPicPr>
            <a:picLocks noChangeAspect="1"/>
          </p:cNvPicPr>
          <p:nvPr/>
        </p:nvPicPr>
        <p:blipFill>
          <a:blip r:embed="rId3"/>
          <a:stretch>
            <a:fillRect/>
          </a:stretch>
        </p:blipFill>
        <p:spPr>
          <a:xfrm>
            <a:off x="0" y="1426203"/>
            <a:ext cx="12192000" cy="5430606"/>
          </a:xfrm>
          <a:prstGeom prst="rect">
            <a:avLst/>
          </a:prstGeom>
        </p:spPr>
      </p:pic>
      <p:sp>
        <p:nvSpPr>
          <p:cNvPr id="8" name="7 CuadroTexto"/>
          <p:cNvSpPr txBox="1"/>
          <p:nvPr/>
        </p:nvSpPr>
        <p:spPr>
          <a:xfrm>
            <a:off x="959726" y="674693"/>
            <a:ext cx="10272543" cy="338554"/>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Para esta opción, existe un mapa independiente de valores máximos denominado Arrival Time (Max)</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9496" y="4293096"/>
            <a:ext cx="360000" cy="360000"/>
          </a:xfrm>
          <a:prstGeom prst="rect">
            <a:avLst/>
          </a:prstGeom>
        </p:spPr>
      </p:pic>
      <p:pic>
        <p:nvPicPr>
          <p:cNvPr id="10" name="Imagen 9">
            <a:extLst>
              <a:ext uri="{FF2B5EF4-FFF2-40B4-BE49-F238E27FC236}">
                <a16:creationId xmlns:a16="http://schemas.microsoft.com/office/drawing/2014/main" id="{2678C2FC-FABA-466F-96DB-7F9D40139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31A9E332-E5AA-4579-991A-DB5D63F907C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12. Tiempo de llegada (</a:t>
            </a:r>
            <a:r>
              <a:rPr lang="es-ES" sz="800" dirty="0" err="1">
                <a:latin typeface="Segoe UI Light" panose="020B0502040204020203" pitchFamily="34" charset="0"/>
                <a:cs typeface="Segoe UI Light" panose="020B0502040204020203" pitchFamily="34" charset="0"/>
              </a:rPr>
              <a:t>Arrival</a:t>
            </a:r>
            <a:r>
              <a:rPr lang="es-ES" sz="800" dirty="0">
                <a:latin typeface="Segoe UI Light" panose="020B0502040204020203" pitchFamily="34" charset="0"/>
                <a:cs typeface="Segoe UI Light" panose="020B0502040204020203" pitchFamily="34" charset="0"/>
              </a:rPr>
              <a:t> time)</a:t>
            </a:r>
          </a:p>
        </p:txBody>
      </p:sp>
    </p:spTree>
    <p:extLst>
      <p:ext uri="{BB962C8B-B14F-4D97-AF65-F5344CB8AC3E}">
        <p14:creationId xmlns:p14="http://schemas.microsoft.com/office/powerpoint/2010/main" val="2863866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16669" y="2628781"/>
            <a:ext cx="5958662"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13. Recesión (</a:t>
            </a:r>
            <a:r>
              <a:rPr lang="es-CO" dirty="0" err="1">
                <a:latin typeface="Segoe UI Light" panose="020B0502040204020203" pitchFamily="34" charset="0"/>
                <a:cs typeface="Segoe UI Light" panose="020B0502040204020203" pitchFamily="34" charset="0"/>
              </a:rPr>
              <a:t>Recession</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Calcula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horas o </a:t>
            </a:r>
            <a:r>
              <a:rPr lang="en-US" sz="1600" dirty="0" err="1">
                <a:latin typeface="Segoe UI Light" panose="020B0502040204020203" pitchFamily="34" charset="0"/>
                <a:cs typeface="Segoe UI Light" panose="020B0502040204020203" pitchFamily="34" charset="0"/>
              </a:rPr>
              <a:t>dias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que la </a:t>
            </a:r>
            <a:r>
              <a:rPr lang="en-US" sz="1600" dirty="0" err="1">
                <a:latin typeface="Segoe UI Light" panose="020B0502040204020203" pitchFamily="34" charset="0"/>
                <a:cs typeface="Segoe UI Light" panose="020B0502040204020203" pitchFamily="34" charset="0"/>
              </a:rPr>
              <a:t>altura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está</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debajo</a:t>
            </a:r>
            <a:r>
              <a:rPr lang="en-US" sz="1600" dirty="0">
                <a:latin typeface="Segoe UI Light" panose="020B0502040204020203" pitchFamily="34" charset="0"/>
                <a:cs typeface="Segoe UI Light" panose="020B0502040204020203" pitchFamily="34" charset="0"/>
              </a:rPr>
              <a:t> un valor de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especificado</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que la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está</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debajo</a:t>
            </a:r>
            <a:r>
              <a:rPr lang="en-US" sz="1600" dirty="0">
                <a:latin typeface="Segoe UI Light" panose="020B0502040204020203" pitchFamily="34" charset="0"/>
                <a:cs typeface="Segoe UI Light" panose="020B0502040204020203" pitchFamily="34" charset="0"/>
              </a:rPr>
              <a:t> de 1.5 metros de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(horas o </a:t>
            </a:r>
            <a:r>
              <a:rPr lang="en-US" sz="1600" dirty="0" err="1">
                <a:latin typeface="Segoe UI Light" panose="020B0502040204020203" pitchFamily="34" charset="0"/>
                <a:cs typeface="Segoe UI Light" panose="020B0502040204020203" pitchFamily="34" charset="0"/>
              </a:rPr>
              <a:t>días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78DB034D-51F8-4D5E-9D58-B592E4F8C4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546760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D2FD024-2908-4016-A28B-54712C7FC17D}"/>
              </a:ext>
            </a:extLst>
          </p:cNvPr>
          <p:cNvPicPr>
            <a:picLocks noChangeAspect="1"/>
          </p:cNvPicPr>
          <p:nvPr/>
        </p:nvPicPr>
        <p:blipFill>
          <a:blip r:embed="rId3"/>
          <a:stretch>
            <a:fillRect/>
          </a:stretch>
        </p:blipFill>
        <p:spPr>
          <a:xfrm>
            <a:off x="0" y="1430395"/>
            <a:ext cx="12192000" cy="5430606"/>
          </a:xfrm>
          <a:prstGeom prst="rect">
            <a:avLst/>
          </a:prstGeom>
        </p:spPr>
      </p:pic>
      <p:sp>
        <p:nvSpPr>
          <p:cNvPr id="8" name="7 CuadroTexto"/>
          <p:cNvSpPr txBox="1"/>
          <p:nvPr/>
        </p:nvSpPr>
        <p:spPr>
          <a:xfrm>
            <a:off x="959726" y="333703"/>
            <a:ext cx="10272543" cy="1077218"/>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Se puede crear un mapa de valores máximos dando clic derecho en la capa – Edit Map Parameters – Maximum. Es necesario ejecutar la opción </a:t>
            </a:r>
            <a:r>
              <a:rPr lang="es-CO" sz="1600" i="1">
                <a:latin typeface="Segoe UI Light" panose="020B0502040204020203" pitchFamily="34" charset="0"/>
                <a:cs typeface="Segoe UI Light" panose="020B0502040204020203" pitchFamily="34" charset="0"/>
              </a:rPr>
              <a:t>Compute/Update</a:t>
            </a:r>
            <a:r>
              <a:rPr lang="es-CO" sz="1600">
                <a:latin typeface="Segoe UI Light" panose="020B0502040204020203" pitchFamily="34" charset="0"/>
                <a:cs typeface="Segoe UI Light" panose="020B0502040204020203" pitchFamily="34" charset="0"/>
              </a:rPr>
              <a:t> para recalcular los valores de la envolvente.</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75520" y="4437112"/>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13. Recesión (</a:t>
            </a:r>
            <a:r>
              <a:rPr lang="es-CO" sz="800" dirty="0" err="1">
                <a:latin typeface="Segoe UI Light" panose="020B0502040204020203" pitchFamily="34" charset="0"/>
                <a:cs typeface="Segoe UI Light" panose="020B0502040204020203" pitchFamily="34" charset="0"/>
              </a:rPr>
              <a:t>Recession</a:t>
            </a:r>
            <a:r>
              <a:rPr lang="es-CO"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1F705F4B-9A1C-4EB5-BFEC-C0689C9528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62818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32693" y="2875002"/>
            <a:ext cx="5526614" cy="110799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14. Duración de la inundación (</a:t>
            </a:r>
            <a:r>
              <a:rPr lang="es-CO" dirty="0" err="1">
                <a:latin typeface="Segoe UI Light" panose="020B0502040204020203" pitchFamily="34" charset="0"/>
                <a:cs typeface="Segoe UI Light" panose="020B0502040204020203" pitchFamily="34" charset="0"/>
              </a:rPr>
              <a:t>Duration</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Calcula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total </a:t>
            </a:r>
            <a:r>
              <a:rPr lang="en-US" sz="1600" dirty="0" err="1">
                <a:latin typeface="Segoe UI Light" panose="020B0502040204020203" pitchFamily="34" charset="0"/>
                <a:cs typeface="Segoe UI Light" panose="020B0502040204020203" pitchFamily="34" charset="0"/>
              </a:rPr>
              <a:t>inundado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un </a:t>
            </a:r>
            <a:r>
              <a:rPr lang="en-US" sz="1600" dirty="0" err="1">
                <a:latin typeface="Segoe UI Light" panose="020B0502040204020203" pitchFamily="34" charset="0"/>
                <a:cs typeface="Segoe UI Light" panose="020B0502040204020203" pitchFamily="34" charset="0"/>
              </a:rPr>
              <a:t>instante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especificado</a:t>
            </a:r>
            <a:r>
              <a:rPr lang="en-US" sz="1600" dirty="0">
                <a:latin typeface="Segoe UI Light" panose="020B0502040204020203" pitchFamily="34" charset="0"/>
                <a:cs typeface="Segoe UI Light" panose="020B0502040204020203" pitchFamily="34" charset="0"/>
              </a:rPr>
              <a:t>. (horas o </a:t>
            </a:r>
            <a:r>
              <a:rPr lang="en-US" sz="1600" dirty="0" err="1">
                <a:latin typeface="Segoe UI Light" panose="020B0502040204020203" pitchFamily="34" charset="0"/>
                <a:cs typeface="Segoe UI Light" panose="020B0502040204020203" pitchFamily="34" charset="0"/>
              </a:rPr>
              <a:t>días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87B6B894-D9B1-4DE4-BA04-BCC9FB5097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3146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FF850D8-E487-48E4-B392-A5AA2BA7F152}"/>
              </a:ext>
            </a:extLst>
          </p:cNvPr>
          <p:cNvPicPr>
            <a:picLocks noChangeAspect="1"/>
          </p:cNvPicPr>
          <p:nvPr/>
        </p:nvPicPr>
        <p:blipFill>
          <a:blip r:embed="rId3"/>
          <a:stretch>
            <a:fillRect/>
          </a:stretch>
        </p:blipFill>
        <p:spPr>
          <a:xfrm>
            <a:off x="0" y="1430395"/>
            <a:ext cx="12192000" cy="5430606"/>
          </a:xfrm>
          <a:prstGeom prst="rect">
            <a:avLst/>
          </a:prstGeom>
        </p:spPr>
      </p:pic>
      <p:sp>
        <p:nvSpPr>
          <p:cNvPr id="8" name="7 CuadroTexto"/>
          <p:cNvSpPr txBox="1"/>
          <p:nvPr/>
        </p:nvSpPr>
        <p:spPr>
          <a:xfrm>
            <a:off x="959726" y="548680"/>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9496" y="4653136"/>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14. Duración de la inundación (</a:t>
            </a:r>
            <a:r>
              <a:rPr lang="es-ES" sz="800" dirty="0" err="1">
                <a:latin typeface="Segoe UI Light" panose="020B0502040204020203" pitchFamily="34" charset="0"/>
                <a:cs typeface="Segoe UI Light" panose="020B0502040204020203" pitchFamily="34" charset="0"/>
              </a:rPr>
              <a:t>Duration</a:t>
            </a:r>
            <a:r>
              <a:rPr lang="es-ES"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8EBF475E-F419-4008-B05F-CC61B8C2BA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80644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96689" y="2875002"/>
            <a:ext cx="5598622" cy="110799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15. Celdas inundadas (</a:t>
            </a:r>
            <a:r>
              <a:rPr lang="es-CO" dirty="0" err="1">
                <a:latin typeface="Segoe UI Light" panose="020B0502040204020203" pitchFamily="34" charset="0"/>
                <a:cs typeface="Segoe UI Light" panose="020B0502040204020203" pitchFamily="34" charset="0"/>
              </a:rPr>
              <a:t>Wet</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cells</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Muestra</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inundadas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su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produndidad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específica</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una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especificada</a:t>
            </a:r>
            <a:r>
              <a:rPr lang="en-US" sz="1600" dirty="0">
                <a:latin typeface="Segoe UI Light" panose="020B0502040204020203" pitchFamily="34" charset="0"/>
                <a:cs typeface="Segoe UI Light" panose="020B0502040204020203" pitchFamily="34" charset="0"/>
              </a:rPr>
              <a:t>. (metros)</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3A003533-EE66-4F91-8035-06E84058B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155100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A0628EC-2394-456C-B924-F6759AB1BBAB}"/>
              </a:ext>
            </a:extLst>
          </p:cNvPr>
          <p:cNvPicPr>
            <a:picLocks noChangeAspect="1"/>
          </p:cNvPicPr>
          <p:nvPr/>
        </p:nvPicPr>
        <p:blipFill>
          <a:blip r:embed="rId3"/>
          <a:stretch>
            <a:fillRect/>
          </a:stretch>
        </p:blipFill>
        <p:spPr>
          <a:xfrm>
            <a:off x="0" y="1430395"/>
            <a:ext cx="12192000" cy="5430606"/>
          </a:xfrm>
          <a:prstGeom prst="rect">
            <a:avLst/>
          </a:prstGeom>
        </p:spPr>
      </p:pic>
      <p:sp>
        <p:nvSpPr>
          <p:cNvPr id="8" name="7 CuadroTexto"/>
          <p:cNvSpPr txBox="1"/>
          <p:nvPr/>
        </p:nvSpPr>
        <p:spPr>
          <a:xfrm>
            <a:off x="959726" y="529516"/>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9496" y="4653136"/>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de-DE" sz="800" dirty="0">
                <a:latin typeface="Segoe UI Light" panose="020B0502040204020203" pitchFamily="34" charset="0"/>
                <a:cs typeface="Segoe UI Light" panose="020B0502040204020203" pitchFamily="34" charset="0"/>
              </a:rPr>
              <a:t>15. Celdas inundadas (Wet cells)</a:t>
            </a:r>
          </a:p>
        </p:txBody>
      </p:sp>
      <p:pic>
        <p:nvPicPr>
          <p:cNvPr id="11" name="Imagen 10">
            <a:extLst>
              <a:ext uri="{FF2B5EF4-FFF2-40B4-BE49-F238E27FC236}">
                <a16:creationId xmlns:a16="http://schemas.microsoft.com/office/drawing/2014/main" id="{4DC85933-D493-40F1-82F3-1CD18889C4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71060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058162" y="2628781"/>
            <a:ext cx="6075675" cy="1600438"/>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16. Potencia de la corriente (</a:t>
            </a:r>
            <a:r>
              <a:rPr lang="es-CO" dirty="0" err="1">
                <a:latin typeface="Segoe UI Light" panose="020B0502040204020203" pitchFamily="34" charset="0"/>
                <a:cs typeface="Segoe UI Light" panose="020B0502040204020203" pitchFamily="34" charset="0"/>
              </a:rPr>
              <a:t>Stream</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power</a:t>
            </a:r>
            <a:r>
              <a:rPr lang="es-CO"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potencia</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calculada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la media de las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por la media de los </a:t>
            </a:r>
            <a:r>
              <a:rPr lang="en-US" sz="1600" dirty="0" err="1">
                <a:latin typeface="Segoe UI Light" panose="020B0502040204020203" pitchFamily="34" charset="0"/>
                <a:cs typeface="Segoe UI Light" panose="020B0502040204020203" pitchFamily="34" charset="0"/>
              </a:rPr>
              <a:t>esfuerzos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cortantes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interpretada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capacidad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arrastre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materiales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y las </a:t>
            </a:r>
            <a:r>
              <a:rPr lang="en-US" sz="1600" dirty="0" err="1">
                <a:latin typeface="Segoe UI Light" panose="020B0502040204020203" pitchFamily="34" charset="0"/>
                <a:cs typeface="Segoe UI Light" panose="020B0502040204020203" pitchFamily="34" charset="0"/>
              </a:rPr>
              <a:t>particulas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suspendidas</a:t>
            </a:r>
            <a:r>
              <a:rPr lang="en-US" sz="1600" dirty="0">
                <a:latin typeface="Segoe UI Light" panose="020B0502040204020203" pitchFamily="34" charset="0"/>
                <a:cs typeface="Segoe UI Light" panose="020B0502040204020203" pitchFamily="34" charset="0"/>
              </a:rPr>
              <a:t>. (N/m  s)</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CD2840AC-FA56-46F8-86C6-04243083FD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082491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444597F-5681-4EE9-BAD3-AA79CC146A99}"/>
              </a:ext>
            </a:extLst>
          </p:cNvPr>
          <p:cNvPicPr>
            <a:picLocks noChangeAspect="1"/>
          </p:cNvPicPr>
          <p:nvPr/>
        </p:nvPicPr>
        <p:blipFill>
          <a:blip r:embed="rId3"/>
          <a:stretch>
            <a:fillRect/>
          </a:stretch>
        </p:blipFill>
        <p:spPr>
          <a:xfrm>
            <a:off x="0" y="1430395"/>
            <a:ext cx="12192000" cy="5430606"/>
          </a:xfrm>
          <a:prstGeom prst="rect">
            <a:avLst/>
          </a:prstGeom>
        </p:spPr>
      </p:pic>
      <p:sp>
        <p:nvSpPr>
          <p:cNvPr id="8" name="7 CuadroTexto"/>
          <p:cNvSpPr txBox="1"/>
          <p:nvPr/>
        </p:nvSpPr>
        <p:spPr>
          <a:xfrm>
            <a:off x="959726" y="529516"/>
            <a:ext cx="10272543" cy="58477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Clic derecho en el grupo de resultados del plan tr2_33yr – Add New Results Map Layer… Seleccionar el mapa requerido y actualizar el rango de valores de la interpolación utilizando la opción </a:t>
            </a:r>
            <a:r>
              <a:rPr lang="es-CO" sz="1600" i="1">
                <a:latin typeface="Segoe UI Light" panose="020B0502040204020203" pitchFamily="34" charset="0"/>
                <a:cs typeface="Segoe UI Light" panose="020B0502040204020203" pitchFamily="34" charset="0"/>
              </a:rPr>
              <a:t>Update per Screen</a:t>
            </a:r>
            <a:r>
              <a:rPr lang="es-CO" sz="1600">
                <a:latin typeface="Segoe UI Light" panose="020B0502040204020203" pitchFamily="34" charset="0"/>
                <a:cs typeface="Segoe UI Light" panose="020B0502040204020203" pitchFamily="34" charset="0"/>
              </a:rPr>
              <a:t>. </a:t>
            </a:r>
            <a:endParaRPr lang="es-CO" sz="1600" i="1">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1504" y="4797152"/>
            <a:ext cx="360000" cy="360000"/>
          </a:xfrm>
          <a:prstGeom prst="rect">
            <a:avLst/>
          </a:prstGeom>
        </p:spPr>
      </p:pic>
      <p:sp>
        <p:nvSpPr>
          <p:cNvPr id="10" name="1 Título">
            <a:extLst>
              <a:ext uri="{FF2B5EF4-FFF2-40B4-BE49-F238E27FC236}">
                <a16:creationId xmlns:a16="http://schemas.microsoft.com/office/drawing/2014/main" id="{8D24DA4C-11DC-45E9-834B-A79D410EC7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16. Potencia de la corriente (</a:t>
            </a:r>
            <a:r>
              <a:rPr lang="es-CO" sz="800" dirty="0" err="1">
                <a:latin typeface="Segoe UI Light" panose="020B0502040204020203" pitchFamily="34" charset="0"/>
                <a:cs typeface="Segoe UI Light" panose="020B0502040204020203" pitchFamily="34" charset="0"/>
              </a:rPr>
              <a:t>Stream</a:t>
            </a:r>
            <a:r>
              <a:rPr lang="es-CO" sz="800" dirty="0">
                <a:latin typeface="Segoe UI Light" panose="020B0502040204020203" pitchFamily="34" charset="0"/>
                <a:cs typeface="Segoe UI Light" panose="020B0502040204020203" pitchFamily="34" charset="0"/>
              </a:rPr>
              <a:t> </a:t>
            </a:r>
            <a:r>
              <a:rPr lang="es-CO" sz="800" dirty="0" err="1">
                <a:latin typeface="Segoe UI Light" panose="020B0502040204020203" pitchFamily="34" charset="0"/>
                <a:cs typeface="Segoe UI Light" panose="020B0502040204020203" pitchFamily="34" charset="0"/>
              </a:rPr>
              <a:t>power</a:t>
            </a:r>
            <a:r>
              <a:rPr lang="es-CO" sz="8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421630DB-5454-4A44-AD84-6A6B7A1248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05419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423592" y="905232"/>
            <a:ext cx="7344816" cy="5047536"/>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Tareas a realizar por cada estudiante</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Repita el procedimiento anterior para visualizar los resultados obtenidos para el periodo de retorno de 100 años.</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Realice la modelación completa correspondiente al límite geográfico del corredor del cauce diseñado y de la zona natural aguas abajo.</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Realice la modelación completa correspondiente al límite geográfico de toda la zona LIDAR que incluye el tramo natural aguas arriba, aguas abajo y el cauce lateral.</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Compare los resultados obtenidos para cada área de drenaje 2D utilizada y para los periodos de retorno de 2.33 y 100 años. Profundidad y elevación inversa de la lámina de agua, borde libre, velocidad, esfuerzo cortante, potencia de la corriente y # </a:t>
            </a:r>
            <a:r>
              <a:rPr lang="es-CO" sz="1600" dirty="0" err="1">
                <a:latin typeface="Segoe UI Light" panose="020B0502040204020203" pitchFamily="34" charset="0"/>
                <a:cs typeface="Segoe UI Light" panose="020B0502040204020203" pitchFamily="34" charset="0"/>
              </a:rPr>
              <a:t>Courant</a:t>
            </a:r>
            <a:r>
              <a:rPr lang="es-CO" sz="1600" dirty="0">
                <a:latin typeface="Segoe UI Light" panose="020B0502040204020203" pitchFamily="34" charset="0"/>
                <a:cs typeface="Segoe UI Light" panose="020B0502040204020203" pitchFamily="34" charset="0"/>
              </a:rPr>
              <a:t>, #Froude.</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Reducir y aumentar el tamaño de las celdas de la grilla, realizar el refinamiento a partir de regiones, ejecutar la modelación y comparar los resultados con las modelaciones anteriores. </a:t>
            </a:r>
          </a:p>
        </p:txBody>
      </p:sp>
      <p:pic>
        <p:nvPicPr>
          <p:cNvPr id="4" name="Imagen 3">
            <a:extLst>
              <a:ext uri="{FF2B5EF4-FFF2-40B4-BE49-F238E27FC236}">
                <a16:creationId xmlns:a16="http://schemas.microsoft.com/office/drawing/2014/main" id="{520EC219-35C6-4E9B-8E43-1A2E19698A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74154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11627</TotalTime>
  <Words>2991</Words>
  <Application>Microsoft Office PowerPoint</Application>
  <PresentationFormat>Widescreen</PresentationFormat>
  <Paragraphs>204</Paragraphs>
  <Slides>48</Slides>
  <Notes>46</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HCMC_4_7</dc:title>
  <dc:creator>master</dc:creator>
  <cp:lastModifiedBy>WILLIAM RICARDO AGUILAR PIÑA</cp:lastModifiedBy>
  <cp:revision>697</cp:revision>
  <dcterms:created xsi:type="dcterms:W3CDTF">2010-05-17T13:13:34Z</dcterms:created>
  <dcterms:modified xsi:type="dcterms:W3CDTF">2025-11-21T16:14:25Z</dcterms:modified>
</cp:coreProperties>
</file>