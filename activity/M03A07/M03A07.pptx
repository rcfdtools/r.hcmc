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90" r:id="rId2"/>
    <p:sldId id="301" r:id="rId3"/>
    <p:sldId id="289" r:id="rId4"/>
    <p:sldId id="388" r:id="rId5"/>
    <p:sldId id="391" r:id="rId6"/>
    <p:sldId id="333" r:id="rId7"/>
    <p:sldId id="406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4" r:id="rId19"/>
    <p:sldId id="405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5" r:id="rId28"/>
    <p:sldId id="427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8" r:id="rId41"/>
    <p:sldId id="384" r:id="rId4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9A31B-F079-4735-BEE3-550B4FEB6160}" v="4" dt="2023-11-24T14:21:26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6416" autoAdjust="0"/>
  </p:normalViewPr>
  <p:slideViewPr>
    <p:cSldViewPr>
      <p:cViewPr varScale="1">
        <p:scale>
          <a:sx n="116" d="100"/>
          <a:sy n="116" d="100"/>
        </p:scale>
        <p:origin x="270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6C69A31B-F079-4735-BEE3-550B4FEB6160}"/>
    <pc:docChg chg="custSel modSld">
      <pc:chgData name="WILLIAM RICARDO AGUILAR PIÑA" userId="25538c52-b196-49fc-9025-2dd86a54f18a" providerId="ADAL" clId="{6C69A31B-F079-4735-BEE3-550B4FEB6160}" dt="2023-11-24T14:21:32.720" v="212"/>
      <pc:docMkLst>
        <pc:docMk/>
      </pc:docMkLst>
      <pc:sldChg chg="modSp mod">
        <pc:chgData name="WILLIAM RICARDO AGUILAR PIÑA" userId="25538c52-b196-49fc-9025-2dd86a54f18a" providerId="ADAL" clId="{6C69A31B-F079-4735-BEE3-550B4FEB6160}" dt="2023-11-24T13:56:01.292" v="6" actId="6549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6C69A31B-F079-4735-BEE3-550B4FEB6160}" dt="2023-11-24T13:56:01.292" v="6" actId="6549"/>
          <ac:spMkLst>
            <pc:docMk/>
            <pc:sldMk cId="1805327859" sldId="28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6C69A31B-F079-4735-BEE3-550B4FEB6160}" dt="2023-11-24T13:56:11.051" v="11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6C69A31B-F079-4735-BEE3-550B4FEB6160}" dt="2023-11-24T13:56:11.051" v="11" actId="20577"/>
          <ac:spMkLst>
            <pc:docMk/>
            <pc:sldMk cId="0" sldId="390"/>
            <ac:spMk id="9" creationId="{3072C985-1B9B-4BDD-9204-91D61E909C9C}"/>
          </ac:spMkLst>
        </pc:spChg>
      </pc:sldChg>
      <pc:sldChg chg="addSp modSp mod">
        <pc:chgData name="WILLIAM RICARDO AGUILAR PIÑA" userId="25538c52-b196-49fc-9025-2dd86a54f18a" providerId="ADAL" clId="{6C69A31B-F079-4735-BEE3-550B4FEB6160}" dt="2023-11-24T13:59:41.902" v="186" actId="20577"/>
        <pc:sldMkLst>
          <pc:docMk/>
          <pc:sldMk cId="854168165" sldId="392"/>
        </pc:sldMkLst>
        <pc:spChg chg="add mod">
          <ac:chgData name="WILLIAM RICARDO AGUILAR PIÑA" userId="25538c52-b196-49fc-9025-2dd86a54f18a" providerId="ADAL" clId="{6C69A31B-F079-4735-BEE3-550B4FEB6160}" dt="2023-11-24T13:59:41.902" v="186" actId="20577"/>
          <ac:spMkLst>
            <pc:docMk/>
            <pc:sldMk cId="854168165" sldId="392"/>
            <ac:spMk id="2" creationId="{DA413DAF-2554-D6C4-848D-619DCDAD24E3}"/>
          </ac:spMkLst>
        </pc:spChg>
        <pc:spChg chg="mod">
          <ac:chgData name="WILLIAM RICARDO AGUILAR PIÑA" userId="25538c52-b196-49fc-9025-2dd86a54f18a" providerId="ADAL" clId="{6C69A31B-F079-4735-BEE3-550B4FEB6160}" dt="2023-11-24T13:58:30.049" v="13" actId="14100"/>
          <ac:spMkLst>
            <pc:docMk/>
            <pc:sldMk cId="854168165" sldId="392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6C69A31B-F079-4735-BEE3-550B4FEB6160}" dt="2023-11-24T13:58:34.621" v="14" actId="1076"/>
          <ac:picMkLst>
            <pc:docMk/>
            <pc:sldMk cId="854168165" sldId="392"/>
            <ac:picMk id="7" creationId="{07175688-A57D-4248-87F7-B14F82BB684F}"/>
          </ac:picMkLst>
        </pc:picChg>
        <pc:picChg chg="mod">
          <ac:chgData name="WILLIAM RICARDO AGUILAR PIÑA" userId="25538c52-b196-49fc-9025-2dd86a54f18a" providerId="ADAL" clId="{6C69A31B-F079-4735-BEE3-550B4FEB6160}" dt="2023-11-24T13:58:34.621" v="14" actId="1076"/>
          <ac:picMkLst>
            <pc:docMk/>
            <pc:sldMk cId="854168165" sldId="392"/>
            <ac:picMk id="9" creationId="{2F6E8F39-2DD2-4B15-A0B6-EE84F7A500B8}"/>
          </ac:picMkLst>
        </pc:picChg>
      </pc:sldChg>
      <pc:sldChg chg="addSp delSp modSp mod">
        <pc:chgData name="WILLIAM RICARDO AGUILAR PIÑA" userId="25538c52-b196-49fc-9025-2dd86a54f18a" providerId="ADAL" clId="{6C69A31B-F079-4735-BEE3-550B4FEB6160}" dt="2023-11-24T14:07:45.404" v="206" actId="478"/>
        <pc:sldMkLst>
          <pc:docMk/>
          <pc:sldMk cId="3753323128" sldId="399"/>
        </pc:sldMkLst>
        <pc:spChg chg="add del mod">
          <ac:chgData name="WILLIAM RICARDO AGUILAR PIÑA" userId="25538c52-b196-49fc-9025-2dd86a54f18a" providerId="ADAL" clId="{6C69A31B-F079-4735-BEE3-550B4FEB6160}" dt="2023-11-24T14:07:45.404" v="206" actId="478"/>
          <ac:spMkLst>
            <pc:docMk/>
            <pc:sldMk cId="3753323128" sldId="399"/>
            <ac:spMk id="2" creationId="{886164D4-44A2-E5FA-5795-BC98791D2425}"/>
          </ac:spMkLst>
        </pc:spChg>
        <pc:spChg chg="mod">
          <ac:chgData name="WILLIAM RICARDO AGUILAR PIÑA" userId="25538c52-b196-49fc-9025-2dd86a54f18a" providerId="ADAL" clId="{6C69A31B-F079-4735-BEE3-550B4FEB6160}" dt="2023-11-24T14:07:43.885" v="205" actId="1076"/>
          <ac:spMkLst>
            <pc:docMk/>
            <pc:sldMk cId="3753323128" sldId="399"/>
            <ac:spMk id="8" creationId="{00000000-0000-0000-0000-000000000000}"/>
          </ac:spMkLst>
        </pc:spChg>
      </pc:sldChg>
      <pc:sldChg chg="addSp delSp modSp mod">
        <pc:chgData name="WILLIAM RICARDO AGUILAR PIÑA" userId="25538c52-b196-49fc-9025-2dd86a54f18a" providerId="ADAL" clId="{6C69A31B-F079-4735-BEE3-550B4FEB6160}" dt="2023-11-24T14:21:32.720" v="212"/>
        <pc:sldMkLst>
          <pc:docMk/>
          <pc:sldMk cId="57113935" sldId="428"/>
        </pc:sldMkLst>
        <pc:spChg chg="mod">
          <ac:chgData name="WILLIAM RICARDO AGUILAR PIÑA" userId="25538c52-b196-49fc-9025-2dd86a54f18a" providerId="ADAL" clId="{6C69A31B-F079-4735-BEE3-550B4FEB6160}" dt="2023-11-24T14:21:32.720" v="212"/>
          <ac:spMkLst>
            <pc:docMk/>
            <pc:sldMk cId="57113935" sldId="428"/>
            <ac:spMk id="8" creationId="{00000000-0000-0000-0000-000000000000}"/>
          </ac:spMkLst>
        </pc:spChg>
        <pc:graphicFrameChg chg="add del mod">
          <ac:chgData name="WILLIAM RICARDO AGUILAR PIÑA" userId="25538c52-b196-49fc-9025-2dd86a54f18a" providerId="ADAL" clId="{6C69A31B-F079-4735-BEE3-550B4FEB6160}" dt="2023-11-24T14:21:26.976" v="211"/>
          <ac:graphicFrameMkLst>
            <pc:docMk/>
            <pc:sldMk cId="57113935" sldId="428"/>
            <ac:graphicFrameMk id="2" creationId="{7D24D732-246A-3CAB-50E3-2B206A849BA7}"/>
          </ac:graphicFrameMkLst>
        </pc:graphicFrameChg>
      </pc:sldChg>
    </pc:docChg>
  </pc:docChgLst>
  <pc:docChgLst>
    <pc:chgData name="WILLIAM RICARDO AGUILAR PIÑA" userId="25538c52-b196-49fc-9025-2dd86a54f18a" providerId="ADAL" clId="{E62A114D-19B6-45A0-8C8C-320F0B491F40}"/>
    <pc:docChg chg="modSld">
      <pc:chgData name="WILLIAM RICARDO AGUILAR PIÑA" userId="25538c52-b196-49fc-9025-2dd86a54f18a" providerId="ADAL" clId="{E62A114D-19B6-45A0-8C8C-320F0B491F40}" dt="2018-06-29T15:35:42.597" v="16" actId="20577"/>
      <pc:docMkLst>
        <pc:docMk/>
      </pc:docMkLst>
      <pc:sldChg chg="modSp">
        <pc:chgData name="WILLIAM RICARDO AGUILAR PIÑA" userId="25538c52-b196-49fc-9025-2dd86a54f18a" providerId="ADAL" clId="{E62A114D-19B6-45A0-8C8C-320F0B491F40}" dt="2018-06-29T15:35:42.597" v="16" actId="20577"/>
        <pc:sldMkLst>
          <pc:docMk/>
          <pc:sldMk cId="0" sldId="256"/>
        </pc:sldMkLst>
        <pc:spChg chg="mod">
          <ac:chgData name="WILLIAM RICARDO AGUILAR PIÑA" userId="25538c52-b196-49fc-9025-2dd86a54f18a" providerId="ADAL" clId="{E62A114D-19B6-45A0-8C8C-320F0B491F40}" dt="2018-06-29T15:35:42.597" v="16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3FE2ABE3-935C-4A80-9BB5-49D65D0E91D9}"/>
    <pc:docChg chg="modSld">
      <pc:chgData name="WILLIAM RICARDO AGUILAR PIÑA" userId="25538c52-b196-49fc-9025-2dd86a54f18a" providerId="ADAL" clId="{3FE2ABE3-935C-4A80-9BB5-49D65D0E91D9}" dt="2020-10-25T13:46:26.686" v="5"/>
      <pc:docMkLst>
        <pc:docMk/>
      </pc:docMkLst>
      <pc:sldChg chg="modSp mod">
        <pc:chgData name="WILLIAM RICARDO AGUILAR PIÑA" userId="25538c52-b196-49fc-9025-2dd86a54f18a" providerId="ADAL" clId="{3FE2ABE3-935C-4A80-9BB5-49D65D0E91D9}" dt="2020-10-25T13:46:26.686" v="5"/>
        <pc:sldMkLst>
          <pc:docMk/>
          <pc:sldMk cId="3206536397" sldId="333"/>
        </pc:sldMkLst>
        <pc:spChg chg="mod">
          <ac:chgData name="WILLIAM RICARDO AGUILAR PIÑA" userId="25538c52-b196-49fc-9025-2dd86a54f18a" providerId="ADAL" clId="{3FE2ABE3-935C-4A80-9BB5-49D65D0E91D9}" dt="2020-10-25T13:46:26.686" v="5"/>
          <ac:spMkLst>
            <pc:docMk/>
            <pc:sldMk cId="3206536397" sldId="333"/>
            <ac:spMk id="6" creationId="{3034BFDC-53FF-4EE0-83B3-6C37F76B1EF3}"/>
          </ac:spMkLst>
        </pc:spChg>
      </pc:sldChg>
      <pc:sldChg chg="modSp mod">
        <pc:chgData name="WILLIAM RICARDO AGUILAR PIÑA" userId="25538c52-b196-49fc-9025-2dd86a54f18a" providerId="ADAL" clId="{3FE2ABE3-935C-4A80-9BB5-49D65D0E91D9}" dt="2020-10-25T13:46:13.237" v="1" actId="20577"/>
        <pc:sldMkLst>
          <pc:docMk/>
          <pc:sldMk cId="3721438846" sldId="388"/>
        </pc:sldMkLst>
        <pc:spChg chg="mod">
          <ac:chgData name="WILLIAM RICARDO AGUILAR PIÑA" userId="25538c52-b196-49fc-9025-2dd86a54f18a" providerId="ADAL" clId="{3FE2ABE3-935C-4A80-9BB5-49D65D0E91D9}" dt="2020-10-25T13:46:13.237" v="1" actId="20577"/>
          <ac:spMkLst>
            <pc:docMk/>
            <pc:sldMk cId="3721438846" sldId="388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3FE2ABE3-935C-4A80-9BB5-49D65D0E91D9}" dt="2020-10-25T13:46:21.850" v="4" actId="6549"/>
        <pc:sldMkLst>
          <pc:docMk/>
          <pc:sldMk cId="561131202" sldId="391"/>
        </pc:sldMkLst>
        <pc:spChg chg="mod">
          <ac:chgData name="WILLIAM RICARDO AGUILAR PIÑA" userId="25538c52-b196-49fc-9025-2dd86a54f18a" providerId="ADAL" clId="{3FE2ABE3-935C-4A80-9BB5-49D65D0E91D9}" dt="2020-10-25T13:46:20.048" v="2"/>
          <ac:spMkLst>
            <pc:docMk/>
            <pc:sldMk cId="561131202" sldId="391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3FE2ABE3-935C-4A80-9BB5-49D65D0E91D9}" dt="2020-10-25T13:46:21.850" v="4" actId="6549"/>
          <ac:spMkLst>
            <pc:docMk/>
            <pc:sldMk cId="561131202" sldId="391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618643C8-F2AF-4ECC-A533-0D13E01FBB3D}"/>
    <pc:docChg chg="modSld">
      <pc:chgData name="WILLIAM RICARDO AGUILAR PIÑA" userId="25538c52-b196-49fc-9025-2dd86a54f18a" providerId="ADAL" clId="{618643C8-F2AF-4ECC-A533-0D13E01FBB3D}" dt="2020-10-25T12:01:13.460" v="16" actId="20577"/>
      <pc:docMkLst>
        <pc:docMk/>
      </pc:docMkLst>
      <pc:sldChg chg="modSp mod">
        <pc:chgData name="WILLIAM RICARDO AGUILAR PIÑA" userId="25538c52-b196-49fc-9025-2dd86a54f18a" providerId="ADAL" clId="{618643C8-F2AF-4ECC-A533-0D13E01FBB3D}" dt="2020-10-25T11:56:11.440" v="5" actId="20577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618643C8-F2AF-4ECC-A533-0D13E01FBB3D}" dt="2020-10-25T11:56:11.440" v="5" actId="20577"/>
          <ac:spMkLst>
            <pc:docMk/>
            <pc:sldMk cId="2852190545" sldId="301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1:55:57.451" v="4" actId="207"/>
        <pc:sldMkLst>
          <pc:docMk/>
          <pc:sldMk cId="0" sldId="390"/>
        </pc:sldMkLst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9" creationId="{3072C985-1B9B-4BDD-9204-91D61E909C9C}"/>
          </ac:spMkLst>
        </pc:spChg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10" creationId="{7F6DDFB0-630E-45A2-B5EE-AB34BE184EC4}"/>
          </ac:spMkLst>
        </pc:spChg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17" creationId="{CF602DD4-6CD6-45A5-8387-11EC9AEA487E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2:00:42.570" v="14" actId="20577"/>
        <pc:sldMkLst>
          <pc:docMk/>
          <pc:sldMk cId="2119725662" sldId="405"/>
        </pc:sldMkLst>
        <pc:spChg chg="mod">
          <ac:chgData name="WILLIAM RICARDO AGUILAR PIÑA" userId="25538c52-b196-49fc-9025-2dd86a54f18a" providerId="ADAL" clId="{618643C8-F2AF-4ECC-A533-0D13E01FBB3D}" dt="2020-10-25T12:00:42.570" v="14" actId="20577"/>
          <ac:spMkLst>
            <pc:docMk/>
            <pc:sldMk cId="2119725662" sldId="405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2:01:13.460" v="16" actId="20577"/>
        <pc:sldMkLst>
          <pc:docMk/>
          <pc:sldMk cId="4287917731" sldId="409"/>
        </pc:sldMkLst>
        <pc:spChg chg="mod">
          <ac:chgData name="WILLIAM RICARDO AGUILAR PIÑA" userId="25538c52-b196-49fc-9025-2dd86a54f18a" providerId="ADAL" clId="{618643C8-F2AF-4ECC-A533-0D13E01FBB3D}" dt="2020-10-25T12:01:13.460" v="16" actId="20577"/>
          <ac:spMkLst>
            <pc:docMk/>
            <pc:sldMk cId="4287917731" sldId="40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microsoft.com/office/2007/relationships/hdphoto" Target="../media/hdphoto1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v.20231124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1D con HEC-GeoRAS y HEC-RAS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1D del canal principal rectificando fondo de secciones naturales de inicio y entrega.</a:t>
            </a: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91E273-C30E-428F-9DFE-60B9AE099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B045873E-7B62-435B-B90E-CF295FFD51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936649" y="2382559"/>
            <a:ext cx="631870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partir del modelo geométrico y de los parámetros y condiciones de frontera establecidos, realizar la modelación o tránsito hidráulico para flujo permanente y no permanente solo del cauce principal completo, rectificando el fondo de las secciones naturales de inicio y entrega usando la herramienta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Pilot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para obtener un fondo sin tramos horizontales y/o adversos.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AABB92-85AD-4219-9551-9EEB45F6D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207568" y="2105561"/>
            <a:ext cx="77768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HEC-RAS versión 5.0.7. http://www.hec.usace.army.mil/software/hec-ras/</a:t>
            </a: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Insumos requeridos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HECRAS_v1 con geometría importada desde ArcGIS usando HEC-GeoRAS o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parámetros y condiciones de frontera. HECRAS_v1_20161112.rar.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5696B4-87CC-4FEF-BDED-0EC619C316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70212" y="3105834"/>
            <a:ext cx="405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Actividades preliminares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3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04B46E-44A7-4ED4-B817-E6D4E9FD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1700808"/>
            <a:ext cx="7610475" cy="44481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519663" y="676783"/>
            <a:ext cx="4936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carpeta de /file/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hec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/, descomprima el archivo del modelo hidráulico HECRAS_v1_20161112.rar y nombre la carpeta como HECRAS_v1a.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Actividades preliminares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2348880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3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8C51D1-B5E7-4D67-9E53-D516F347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484784"/>
            <a:ext cx="6460244" cy="167075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76694" y="1477328"/>
            <a:ext cx="44006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HEC-RAS, abra el proyecto c:\HCMC\ HECRAS_v1a\HECRAS_v1.prj.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Abra el editor de geometría 1D y cargue la geometría denominada HECRAS_v1 que contiene el cauce principal completo, incluidas las secciones naturales de inicio y entrega y el cauce lateral.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Actividades preliminares</a:t>
            </a:r>
            <a:endParaRPr lang="es-ES" sz="8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326" y="2025269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395DD47-14B1-47DC-96E5-22C469FB9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715" y="3451782"/>
            <a:ext cx="6448425" cy="22288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5B0DFF8-2FB7-4DDD-9DDB-2F536A604C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326" y="425055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3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70212" y="3105834"/>
            <a:ext cx="4051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23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7175688-A57D-4248-87F7-B14F82BB6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418" b="56948"/>
          <a:stretch/>
        </p:blipFill>
        <p:spPr>
          <a:xfrm>
            <a:off x="679705" y="2348880"/>
            <a:ext cx="5104567" cy="316835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35360" y="787186"/>
            <a:ext cx="57606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editor de geometría, en el menú Tools, seleccione la herramienta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Pilot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Especificar los valores definidos en la imagen, correspondientes a el rango de abscisas, ancho de canal, rugosidad y cotas de fondo de inicio y entrega, seleccionar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Apply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Range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Update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988" y="3982101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42C7FA5-3503-42F6-BCFE-D02511B64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0" y="274340"/>
            <a:ext cx="4961535" cy="6309320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DA413DAF-2554-D6C4-848D-619DCDAD24E3}"/>
              </a:ext>
            </a:extLst>
          </p:cNvPr>
          <p:cNvSpPr txBox="1"/>
          <p:nvPr/>
        </p:nvSpPr>
        <p:spPr>
          <a:xfrm>
            <a:off x="263352" y="5755487"/>
            <a:ext cx="5760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modelos hidráulicos cuya última sección transversal inicie en la abscisa 0, en 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Upstreams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RS seleccione 10316.63 y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Downstream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RS seleccione 9460.509.</a:t>
            </a:r>
          </a:p>
        </p:txBody>
      </p:sp>
    </p:spTree>
    <p:extLst>
      <p:ext uri="{BB962C8B-B14F-4D97-AF65-F5344CB8AC3E}">
        <p14:creationId xmlns:p14="http://schemas.microsoft.com/office/powerpoint/2010/main" val="85416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025001-56C2-42CF-AB45-1276CC67A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5" y="1147025"/>
            <a:ext cx="4385223" cy="50182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03229" y="523419"/>
            <a:ext cx="10385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 el editor de geometría, visualizar el perfil del tramo de inicio y las secciones transversales naturales.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52" y="4555490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D75D1A6-EBEA-4B2E-BE86-4EF981E50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772" y="1147024"/>
            <a:ext cx="6824860" cy="501827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06DB60-2E67-45E7-B2F9-ABFD0C36FB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292" y="5805304"/>
            <a:ext cx="360000" cy="360000"/>
          </a:xfrm>
          <a:prstGeom prst="rect">
            <a:avLst/>
          </a:prstGeom>
        </p:spPr>
      </p:pic>
      <p:sp>
        <p:nvSpPr>
          <p:cNvPr id="17" name="1 Título">
            <a:extLst>
              <a:ext uri="{FF2B5EF4-FFF2-40B4-BE49-F238E27FC236}">
                <a16:creationId xmlns:a16="http://schemas.microsoft.com/office/drawing/2014/main" id="{ABCFA3BA-D6AA-4213-8112-57729E63E4F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</p:spTree>
    <p:extLst>
      <p:ext uri="{BB962C8B-B14F-4D97-AF65-F5344CB8AC3E}">
        <p14:creationId xmlns:p14="http://schemas.microsoft.com/office/powerpoint/2010/main" val="4227947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644050EC-1E0D-4397-B517-2D9FC604A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78758"/>
            <a:ext cx="5231133" cy="572155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95400" y="349205"/>
            <a:ext cx="10816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Ajustar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transversales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naturales al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establecido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Pilot Channel. </a:t>
            </a: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Eliminar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sobrantes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coalinear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u="sng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06DB60-2E67-45E7-B2F9-ABFD0C36F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808" y="5589240"/>
            <a:ext cx="360000" cy="360000"/>
          </a:xfrm>
          <a:prstGeom prst="rect">
            <a:avLst/>
          </a:prstGeom>
        </p:spPr>
      </p:pic>
      <p:sp>
        <p:nvSpPr>
          <p:cNvPr id="16" name="7 CuadroTexto">
            <a:extLst>
              <a:ext uri="{FF2B5EF4-FFF2-40B4-BE49-F238E27FC236}">
                <a16:creationId xmlns:a16="http://schemas.microsoft.com/office/drawing/2014/main" id="{E72A7811-28DC-4414-86A8-ADB1F0714DC9}"/>
              </a:ext>
            </a:extLst>
          </p:cNvPr>
          <p:cNvSpPr txBox="1"/>
          <p:nvPr/>
        </p:nvSpPr>
        <p:spPr>
          <a:xfrm>
            <a:off x="1276370" y="5950406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Rectificación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+0.3m</a:t>
            </a:r>
            <a:endParaRPr lang="es-CO" sz="1600" u="sng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730BE52-024B-4CAA-BE1D-B51DBA224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467" y="978758"/>
            <a:ext cx="5231133" cy="57215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030" y="6029834"/>
            <a:ext cx="360000" cy="360000"/>
          </a:xfrm>
          <a:prstGeom prst="rect">
            <a:avLst/>
          </a:prstGeom>
        </p:spPr>
      </p:pic>
      <p:sp>
        <p:nvSpPr>
          <p:cNvPr id="22" name="1 Título">
            <a:extLst>
              <a:ext uri="{FF2B5EF4-FFF2-40B4-BE49-F238E27FC236}">
                <a16:creationId xmlns:a16="http://schemas.microsoft.com/office/drawing/2014/main" id="{BCA98952-61F5-4C6B-B8B3-ED61BB7268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</p:spTree>
    <p:extLst>
      <p:ext uri="{BB962C8B-B14F-4D97-AF65-F5344CB8AC3E}">
        <p14:creationId xmlns:p14="http://schemas.microsoft.com/office/powerpoint/2010/main" val="1765113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E6DC47-AAA0-4229-9F5B-6355BF7E1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274" y="1008864"/>
            <a:ext cx="5151310" cy="563424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819F37-7219-43BF-BB69-9A23072DF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008864"/>
            <a:ext cx="5151310" cy="563424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43987" y="349205"/>
            <a:ext cx="11377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Ajustar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transversales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naturales al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establecido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Pilot Channel. </a:t>
            </a: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encima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Agregar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base y mover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hacia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hasta el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06DB60-2E67-45E7-B2F9-ABFD0C36FB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441" y="4941168"/>
            <a:ext cx="360000" cy="360000"/>
          </a:xfrm>
          <a:prstGeom prst="rect">
            <a:avLst/>
          </a:prstGeom>
        </p:spPr>
      </p:pic>
      <p:sp>
        <p:nvSpPr>
          <p:cNvPr id="16" name="7 CuadroTexto">
            <a:extLst>
              <a:ext uri="{FF2B5EF4-FFF2-40B4-BE49-F238E27FC236}">
                <a16:creationId xmlns:a16="http://schemas.microsoft.com/office/drawing/2014/main" id="{E72A7811-28DC-4414-86A8-ADB1F0714DC9}"/>
              </a:ext>
            </a:extLst>
          </p:cNvPr>
          <p:cNvSpPr txBox="1"/>
          <p:nvPr/>
        </p:nvSpPr>
        <p:spPr>
          <a:xfrm>
            <a:off x="1487488" y="587128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Rectificación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requerida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-0.4m</a:t>
            </a:r>
            <a:endParaRPr lang="es-CO" sz="1600" u="sng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6029834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98444FB7-CEC0-40ED-A0AE-32611B793D1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</p:spTree>
    <p:extLst>
      <p:ext uri="{BB962C8B-B14F-4D97-AF65-F5344CB8AC3E}">
        <p14:creationId xmlns:p14="http://schemas.microsoft.com/office/powerpoint/2010/main" val="389873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E1D0186-DFBE-471A-9F26-BDF6B2E0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294" y="455940"/>
            <a:ext cx="5777732" cy="31175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115" y="2060744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EC78591-6071-4586-B528-84E128596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37" y="455941"/>
            <a:ext cx="5777732" cy="311756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CC8F72-2A17-4DCE-9A38-A143C14CCC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557" y="1765563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E0247CB-921C-4E4D-8209-E155E17D95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371" y="1830063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04D6DD2-BD7C-4356-B11B-5060E69584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684" y="1876876"/>
            <a:ext cx="360000" cy="36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F3FD671-F823-43E7-B19F-2C323EA57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38" y="3576323"/>
            <a:ext cx="5777732" cy="315969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870C688-C5EF-4041-B0DE-97FD09DF8A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31" y="4959080"/>
            <a:ext cx="360000" cy="36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44618E8-8E62-4506-B43D-75738CAC91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785" y="5393393"/>
            <a:ext cx="360000" cy="36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463E073-541A-48D9-9DBB-4CA30A506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201" y="3573508"/>
            <a:ext cx="5794825" cy="316904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1EB3D3C-A1C4-4E4B-8967-A5D655F270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011" y="4843323"/>
            <a:ext cx="360000" cy="36000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251F9CEE-D4AC-49EF-BFB6-EF4EA86331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404" y="4824361"/>
            <a:ext cx="360000" cy="36000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35577" y="2300169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incluir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diques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principal.</a:t>
            </a:r>
          </a:p>
        </p:txBody>
      </p:sp>
      <p:sp>
        <p:nvSpPr>
          <p:cNvPr id="33" name="1 Título">
            <a:extLst>
              <a:ext uri="{FF2B5EF4-FFF2-40B4-BE49-F238E27FC236}">
                <a16:creationId xmlns:a16="http://schemas.microsoft.com/office/drawing/2014/main" id="{18F197CD-D979-4B54-8EB3-F79A44D809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</p:spTree>
    <p:extLst>
      <p:ext uri="{BB962C8B-B14F-4D97-AF65-F5344CB8AC3E}">
        <p14:creationId xmlns:p14="http://schemas.microsoft.com/office/powerpoint/2010/main" val="2147548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A7C8AA-388E-4430-B6A5-0EF9A6753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54" y="836712"/>
            <a:ext cx="10848528" cy="593278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43987" y="349205"/>
            <a:ext cx="1137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mediante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ajuste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Variables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5013176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CF54AE-1FAC-4FA5-823B-EE2D57786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54" y="1988840"/>
            <a:ext cx="2895600" cy="3505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12AD658-E338-4F1D-B898-3262A0C815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951" y="4535368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AB7C7EF6-E461-4BAC-80BB-3515E63DC4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1: Rectificación de fondo en secciones naturales de la zona de inicio.</a:t>
            </a:r>
          </a:p>
        </p:txBody>
      </p:sp>
    </p:spTree>
    <p:extLst>
      <p:ext uri="{BB962C8B-B14F-4D97-AF65-F5344CB8AC3E}">
        <p14:creationId xmlns:p14="http://schemas.microsoft.com/office/powerpoint/2010/main" val="288294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858970" y="3105834"/>
            <a:ext cx="4474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33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403EE36F-E58B-434D-A577-F56980890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09962"/>
            <a:ext cx="7826397" cy="646046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57408" y="1785888"/>
            <a:ext cx="381862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editor de geometría, en el menú Tools, seleccione la herramienta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Pilot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Channels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Especificar los valores definidos en la imagen, correspondientes a el rango de abscisas, ancho de canal, rugosidad y cotas de fondo de inicio y entrega, seleccionar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Apply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to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Range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Update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modelos hidráulicos cuya última sección transversal inicie en la abscisa 0, en 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Upstreams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RS seleccione 3053.451 y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Downstream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RS seleccione 0.0.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3362539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F4AF226-0E0E-46EB-8DF7-4728CAC8AE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302" y="447714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23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60C4A47-95A2-470D-BCCC-8FC06DE4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37" y="1147023"/>
            <a:ext cx="6246563" cy="50182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9B57443-984A-4089-83A7-F01A853A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82" y="1147023"/>
            <a:ext cx="4588140" cy="501827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03229" y="523419"/>
            <a:ext cx="10385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 el editor de geometría, visualizar el perfil del tramo de inicio y las secciones transversales naturales.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4725144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06DB60-2E67-45E7-B2F9-ABFD0C36F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5736615"/>
            <a:ext cx="360000" cy="360000"/>
          </a:xfrm>
          <a:prstGeom prst="rect">
            <a:avLst/>
          </a:prstGeom>
        </p:spPr>
      </p:pic>
      <p:sp>
        <p:nvSpPr>
          <p:cNvPr id="16" name="1 Título">
            <a:extLst>
              <a:ext uri="{FF2B5EF4-FFF2-40B4-BE49-F238E27FC236}">
                <a16:creationId xmlns:a16="http://schemas.microsoft.com/office/drawing/2014/main" id="{73C6796E-AD3C-4859-849B-ECB8AB2260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</p:spTree>
    <p:extLst>
      <p:ext uri="{BB962C8B-B14F-4D97-AF65-F5344CB8AC3E}">
        <p14:creationId xmlns:p14="http://schemas.microsoft.com/office/powerpoint/2010/main" val="545041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963652" y="1643896"/>
            <a:ext cx="626469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Actividades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: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Realice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procedimiento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ajuste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transversales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naturales al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establecido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Pilot Channel,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realizó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las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naturales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inicio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Eliminar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sobrantes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coalinear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Secciones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encima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Channel: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Agregar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nodos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base y mover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hacia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abajo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hasta el nuevo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cada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natural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zona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entrega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incluir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diques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principal.</a:t>
            </a:r>
            <a:endParaRPr lang="es-CO" sz="1600" u="sng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00D1784F-0AE8-4D07-BF1C-341AAD78BF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</p:spTree>
    <p:extLst>
      <p:ext uri="{BB962C8B-B14F-4D97-AF65-F5344CB8AC3E}">
        <p14:creationId xmlns:p14="http://schemas.microsoft.com/office/powerpoint/2010/main" val="1468411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0D7623-53D4-4D34-9156-7109C79EC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6" y="733775"/>
            <a:ext cx="10971624" cy="6000107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43987" y="349205"/>
            <a:ext cx="1137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fondo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obtenido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mediante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ajuste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Clic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derecho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Variables y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Pilot Channel.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10" y="5313394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F2CA929C-5A8A-49F7-BFA8-BDF37CB9A19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</p:spTree>
    <p:extLst>
      <p:ext uri="{BB962C8B-B14F-4D97-AF65-F5344CB8AC3E}">
        <p14:creationId xmlns:p14="http://schemas.microsoft.com/office/powerpoint/2010/main" val="3803944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A26FD8-C652-435A-B157-50C5E280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46" y="684166"/>
            <a:ext cx="11136560" cy="609030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43987" y="349205"/>
            <a:ext cx="1137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Perfil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completo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río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125D43D-F1F0-454A-A2EB-E03FE2565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3709560"/>
            <a:ext cx="360000" cy="360000"/>
          </a:xfrm>
          <a:prstGeom prst="rect">
            <a:avLst/>
          </a:prstGeom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157A68EC-4BA4-43B6-ADA1-93D60D3EBF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2: Rectificación de fondo en secciones naturales de la zona de entrega.</a:t>
            </a:r>
          </a:p>
        </p:txBody>
      </p:sp>
    </p:spTree>
    <p:extLst>
      <p:ext uri="{BB962C8B-B14F-4D97-AF65-F5344CB8AC3E}">
        <p14:creationId xmlns:p14="http://schemas.microsoft.com/office/powerpoint/2010/main" val="211972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177285" y="3244334"/>
            <a:ext cx="583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Eliminación del cauce lateral y el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junction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95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865586" y="1144912"/>
            <a:ext cx="38186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editor de geometría, en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seleccione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Delete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-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Reaches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En la ventana de selección agregue el cauce Lateral1 y de clic en Ok.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Eliminación del cauce lateral y el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junction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150" y="3362539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0F127E0-E8E5-4ECD-84EA-15A302554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926" y="714375"/>
            <a:ext cx="5581650" cy="5429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306784-EEC6-405D-B3AA-127ED4266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2514600"/>
            <a:ext cx="4591050" cy="36290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044CA3-FEF6-4C1C-BF99-AEFE3AB25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126" y="4725144"/>
            <a:ext cx="26384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86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E5E5889-69D7-46D1-BA92-F80518E7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15" y="3356992"/>
            <a:ext cx="2905125" cy="195262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1340768"/>
            <a:ext cx="43451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Ajuste el dominio de visualización del cauce principal utilizando los valores mostrados en la imagen. En View, seleccione la opción Set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Schematic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Extents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… Usando botón derecho sobre el espacio de trabajo de editor de geometría, realice un Full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Plot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para verificar el límite del dominio.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82" y="4333304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DC617E3-1FEC-43BA-970C-1A96D7030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375878"/>
            <a:ext cx="5727374" cy="6264316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4FFC337D-562C-4205-B70F-34FED69F90F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Eliminación del cauce lateral y el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junction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7917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452CEE-B05D-4424-9115-8FD0AC10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96" y="2313749"/>
            <a:ext cx="4572000" cy="22764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701304" y="873589"/>
            <a:ext cx="4345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la eliminación del Junction, desde el editor de geometría, en el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seleccione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Delete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- Junction. En la ventana de selección agregue el Junction 1 y de clic en Ok.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552" y="3393869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214F9C-1521-496D-B17B-B83F2DD41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983" y="4802088"/>
            <a:ext cx="2409825" cy="12192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2E9D687-349D-4B48-B00B-E173BB1D28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26" y="404664"/>
            <a:ext cx="5354982" cy="353084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8E625A8-E2A8-4482-8445-F754A0CC6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26" y="4030040"/>
            <a:ext cx="5354982" cy="2582663"/>
          </a:xfrm>
          <a:prstGeom prst="rect">
            <a:avLst/>
          </a:prstGeom>
        </p:spPr>
      </p:pic>
      <p:sp>
        <p:nvSpPr>
          <p:cNvPr id="19" name="1 Título">
            <a:extLst>
              <a:ext uri="{FF2B5EF4-FFF2-40B4-BE49-F238E27FC236}">
                <a16:creationId xmlns:a16="http://schemas.microsoft.com/office/drawing/2014/main" id="{BBC474C1-11F5-409F-8E06-10BE47E10C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3: Eliminación del cauce lateral y el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junction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5959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800438" y="3244334"/>
            <a:ext cx="659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4: Modelación en condiciones de Flujo Permanente.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95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CD66875-717C-4524-80B7-C9FAC6F5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722" y="620688"/>
            <a:ext cx="6448425" cy="22288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30009" y="620688"/>
            <a:ext cx="4345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principal de HEC-RAS, abrir el plan de modelación de flujo permanente, menú Run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Analysis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seleccionar HECRAS_v2_Permanente.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4: Modelación en condiciones de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434" y="1438414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20E92F-8183-4DC4-A188-88BC1BEB8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159" y="3253657"/>
            <a:ext cx="47815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26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366DC9-F460-465A-B6BA-8CCD6E85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60" y="404664"/>
            <a:ext cx="6726904" cy="3060967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36556" y="620688"/>
            <a:ext cx="48233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principal de HEC-RAS, editar las propiedades de flujo y condiciones de frontera para flujo permanente.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Data… Verificar los valores ingresados y eliminar el registro correspondiente a la abscisa 8885.184m debido a que el Junction de descarga del cauce lateral ya no existe.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Delete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Row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From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Table. Verifique las condiciones de frontera para profundidad Normal aguas abajo y crítica aguas arriba en caso de que la modelación se realice en régimen de flujo mixto.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128" y="2565274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CE87EE-0557-4434-A70F-D39577B47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760" y="3648664"/>
            <a:ext cx="6726904" cy="306096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129827-16B3-4BA3-BF76-6B323BB070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24" y="5626241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38C1CD9-C50A-4EB4-94FB-6E016489A5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6" y="4261359"/>
            <a:ext cx="4823340" cy="2448272"/>
          </a:xfrm>
          <a:prstGeom prst="rect">
            <a:avLst/>
          </a:prstGeom>
        </p:spPr>
      </p:pic>
      <p:sp>
        <p:nvSpPr>
          <p:cNvPr id="17" name="1 Título">
            <a:extLst>
              <a:ext uri="{FF2B5EF4-FFF2-40B4-BE49-F238E27FC236}">
                <a16:creationId xmlns:a16="http://schemas.microsoft.com/office/drawing/2014/main" id="{6605940F-5EF8-4361-92E7-DB14A3362D9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4: Modelación en condiciones de Flujo Permanente.</a:t>
            </a:r>
          </a:p>
        </p:txBody>
      </p:sp>
    </p:spTree>
    <p:extLst>
      <p:ext uri="{BB962C8B-B14F-4D97-AF65-F5344CB8AC3E}">
        <p14:creationId xmlns:p14="http://schemas.microsoft.com/office/powerpoint/2010/main" val="1376514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E3F02D-97C3-4338-B5A1-324032E3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6" y="3717032"/>
            <a:ext cx="4781550" cy="298132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02372" y="413210"/>
            <a:ext cx="539940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Vuelva a la ventana del Plan de flujo permanente,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seleccione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Critical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Depth Output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marque la casilla para calcular estas profundidades.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Ejecute en condiciones de flujo Subcrítico y verifique los resultados obtenidos. Realice el mismo procedimiento para condiciones de flujo Mixto. Verifique el perfil obtenido. En el perfil, incluya la variable de profundidad crítica. Analice.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83" y="6338357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482FE3-ED66-460D-9E84-B539327010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667" y="5190602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802A1ED-F789-45B0-829F-629EECB7F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531" y="2539755"/>
            <a:ext cx="2895600" cy="103822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F635C4-00CA-49F6-BB32-72C42745ED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305" y="3239453"/>
            <a:ext cx="360000" cy="3600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F0055B9-7610-42EE-BA38-6BEA6C649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6309" y="413697"/>
            <a:ext cx="5761153" cy="6301261"/>
          </a:xfrm>
          <a:prstGeom prst="rect">
            <a:avLst/>
          </a:prstGeom>
        </p:spPr>
      </p:pic>
      <p:sp>
        <p:nvSpPr>
          <p:cNvPr id="23" name="1 Título">
            <a:extLst>
              <a:ext uri="{FF2B5EF4-FFF2-40B4-BE49-F238E27FC236}">
                <a16:creationId xmlns:a16="http://schemas.microsoft.com/office/drawing/2014/main" id="{A040BB03-3012-4A12-9364-D87B52A8A3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4: Modelación en condiciones de Flujo Permanente.</a:t>
            </a:r>
          </a:p>
        </p:txBody>
      </p:sp>
    </p:spTree>
    <p:extLst>
      <p:ext uri="{BB962C8B-B14F-4D97-AF65-F5344CB8AC3E}">
        <p14:creationId xmlns:p14="http://schemas.microsoft.com/office/powerpoint/2010/main" val="1802416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89C5D6-4B71-48AF-BEEF-DD64A6F66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6" y="728314"/>
            <a:ext cx="11208568" cy="612968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0" y="336296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Resultados en sección compuesta de diseño.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883" y="6338357"/>
            <a:ext cx="360000" cy="360000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E7AAA2BD-FFF8-441D-9DEF-9F2F66E2060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4: Modelación en condiciones de Flujo Permanente.</a:t>
            </a:r>
          </a:p>
        </p:txBody>
      </p:sp>
    </p:spTree>
    <p:extLst>
      <p:ext uri="{BB962C8B-B14F-4D97-AF65-F5344CB8AC3E}">
        <p14:creationId xmlns:p14="http://schemas.microsoft.com/office/powerpoint/2010/main" val="4203839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800438" y="3244334"/>
            <a:ext cx="659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53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731D18-A763-4C1F-A0EB-EBA88A99E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6" y="1628800"/>
            <a:ext cx="6448425" cy="21907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2426900" y="701584"/>
            <a:ext cx="7338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principal de HEC-RAS, abrir el plan de modelación de flujo no permanente, menú Run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Analysis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seleccionar HECRAS_v2_NP2.33.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262" y="2441718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C9D919-6237-4347-A8A4-ED1C5EB9E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38" y="1633217"/>
            <a:ext cx="488632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78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23F8016D-EFED-41F7-8541-1CADCBB99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497989"/>
            <a:ext cx="5040560" cy="523025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E89864F-E4FB-4914-B945-319C53DF6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1491772"/>
            <a:ext cx="4968552" cy="5235679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23370" y="298673"/>
            <a:ext cx="112978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principal de HEC-RAS, editar las propiedades de flujo y condiciones de frontera para flujo no permanente. Menú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Edit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Unsteady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Flow Data… Verificar los valores ingresados y eliminar el registro correspondiente al cauce lateral debido a que ya no existe y al punto de unión en la abscisa 3253.45m.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Delete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Boundinary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Condition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Verifique las condiciones de frontera para profundidad Normal aguas abajo y el hidrograma de entrada. En condiciones iniciales establezca flujo de 0.001 m</a:t>
            </a:r>
            <a:r>
              <a:rPr lang="en-US" sz="1800" dirty="0">
                <a:latin typeface="Segoe UI Light" panose="020B0502040204020203" pitchFamily="34" charset="0"/>
              </a:rPr>
              <a:t>³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/s.</a:t>
            </a:r>
            <a:endParaRPr lang="es-CO" sz="1800" dirty="0">
              <a:latin typeface="MS Shell Dlg 2" panose="020B060403050404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4437112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129827-16B3-4BA3-BF76-6B323BB070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3573016"/>
            <a:ext cx="360000" cy="36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C263669-A065-4F32-AF89-6AC391A284C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46083" b="40861"/>
          <a:stretch/>
        </p:blipFill>
        <p:spPr>
          <a:xfrm>
            <a:off x="695400" y="5174854"/>
            <a:ext cx="5040560" cy="682867"/>
          </a:xfrm>
          <a:prstGeom prst="rect">
            <a:avLst/>
          </a:prstGeom>
        </p:spPr>
      </p:pic>
      <p:sp>
        <p:nvSpPr>
          <p:cNvPr id="23" name="1 Título">
            <a:extLst>
              <a:ext uri="{FF2B5EF4-FFF2-40B4-BE49-F238E27FC236}">
                <a16:creationId xmlns:a16="http://schemas.microsoft.com/office/drawing/2014/main" id="{92B80E22-C178-4073-8952-E1725B8BC6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2247759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ACAD3B4A-F187-442F-80E6-795303149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8" y="2603928"/>
            <a:ext cx="6267506" cy="176117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638" y="3730763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18FCEF-8F80-497B-A25E-8CD5C420C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446034"/>
            <a:ext cx="6268591" cy="16573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9D01D2-00C0-4FD5-ABE3-F97939E28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78" y="2748081"/>
            <a:ext cx="4948534" cy="410870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02372" y="413210"/>
            <a:ext cx="5239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Vuelva a la ventana del Plan de flujo no permanente, cambie la geometría por HECRAS_v2, revise la ventana de alertas. Podrá observar que para las secciones RS 10178.15m y RS 1400m se muestra una alerta correspondiente al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Htab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debido a que el fondo de estas secciones fue modificado hacia arriba del fondo original. En el editor de geometría, clic en el botón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Htab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Param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del panel izquierdo, modifique los valores de fondo ajustando al nuevo valor mínimo.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482FE3-ED66-460D-9E84-B539327010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44" y="1255659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F635C4-00CA-49F6-BB32-72C42745ED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6084790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056A3DE-689D-45BD-8659-3704688681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7968" y="4786165"/>
            <a:ext cx="6257634" cy="175840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08203FB-A516-492F-BB95-E9EA18F1AE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454" y="5773392"/>
            <a:ext cx="360000" cy="360000"/>
          </a:xfrm>
          <a:prstGeom prst="rect">
            <a:avLst/>
          </a:prstGeom>
        </p:spPr>
      </p:pic>
      <p:sp>
        <p:nvSpPr>
          <p:cNvPr id="24" name="1 Título">
            <a:extLst>
              <a:ext uri="{FF2B5EF4-FFF2-40B4-BE49-F238E27FC236}">
                <a16:creationId xmlns:a16="http://schemas.microsoft.com/office/drawing/2014/main" id="{F53C339A-3A2D-465D-8A35-A70A0ACA401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3605477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44C6088-8059-44A9-9E09-A2839714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20" y="1988840"/>
            <a:ext cx="4886325" cy="473392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45102" y="320470"/>
            <a:ext cx="5242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Vuelva a la ventana del Plan de flujo no permanente, ejecute y analice los resultados obtenidos. Realice el mismo procedimiento para 100 años de periodo de retorno.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ventana de resultados de ejecución podrá observar una alerta en la sección 2400m.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578" y="6502124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482FE3-ED66-460D-9E84-B539327010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74" y="5282645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F635C4-00CA-49F6-BB32-72C42745ED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578" y="2762365"/>
            <a:ext cx="360000" cy="36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E0B1949-23F1-4B61-BAEB-757D3ED48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537" y="360000"/>
            <a:ext cx="5177758" cy="630932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4BC7C6D1-64FB-4D6A-9FD2-CC95193827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2219987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D66DAF00-18C9-4903-8DC4-83F305D36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705173"/>
            <a:ext cx="10757783" cy="588316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45102" y="320470"/>
            <a:ext cx="11583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Verifique la geometría de la sección 2400m.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F635C4-00CA-49F6-BB32-72C42745ED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1556792"/>
            <a:ext cx="360000" cy="360000"/>
          </a:xfrm>
          <a:prstGeom prst="rect">
            <a:avLst/>
          </a:prstGeom>
        </p:spPr>
      </p:pic>
      <p:sp>
        <p:nvSpPr>
          <p:cNvPr id="15" name="1 Título">
            <a:extLst>
              <a:ext uri="{FF2B5EF4-FFF2-40B4-BE49-F238E27FC236}">
                <a16:creationId xmlns:a16="http://schemas.microsoft.com/office/drawing/2014/main" id="{13D43C12-F4FC-4A6B-89C5-EA98D3F589D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550326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9457C8-86CF-4C32-AA5C-2D9B0148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018624"/>
            <a:ext cx="10513168" cy="574938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924407" y="336178"/>
            <a:ext cx="8343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optimizar la geometría, eliminar los nodos sobrantes de la sección de entrega del canal diseñado en la abscisa 3253.451m. Editar la sección y eliminar los nodos de la zona central.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00" y="5733256"/>
            <a:ext cx="360000" cy="360000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261AB8FF-DAD8-4A19-9AAF-9E1C5EFC87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2594985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E104B525-C5CC-4E57-96D2-7E44AB5B6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122108"/>
            <a:ext cx="10488488" cy="573589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45102" y="320470"/>
            <a:ext cx="11583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optimizar la geometría, eliminar los nodos sobrantes de la sección de entrega del canal diseñado en la abscisa 3253.451m. Editar la sección y eliminar los nodos de la zona central. Sección ajustada.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5301208"/>
            <a:ext cx="360000" cy="360000"/>
          </a:xfrm>
          <a:prstGeom prst="rect">
            <a:avLst/>
          </a:prstGeom>
        </p:spPr>
      </p:pic>
      <p:sp>
        <p:nvSpPr>
          <p:cNvPr id="18" name="1 Título">
            <a:extLst>
              <a:ext uri="{FF2B5EF4-FFF2-40B4-BE49-F238E27FC236}">
                <a16:creationId xmlns:a16="http://schemas.microsoft.com/office/drawing/2014/main" id="{B76C2FEA-8B6F-48D3-8F54-3BDF12D142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1013676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0C3E7F-B522-4E0A-920A-DE2DAF163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268760"/>
            <a:ext cx="5857875" cy="503872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45102" y="320470"/>
            <a:ext cx="11583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eliminar las alertas producidas puede simplificar la representación de las secciones reduciendo el número de puntos a 100. En editor de geometría ir a Tools – Cross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Point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Filter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Agregar múltiples localizaciones, todos los ríos y establecer el número de puntos representativos en 100.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CF635C4-00CA-49F6-BB32-72C42745ED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084" y="4725144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166F1CF-2691-41B7-9B37-1EC7F424EE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700808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A11B8F-8F32-4F97-A3E5-E065F105E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609" y="1268760"/>
            <a:ext cx="4878015" cy="5038725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D9DE9CE1-26A1-4FCA-937E-61309AC3AF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3942108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C9C1DA-DD9B-4F8D-8D74-FD15B6CA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2" y="782736"/>
            <a:ext cx="10920536" cy="597216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02372" y="316318"/>
            <a:ext cx="11626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Verifique los resultados obtenidos para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2.33yr.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4293096"/>
            <a:ext cx="360000" cy="360000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EE98582D-70B1-4410-91F8-C7176F2EBE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1380260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B559BCE-37C3-4F9B-BAF7-7B1F1453C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6" y="805790"/>
            <a:ext cx="10488488" cy="573589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02372" y="316318"/>
            <a:ext cx="11626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Verifique los resultados obtenidos para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2.33yr.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92CEAF-07C3-41F6-95E7-46DD03338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4509120"/>
            <a:ext cx="360000" cy="360000"/>
          </a:xfrm>
          <a:prstGeom prst="rect">
            <a:avLst/>
          </a:prstGeom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30187B89-3607-4D82-85C3-9D9AEAF314E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5: Modelación en condiciones de Flujo No Permanente.</a:t>
            </a:r>
          </a:p>
        </p:txBody>
      </p:sp>
    </p:spTree>
    <p:extLst>
      <p:ext uri="{BB962C8B-B14F-4D97-AF65-F5344CB8AC3E}">
        <p14:creationId xmlns:p14="http://schemas.microsoft.com/office/powerpoint/2010/main" val="632517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972653" y="3136612"/>
            <a:ext cx="6246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modelo hidráulico obtenido en esta clase puede ser descargado del repositorio de datos como HECRAS_v1a_20200923.zip o HECRAS_v1a_20231125.zip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3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13833</TotalTime>
  <Words>1875</Words>
  <Application>Microsoft Office PowerPoint</Application>
  <PresentationFormat>Widescreen</PresentationFormat>
  <Paragraphs>109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MS Shell Dlg 2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HCMC_3_7</dc:title>
  <dc:creator>master</dc:creator>
  <cp:lastModifiedBy>WILLIAM RICARDO AGUILAR PIÑA</cp:lastModifiedBy>
  <cp:revision>579</cp:revision>
  <dcterms:created xsi:type="dcterms:W3CDTF">2010-05-17T13:13:34Z</dcterms:created>
  <dcterms:modified xsi:type="dcterms:W3CDTF">2025-08-01T18:41:47Z</dcterms:modified>
</cp:coreProperties>
</file>