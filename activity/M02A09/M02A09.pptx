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5" r:id="rId2"/>
    <p:sldId id="289" r:id="rId3"/>
    <p:sldId id="295" r:id="rId4"/>
    <p:sldId id="399" r:id="rId5"/>
    <p:sldId id="388" r:id="rId6"/>
    <p:sldId id="389" r:id="rId7"/>
    <p:sldId id="391" r:id="rId8"/>
    <p:sldId id="390" r:id="rId9"/>
    <p:sldId id="396" r:id="rId10"/>
    <p:sldId id="392" r:id="rId11"/>
    <p:sldId id="393" r:id="rId12"/>
    <p:sldId id="394" r:id="rId13"/>
    <p:sldId id="400" r:id="rId14"/>
    <p:sldId id="395" r:id="rId15"/>
    <p:sldId id="397" r:id="rId16"/>
    <p:sldId id="398" r:id="rId17"/>
    <p:sldId id="401" r:id="rId18"/>
    <p:sldId id="386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3" autoAdjust="0"/>
    <p:restoredTop sz="93623" autoAdjust="0"/>
  </p:normalViewPr>
  <p:slideViewPr>
    <p:cSldViewPr>
      <p:cViewPr varScale="1">
        <p:scale>
          <a:sx n="107" d="100"/>
          <a:sy n="107" d="100"/>
        </p:scale>
        <p:origin x="630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31/07/2025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 Título">
            <a:extLst>
              <a:ext uri="{FF2B5EF4-FFF2-40B4-BE49-F238E27FC236}">
                <a16:creationId xmlns:a16="http://schemas.microsoft.com/office/drawing/2014/main" id="{CF602DD4-6CD6-45A5-8387-11EC9AEA487E}"/>
              </a:ext>
            </a:extLst>
          </p:cNvPr>
          <p:cNvSpPr txBox="1">
            <a:spLocks/>
          </p:cNvSpPr>
          <p:nvPr/>
        </p:nvSpPr>
        <p:spPr>
          <a:xfrm>
            <a:off x="0" y="4581128"/>
            <a:ext cx="12192000" cy="8934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ES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Planos de ingeniería de detalle</a:t>
            </a:r>
          </a:p>
          <a:p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Generación de secciones transversales, planta y perfil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C1FD41-6B01-4003-8583-7FDA4B45F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8" name="1 Título">
            <a:extLst>
              <a:ext uri="{FF2B5EF4-FFF2-40B4-BE49-F238E27FC236}">
                <a16:creationId xmlns:a16="http://schemas.microsoft.com/office/drawing/2014/main" id="{6FC48DCA-5C8A-4E53-A170-D0726ABA5FC3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baalkara@gmail.com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B3307B-0508-425D-9DA8-37E4ED53FB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  <p:sp>
        <p:nvSpPr>
          <p:cNvPr id="10" name="1 Título">
            <a:extLst>
              <a:ext uri="{FF2B5EF4-FFF2-40B4-BE49-F238E27FC236}">
                <a16:creationId xmlns:a16="http://schemas.microsoft.com/office/drawing/2014/main" id="{4162A140-F4C9-4AE6-82CB-B60F04969656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v.20250731</a:t>
            </a:r>
            <a:endParaRPr lang="es-CO" sz="800" spc="100" dirty="0">
              <a:solidFill>
                <a:schemeClr val="bg1">
                  <a:lumMod val="6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935760" y="2367171"/>
            <a:ext cx="43204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</a:t>
            </a:r>
          </a:p>
          <a:p>
            <a:pPr algn="just"/>
            <a:endParaRPr lang="es-E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 partir de los modelos de terreno para la planicie y para el canal combinado, y de lo ejes para el valle y el cauce principal, generar las secciones transversales, la planta y el perfil. </a:t>
            </a:r>
          </a:p>
          <a:p>
            <a:pPr algn="just"/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Generar tablas de curvas.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18390F-188B-465D-9C15-DCF7AE7BF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27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6" name="7 CuadroTexto">
            <a:extLst>
              <a:ext uri="{FF2B5EF4-FFF2-40B4-BE49-F238E27FC236}">
                <a16:creationId xmlns:a16="http://schemas.microsoft.com/office/drawing/2014/main" id="{739A424E-DF22-43F8-B01C-C3D5367F1570}"/>
              </a:ext>
            </a:extLst>
          </p:cNvPr>
          <p:cNvSpPr txBox="1"/>
          <p:nvPr/>
        </p:nvSpPr>
        <p:spPr>
          <a:xfrm>
            <a:off x="3125670" y="2659558"/>
            <a:ext cx="59406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requeridas</a:t>
            </a:r>
          </a:p>
          <a:p>
            <a:r>
              <a:rPr lang="es-CO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AutoCAD®.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Autodesk Civil 3D®.</a:t>
            </a:r>
          </a:p>
        </p:txBody>
      </p:sp>
    </p:spTree>
    <p:extLst>
      <p:ext uri="{BB962C8B-B14F-4D97-AF65-F5344CB8AC3E}">
        <p14:creationId xmlns:p14="http://schemas.microsoft.com/office/powerpoint/2010/main" val="111086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D9249A5-32EC-4C9A-ACFB-C1D4EEBFA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-169277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DAC41D7-BC0E-4D79-A63C-1E196ADC316F}"/>
              </a:ext>
            </a:extLst>
          </p:cNvPr>
          <p:cNvSpPr txBox="1"/>
          <p:nvPr/>
        </p:nvSpPr>
        <p:spPr>
          <a:xfrm>
            <a:off x="3328692" y="3244334"/>
            <a:ext cx="553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48987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7 CuadroTexto">
            <a:extLst>
              <a:ext uri="{FF2B5EF4-FFF2-40B4-BE49-F238E27FC236}">
                <a16:creationId xmlns:a16="http://schemas.microsoft.com/office/drawing/2014/main" id="{A331A1B0-C991-4EAF-887F-8E69A6BE024D}"/>
              </a:ext>
            </a:extLst>
          </p:cNvPr>
          <p:cNvSpPr txBox="1"/>
          <p:nvPr/>
        </p:nvSpPr>
        <p:spPr>
          <a:xfrm>
            <a:off x="290351" y="1052736"/>
            <a:ext cx="60486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1. A partir del archivo 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cad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/civil/Civil3D_MDT_PlanicieCanal_v1.dwg, en el cual se generó el reporte de cantidades de volumen, se selecciona la herramienta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Sample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Lines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Para generar la secciones se pueden usar las líneas definidas para las secciones de muestreo de HEC-RAS o las líneas generadas en Autodesk Civil 3D. Guardar como 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cad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/civil/Civil3D_MDT_PlanicieCanalSeccionPerfil_v1.dwg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30D3938B-5264-4731-9161-0A9C1E5BC0DE}"/>
              </a:ext>
            </a:extLst>
          </p:cNvPr>
          <p:cNvSpPr txBox="1"/>
          <p:nvPr/>
        </p:nvSpPr>
        <p:spPr>
          <a:xfrm>
            <a:off x="6976363" y="1052736"/>
            <a:ext cx="4140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2. Añadir todas las líneas definidas para la secciones transversales. </a:t>
            </a: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506DC760-25E2-4F63-BE21-EF2BB5207278}"/>
              </a:ext>
            </a:extLst>
          </p:cNvPr>
          <p:cNvSpPr txBox="1"/>
          <p:nvPr/>
        </p:nvSpPr>
        <p:spPr>
          <a:xfrm>
            <a:off x="6960096" y="2924944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3. En la pestaña home seleccionamos la herramienta para crear la presentación de las secciones transversales.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8BD7F7F-ED87-4547-8865-FAE5D6DB5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75" t="3778" r="24800" b="64007"/>
          <a:stretch/>
        </p:blipFill>
        <p:spPr>
          <a:xfrm>
            <a:off x="343455" y="2791009"/>
            <a:ext cx="3806958" cy="19034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7FD7F83-0CF8-4380-83AA-CD4D3C600E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63" t="31791" r="59450" b="28990"/>
          <a:stretch/>
        </p:blipFill>
        <p:spPr>
          <a:xfrm>
            <a:off x="4044354" y="3210467"/>
            <a:ext cx="2375102" cy="16220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B058BDC-6FC2-43A1-90E5-512D900450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056" t="24526" r="46057" b="49796"/>
          <a:stretch/>
        </p:blipFill>
        <p:spPr>
          <a:xfrm>
            <a:off x="1215683" y="4986859"/>
            <a:ext cx="4880281" cy="156966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5F36E21-F206-47F0-99A6-D42418C39B6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326" t="38860" r="9838" b="21987"/>
          <a:stretch/>
        </p:blipFill>
        <p:spPr>
          <a:xfrm>
            <a:off x="6995387" y="1710549"/>
            <a:ext cx="4213181" cy="108046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F0BF3AD-4A12-4044-9477-ACA9CF5AEF6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0550" t="6645" r="22438" b="24788"/>
          <a:stretch/>
        </p:blipFill>
        <p:spPr>
          <a:xfrm>
            <a:off x="7714715" y="3823094"/>
            <a:ext cx="2739234" cy="285304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ADAC41D7-BC0E-4D79-A63C-1E196ADC316F}"/>
              </a:ext>
            </a:extLst>
          </p:cNvPr>
          <p:cNvSpPr txBox="1"/>
          <p:nvPr/>
        </p:nvSpPr>
        <p:spPr>
          <a:xfrm>
            <a:off x="1003432" y="476672"/>
            <a:ext cx="962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CF6DCBF-4F3E-4340-B7C0-F1838109958E}"/>
              </a:ext>
            </a:extLst>
          </p:cNvPr>
          <p:cNvSpPr txBox="1"/>
          <p:nvPr/>
        </p:nvSpPr>
        <p:spPr>
          <a:xfrm>
            <a:off x="0" y="-2350"/>
            <a:ext cx="121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139570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2C74FE-5E0E-4B35-BCD9-5B1CAF955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8" y="1340768"/>
            <a:ext cx="6324923" cy="428852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7206F01-B774-4370-9BA7-A978784211A9}"/>
              </a:ext>
            </a:extLst>
          </p:cNvPr>
          <p:cNvSpPr txBox="1"/>
          <p:nvPr/>
        </p:nvSpPr>
        <p:spPr>
          <a:xfrm>
            <a:off x="9663034" y="2237703"/>
            <a:ext cx="1185494" cy="646331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13982"/>
              <a:gd name="adj6" fmla="val -82877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Grupo de líneas de secciones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9E0814-FCE6-4655-9B6A-7777A8C0F95C}"/>
              </a:ext>
            </a:extLst>
          </p:cNvPr>
          <p:cNvSpPr txBox="1"/>
          <p:nvPr/>
        </p:nvSpPr>
        <p:spPr>
          <a:xfrm>
            <a:off x="1127448" y="2082766"/>
            <a:ext cx="1944216" cy="646331"/>
          </a:xfrm>
          <a:prstGeom prst="callout2">
            <a:avLst>
              <a:gd name="adj1" fmla="val 19732"/>
              <a:gd name="adj2" fmla="val 89773"/>
              <a:gd name="adj3" fmla="val -34549"/>
              <a:gd name="adj4" fmla="val 143168"/>
              <a:gd name="adj5" fmla="val -42969"/>
              <a:gd name="adj6" fmla="val 179494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Alineamiento sobre el cual se realizará el muestreo para generar la secciones.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911424F-EAF0-48B2-8400-339755B78C14}"/>
              </a:ext>
            </a:extLst>
          </p:cNvPr>
          <p:cNvSpPr txBox="1"/>
          <p:nvPr/>
        </p:nvSpPr>
        <p:spPr>
          <a:xfrm>
            <a:off x="1127448" y="2946862"/>
            <a:ext cx="1656184" cy="600164"/>
          </a:xfrm>
          <a:prstGeom prst="callout2">
            <a:avLst>
              <a:gd name="adj1" fmla="val 19732"/>
              <a:gd name="adj2" fmla="val 89773"/>
              <a:gd name="adj3" fmla="val -77133"/>
              <a:gd name="adj4" fmla="val 187554"/>
              <a:gd name="adj5" fmla="val -76916"/>
              <a:gd name="adj6" fmla="val 216198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Rango del Abscisado en el cual se generarán secciones.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D4DB1D4-E2BB-45B5-80B8-6D3EA8194E01}"/>
              </a:ext>
            </a:extLst>
          </p:cNvPr>
          <p:cNvSpPr txBox="1"/>
          <p:nvPr/>
        </p:nvSpPr>
        <p:spPr>
          <a:xfrm>
            <a:off x="1003432" y="3792960"/>
            <a:ext cx="1944216" cy="461665"/>
          </a:xfrm>
          <a:prstGeom prst="callout2">
            <a:avLst>
              <a:gd name="adj1" fmla="val 19732"/>
              <a:gd name="adj2" fmla="val 89773"/>
              <a:gd name="adj3" fmla="val -32197"/>
              <a:gd name="adj4" fmla="val 164798"/>
              <a:gd name="adj5" fmla="val -31980"/>
              <a:gd name="adj6" fmla="val 185485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Nombre de la presentación de secciones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CEEA68F-48DD-44FB-BB88-0FC2AF056685}"/>
              </a:ext>
            </a:extLst>
          </p:cNvPr>
          <p:cNvSpPr txBox="1"/>
          <p:nvPr/>
        </p:nvSpPr>
        <p:spPr>
          <a:xfrm>
            <a:off x="1612414" y="5035094"/>
            <a:ext cx="1656184" cy="261610"/>
          </a:xfrm>
          <a:prstGeom prst="callout2">
            <a:avLst>
              <a:gd name="adj1" fmla="val 19732"/>
              <a:gd name="adj2" fmla="val 89773"/>
              <a:gd name="adj3" fmla="val -32197"/>
              <a:gd name="adj4" fmla="val 164798"/>
              <a:gd name="adj5" fmla="val -31980"/>
              <a:gd name="adj6" fmla="val 185485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just"/>
            <a:r>
              <a:rPr lang="es-CO" sz="11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Estilo de la sección</a:t>
            </a:r>
          </a:p>
        </p:txBody>
      </p:sp>
      <p:sp>
        <p:nvSpPr>
          <p:cNvPr id="16" name="1 Título">
            <a:extLst>
              <a:ext uri="{FF2B5EF4-FFF2-40B4-BE49-F238E27FC236}">
                <a16:creationId xmlns:a16="http://schemas.microsoft.com/office/drawing/2014/main" id="{AA76C3FE-1C6D-40E3-B51D-5257B8F244A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27978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52C1053-A91E-4106-9AC6-4FFA2A5ED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33" y="1124744"/>
            <a:ext cx="6981825" cy="47529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B7BC406-4BFF-475E-BC73-3FE37EF604ED}"/>
              </a:ext>
            </a:extLst>
          </p:cNvPr>
          <p:cNvSpPr txBox="1"/>
          <p:nvPr/>
        </p:nvSpPr>
        <p:spPr>
          <a:xfrm>
            <a:off x="407368" y="3196000"/>
            <a:ext cx="2483768" cy="1169551"/>
          </a:xfrm>
          <a:prstGeom prst="callout2">
            <a:avLst>
              <a:gd name="adj1" fmla="val 19732"/>
              <a:gd name="adj2" fmla="val 89773"/>
              <a:gd name="adj3" fmla="val -69120"/>
              <a:gd name="adj4" fmla="val 115940"/>
              <a:gd name="adj5" fmla="val -70528"/>
              <a:gd name="adj6" fmla="val 183305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Offset para realizar el muestreo de la sección. Se introduce el valor de izquierda y derecha hasta donde se quiere mostrar la sección.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9E0CE37C-3CCE-4755-89BC-4B7C2658567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3871493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D44F56A-AC3E-4B31-BF1F-B0054A8B3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984" y="-171400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endParaRPr lang="es-CO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DA09188-FAE6-497D-B204-22F99B6ED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543" y="1268760"/>
            <a:ext cx="6981825" cy="475297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E9801BD-2AC8-4D2E-8B5F-0B9E46F2D165}"/>
              </a:ext>
            </a:extLst>
          </p:cNvPr>
          <p:cNvSpPr txBox="1"/>
          <p:nvPr/>
        </p:nvSpPr>
        <p:spPr>
          <a:xfrm>
            <a:off x="9803869" y="3573016"/>
            <a:ext cx="975277" cy="461665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8884"/>
              <a:gd name="adj6" fmla="val -185025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MDT de Referencia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F18A5FA-D5BF-4C22-89DC-E7C4BDE79ECA}"/>
              </a:ext>
            </a:extLst>
          </p:cNvPr>
          <p:cNvSpPr txBox="1"/>
          <p:nvPr/>
        </p:nvSpPr>
        <p:spPr>
          <a:xfrm>
            <a:off x="1127448" y="2930741"/>
            <a:ext cx="1459250" cy="830997"/>
          </a:xfrm>
          <a:prstGeom prst="callout2">
            <a:avLst>
              <a:gd name="adj1" fmla="val 19732"/>
              <a:gd name="adj2" fmla="val 89773"/>
              <a:gd name="adj3" fmla="val -34549"/>
              <a:gd name="adj4" fmla="val 143168"/>
              <a:gd name="adj5" fmla="val -35322"/>
              <a:gd name="adj6" fmla="val 212543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Rango de elevaciones que se mostrará en la sección transversal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DF82F11-624E-46AE-A6DB-B30F308AD8BE}"/>
              </a:ext>
            </a:extLst>
          </p:cNvPr>
          <p:cNvSpPr txBox="1"/>
          <p:nvPr/>
        </p:nvSpPr>
        <p:spPr>
          <a:xfrm>
            <a:off x="1105792" y="3957507"/>
            <a:ext cx="1459250" cy="1015663"/>
          </a:xfrm>
          <a:prstGeom prst="callout2">
            <a:avLst>
              <a:gd name="adj1" fmla="val 19732"/>
              <a:gd name="adj2" fmla="val 89773"/>
              <a:gd name="adj3" fmla="val -34549"/>
              <a:gd name="adj4" fmla="val 143168"/>
              <a:gd name="adj5" fmla="val -35322"/>
              <a:gd name="adj6" fmla="val 212543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MDT de referencia para el ajuste de elevaciones según sea el rango elegido. </a:t>
            </a:r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CA1EDDAC-4F79-4291-83E5-97A163F948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353589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7DAAC3C-E0DE-4A10-B178-45CAA669E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815" y="1124297"/>
            <a:ext cx="6981825" cy="47529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AEB750C-9CEB-4CDA-82C4-45D66529F16F}"/>
              </a:ext>
            </a:extLst>
          </p:cNvPr>
          <p:cNvSpPr txBox="1"/>
          <p:nvPr/>
        </p:nvSpPr>
        <p:spPr>
          <a:xfrm>
            <a:off x="9714640" y="2269143"/>
            <a:ext cx="904961" cy="461665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6673"/>
              <a:gd name="adj6" fmla="val -255545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Grupo de Etiquetas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502982-05C8-4F21-ABC7-2EA85181E496}"/>
              </a:ext>
            </a:extLst>
          </p:cNvPr>
          <p:cNvSpPr txBox="1"/>
          <p:nvPr/>
        </p:nvSpPr>
        <p:spPr>
          <a:xfrm>
            <a:off x="813184" y="2852936"/>
            <a:ext cx="1763831" cy="1015663"/>
          </a:xfrm>
          <a:prstGeom prst="callout2">
            <a:avLst>
              <a:gd name="adj1" fmla="val 19732"/>
              <a:gd name="adj2" fmla="val 89773"/>
              <a:gd name="adj3" fmla="val -34549"/>
              <a:gd name="adj4" fmla="val 143168"/>
              <a:gd name="adj5" fmla="val -35322"/>
              <a:gd name="adj6" fmla="val 221029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MDT base para generar la secciones, es posible incluir corredores, superficies y materiales de corte y relleno.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D7D60A-F763-456B-932F-75B9BE0BEB88}"/>
              </a:ext>
            </a:extLst>
          </p:cNvPr>
          <p:cNvSpPr txBox="1"/>
          <p:nvPr/>
        </p:nvSpPr>
        <p:spPr>
          <a:xfrm>
            <a:off x="813184" y="4076625"/>
            <a:ext cx="1459250" cy="1015663"/>
          </a:xfrm>
          <a:prstGeom prst="callout2">
            <a:avLst>
              <a:gd name="adj1" fmla="val 19732"/>
              <a:gd name="adj2" fmla="val 89773"/>
              <a:gd name="adj3" fmla="val -131067"/>
              <a:gd name="adj4" fmla="val 205830"/>
              <a:gd name="adj5" fmla="val -131029"/>
              <a:gd name="adj6" fmla="val 248673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MDT de referencia para el ajuste de elevaciones según sea el rango elegido.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899EFC-8CF2-45FE-92E3-A5C5A56F7381}"/>
              </a:ext>
            </a:extLst>
          </p:cNvPr>
          <p:cNvSpPr txBox="1"/>
          <p:nvPr/>
        </p:nvSpPr>
        <p:spPr>
          <a:xfrm>
            <a:off x="9871559" y="2722131"/>
            <a:ext cx="904961" cy="276999"/>
          </a:xfrm>
          <a:prstGeom prst="callout2">
            <a:avLst>
              <a:gd name="adj1" fmla="val 23712"/>
              <a:gd name="adj2" fmla="val 7595"/>
              <a:gd name="adj3" fmla="val -60191"/>
              <a:gd name="adj4" fmla="val -88279"/>
              <a:gd name="adj5" fmla="val -61937"/>
              <a:gd name="adj6" fmla="val -179763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Estilo</a:t>
            </a:r>
          </a:p>
        </p:txBody>
      </p:sp>
      <p:sp>
        <p:nvSpPr>
          <p:cNvPr id="16" name="1 Título">
            <a:extLst>
              <a:ext uri="{FF2B5EF4-FFF2-40B4-BE49-F238E27FC236}">
                <a16:creationId xmlns:a16="http://schemas.microsoft.com/office/drawing/2014/main" id="{D79B8811-5FD6-4FE7-A9D7-61CD30AEF06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1180075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0704614-5F47-4682-8F2B-0B4A0A46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096" y="1196752"/>
            <a:ext cx="6981825" cy="47529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B2886C7-FDC2-47F0-8EF2-9C9BEC838DD4}"/>
              </a:ext>
            </a:extLst>
          </p:cNvPr>
          <p:cNvSpPr txBox="1"/>
          <p:nvPr/>
        </p:nvSpPr>
        <p:spPr>
          <a:xfrm>
            <a:off x="9655535" y="2391930"/>
            <a:ext cx="904961" cy="461665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6673"/>
              <a:gd name="adj6" fmla="val -255545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Estilo de la tabla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A45142-F422-4741-8FB5-07CE98B700A9}"/>
              </a:ext>
            </a:extLst>
          </p:cNvPr>
          <p:cNvSpPr txBox="1"/>
          <p:nvPr/>
        </p:nvSpPr>
        <p:spPr>
          <a:xfrm>
            <a:off x="1532810" y="2607373"/>
            <a:ext cx="1100087" cy="830997"/>
          </a:xfrm>
          <a:prstGeom prst="callout2">
            <a:avLst>
              <a:gd name="adj1" fmla="val 19732"/>
              <a:gd name="adj2" fmla="val 89773"/>
              <a:gd name="adj3" fmla="val -34549"/>
              <a:gd name="adj4" fmla="val 143168"/>
              <a:gd name="adj5" fmla="val -34084"/>
              <a:gd name="adj6" fmla="val 245071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Tipo de Tabla, información de volumen, materiales etc.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EEC5F65-268E-4EFD-806B-FCE964C12BEF}"/>
              </a:ext>
            </a:extLst>
          </p:cNvPr>
          <p:cNvSpPr txBox="1"/>
          <p:nvPr/>
        </p:nvSpPr>
        <p:spPr>
          <a:xfrm>
            <a:off x="983433" y="5118583"/>
            <a:ext cx="1440160" cy="461665"/>
          </a:xfrm>
          <a:prstGeom prst="callout2">
            <a:avLst>
              <a:gd name="adj1" fmla="val 19732"/>
              <a:gd name="adj2" fmla="val 89773"/>
              <a:gd name="adj3" fmla="val -34549"/>
              <a:gd name="adj4" fmla="val 143168"/>
              <a:gd name="adj5" fmla="val -29969"/>
              <a:gd name="adj6" fmla="val 233707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Localización de la tabla en la sección</a:t>
            </a:r>
          </a:p>
        </p:txBody>
      </p:sp>
      <p:sp>
        <p:nvSpPr>
          <p:cNvPr id="15" name="1 Título">
            <a:extLst>
              <a:ext uri="{FF2B5EF4-FFF2-40B4-BE49-F238E27FC236}">
                <a16:creationId xmlns:a16="http://schemas.microsoft.com/office/drawing/2014/main" id="{AE0BB545-070E-4D89-B3EA-F3B33067C03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4193594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10FBF1C-0E42-438B-8732-42C3C2EF66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384"/>
          <a:stretch/>
        </p:blipFill>
        <p:spPr>
          <a:xfrm>
            <a:off x="375828" y="739889"/>
            <a:ext cx="11440344" cy="5378222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FF1A9DEE-A377-4AD3-837F-FCB4D8E39A2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Generar secciones transversales</a:t>
            </a:r>
          </a:p>
        </p:txBody>
      </p:sp>
    </p:spTree>
    <p:extLst>
      <p:ext uri="{BB962C8B-B14F-4D97-AF65-F5344CB8AC3E}">
        <p14:creationId xmlns:p14="http://schemas.microsoft.com/office/powerpoint/2010/main" val="3730471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525F4B5-699F-47F8-8BBD-FF382B8B5880}"/>
              </a:ext>
            </a:extLst>
          </p:cNvPr>
          <p:cNvSpPr txBox="1"/>
          <p:nvPr/>
        </p:nvSpPr>
        <p:spPr>
          <a:xfrm>
            <a:off x="4223792" y="3259723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Generar perfil</a:t>
            </a:r>
          </a:p>
        </p:txBody>
      </p:sp>
    </p:spTree>
    <p:extLst>
      <p:ext uri="{BB962C8B-B14F-4D97-AF65-F5344CB8AC3E}">
        <p14:creationId xmlns:p14="http://schemas.microsoft.com/office/powerpoint/2010/main" val="2764823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4" name="7 CuadroTexto">
            <a:extLst>
              <a:ext uri="{FF2B5EF4-FFF2-40B4-BE49-F238E27FC236}">
                <a16:creationId xmlns:a16="http://schemas.microsoft.com/office/drawing/2014/main" id="{6BDEA6FA-5B16-40D8-BC86-EF8A1DF99EFA}"/>
              </a:ext>
            </a:extLst>
          </p:cNvPr>
          <p:cNvSpPr txBox="1"/>
          <p:nvPr/>
        </p:nvSpPr>
        <p:spPr>
          <a:xfrm>
            <a:off x="1559496" y="911926"/>
            <a:ext cx="59766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 partir del archivo 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cad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/civil/Civil3D_MDT_PlanicieCanal_v1.dwg en el cual se generó el reporte de cantidades de volumen, desde la barra home, se selecciona crear perfil y posteriormente, crear presentación de perfil.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6ACAD12-8DB8-41A0-8D4B-A4D4EA582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88" t="10781" r="37400" b="44397"/>
          <a:stretch/>
        </p:blipFill>
        <p:spPr>
          <a:xfrm>
            <a:off x="8977560" y="881822"/>
            <a:ext cx="2993927" cy="20384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CE52EE2-8BA3-437F-9935-F4F935F26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785" y="2505442"/>
            <a:ext cx="6181725" cy="42005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B7070A4-721A-4C91-B542-68CAB98AB474}"/>
              </a:ext>
            </a:extLst>
          </p:cNvPr>
          <p:cNvSpPr txBox="1"/>
          <p:nvPr/>
        </p:nvSpPr>
        <p:spPr>
          <a:xfrm>
            <a:off x="8977560" y="3362915"/>
            <a:ext cx="1582936" cy="461665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4889"/>
              <a:gd name="adj6" fmla="val -139492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MDT sobre los cuales se realiza el perfil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175357E-131D-4D83-844B-7C3A08BC5E34}"/>
              </a:ext>
            </a:extLst>
          </p:cNvPr>
          <p:cNvSpPr txBox="1"/>
          <p:nvPr/>
        </p:nvSpPr>
        <p:spPr>
          <a:xfrm>
            <a:off x="315393" y="3374667"/>
            <a:ext cx="1460127" cy="646331"/>
          </a:xfrm>
          <a:prstGeom prst="callout2">
            <a:avLst>
              <a:gd name="adj1" fmla="val 19732"/>
              <a:gd name="adj2" fmla="val 89773"/>
              <a:gd name="adj3" fmla="val -31104"/>
              <a:gd name="adj4" fmla="val 111847"/>
              <a:gd name="adj5" fmla="val -32362"/>
              <a:gd name="adj6" fmla="val 155927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Alineamiento de referencia para crear el perfil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7C1577D-63AA-4C0B-A476-EED13DD6AC9B}"/>
              </a:ext>
            </a:extLst>
          </p:cNvPr>
          <p:cNvSpPr txBox="1"/>
          <p:nvPr/>
        </p:nvSpPr>
        <p:spPr>
          <a:xfrm>
            <a:off x="595187" y="4582869"/>
            <a:ext cx="1388119" cy="646331"/>
          </a:xfrm>
          <a:prstGeom prst="callout2">
            <a:avLst>
              <a:gd name="adj1" fmla="val 19732"/>
              <a:gd name="adj2" fmla="val 89773"/>
              <a:gd name="adj3" fmla="val -31104"/>
              <a:gd name="adj4" fmla="val 111847"/>
              <a:gd name="adj5" fmla="val -32362"/>
              <a:gd name="adj6" fmla="val 155927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Rango de abscisa que se quiere mostrar en el perfil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DB74B34-D621-4173-B6B5-C2D8AADE2A4B}"/>
              </a:ext>
            </a:extLst>
          </p:cNvPr>
          <p:cNvSpPr txBox="1"/>
          <p:nvPr/>
        </p:nvSpPr>
        <p:spPr>
          <a:xfrm>
            <a:off x="9172687" y="5903858"/>
            <a:ext cx="904961" cy="830997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6673"/>
              <a:gd name="adj6" fmla="val -255545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MDT sobre los cuales se realiza el perfil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339207-AB3E-449C-A4DC-ACA222AC87F0}"/>
              </a:ext>
            </a:extLst>
          </p:cNvPr>
          <p:cNvSpPr txBox="1"/>
          <p:nvPr/>
        </p:nvSpPr>
        <p:spPr>
          <a:xfrm>
            <a:off x="9223487" y="4346402"/>
            <a:ext cx="904961" cy="646331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13275"/>
              <a:gd name="adj6" fmla="val -301856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Perfiles de derecha e izquierda</a:t>
            </a:r>
          </a:p>
        </p:txBody>
      </p:sp>
      <p:sp>
        <p:nvSpPr>
          <p:cNvPr id="15" name="1 Título">
            <a:extLst>
              <a:ext uri="{FF2B5EF4-FFF2-40B4-BE49-F238E27FC236}">
                <a16:creationId xmlns:a16="http://schemas.microsoft.com/office/drawing/2014/main" id="{CB6437E2-F03E-49BA-B090-60C137ECADF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Generar perfil</a:t>
            </a:r>
          </a:p>
        </p:txBody>
      </p:sp>
    </p:spTree>
    <p:extLst>
      <p:ext uri="{BB962C8B-B14F-4D97-AF65-F5344CB8AC3E}">
        <p14:creationId xmlns:p14="http://schemas.microsoft.com/office/powerpoint/2010/main" val="4288657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312787-DC69-45C9-8DD9-7F4419D9B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54" y="2352908"/>
            <a:ext cx="6233307" cy="4123073"/>
          </a:xfrm>
          <a:prstGeom prst="rect">
            <a:avLst/>
          </a:prstGeom>
        </p:spPr>
      </p:pic>
      <p:sp>
        <p:nvSpPr>
          <p:cNvPr id="7" name="7 CuadroTexto">
            <a:extLst>
              <a:ext uri="{FF2B5EF4-FFF2-40B4-BE49-F238E27FC236}">
                <a16:creationId xmlns:a16="http://schemas.microsoft.com/office/drawing/2014/main" id="{295E5C5C-6E88-45C5-B798-DB56C0F1DE20}"/>
              </a:ext>
            </a:extLst>
          </p:cNvPr>
          <p:cNvSpPr txBox="1"/>
          <p:nvPr/>
        </p:nvSpPr>
        <p:spPr>
          <a:xfrm>
            <a:off x="2159760" y="1556792"/>
            <a:ext cx="4536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Crear presentación de perfil.</a:t>
            </a:r>
            <a:endParaRPr lang="es-CO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823E2B4-7FEB-4B49-BF61-F5C1DE45B055}"/>
              </a:ext>
            </a:extLst>
          </p:cNvPr>
          <p:cNvSpPr txBox="1"/>
          <p:nvPr/>
        </p:nvSpPr>
        <p:spPr>
          <a:xfrm>
            <a:off x="9007463" y="3362915"/>
            <a:ext cx="1625041" cy="461665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3104"/>
              <a:gd name="adj6" fmla="val -138951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MDT sobre los cuales se realiza el perfil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29A6D0-E90D-44D7-B2C5-9BCC0F51F04A}"/>
              </a:ext>
            </a:extLst>
          </p:cNvPr>
          <p:cNvSpPr txBox="1"/>
          <p:nvPr/>
        </p:nvSpPr>
        <p:spPr>
          <a:xfrm>
            <a:off x="479376" y="3300263"/>
            <a:ext cx="1392352" cy="646331"/>
          </a:xfrm>
          <a:prstGeom prst="callout2">
            <a:avLst>
              <a:gd name="adj1" fmla="val 19732"/>
              <a:gd name="adj2" fmla="val 89773"/>
              <a:gd name="adj3" fmla="val -31104"/>
              <a:gd name="adj4" fmla="val 111847"/>
              <a:gd name="adj5" fmla="val -32737"/>
              <a:gd name="adj6" fmla="val 241574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Alineamiento de referencia para crear el perfil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453ED9-4519-4F8D-B7DE-53413878A799}"/>
              </a:ext>
            </a:extLst>
          </p:cNvPr>
          <p:cNvSpPr txBox="1"/>
          <p:nvPr/>
        </p:nvSpPr>
        <p:spPr>
          <a:xfrm>
            <a:off x="1059673" y="4083494"/>
            <a:ext cx="1100087" cy="461665"/>
          </a:xfrm>
          <a:prstGeom prst="callout2">
            <a:avLst>
              <a:gd name="adj1" fmla="val 19732"/>
              <a:gd name="adj2" fmla="val 89773"/>
              <a:gd name="adj3" fmla="val -134263"/>
              <a:gd name="adj4" fmla="val 216902"/>
              <a:gd name="adj5" fmla="val -138469"/>
              <a:gd name="adj6" fmla="val 260982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Nombre de la vista de Perfil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660AA8-432D-4976-B55E-8B3E41DE10A6}"/>
              </a:ext>
            </a:extLst>
          </p:cNvPr>
          <p:cNvSpPr txBox="1"/>
          <p:nvPr/>
        </p:nvSpPr>
        <p:spPr>
          <a:xfrm>
            <a:off x="8685855" y="4420781"/>
            <a:ext cx="904961" cy="276999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13275"/>
              <a:gd name="adj6" fmla="val -301856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Estilo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3E659DD-35B5-465D-852F-A7AC3B74E7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338" t="7980" r="27950" b="66808"/>
          <a:stretch/>
        </p:blipFill>
        <p:spPr>
          <a:xfrm>
            <a:off x="7320136" y="382019"/>
            <a:ext cx="4146361" cy="1913707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BA79E524-6939-4ACD-9DA3-C7A0341BC7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Generar perfil</a:t>
            </a:r>
          </a:p>
        </p:txBody>
      </p:sp>
    </p:spTree>
    <p:extLst>
      <p:ext uri="{BB962C8B-B14F-4D97-AF65-F5344CB8AC3E}">
        <p14:creationId xmlns:p14="http://schemas.microsoft.com/office/powerpoint/2010/main" val="3402634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1293E1A-8DF6-498E-8279-701E5B97C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250" y="2303072"/>
            <a:ext cx="6514370" cy="3831538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7834A84-5D3A-47D8-9D75-70921C358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464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8A0832-B928-4C09-9E76-C11FC506E7EA}"/>
              </a:ext>
            </a:extLst>
          </p:cNvPr>
          <p:cNvSpPr txBox="1"/>
          <p:nvPr/>
        </p:nvSpPr>
        <p:spPr>
          <a:xfrm>
            <a:off x="263352" y="3311158"/>
            <a:ext cx="1965929" cy="461665"/>
          </a:xfrm>
          <a:prstGeom prst="callout2">
            <a:avLst>
              <a:gd name="adj1" fmla="val 19732"/>
              <a:gd name="adj2" fmla="val 89773"/>
              <a:gd name="adj3" fmla="val -31104"/>
              <a:gd name="adj4" fmla="val 111847"/>
              <a:gd name="adj5" fmla="val -34413"/>
              <a:gd name="adj6" fmla="val 135703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Representación del material de corte en el perfil.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BD8AF6C-371F-4D96-9553-3DBF03ACB5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338" t="7980" r="27950" b="66808"/>
          <a:stretch/>
        </p:blipFill>
        <p:spPr>
          <a:xfrm>
            <a:off x="6912588" y="476672"/>
            <a:ext cx="3817388" cy="176187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66EB715-4CF3-4EE5-A609-320CC11BCE96}"/>
              </a:ext>
            </a:extLst>
          </p:cNvPr>
          <p:cNvSpPr txBox="1"/>
          <p:nvPr/>
        </p:nvSpPr>
        <p:spPr>
          <a:xfrm>
            <a:off x="407368" y="4083997"/>
            <a:ext cx="2031897" cy="461665"/>
          </a:xfrm>
          <a:prstGeom prst="callout2">
            <a:avLst>
              <a:gd name="adj1" fmla="val 19732"/>
              <a:gd name="adj2" fmla="val 89773"/>
              <a:gd name="adj3" fmla="val -31104"/>
              <a:gd name="adj4" fmla="val 111847"/>
              <a:gd name="adj5" fmla="val -29060"/>
              <a:gd name="adj6" fmla="val 126517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Representación del material de relleno en el perfil.</a:t>
            </a:r>
          </a:p>
        </p:txBody>
      </p:sp>
      <p:sp>
        <p:nvSpPr>
          <p:cNvPr id="13" name="1 Título">
            <a:extLst>
              <a:ext uri="{FF2B5EF4-FFF2-40B4-BE49-F238E27FC236}">
                <a16:creationId xmlns:a16="http://schemas.microsoft.com/office/drawing/2014/main" id="{132C2070-E7CD-4352-A93F-D2EC6E7033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Generar perfil</a:t>
            </a:r>
          </a:p>
        </p:txBody>
      </p:sp>
    </p:spTree>
    <p:extLst>
      <p:ext uri="{BB962C8B-B14F-4D97-AF65-F5344CB8AC3E}">
        <p14:creationId xmlns:p14="http://schemas.microsoft.com/office/powerpoint/2010/main" val="1510671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C874BAA-5B7C-4B18-AC00-2842A8D17D52}"/>
              </a:ext>
            </a:extLst>
          </p:cNvPr>
          <p:cNvSpPr txBox="1"/>
          <p:nvPr/>
        </p:nvSpPr>
        <p:spPr>
          <a:xfrm>
            <a:off x="3539716" y="3259723"/>
            <a:ext cx="511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Etiquetado de ejes para dibujo de la planta</a:t>
            </a:r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635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F957C6-A7F6-481B-B3CB-A9B220B9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915FDA-4F67-466A-92F6-C69869304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560" y="980728"/>
            <a:ext cx="5276924" cy="304640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FBE13A5-4D30-4F77-8C73-CDA47DF96F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887" t="28013" r="29913"/>
          <a:stretch/>
        </p:blipFill>
        <p:spPr>
          <a:xfrm>
            <a:off x="1127448" y="1910224"/>
            <a:ext cx="2622212" cy="421149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AEFEBE4-87F7-48B9-BBDB-4A6D63CF6ADE}"/>
              </a:ext>
            </a:extLst>
          </p:cNvPr>
          <p:cNvSpPr txBox="1"/>
          <p:nvPr/>
        </p:nvSpPr>
        <p:spPr>
          <a:xfrm>
            <a:off x="9552384" y="1439098"/>
            <a:ext cx="1152128" cy="461665"/>
          </a:xfrm>
          <a:prstGeom prst="callout2">
            <a:avLst>
              <a:gd name="adj1" fmla="val 23712"/>
              <a:gd name="adj2" fmla="val 7595"/>
              <a:gd name="adj3" fmla="val -11559"/>
              <a:gd name="adj4" fmla="val -29337"/>
              <a:gd name="adj5" fmla="val -4488"/>
              <a:gd name="adj6" fmla="val -223964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Tipo de Etiqueta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2D50B2-BB58-4171-B444-699788EFEF61}"/>
              </a:ext>
            </a:extLst>
          </p:cNvPr>
          <p:cNvSpPr txBox="1"/>
          <p:nvPr/>
        </p:nvSpPr>
        <p:spPr>
          <a:xfrm>
            <a:off x="1587920" y="1360477"/>
            <a:ext cx="1702171" cy="461665"/>
          </a:xfrm>
          <a:prstGeom prst="callout2">
            <a:avLst>
              <a:gd name="adj1" fmla="val 19732"/>
              <a:gd name="adj2" fmla="val 89773"/>
              <a:gd name="adj3" fmla="val -7996"/>
              <a:gd name="adj4" fmla="val 127490"/>
              <a:gd name="adj5" fmla="val -7603"/>
              <a:gd name="adj6" fmla="val 144680"/>
            </a:avLst>
          </a:prstGeom>
          <a:noFill/>
          <a:ln w="9525" cap="rnd">
            <a:solidFill>
              <a:schemeClr val="tx1"/>
            </a:solidFill>
            <a:headEnd type="none" w="med" len="med"/>
            <a:tailEnd type="oval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Tipo de Dato en la etiqueta </a:t>
            </a: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id="{85EEB1D2-12E9-471D-BCBB-B1CF66EB4BCF}"/>
              </a:ext>
            </a:extLst>
          </p:cNvPr>
          <p:cNvSpPr txBox="1"/>
          <p:nvPr/>
        </p:nvSpPr>
        <p:spPr>
          <a:xfrm>
            <a:off x="4026182" y="4355472"/>
            <a:ext cx="4998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etiquetado en el eje debe tener al menos: Abscisado, puntos de las curvas, radio, longitud de curva y delta.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81D4B15-AA45-4685-BAAC-7CF5F974AD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64" t="26552" r="10932" b="33192"/>
          <a:stretch/>
        </p:blipFill>
        <p:spPr>
          <a:xfrm>
            <a:off x="4025890" y="5147473"/>
            <a:ext cx="5263594" cy="1323308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AC388A26-BD61-4735-96B9-C57AB040136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Etiquetado  de ejes para dibujo de la planta</a:t>
            </a:r>
          </a:p>
        </p:txBody>
      </p:sp>
    </p:spTree>
    <p:extLst>
      <p:ext uri="{BB962C8B-B14F-4D97-AF65-F5344CB8AC3E}">
        <p14:creationId xmlns:p14="http://schemas.microsoft.com/office/powerpoint/2010/main" val="3742048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7 CuadroTexto">
            <a:extLst>
              <a:ext uri="{FF2B5EF4-FFF2-40B4-BE49-F238E27FC236}">
                <a16:creationId xmlns:a16="http://schemas.microsoft.com/office/drawing/2014/main" id="{3572065F-81C1-454C-8E77-453E36FB65E9}"/>
              </a:ext>
            </a:extLst>
          </p:cNvPr>
          <p:cNvSpPr txBox="1"/>
          <p:nvPr/>
        </p:nvSpPr>
        <p:spPr>
          <a:xfrm>
            <a:off x="4331804" y="3305889"/>
            <a:ext cx="35283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Segoe UI Light" panose="020B0502040204020203" pitchFamily="34" charset="0"/>
                <a:cs typeface="Segoe UI Light" panose="020B0502040204020203" pitchFamily="34" charset="0"/>
              </a:rPr>
              <a:t>Contenido creado por: baalkara@gmail.com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4291</TotalTime>
  <Words>619</Words>
  <Application>Microsoft Office PowerPoint</Application>
  <PresentationFormat>Widescreen</PresentationFormat>
  <Paragraphs>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Segoe UI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HCMC_4_2</dc:title>
  <dc:creator>master</dc:creator>
  <cp:lastModifiedBy>WILLIAM RICARDO AGUILAR PIÑA</cp:lastModifiedBy>
  <cp:revision>299</cp:revision>
  <dcterms:created xsi:type="dcterms:W3CDTF">2010-05-17T13:13:34Z</dcterms:created>
  <dcterms:modified xsi:type="dcterms:W3CDTF">2025-07-31T13:34:35Z</dcterms:modified>
</cp:coreProperties>
</file>