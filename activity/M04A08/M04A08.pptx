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406" r:id="rId2"/>
    <p:sldId id="361" r:id="rId3"/>
    <p:sldId id="356" r:id="rId4"/>
    <p:sldId id="364" r:id="rId5"/>
    <p:sldId id="362" r:id="rId6"/>
    <p:sldId id="363" r:id="rId7"/>
    <p:sldId id="365" r:id="rId8"/>
    <p:sldId id="366" r:id="rId9"/>
    <p:sldId id="367" r:id="rId10"/>
    <p:sldId id="369" r:id="rId11"/>
    <p:sldId id="368" r:id="rId12"/>
    <p:sldId id="370" r:id="rId13"/>
    <p:sldId id="372" r:id="rId14"/>
    <p:sldId id="373" r:id="rId15"/>
    <p:sldId id="375" r:id="rId16"/>
    <p:sldId id="376" r:id="rId17"/>
    <p:sldId id="377" r:id="rId18"/>
    <p:sldId id="378" r:id="rId19"/>
    <p:sldId id="379" r:id="rId20"/>
    <p:sldId id="380" r:id="rId21"/>
    <p:sldId id="391" r:id="rId22"/>
    <p:sldId id="381" r:id="rId23"/>
    <p:sldId id="384" r:id="rId24"/>
    <p:sldId id="382" r:id="rId25"/>
    <p:sldId id="383" r:id="rId26"/>
    <p:sldId id="385" r:id="rId27"/>
    <p:sldId id="386" r:id="rId28"/>
    <p:sldId id="388" r:id="rId29"/>
    <p:sldId id="389" r:id="rId30"/>
    <p:sldId id="390" r:id="rId31"/>
    <p:sldId id="392" r:id="rId32"/>
    <p:sldId id="393" r:id="rId33"/>
    <p:sldId id="394" r:id="rId34"/>
    <p:sldId id="395" r:id="rId35"/>
    <p:sldId id="396" r:id="rId36"/>
    <p:sldId id="397" r:id="rId37"/>
    <p:sldId id="398" r:id="rId38"/>
    <p:sldId id="399" r:id="rId39"/>
    <p:sldId id="400" r:id="rId40"/>
    <p:sldId id="401" r:id="rId41"/>
    <p:sldId id="402" r:id="rId42"/>
    <p:sldId id="403" r:id="rId43"/>
    <p:sldId id="408" r:id="rId44"/>
    <p:sldId id="411" r:id="rId4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4A4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416" autoAdjust="0"/>
  </p:normalViewPr>
  <p:slideViewPr>
    <p:cSldViewPr>
      <p:cViewPr varScale="1">
        <p:scale>
          <a:sx n="119" d="100"/>
          <a:sy n="119" d="100"/>
        </p:scale>
        <p:origin x="132" y="132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ICARDO AGUILAR PIÑA" userId="25538c52-b196-49fc-9025-2dd86a54f18a" providerId="ADAL" clId="{4FD0E142-DFF6-4D4A-8E32-7443594F93E4}"/>
    <pc:docChg chg="custSel addSld delSld modSld">
      <pc:chgData name="WILLIAM RICARDO AGUILAR PIÑA" userId="25538c52-b196-49fc-9025-2dd86a54f18a" providerId="ADAL" clId="{4FD0E142-DFF6-4D4A-8E32-7443594F93E4}" dt="2019-11-24T15:19:03.515" v="6" actId="1076"/>
      <pc:docMkLst>
        <pc:docMk/>
      </pc:docMkLst>
      <pc:sldChg chg="addSp delSp modSp add">
        <pc:chgData name="WILLIAM RICARDO AGUILAR PIÑA" userId="25538c52-b196-49fc-9025-2dd86a54f18a" providerId="ADAL" clId="{4FD0E142-DFF6-4D4A-8E32-7443594F93E4}" dt="2019-11-24T15:19:03.515" v="6" actId="1076"/>
        <pc:sldMkLst>
          <pc:docMk/>
          <pc:sldMk cId="3832749917" sldId="408"/>
        </pc:sldMkLst>
        <pc:picChg chg="del">
          <ac:chgData name="WILLIAM RICARDO AGUILAR PIÑA" userId="25538c52-b196-49fc-9025-2dd86a54f18a" providerId="ADAL" clId="{4FD0E142-DFF6-4D4A-8E32-7443594F93E4}" dt="2019-11-24T15:18:53.063" v="3" actId="478"/>
          <ac:picMkLst>
            <pc:docMk/>
            <pc:sldMk cId="3832749917" sldId="408"/>
            <ac:picMk id="2" creationId="{0BD2AA8A-D2FB-4F69-BBC1-2F60AD1B66E1}"/>
          </ac:picMkLst>
        </pc:picChg>
        <pc:picChg chg="add mod">
          <ac:chgData name="WILLIAM RICARDO AGUILAR PIÑA" userId="25538c52-b196-49fc-9025-2dd86a54f18a" providerId="ADAL" clId="{4FD0E142-DFF6-4D4A-8E32-7443594F93E4}" dt="2019-11-24T15:19:03.515" v="6" actId="1076"/>
          <ac:picMkLst>
            <pc:docMk/>
            <pc:sldMk cId="3832749917" sldId="408"/>
            <ac:picMk id="3" creationId="{84A5DEAA-947E-4EC1-93B3-783ACB1F5719}"/>
          </ac:picMkLst>
        </pc:picChg>
      </pc:sldChg>
      <pc:sldChg chg="add del">
        <pc:chgData name="WILLIAM RICARDO AGUILAR PIÑA" userId="25538c52-b196-49fc-9025-2dd86a54f18a" providerId="ADAL" clId="{4FD0E142-DFF6-4D4A-8E32-7443594F93E4}" dt="2019-11-24T15:18:49.732" v="1" actId="2696"/>
        <pc:sldMkLst>
          <pc:docMk/>
          <pc:sldMk cId="4232913487" sldId="4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91DE-ABC6-4D22-89A0-1765B629FB43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AC943-C359-4C07-B08A-993C08E8D67C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02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161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347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5528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4173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3636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338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7770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5690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8254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1427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7795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3659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864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72923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72459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95324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63455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85389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55192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60728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6897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0261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647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5139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18311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40645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86324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48074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52538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51921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6303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24030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16404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43349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10550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4397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15877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71856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40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49765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41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02652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42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73192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43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079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F08CB-A55A-40B1-AEFD-F19B3CFD19B5}" type="datetimeFigureOut">
              <a:rPr lang="es-CO" smtClean="0"/>
              <a:pPr/>
              <a:t>21/11/2025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microsoft.com/office/2007/relationships/hdphoto" Target="../media/hdphoto3.wdp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8.png"/><Relationship Id="rId7" Type="http://schemas.microsoft.com/office/2007/relationships/hdphoto" Target="../media/hdphoto4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0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8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cfdtools/R.HydroTools/wiki/License" TargetMode="External"/><Relationship Id="rId2" Type="http://schemas.openxmlformats.org/officeDocument/2006/relationships/hyperlink" Target="https://github.com/rcfdtool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>
            <a:extLst>
              <a:ext uri="{FF2B5EF4-FFF2-40B4-BE49-F238E27FC236}">
                <a16:creationId xmlns:a16="http://schemas.microsoft.com/office/drawing/2014/main" id="{3072C985-1B9B-4BDD-9204-91D61E909C9C}"/>
              </a:ext>
            </a:extLst>
          </p:cNvPr>
          <p:cNvSpPr txBox="1">
            <a:spLocks/>
          </p:cNvSpPr>
          <p:nvPr/>
        </p:nvSpPr>
        <p:spPr>
          <a:xfrm>
            <a:off x="7620002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v.20201118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7F6DDFB0-630E-45A2-B5EE-AB34BE184EC4}"/>
              </a:ext>
            </a:extLst>
          </p:cNvPr>
          <p:cNvSpPr txBox="1">
            <a:spLocks/>
          </p:cNvSpPr>
          <p:nvPr/>
        </p:nvSpPr>
        <p:spPr>
          <a:xfrm>
            <a:off x="0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Info: r.cfdtools@gmail.com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1 Título">
            <a:extLst>
              <a:ext uri="{FF2B5EF4-FFF2-40B4-BE49-F238E27FC236}">
                <a16:creationId xmlns:a16="http://schemas.microsoft.com/office/drawing/2014/main" id="{CF602DD4-6CD6-45A5-8387-11EC9AEA487E}"/>
              </a:ext>
            </a:extLst>
          </p:cNvPr>
          <p:cNvSpPr txBox="1">
            <a:spLocks/>
          </p:cNvSpPr>
          <p:nvPr/>
        </p:nvSpPr>
        <p:spPr>
          <a:xfrm>
            <a:off x="0" y="4263073"/>
            <a:ext cx="12192000" cy="154155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para el diseño y modelación de cauces</a:t>
            </a:r>
          </a:p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Modelación hidráulica 2D con HEC-RAS y RAS </a:t>
            </a:r>
            <a:r>
              <a:rPr lang="es-CO" sz="1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endParaRPr lang="es-CO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Análisis de resultados a partir de ejes y secciones de muestreo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C1FD41-6B01-4003-8583-7FDA4B45F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311744A-12FE-4B97-8478-BC10F889DF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52" y="2553460"/>
            <a:ext cx="1574295" cy="1751080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69B8D20-97EC-4CE1-8FF8-830565C100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" y="26672"/>
            <a:ext cx="449679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692733" y="3105834"/>
            <a:ext cx="4806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1. Ejes y secciones transversales de muestreo a partir de trazos utilizados en HEC-GeoRAS 1D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C62335-CD8B-4A89-8808-3A4613C6E9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3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C314598-DCA4-4F08-AAF0-EC34DC385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5712" y="2204864"/>
            <a:ext cx="11280576" cy="4594164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55712" y="358294"/>
            <a:ext cx="112805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Luego de revisar y analizar los resultados generales de la mapificación presentados en la clase anterior, es preciso analizar en detalle los diferentes resultados hidráulicos obtenidos en los diferentes ejes (Thalweg, bases y coronas del cauce sinuoso dominante y sección de creciente) y en las secciones transversales de interés.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ArcMAP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agregue las capas CIVIL3D_Ejes_v0.shp y XSCutLines_v1.shp. Modifique la simbología de la líneas utilizando flechas en el sentido vectorial de trazado, verifique que las secciones transversales estén orientadas de izquierda a derecha en el sentido del flujo.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28DC54F-803B-4C2D-8284-DDAEA61BEC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688" y="4725184"/>
            <a:ext cx="360000" cy="360000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B43BB5D3-B593-4479-8909-5D4851066C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Ejes y secciones transversales de muestreo a partir de trazos utilizados en HEC-GeoRAS 1D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66040F4-0B54-47A6-B43D-A0561E79DC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0" y="5157192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CAA80EB-CD7C-494C-9988-54C79935A5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1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643C5DA-C4BB-494B-9061-8EA8A6B6940F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2207568" y="1484784"/>
            <a:ext cx="3543300" cy="317182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959728" y="744959"/>
            <a:ext cx="10272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Es necesario que estos archivos contengan un campo de atributos para el rotulado en RAS Mapper.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66040F4-0B54-47A6-B43D-A0561E79DC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401" y="2208337"/>
            <a:ext cx="360000" cy="360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BD7C6BD-C566-4FF6-938D-AEC07502883F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6888088" y="1484784"/>
            <a:ext cx="2952750" cy="46386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B68ABC0-2466-45A1-B5ED-7D5D3E49E4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68" y="2276872"/>
            <a:ext cx="360000" cy="3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EE35F92-C744-4E3C-BA42-1F63BF6352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1 Título">
            <a:extLst>
              <a:ext uri="{FF2B5EF4-FFF2-40B4-BE49-F238E27FC236}">
                <a16:creationId xmlns:a16="http://schemas.microsoft.com/office/drawing/2014/main" id="{0F577549-22D1-4789-B014-6A5041BE4C0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Ejes y secciones transversales de muestreo a partir de trazos utilizados en HEC-GeoRAS 1D</a:t>
            </a:r>
          </a:p>
        </p:txBody>
      </p:sp>
    </p:spTree>
    <p:extLst>
      <p:ext uri="{BB962C8B-B14F-4D97-AF65-F5344CB8AC3E}">
        <p14:creationId xmlns:p14="http://schemas.microsoft.com/office/powerpoint/2010/main" val="44064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259796" y="3105834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2. Importación de líneas de muestreo en RAS </a:t>
            </a:r>
            <a:r>
              <a:rPr lang="es-CO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endParaRPr lang="es-CO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5F3C1C-CF3E-443F-B0F0-85FE884325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6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22F4A3-F17B-4325-BFEF-CC3BF70AE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66" y="1414066"/>
            <a:ext cx="5982342" cy="5255294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185666" y="493764"/>
            <a:ext cx="11886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clic en la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pesta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ña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Profile Lines.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Clic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derecho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área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vacía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Import From Polyline Shapefile.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Utilice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archivo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CIVIL3D_Ejes_v0.shp, en el nombre de campo seleccione </a:t>
            </a:r>
            <a:r>
              <a:rPr lang="es-CO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EjeTipo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Repita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procedimiento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las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transversales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utilizando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archivo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formas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XSCutLines_v1.shp, seleccione el campo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Name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28DC54F-803B-4C2D-8284-DDAEA61BEC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672" y="6309360"/>
            <a:ext cx="360000" cy="360000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B43BB5D3-B593-4479-8909-5D4851066C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Importación de líneas de muestreo en RAS </a:t>
            </a:r>
            <a:r>
              <a:rPr lang="es-ES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endParaRPr lang="es-ES" sz="8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75" y="5734546"/>
            <a:ext cx="360000" cy="36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6B30DBF-CA84-4464-82B3-E58A2C2688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8875" y="3429000"/>
            <a:ext cx="4286250" cy="9429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E9E95C3-D711-4465-8BED-F918D31F44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4307" y="1439704"/>
            <a:ext cx="5888357" cy="51998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8EBB2C7-A4EB-4349-919F-FE4F614938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88" y="5896476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6B09EFB-8600-4552-B3A7-F2F6F84803E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46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35001D4-C955-47D0-9C4E-D544ECED4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8" y="1196752"/>
            <a:ext cx="11352584" cy="5533121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19708" y="375386"/>
            <a:ext cx="11352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Ejemplo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transversales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importados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RAS Mapper.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abscisado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realiza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sentido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flujo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resultados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dibujarán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aguas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arriba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hacia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aguas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abajo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contrario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dibuja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editor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geometría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HEC-RAS.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5373216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AA627AF-74BD-4090-ADB4-86580984A6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D9DC2623-4EE3-4C35-B09A-51F6DDF409B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Importación de líneas de muestreo en RAS </a:t>
            </a:r>
            <a:r>
              <a:rPr lang="es-ES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endParaRPr lang="es-ES" sz="8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86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647728" y="3105834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Perfil, series de tiempo para profundidad, WSE, velocidad, cortante y flujo en el Thalweg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C19F20-783F-4DF4-8D17-7D03BB02C1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5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31CC006-79E8-4D77-8CA4-C668F18EB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3392" y="4674414"/>
            <a:ext cx="4752975" cy="204787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35360" y="620688"/>
            <a:ext cx="51845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graficar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variable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necesario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activar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resultados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(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barra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superior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Max 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buscar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instante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tiempo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u="sng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visualizar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).</a:t>
            </a:r>
          </a:p>
          <a:p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>
              <a:buAutoNum type="alphaLcPeriod"/>
            </a:pP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active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profundidad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lámina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agua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(Depth) para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2.33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años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</a:p>
          <a:p>
            <a:pPr marL="342900" indent="-342900">
              <a:buAutoNum type="alphaLcPeriod"/>
            </a:pP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Profile Lines,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Thalweg 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directamente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clic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derecho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sobre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marL="342900" indent="-342900">
              <a:buAutoNum type="alphaLcPeriod"/>
            </a:pP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clic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derecho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rótulo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Plot Profile – Terrain y Depth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Obtendrá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gráfica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tabla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solicitados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B43BB5D3-B593-4479-8909-5D4851066C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Perfil, series de tiempo para profundidad, WSE, velocidad, cortante y flujo en Thalweg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93" y="4890438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CFFA14B-FA9A-4E82-BEBE-DDF12D576B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879" y="4962446"/>
            <a:ext cx="360000" cy="36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3575F85-B33B-410F-86C0-3C1BF7CB10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765" y="5250438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7D9C4F1-6FED-4A10-B069-F70FA792B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39" y="764704"/>
            <a:ext cx="6083164" cy="23450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8782A57-1AE9-4F75-B2CC-1A54389147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939" y="3746034"/>
            <a:ext cx="6083164" cy="2499824"/>
          </a:xfrm>
          <a:prstGeom prst="rect">
            <a:avLst/>
          </a:prstGeom>
        </p:spPr>
      </p:pic>
      <p:sp>
        <p:nvSpPr>
          <p:cNvPr id="18" name="7 CuadroTexto">
            <a:extLst>
              <a:ext uri="{FF2B5EF4-FFF2-40B4-BE49-F238E27FC236}">
                <a16:creationId xmlns:a16="http://schemas.microsoft.com/office/drawing/2014/main" id="{75FE6A66-5122-4E16-8036-6A136E30E9DE}"/>
              </a:ext>
            </a:extLst>
          </p:cNvPr>
          <p:cNvSpPr txBox="1"/>
          <p:nvPr/>
        </p:nvSpPr>
        <p:spPr>
          <a:xfrm>
            <a:off x="8798567" y="1628800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Fondo contínuo sobre el eje del Thalweg.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" name="7 CuadroTexto">
            <a:extLst>
              <a:ext uri="{FF2B5EF4-FFF2-40B4-BE49-F238E27FC236}">
                <a16:creationId xmlns:a16="http://schemas.microsoft.com/office/drawing/2014/main" id="{32CFD3D0-09CB-4F2D-AC46-937EA85732B2}"/>
              </a:ext>
            </a:extLst>
          </p:cNvPr>
          <p:cNvSpPr txBox="1"/>
          <p:nvPr/>
        </p:nvSpPr>
        <p:spPr>
          <a:xfrm>
            <a:off x="6416827" y="5090733"/>
            <a:ext cx="43979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Profundidad en cauce dominante alrededor de 1.3 metros.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7623256-585C-4221-BC9A-C3F8B7C0797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0C93F33-6FE4-47C2-B47F-C3BDF9BE64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47528" y="4333653"/>
            <a:ext cx="1971675" cy="33337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CB04BB9-40AB-433D-A680-35AF469435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109" y="4566261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79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9F0B862-177A-45F2-BE3E-6F97FEC32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60" y="1711636"/>
            <a:ext cx="4886325" cy="473392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C8A750B-E614-4DF6-AA7B-F8FE9A6F8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081" y="1700809"/>
            <a:ext cx="4886324" cy="473392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CFFA14B-FA9A-4E82-BEBE-DDF12D576B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240" y="4598220"/>
            <a:ext cx="360000" cy="36000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1137259" y="692696"/>
            <a:ext cx="9908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Para visualizar las gráficas correspondientes a las series de tiempo hasta evacuar completamente el flujo transitado, extienda el tiempo de modelación hasta las 12:15 del dia 06 marzo de 2016. Realice ese ajuste para los dos planes y ejecute nuevamente la modelación.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682" y="4653136"/>
            <a:ext cx="360000" cy="3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86A3CD1-8BDD-48D8-975B-17D2B88FF8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C76CCFE6-A7B3-4C8E-A644-AC8EB85E9B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Perfil, series de tiempo para profundidad, WSE, velocidad, cortante y flujo en Thalweg</a:t>
            </a:r>
          </a:p>
        </p:txBody>
      </p:sp>
    </p:spTree>
    <p:extLst>
      <p:ext uri="{BB962C8B-B14F-4D97-AF65-F5344CB8AC3E}">
        <p14:creationId xmlns:p14="http://schemas.microsoft.com/office/powerpoint/2010/main" val="357960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79376" y="404664"/>
            <a:ext cx="11233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Repita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procedimiento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anterior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visualice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lineas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tiempo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las variables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Adicionalmente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podrá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obtener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una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gráfica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que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representa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tasa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cambio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elevación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inversa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lámina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agua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respecto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flujo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ingresado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18" name="7 CuadroTexto">
            <a:extLst>
              <a:ext uri="{FF2B5EF4-FFF2-40B4-BE49-F238E27FC236}">
                <a16:creationId xmlns:a16="http://schemas.microsoft.com/office/drawing/2014/main" id="{75FE6A66-5122-4E16-8036-6A136E30E9DE}"/>
              </a:ext>
            </a:extLst>
          </p:cNvPr>
          <p:cNvSpPr txBox="1"/>
          <p:nvPr/>
        </p:nvSpPr>
        <p:spPr>
          <a:xfrm>
            <a:off x="479376" y="1237700"/>
            <a:ext cx="53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Segoe UI Light" panose="020B0502040204020203" pitchFamily="34" charset="0"/>
                <a:cs typeface="Segoe UI Light" panose="020B0502040204020203" pitchFamily="34" charset="0"/>
              </a:rPr>
              <a:t>Caudal para Tr 2.33 años. (CMS, m³/s)</a:t>
            </a:r>
            <a:endParaRPr lang="es-CO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8E7FCB8-EC84-45AA-A6DE-FCA1C3692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475448"/>
            <a:ext cx="5394909" cy="3112105"/>
          </a:xfrm>
          <a:prstGeom prst="rect">
            <a:avLst/>
          </a:prstGeom>
        </p:spPr>
      </p:pic>
      <p:sp>
        <p:nvSpPr>
          <p:cNvPr id="17" name="7 CuadroTexto">
            <a:extLst>
              <a:ext uri="{FF2B5EF4-FFF2-40B4-BE49-F238E27FC236}">
                <a16:creationId xmlns:a16="http://schemas.microsoft.com/office/drawing/2014/main" id="{64FA73DB-FDD3-49CA-9E80-866EDEA2BD6B}"/>
              </a:ext>
            </a:extLst>
          </p:cNvPr>
          <p:cNvSpPr txBox="1"/>
          <p:nvPr/>
        </p:nvSpPr>
        <p:spPr>
          <a:xfrm>
            <a:off x="6632271" y="1237700"/>
            <a:ext cx="4680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Segoe UI Light" panose="020B0502040204020203" pitchFamily="34" charset="0"/>
                <a:cs typeface="Segoe UI Light" panose="020B0502040204020203" pitchFamily="34" charset="0"/>
              </a:rPr>
              <a:t>Volúmen de agua acumulado  para Tr 2.33 años. (x 1000 m³)</a:t>
            </a:r>
            <a:endParaRPr lang="es-CO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651069-19BA-4C7C-B847-3A42C71D6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439" y="1475448"/>
            <a:ext cx="5480185" cy="311210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B324E59-7654-403E-9DAD-89A9EB186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438" y="4725144"/>
            <a:ext cx="5480186" cy="176397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FC5BE98-4A1D-490B-89FA-73EAB5271F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5480" y="4797152"/>
            <a:ext cx="3600400" cy="1519649"/>
          </a:xfrm>
          <a:prstGeom prst="rect">
            <a:avLst/>
          </a:prstGeom>
        </p:spPr>
      </p:pic>
      <p:sp>
        <p:nvSpPr>
          <p:cNvPr id="21" name="7 CuadroTexto">
            <a:extLst>
              <a:ext uri="{FF2B5EF4-FFF2-40B4-BE49-F238E27FC236}">
                <a16:creationId xmlns:a16="http://schemas.microsoft.com/office/drawing/2014/main" id="{4478A814-38A9-4C3C-B127-32FB6633B554}"/>
              </a:ext>
            </a:extLst>
          </p:cNvPr>
          <p:cNvSpPr txBox="1"/>
          <p:nvPr/>
        </p:nvSpPr>
        <p:spPr>
          <a:xfrm>
            <a:off x="1775520" y="2416827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Frente de onda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1852339-D101-49AD-8FBF-388E3EA2A2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3" name="1 Título">
            <a:extLst>
              <a:ext uri="{FF2B5EF4-FFF2-40B4-BE49-F238E27FC236}">
                <a16:creationId xmlns:a16="http://schemas.microsoft.com/office/drawing/2014/main" id="{11A4BB51-B102-4854-99E7-858EFB62DC0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Perfil, series de tiempo para profundidad, WSE, velocidad, cortante y flujo en Thalweg</a:t>
            </a:r>
          </a:p>
        </p:txBody>
      </p:sp>
    </p:spTree>
    <p:extLst>
      <p:ext uri="{BB962C8B-B14F-4D97-AF65-F5344CB8AC3E}">
        <p14:creationId xmlns:p14="http://schemas.microsoft.com/office/powerpoint/2010/main" val="3832569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79376" y="692696"/>
            <a:ext cx="11233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Depth (m): Profundidad de la lámina de agua para 2.33 y 100 años de periodo de retorno. </a:t>
            </a:r>
          </a:p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Active los dos mapas de resultados correspondientes a la variable Depth y grafique el perfil requerido.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18BDA2-8455-448E-9216-2CEDF5B05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24" y="1476238"/>
            <a:ext cx="5444860" cy="50693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3FAF4D9-F0C3-4312-B5C6-4DBFF3945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847" y="1476238"/>
            <a:ext cx="5444861" cy="5069353"/>
          </a:xfrm>
          <a:prstGeom prst="rect">
            <a:avLst/>
          </a:prstGeom>
        </p:spPr>
      </p:pic>
      <p:sp>
        <p:nvSpPr>
          <p:cNvPr id="16" name="7 CuadroTexto">
            <a:extLst>
              <a:ext uri="{FF2B5EF4-FFF2-40B4-BE49-F238E27FC236}">
                <a16:creationId xmlns:a16="http://schemas.microsoft.com/office/drawing/2014/main" id="{D7F1488B-F7AB-40FE-957B-6FEA3024877A}"/>
              </a:ext>
            </a:extLst>
          </p:cNvPr>
          <p:cNvSpPr txBox="1"/>
          <p:nvPr/>
        </p:nvSpPr>
        <p:spPr>
          <a:xfrm>
            <a:off x="3359696" y="2708920"/>
            <a:ext cx="1512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Remanso debido al límite definido para el área de flujo 2D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26F0EFC-7D52-4D5F-B3B2-D6438E6EA6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A5A61013-31C9-41A4-847D-B7E06EF6A5A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Perfil, series de tiempo para profundidad, WSE, velocidad, cortante y flujo en Thalweg</a:t>
            </a:r>
          </a:p>
        </p:txBody>
      </p:sp>
    </p:spTree>
    <p:extLst>
      <p:ext uri="{BB962C8B-B14F-4D97-AF65-F5344CB8AC3E}">
        <p14:creationId xmlns:p14="http://schemas.microsoft.com/office/powerpoint/2010/main" val="3919169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79376" y="404664"/>
            <a:ext cx="11233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WSE (m.s.n.m.):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Profundidad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inversa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cota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lámina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agua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2.33 y 100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años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retorno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</a:p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Active los dos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resultados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la variable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grafique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Este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incluye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cotas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1BB601B-3690-4AA2-9245-E1ED8B678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82" y="1314916"/>
            <a:ext cx="5699418" cy="546041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5549914-C545-4AE5-B235-F93EB72B7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230" y="1314916"/>
            <a:ext cx="5699418" cy="5460410"/>
          </a:xfrm>
          <a:prstGeom prst="rect">
            <a:avLst/>
          </a:prstGeom>
        </p:spPr>
      </p:pic>
      <p:sp>
        <p:nvSpPr>
          <p:cNvPr id="11" name="7 CuadroTexto">
            <a:extLst>
              <a:ext uri="{FF2B5EF4-FFF2-40B4-BE49-F238E27FC236}">
                <a16:creationId xmlns:a16="http://schemas.microsoft.com/office/drawing/2014/main" id="{77CD5C38-1070-4281-98EA-70F8A8D75ADC}"/>
              </a:ext>
            </a:extLst>
          </p:cNvPr>
          <p:cNvSpPr txBox="1"/>
          <p:nvPr/>
        </p:nvSpPr>
        <p:spPr>
          <a:xfrm>
            <a:off x="4079776" y="3573016"/>
            <a:ext cx="1512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Remanso debido al límite definido para el área de flujo 2D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A677E04-782A-42D5-9E3E-DCD5210373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6564A96B-51A9-40E4-9905-0C0ADADE134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Perfil, series de tiempo para profundidad, WSE, velocidad, cortante y flujo en Thalweg</a:t>
            </a:r>
          </a:p>
        </p:txBody>
      </p:sp>
    </p:spTree>
    <p:extLst>
      <p:ext uri="{BB962C8B-B14F-4D97-AF65-F5344CB8AC3E}">
        <p14:creationId xmlns:p14="http://schemas.microsoft.com/office/powerpoint/2010/main" val="2056718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8D9C15D-6B19-4149-A5B3-B63048BDF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108" y="1261892"/>
            <a:ext cx="5883724" cy="5263452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79376" y="476672"/>
            <a:ext cx="11233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Velocity (m/s):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Velocidad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flujo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2.33 y 100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años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retorno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</a:p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Active los dos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resultados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la variable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grafique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72BBED-1466-456D-B2EB-7FC0A9302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22" y="1261892"/>
            <a:ext cx="5529283" cy="526345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DF06CA4-A05E-4B1C-B5F0-5647A95BC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884" y="4294772"/>
            <a:ext cx="1143000" cy="1552575"/>
          </a:xfrm>
          <a:prstGeom prst="rect">
            <a:avLst/>
          </a:prstGeom>
        </p:spPr>
      </p:pic>
      <p:sp>
        <p:nvSpPr>
          <p:cNvPr id="11" name="7 CuadroTexto">
            <a:extLst>
              <a:ext uri="{FF2B5EF4-FFF2-40B4-BE49-F238E27FC236}">
                <a16:creationId xmlns:a16="http://schemas.microsoft.com/office/drawing/2014/main" id="{B60BEF02-2D55-4E50-8597-22D9C7AFB056}"/>
              </a:ext>
            </a:extLst>
          </p:cNvPr>
          <p:cNvSpPr txBox="1"/>
          <p:nvPr/>
        </p:nvSpPr>
        <p:spPr>
          <a:xfrm>
            <a:off x="2488936" y="4437112"/>
            <a:ext cx="1910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Disminución de la velocidad debida al remanso producido por el límite definido para el  área de flujo 2D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7 CuadroTexto">
            <a:extLst>
              <a:ext uri="{FF2B5EF4-FFF2-40B4-BE49-F238E27FC236}">
                <a16:creationId xmlns:a16="http://schemas.microsoft.com/office/drawing/2014/main" id="{0795F9EC-0E9A-4976-A2E0-141296FE1945}"/>
              </a:ext>
            </a:extLst>
          </p:cNvPr>
          <p:cNvSpPr txBox="1"/>
          <p:nvPr/>
        </p:nvSpPr>
        <p:spPr>
          <a:xfrm>
            <a:off x="9959832" y="3740774"/>
            <a:ext cx="1512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Remanso debido al límite definido para el área de flujo 2D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88D06FE-9637-45C5-AEB5-2172B9DEB5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49EFB407-E53F-4F6E-8D55-00B8B84A8DE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Perfil, series de tiempo para profundidad, WSE, velocidad, cortante y flujo en Thalweg</a:t>
            </a:r>
          </a:p>
        </p:txBody>
      </p:sp>
    </p:spTree>
    <p:extLst>
      <p:ext uri="{BB962C8B-B14F-4D97-AF65-F5344CB8AC3E}">
        <p14:creationId xmlns:p14="http://schemas.microsoft.com/office/powerpoint/2010/main" val="3992023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79376" y="476672"/>
            <a:ext cx="11233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Shear Stress (N/m²): Esfuerzo Cortante para 2.33 y 100 años de periodo de retorno. </a:t>
            </a:r>
          </a:p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Active los dos mapas de resultados correspondientes a la variable requerida y grafique el perfil.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98453E8-1D3E-4678-98BB-738FA8B36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1340768"/>
            <a:ext cx="8915400" cy="4676775"/>
          </a:xfrm>
          <a:prstGeom prst="rect">
            <a:avLst/>
          </a:prstGeom>
        </p:spPr>
      </p:pic>
      <p:sp>
        <p:nvSpPr>
          <p:cNvPr id="7" name="7 CuadroTexto">
            <a:extLst>
              <a:ext uri="{FF2B5EF4-FFF2-40B4-BE49-F238E27FC236}">
                <a16:creationId xmlns:a16="http://schemas.microsoft.com/office/drawing/2014/main" id="{04084EFE-02EF-4CA8-B89C-07F52FCBECE1}"/>
              </a:ext>
            </a:extLst>
          </p:cNvPr>
          <p:cNvSpPr txBox="1"/>
          <p:nvPr/>
        </p:nvSpPr>
        <p:spPr>
          <a:xfrm>
            <a:off x="8112224" y="3140968"/>
            <a:ext cx="1910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Disminución del cortante debido al remanso producido por el límite definido para el  área de flujo 2D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1DE40A1-E662-47F5-864B-EE31F78687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49C0CF16-9589-4A45-99F6-9CAEEA7400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Perfil, series de tiempo para profundidad, WSE, velocidad, cortante y flujo en Thalweg</a:t>
            </a:r>
          </a:p>
        </p:txBody>
      </p:sp>
    </p:spTree>
    <p:extLst>
      <p:ext uri="{BB962C8B-B14F-4D97-AF65-F5344CB8AC3E}">
        <p14:creationId xmlns:p14="http://schemas.microsoft.com/office/powerpoint/2010/main" val="4231150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488643" y="3105834"/>
            <a:ext cx="7214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FBE449-3EFC-41C1-81C6-E40FA08353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712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DD6A906-1E5B-4267-A3D8-8CDC0B28A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1530412"/>
            <a:ext cx="6614819" cy="521095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51384" y="392478"/>
            <a:ext cx="11089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Depth(m):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Identifique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transversal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inicio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canal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realineamiento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o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siguiente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dentro del canal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Para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ejercicio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CS: 28. Active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la variable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2.33 y 100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años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retorno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visualice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máximos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1.25m y 2.26m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respectivamente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B43BB5D3-B593-4479-8909-5D4851066C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436" y="2482480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FC5137D-5C62-42EC-B93F-391EC5B978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606" y="4886395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3CCB4C7-F884-477C-A37E-B42084D284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5793221"/>
            <a:ext cx="360000" cy="36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DB64733-B3AC-43D2-B192-E735BAB78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2942" y="1524347"/>
            <a:ext cx="4257674" cy="52170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4AF4150-314A-4668-B4AF-5F4E78BFA5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26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1E717C5-C81E-408D-A04C-D370877E7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44" y="1484784"/>
            <a:ext cx="6680274" cy="526251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64744" y="415660"/>
            <a:ext cx="10947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Depth(m):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Identifique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transversal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al final del canal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realineamiento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o la anterior dentro del canal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Para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ejercicio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CS: 88. Active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la variable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2.33 y 100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años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retorno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visualice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máximos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2.30m y 3.32m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respectivamente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812" y="2488159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FC5137D-5C62-42EC-B93F-391EC5B978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982" y="4892074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3CCB4C7-F884-477C-A37E-B42084D284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494" y="5942916"/>
            <a:ext cx="360000" cy="360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821FCE1-29A1-4D57-87C6-BCDE27EBC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520" y="1484784"/>
            <a:ext cx="4019088" cy="5262518"/>
          </a:xfrm>
          <a:prstGeom prst="rect">
            <a:avLst/>
          </a:prstGeom>
        </p:spPr>
      </p:pic>
      <p:sp>
        <p:nvSpPr>
          <p:cNvPr id="13" name="7 CuadroTexto">
            <a:extLst>
              <a:ext uri="{FF2B5EF4-FFF2-40B4-BE49-F238E27FC236}">
                <a16:creationId xmlns:a16="http://schemas.microsoft.com/office/drawing/2014/main" id="{B0C2BC1F-BFA1-4028-9FED-48518277A138}"/>
              </a:ext>
            </a:extLst>
          </p:cNvPr>
          <p:cNvSpPr txBox="1"/>
          <p:nvPr/>
        </p:nvSpPr>
        <p:spPr>
          <a:xfrm>
            <a:off x="8146204" y="4509930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Inundación del valle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7 CuadroTexto">
            <a:extLst>
              <a:ext uri="{FF2B5EF4-FFF2-40B4-BE49-F238E27FC236}">
                <a16:creationId xmlns:a16="http://schemas.microsoft.com/office/drawing/2014/main" id="{616644C6-8793-4AE4-853B-4CE1D4B3566E}"/>
              </a:ext>
            </a:extLst>
          </p:cNvPr>
          <p:cNvSpPr txBox="1"/>
          <p:nvPr/>
        </p:nvSpPr>
        <p:spPr>
          <a:xfrm>
            <a:off x="10200456" y="4070708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Inundación del valle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FF8125C-EBB2-421B-90BF-C7AB095DAF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5" name="1 Título">
            <a:extLst>
              <a:ext uri="{FF2B5EF4-FFF2-40B4-BE49-F238E27FC236}">
                <a16:creationId xmlns:a16="http://schemas.microsoft.com/office/drawing/2014/main" id="{ACDEA875-AF76-4AA0-937A-3B843F5D76B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2997972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CE7F07C-55D2-4796-83E8-1A243A444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12" y="1524174"/>
            <a:ext cx="6622739" cy="5217194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27012" y="432752"/>
            <a:ext cx="11190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WSE (m.s.n.m.):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Identifique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transversal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inicio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canal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realineamiento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o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siguiente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dentro del canal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Para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ejercicio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CS: 28. Active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correspondientes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la variable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2.33 y 100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años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retorno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visualice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máximos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corresponden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las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cotas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1.25m y 2.26m.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57" y="2713663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FC5137D-5C62-42EC-B93F-391EC5B978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593" y="5313914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3CCB4C7-F884-477C-A37E-B42084D284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148" y="6033994"/>
            <a:ext cx="360000" cy="360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1E0AD1D-9AD0-44F5-ACB6-132E2FF94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780" y="1524174"/>
            <a:ext cx="4277396" cy="52171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E2FEFDB-E10E-4062-BD37-F242465F8D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F0CA8246-D001-41FA-8173-EE6FC7D27FC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1464073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9EE3918-3E23-48FA-9406-C7229994D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896" y="1501876"/>
            <a:ext cx="4512440" cy="507649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665E1B2-7C62-483A-BB79-7445A41DC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88" y="1484784"/>
            <a:ext cx="6439925" cy="507317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94088" y="375386"/>
            <a:ext cx="11203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WSE (m.s.n.m.): Identifique la sección transversal correspondiente al final del canal de realineamiento o la anterior dentro del canal diseñado. Para el ejercicio: CS: 88. Active los mapas correspondientes a la variable requerida para 2.33 y 100 años de periodo de retorno, visualice los perfiles. Los valores máximos obtenidos corresponden a las cotas 67.00 msnm y 67.93msnm.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751" y="2647245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FC5137D-5C62-42EC-B93F-391EC5B978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078" y="5107806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3CCB4C7-F884-477C-A37E-B42084D284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78" y="5877272"/>
            <a:ext cx="360000" cy="360000"/>
          </a:xfrm>
          <a:prstGeom prst="rect">
            <a:avLst/>
          </a:prstGeom>
        </p:spPr>
      </p:pic>
      <p:sp>
        <p:nvSpPr>
          <p:cNvPr id="13" name="7 CuadroTexto">
            <a:extLst>
              <a:ext uri="{FF2B5EF4-FFF2-40B4-BE49-F238E27FC236}">
                <a16:creationId xmlns:a16="http://schemas.microsoft.com/office/drawing/2014/main" id="{B0C2BC1F-BFA1-4028-9FED-48518277A138}"/>
              </a:ext>
            </a:extLst>
          </p:cNvPr>
          <p:cNvSpPr txBox="1"/>
          <p:nvPr/>
        </p:nvSpPr>
        <p:spPr>
          <a:xfrm>
            <a:off x="8139244" y="3070385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Inundación del valle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4A0F0D7-9A54-406B-9ABB-3802DAE740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4" name="1 Título">
            <a:extLst>
              <a:ext uri="{FF2B5EF4-FFF2-40B4-BE49-F238E27FC236}">
                <a16:creationId xmlns:a16="http://schemas.microsoft.com/office/drawing/2014/main" id="{8CE87D13-FBE5-4F28-82DB-3EC49D0FBBD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2628942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33334" y="365098"/>
            <a:ext cx="11136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Borde Libre (Free board): El diseño del canal compuesto se realizó teniendo en cuenta un valor de borde libre estimado de 0.40 metros. Para el estudio del borde libre, cree un libro de Excel y copie a partir del perfil del Thalweg, los valores correspondientes a la cota de fondo y a la elevación de la lámina de agua, cree una linea de borde libre de referencia sumando 2.60 metros a la cota de fondo y compare los valores obtenidos contra la altura del canal menos la elevación de la lámina de agua asociada a 100 años de periodo de retorno. En general, los valores de borde libre son mayores a los del diseño, excepto por la zona de remanso.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FCDDE1-5D69-47F4-9837-72D8A71C7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34" y="1934758"/>
            <a:ext cx="11136560" cy="48413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C96A540-DBAD-416B-95DC-FB9BCC30D3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2BBD571F-122C-4DED-BA3F-59FDDBD7A64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3778037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49EF2C-FEDE-495C-BE2C-FF77285A8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2" y="1483612"/>
            <a:ext cx="6680274" cy="526251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84282" y="392478"/>
            <a:ext cx="112234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Velocidad (m/s): Identifique la sección transversal correspondiente al inicio del canal de realineamiento o la siguiente dentro del canal diseñado. Para el ejercicio: CS: 28. Active los mapas correspondientes a la variable requerida para 2.33 y 100 años de periodo de retorno, visualice los perfiles. Los valores máximos obtenidos corresponden a 1.95 m/s y 3.00 m/s cumpliendo con los criterios de diseño establecidos (dominante &lt; 2m/s, creciente &lt; 3m/s).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507" y="2812039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FC5137D-5C62-42EC-B93F-391EC5B978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646" y="5132820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3CCB4C7-F884-477C-A37E-B42084D284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062" y="6001822"/>
            <a:ext cx="360000" cy="36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1173A78-DB3C-41C9-971D-B50609E79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879" y="1483612"/>
            <a:ext cx="4199383" cy="526251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F4A5495-C12D-4E0E-B68A-7E56884C6F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93159106-6B04-4C6D-BC31-1B499863B98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885045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75361" y="692696"/>
            <a:ext cx="10641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Distribución lateral de velocidades en la sección de inicio.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77203F0-8A53-411C-8FB4-9C912C4C6B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7A1A009-C061-40BE-80D4-5E44DC20E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1719121"/>
            <a:ext cx="4038600" cy="43053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41430F3-DD73-4288-AADE-12F31272D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856" y="1124744"/>
            <a:ext cx="7172947" cy="5494054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618C0991-49B1-4D69-B9DE-430A61C1920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1862929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B1F75F-934B-4040-9BEB-A0DA2CC30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803" y="1621520"/>
            <a:ext cx="3779266" cy="514881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D3E049E-2FBA-4B4D-A418-A974C648B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84" y="1621520"/>
            <a:ext cx="6548198" cy="5158473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40484" y="303378"/>
            <a:ext cx="108718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Velocidad (m/s): Identifique la sección transversal correspondiente al final del canal de realineamiento o la anterior dentro del canal diseñado. Para el ejercicio: CS: 88. Active los mapas correspondientes a la variable requerida para 2.33 y 100 años de periodo de retorno, visualice los perfiles. Los valores máximos obtenidos corresponden a 0.85 m/s y 1.56 m/s cumpliendo con los criterios de diseño establecidos (dominante &lt; 2m/s, creciente &lt; 3m/s).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840" y="2929843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FC5137D-5C62-42EC-B93F-391EC5B978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755" y="5195817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3CCB4C7-F884-477C-A37E-B42084D284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86" y="5987905"/>
            <a:ext cx="360000" cy="360000"/>
          </a:xfrm>
          <a:prstGeom prst="rect">
            <a:avLst/>
          </a:prstGeom>
        </p:spPr>
      </p:pic>
      <p:sp>
        <p:nvSpPr>
          <p:cNvPr id="13" name="7 CuadroTexto">
            <a:extLst>
              <a:ext uri="{FF2B5EF4-FFF2-40B4-BE49-F238E27FC236}">
                <a16:creationId xmlns:a16="http://schemas.microsoft.com/office/drawing/2014/main" id="{B0C2BC1F-BFA1-4028-9FED-48518277A138}"/>
              </a:ext>
            </a:extLst>
          </p:cNvPr>
          <p:cNvSpPr txBox="1"/>
          <p:nvPr/>
        </p:nvSpPr>
        <p:spPr>
          <a:xfrm>
            <a:off x="8300352" y="3181018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V menor debido a la Inundación del valle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104E73E-CD33-4513-AB7A-C99619C9DB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AF52BD71-8D2A-436E-9D82-C9C2EFF6C7F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1888246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EC27A83-08D8-4629-908A-126622B1C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640" y="1155526"/>
            <a:ext cx="6724383" cy="5081786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775361" y="725567"/>
            <a:ext cx="10641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Distribución lateral de velocidades en la sección de entrega.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B5F3CD-0505-4A1E-9559-246DA19F4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159" y="4254311"/>
            <a:ext cx="1104900" cy="1524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006B286-9F21-4043-BC9F-8C5E6BC795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278810D1-31DB-4121-84F4-139ACFB3D4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464710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260707B-85D5-48F2-A515-E27E67062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1812190"/>
            <a:ext cx="6322220" cy="4980454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127882" y="377369"/>
            <a:ext cx="119447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Esfuerzo Cortante (N/m²): Identifique la sección transversal correspondiente al inicio del canal de realineamiento o la siguiente dentro del canal diseñado. Para el ejercicio: CS: 28. Active los mapas correspondientes a la variable requerida para 2.33 y 100 años de periodo de retorno, visualice los perfiles. Los valores máximos obtenidos corresponden a 8.56 N/m² y 38.83 N/m² cumpliendo con los criterios de diseño establecidos solo para el cauce dominantecon (dominante &lt; 10 N/m² creciente &lt; 20 N/m² ). Importante considerar que estor resultados incluyen también valores máximos instantáneos o de corta duración.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556" y="3123682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FC5137D-5C62-42EC-B93F-391EC5B978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5487680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3CCB4C7-F884-477C-A37E-B42084D284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240" y="6111954"/>
            <a:ext cx="360000" cy="36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F410582-651B-44F2-83CF-2C087AE2B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222" y="1812187"/>
            <a:ext cx="3848533" cy="498045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F596C5B-802F-41AF-BEF7-1AE32052B9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374B9765-FBB2-4C81-B52E-6C6995F7EB5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1080580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46167D-0A33-42CB-ABB4-FFD653FA3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54" y="1833156"/>
            <a:ext cx="4015809" cy="490821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805886E-CD1B-4327-85E9-749F00F7B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76" y="1833157"/>
            <a:ext cx="6230512" cy="4908209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263352" y="432752"/>
            <a:ext cx="117373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Esfuerzo Cortante (N/m²): Identifique la sección transversal correspondiente al final del canal de realineamiento o la anterior dentro del canal diseñado. Para el ejercicio: CS: 88. Active los mapas correspondientes a la variable requerida para 2.33 y 100 años de periodo de retorno, visualice los perfiles. Los valores máximos obtenidos corresponden a 1.76 N/m² y 7.19 N/m² cumpliendo con los criterios de diseño establecidos solo para el cauce dominantecon (dominante &lt; 10 N/m² creciente &lt; 20 N/m² ). Importante considerar que estor resultados incluyen también valores máximos instantáneos o de corta duración.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615787-1082-4CD2-A8AB-C4D16B40B7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368" y="3078465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FC5137D-5C62-42EC-B93F-391EC5B978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403" y="5470861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3CCB4C7-F884-477C-A37E-B42084D284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26" y="6045994"/>
            <a:ext cx="360000" cy="360000"/>
          </a:xfrm>
          <a:prstGeom prst="rect">
            <a:avLst/>
          </a:prstGeom>
        </p:spPr>
      </p:pic>
      <p:sp>
        <p:nvSpPr>
          <p:cNvPr id="13" name="7 CuadroTexto">
            <a:extLst>
              <a:ext uri="{FF2B5EF4-FFF2-40B4-BE49-F238E27FC236}">
                <a16:creationId xmlns:a16="http://schemas.microsoft.com/office/drawing/2014/main" id="{B0C2BC1F-BFA1-4028-9FED-48518277A138}"/>
              </a:ext>
            </a:extLst>
          </p:cNvPr>
          <p:cNvSpPr txBox="1"/>
          <p:nvPr/>
        </p:nvSpPr>
        <p:spPr>
          <a:xfrm>
            <a:off x="8006032" y="2753937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Cortante menor debido a la Inundación del valle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E2AF32C-3FFD-4C59-A811-96F530B200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CB8E109A-1316-440C-A92C-1898E9055D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10019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20E4B7C-B958-442A-92BB-77D0DAFE0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1641787"/>
            <a:ext cx="3816424" cy="2367149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775361" y="475781"/>
            <a:ext cx="106412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Caudal (m³/s): Identifique la sección transversal correspondiente al final del canal de realineamiento o la anterior dentro del canal diseñado. Para el ejercicio: CS: 88. Active los mapas correspondientes a la variable requerida para 2.33 y 100 años de periodo de retorno, visualice los perfiles. Los valores máximos obtenidos corresponden a 128.42 m³/s y 495.93 m³/s,  amortiguando 1.58 m³/s para 2.33 años y 26.17 m³/s para 100 años.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F01779D-C22C-4E5F-8871-BF108AD18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440" y="4219586"/>
            <a:ext cx="3816424" cy="2367149"/>
          </a:xfrm>
          <a:prstGeom prst="rect">
            <a:avLst/>
          </a:prstGeom>
        </p:spPr>
      </p:pic>
      <p:sp>
        <p:nvSpPr>
          <p:cNvPr id="18" name="7 CuadroTexto">
            <a:extLst>
              <a:ext uri="{FF2B5EF4-FFF2-40B4-BE49-F238E27FC236}">
                <a16:creationId xmlns:a16="http://schemas.microsoft.com/office/drawing/2014/main" id="{D13B5578-5C3F-4D6B-8B3A-6D4D0C62B51A}"/>
              </a:ext>
            </a:extLst>
          </p:cNvPr>
          <p:cNvSpPr txBox="1"/>
          <p:nvPr/>
        </p:nvSpPr>
        <p:spPr>
          <a:xfrm>
            <a:off x="2474949" y="2137332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522.10 m³/s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" name="7 CuadroTexto">
            <a:extLst>
              <a:ext uri="{FF2B5EF4-FFF2-40B4-BE49-F238E27FC236}">
                <a16:creationId xmlns:a16="http://schemas.microsoft.com/office/drawing/2014/main" id="{89215427-5D59-4AA3-A7FF-EB75604073C9}"/>
              </a:ext>
            </a:extLst>
          </p:cNvPr>
          <p:cNvSpPr txBox="1"/>
          <p:nvPr/>
        </p:nvSpPr>
        <p:spPr>
          <a:xfrm>
            <a:off x="2567608" y="4700216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atin typeface="Segoe UI Light" panose="020B0502040204020203" pitchFamily="34" charset="0"/>
                <a:cs typeface="Segoe UI Light" panose="020B0502040204020203" pitchFamily="34" charset="0"/>
              </a:rPr>
              <a:t>130.00 m³/s</a:t>
            </a:r>
            <a:endParaRPr lang="es-CO" sz="1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73EEC6D-E93F-453D-AC5E-D74935676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689" y="1652263"/>
            <a:ext cx="6080863" cy="493447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D0D4B01-2AD0-4741-8A98-D10BDDB9A54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AC5F2DA1-8219-4DDE-8AA5-14FA951DFAD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4. Perfil y series de tiempo para profundidad, WSE, velocidad y cortante en secciones transversales de muestreo. Borde libre obtenido</a:t>
            </a:r>
          </a:p>
        </p:txBody>
      </p:sp>
    </p:spTree>
    <p:extLst>
      <p:ext uri="{BB962C8B-B14F-4D97-AF65-F5344CB8AC3E}">
        <p14:creationId xmlns:p14="http://schemas.microsoft.com/office/powerpoint/2010/main" val="4071919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971764" y="3105834"/>
            <a:ext cx="4248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5. Análisis de irrigación del valle a partir de la modelación del cauce dominante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EB6980-6E0E-4B3F-944D-1A85F824AF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14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F200670-1929-41AD-B33C-3FB842C6D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77" y="3429000"/>
            <a:ext cx="10642415" cy="336810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263352" y="332656"/>
            <a:ext cx="1166529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Un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aspecto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importante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tener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cuenta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etapa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posterior de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construcción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canal, es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revegetalización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zona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llanura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mitigar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impactos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producidos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por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procesos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meteorización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erosión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debida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precipitación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corrientes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viento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irrigación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zona se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podrá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realizar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través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eventos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precipitación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por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excesos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flujo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corrrespondiente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cauce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dominante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retorno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superiores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2.33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años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caso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que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ciclos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mensuales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precipitación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tengan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largos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verano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será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necesaria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implementación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un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sistema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almacenamiento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lateral y un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sistema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riego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artificial. Para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ejercicio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desarrollado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condición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excesos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solo se produce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parte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final del canal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debido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remanso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generado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por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límite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área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flujo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2D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definida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acuerdo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resultados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retorno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2.33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años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podrá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reducir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ancho de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obtener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un valor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profundidad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lámina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agua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igual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1.5 metros,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tal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realizó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por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método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fuerza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tractiva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Otra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alternativa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aumentar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rugosidad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recubriendo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un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enrocado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que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aumente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rugosidad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las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pérdidas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energía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B43BB5D3-B593-4479-8909-5D4851066C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5. Análisis de irrigación del valle a partir de la modelación del cauce dominante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3CCB4C7-F884-477C-A37E-B42084D284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489" y="4933052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1DD2FAF-1AF0-4C8B-B771-CF120A07E9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1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054832" y="3105834"/>
            <a:ext cx="4082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6. Verificación de velocidades máximas vs admisible usada en diseño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C53E2C-2848-4CEA-B030-47EF69ABF9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24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29429" y="383932"/>
            <a:ext cx="10721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Para el análisis de las velocidades obtenidas se recomienda crear una tabla en Excel que contenga los valores obtenidos a lo largo de todos los ejes definido (Thalweg, bases y coronas de cauce dominante y creciente). </a:t>
            </a:r>
          </a:p>
          <a:p>
            <a:pPr algn="just"/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Resultados de velocidad máxima en el Thalweg: CUMPLE.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B43BB5D3-B593-4479-8909-5D4851066C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6. Verificación de velocidades máximas vs admisible usada en diseño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914A6A-2298-42B7-8343-EDE5159C6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6676"/>
            <a:ext cx="12192000" cy="53001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5D3A803-DCA2-4CDD-8D4F-E0B979B494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45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29429" y="404664"/>
            <a:ext cx="10721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Para el análisis de las velocidades obtenidas se recomienda crear una tabla en Excel que contenga los valores obtenidos a lo largo de todos los ejes definido (Thalweg, bases y coronas de cauce dominante y creciente). </a:t>
            </a:r>
          </a:p>
          <a:p>
            <a:pPr algn="just"/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Resultados de velocidad máxima en la Base Izquierda del Canal Dominante: CUMPLE.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A444E1D-935F-4B17-B869-9A293EFBE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6676"/>
            <a:ext cx="12192000" cy="53001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5E79836-6C6F-4AB3-8ED0-ED80447ED3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B274A6AA-A68A-4539-A1B7-F4667BE252F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6. Verificación de velocidades máximas vs admisible usada en diseño</a:t>
            </a:r>
          </a:p>
        </p:txBody>
      </p:sp>
    </p:spTree>
    <p:extLst>
      <p:ext uri="{BB962C8B-B14F-4D97-AF65-F5344CB8AC3E}">
        <p14:creationId xmlns:p14="http://schemas.microsoft.com/office/powerpoint/2010/main" val="9584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29429" y="392478"/>
            <a:ext cx="10721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Para el análisis de las velocidades obtenidas se recomienda crear una tabla en Excel que contenga los valores obtenidos a lo largo de todos los ejes definido (Thalweg, bases y coronas de cauce dominante y creciente). </a:t>
            </a:r>
          </a:p>
          <a:p>
            <a:pPr algn="just"/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Resultados de velocidad máxima en la Base Derecha del Canal Dominante: CUMPLE.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1C9A580-6E56-4146-86A6-0EC36713D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0868"/>
            <a:ext cx="12192000" cy="53001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5775A1D-D5DB-4AC3-8C47-5254ADD886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82E31B65-5A82-44F8-B9C5-3129A07FC32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6. Verificación de velocidades máximas vs admisible usada en diseño</a:t>
            </a:r>
          </a:p>
        </p:txBody>
      </p:sp>
    </p:spTree>
    <p:extLst>
      <p:ext uri="{BB962C8B-B14F-4D97-AF65-F5344CB8AC3E}">
        <p14:creationId xmlns:p14="http://schemas.microsoft.com/office/powerpoint/2010/main" val="15405175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195966" y="3105834"/>
            <a:ext cx="3800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7. Verificación de cortante máximo vs máximo admisible usado para diseño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84AF39-9225-4173-8800-788946D8D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6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29429" y="404664"/>
            <a:ext cx="10721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Para el análisis de los esfuerzos cortantes obtenidos se recomienda crear una tabla en Excel que contenga los valores obtenidos a lo largo de todos los ejes definido (Thalweg, bases y coronas de cauce dominante y creciente). </a:t>
            </a:r>
          </a:p>
          <a:p>
            <a:pPr algn="just"/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Resultados de velocidad máxima en el Thalweg: CUMPLE.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B43BB5D3-B593-4479-8909-5D4851066C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7. Verificación de cortante máximo vs máximo admisible usado para diseño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3BE596-9CC4-4A6B-9293-11357CCE8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6676"/>
            <a:ext cx="12192000" cy="53001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420EDF0-F562-4549-80A8-8BDBECC865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489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29429" y="269194"/>
            <a:ext cx="107212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análisis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esfuerzos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cortantes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recomienda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crear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una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tabla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Excel que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contenga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lo largo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todos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definido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(Thalweg, bases y coronas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cauce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dominante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creciente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). 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Resultados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velocidad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máxima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Base Izquierda del Canal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Dominante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</a:p>
          <a:p>
            <a:pPr algn="just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No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cumple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algunas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curvas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sinuosas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A938C4C-2F7D-4ECC-AD9D-CD7748053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0393"/>
            <a:ext cx="12192000" cy="53001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F1B1046-6FBB-420F-ADD2-636F3F4D31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9F458CEA-8AAA-4F95-9C13-DF239AB6A1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7. Verificación de cortante máximo vs máximo admisible usado para diseño</a:t>
            </a:r>
          </a:p>
        </p:txBody>
      </p:sp>
    </p:spTree>
    <p:extLst>
      <p:ext uri="{BB962C8B-B14F-4D97-AF65-F5344CB8AC3E}">
        <p14:creationId xmlns:p14="http://schemas.microsoft.com/office/powerpoint/2010/main" val="3952017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29429" y="260648"/>
            <a:ext cx="107212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análisis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esfuerzos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cortantes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recomienda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crear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una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tabla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Excel que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contenga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lo largo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todos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definido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(Thalweg, bases y coronas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cauce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dominante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creciente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). 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Resultados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velocidad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máxima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Base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Derecha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Canal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Dominante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 algn="just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No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cumple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algunas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curvas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sinuosas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9F5D9C-84A4-49DA-8239-EA53D2C9E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0868"/>
            <a:ext cx="12192000" cy="53001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572B00-6277-40DC-A87C-C1C2E8FB53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247DE8CE-ECA5-4859-AAEE-F70E8862748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7. Verificación de cortante máximo vs máximo admisible usado para diseño</a:t>
            </a:r>
          </a:p>
        </p:txBody>
      </p:sp>
    </p:spTree>
    <p:extLst>
      <p:ext uri="{BB962C8B-B14F-4D97-AF65-F5344CB8AC3E}">
        <p14:creationId xmlns:p14="http://schemas.microsoft.com/office/powerpoint/2010/main" val="3819736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951619" y="3105834"/>
            <a:ext cx="4288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8. Identificación de zonas para localización de obras de protección marginal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350352-6284-4047-BC9B-C889409D1A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518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29429" y="521385"/>
            <a:ext cx="10721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Evaluado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esfuerzo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cortante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máximo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es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necesario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identificar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espacialmente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localización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las zonas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suceptibles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ser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intervenidas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obras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protección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marginal, 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mantener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condición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estabilidad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luego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etapa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proceso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constructivo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RAS Mapper,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modifique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rampa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dibujado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cortantes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utilizando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rangos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menores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mayores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10 y 20 N/m² para los dos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retorno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estudio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B43BB5D3-B593-4479-8909-5D4851066C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8. Identificación de zonas para localización de obras de protección marginal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8B14C78-D6AE-4DB4-81CC-40645EC03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2220044"/>
            <a:ext cx="6492392" cy="43053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D094130-F403-48EC-A591-231BC6E4D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400" y="2220044"/>
            <a:ext cx="4038600" cy="4305300"/>
          </a:xfrm>
          <a:prstGeom prst="rect">
            <a:avLst/>
          </a:prstGeom>
        </p:spPr>
      </p:pic>
      <p:sp>
        <p:nvSpPr>
          <p:cNvPr id="9" name="7 CuadroTexto">
            <a:extLst>
              <a:ext uri="{FF2B5EF4-FFF2-40B4-BE49-F238E27FC236}">
                <a16:creationId xmlns:a16="http://schemas.microsoft.com/office/drawing/2014/main" id="{BA3160B5-A8CC-45D3-9281-BF01C1CADDC7}"/>
              </a:ext>
            </a:extLst>
          </p:cNvPr>
          <p:cNvSpPr txBox="1"/>
          <p:nvPr/>
        </p:nvSpPr>
        <p:spPr>
          <a:xfrm>
            <a:off x="3143672" y="1943045"/>
            <a:ext cx="53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Segoe UI Light" panose="020B0502040204020203" pitchFamily="34" charset="0"/>
                <a:cs typeface="Segoe UI Light" panose="020B0502040204020203" pitchFamily="34" charset="0"/>
              </a:rPr>
              <a:t>Para Tr 2.33 años. </a:t>
            </a:r>
            <a:endParaRPr lang="es-CO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9953267-7302-4054-9AB7-82E8EEE13B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60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29429" y="476672"/>
            <a:ext cx="10721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Evaluado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esfuerzo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cortante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máximo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es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necesario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identificar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espacialmente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localización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las zonas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suceptibles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ser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intervenidas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obras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protección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marginal, 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mantener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condición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estabilidad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luego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etapa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proceso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constructivo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RAS Mapper,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modifique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rampa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dibujado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cortantes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utilizando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rangos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menores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mayores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10 y 20 N/m² para los dos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periodos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retorno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estudio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BA3160B5-A8CC-45D3-9281-BF01C1CADDC7}"/>
              </a:ext>
            </a:extLst>
          </p:cNvPr>
          <p:cNvSpPr txBox="1"/>
          <p:nvPr/>
        </p:nvSpPr>
        <p:spPr>
          <a:xfrm>
            <a:off x="3143672" y="1909559"/>
            <a:ext cx="53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Segoe UI Light" panose="020B0502040204020203" pitchFamily="34" charset="0"/>
                <a:cs typeface="Segoe UI Light" panose="020B0502040204020203" pitchFamily="34" charset="0"/>
              </a:rPr>
              <a:t>Para Tr 100 años. </a:t>
            </a:r>
            <a:endParaRPr lang="es-CO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5452C5-4FC1-49A8-A5EC-F9CFB8283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2180853"/>
            <a:ext cx="6442905" cy="42724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EC93327-9587-4023-90E0-01A11AFC1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851" y="2177776"/>
            <a:ext cx="4007817" cy="42724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9A931FF-5BE7-4EC8-A40B-796A523560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1 Título">
            <a:extLst>
              <a:ext uri="{FF2B5EF4-FFF2-40B4-BE49-F238E27FC236}">
                <a16:creationId xmlns:a16="http://schemas.microsoft.com/office/drawing/2014/main" id="{C79C4A5E-4529-434A-89A0-E11F0BB3599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8. Identificación de zonas para localización de obras de protección marginal</a:t>
            </a:r>
          </a:p>
        </p:txBody>
      </p:sp>
    </p:spTree>
    <p:extLst>
      <p:ext uri="{BB962C8B-B14F-4D97-AF65-F5344CB8AC3E}">
        <p14:creationId xmlns:p14="http://schemas.microsoft.com/office/powerpoint/2010/main" val="20496343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29429" y="476672"/>
            <a:ext cx="10721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Mapa obtenido de identificación de zonas susceptibles a ser intervenidas.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BD2AA8A-D2FB-4F69-BBC1-2F60AD1B6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8113"/>
            <a:ext cx="12192000" cy="60528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AD4BA8E-6540-4C01-8391-DF1A125049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B5D5F10D-3CBE-4703-8EC8-F6CB07E8226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8. Identificación de zonas para localización de obras de protección marginal</a:t>
            </a:r>
          </a:p>
        </p:txBody>
      </p:sp>
    </p:spTree>
    <p:extLst>
      <p:ext uri="{BB962C8B-B14F-4D97-AF65-F5344CB8AC3E}">
        <p14:creationId xmlns:p14="http://schemas.microsoft.com/office/powerpoint/2010/main" val="11898952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29429" y="476672"/>
            <a:ext cx="10721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Mapa obtenido de identificación de zonas susceptibles a ser intervenidas.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D4BA8E-6540-4C01-8391-DF1A12504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4A5DEAA-947E-4EC1-93B3-783ACB1F5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64" y="931898"/>
            <a:ext cx="10441168" cy="5710014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117F6B5F-57AC-4F22-ACB8-0F3410D30C6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8. Identificación de zonas para localización de obras de protección marginal</a:t>
            </a:r>
          </a:p>
        </p:txBody>
      </p:sp>
    </p:spTree>
    <p:extLst>
      <p:ext uri="{BB962C8B-B14F-4D97-AF65-F5344CB8AC3E}">
        <p14:creationId xmlns:p14="http://schemas.microsoft.com/office/powerpoint/2010/main" val="3832749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70EE07A-5BFD-466E-B14A-12C366129646}"/>
              </a:ext>
            </a:extLst>
          </p:cNvPr>
          <p:cNvGrpSpPr/>
          <p:nvPr/>
        </p:nvGrpSpPr>
        <p:grpSpPr>
          <a:xfrm>
            <a:off x="4331804" y="1579664"/>
            <a:ext cx="3528392" cy="3698672"/>
            <a:chOff x="4223792" y="1628800"/>
            <a:chExt cx="3528392" cy="3698672"/>
          </a:xfrm>
        </p:grpSpPr>
        <p:sp>
          <p:nvSpPr>
            <p:cNvPr id="6" name="7 CuadroTexto">
              <a:extLst>
                <a:ext uri="{FF2B5EF4-FFF2-40B4-BE49-F238E27FC236}">
                  <a16:creationId xmlns:a16="http://schemas.microsoft.com/office/drawing/2014/main" id="{3572065F-81C1-454C-8E77-453E36FB65E9}"/>
                </a:ext>
              </a:extLst>
            </p:cNvPr>
            <p:cNvSpPr txBox="1"/>
            <p:nvPr/>
          </p:nvSpPr>
          <p:spPr>
            <a:xfrm>
              <a:off x="4223792" y="1628800"/>
              <a:ext cx="352839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Contenido creado por: r.cfdtools@gmail.com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2"/>
                </a:rPr>
                <a:t>https://github.com/rcfdtools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Licencia, cláusulas y condiciones de uso en: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3"/>
                </a:rPr>
                <a:t>https://github.com/rcfdtools/R.HydroTools/wiki/License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7" name="Picture 6" descr="Qr code&#10;&#10;Description automatically generated">
              <a:extLst>
                <a:ext uri="{FF2B5EF4-FFF2-40B4-BE49-F238E27FC236}">
                  <a16:creationId xmlns:a16="http://schemas.microsoft.com/office/drawing/2014/main" id="{90F7619C-3D91-416E-B1F4-909E882E7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88" y="2627472"/>
              <a:ext cx="2700000" cy="2700000"/>
            </a:xfrm>
            <a:prstGeom prst="rect">
              <a:avLst/>
            </a:prstGeom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D1E24590-5B37-4B8E-8E7F-7CC7FF0BA2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13745</TotalTime>
  <Words>3239</Words>
  <Application>Microsoft Office PowerPoint</Application>
  <PresentationFormat>Widescreen</PresentationFormat>
  <Paragraphs>176</Paragraphs>
  <Slides>44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Segoe UI Light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HCMC_4_8</dc:title>
  <dc:creator>master</dc:creator>
  <cp:lastModifiedBy>WILLIAM RICARDO AGUILAR PIÑA</cp:lastModifiedBy>
  <cp:revision>781</cp:revision>
  <dcterms:created xsi:type="dcterms:W3CDTF">2010-05-17T13:13:34Z</dcterms:created>
  <dcterms:modified xsi:type="dcterms:W3CDTF">2025-11-21T16:14:58Z</dcterms:modified>
</cp:coreProperties>
</file>