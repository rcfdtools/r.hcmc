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08" r:id="rId2"/>
    <p:sldId id="406" r:id="rId3"/>
    <p:sldId id="386" r:id="rId4"/>
    <p:sldId id="361" r:id="rId5"/>
    <p:sldId id="356" r:id="rId6"/>
    <p:sldId id="410" r:id="rId7"/>
    <p:sldId id="411" r:id="rId8"/>
    <p:sldId id="412" r:id="rId9"/>
    <p:sldId id="413" r:id="rId10"/>
    <p:sldId id="415" r:id="rId11"/>
    <p:sldId id="414" r:id="rId12"/>
    <p:sldId id="416" r:id="rId13"/>
    <p:sldId id="417" r:id="rId14"/>
    <p:sldId id="418" r:id="rId15"/>
    <p:sldId id="419" r:id="rId16"/>
    <p:sldId id="420" r:id="rId17"/>
    <p:sldId id="421" r:id="rId18"/>
    <p:sldId id="422" r:id="rId19"/>
    <p:sldId id="423" r:id="rId20"/>
    <p:sldId id="424" r:id="rId21"/>
    <p:sldId id="384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A4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16" autoAdjust="0"/>
  </p:normalViewPr>
  <p:slideViewPr>
    <p:cSldViewPr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51AE2F63-1A27-43EF-B5E3-319C3DEB3A1F}"/>
    <pc:docChg chg="undo custSel addSld delSld modSld sldOrd">
      <pc:chgData name="WILLIAM RICARDO AGUILAR PIÑA" userId="25538c52-b196-49fc-9025-2dd86a54f18a" providerId="ADAL" clId="{51AE2F63-1A27-43EF-B5E3-319C3DEB3A1F}" dt="2018-11-14T15:23:53.489" v="2563" actId="6549"/>
      <pc:docMkLst>
        <pc:docMk/>
      </pc:docMkLst>
      <pc:sldChg chg="modSp">
        <pc:chgData name="WILLIAM RICARDO AGUILAR PIÑA" userId="25538c52-b196-49fc-9025-2dd86a54f18a" providerId="ADAL" clId="{51AE2F63-1A27-43EF-B5E3-319C3DEB3A1F}" dt="2018-11-13T14:12:22.028" v="6" actId="20577"/>
        <pc:sldMkLst>
          <pc:docMk/>
          <pc:sldMk cId="0" sldId="256"/>
        </pc:sldMkLst>
        <pc:spChg chg="mod">
          <ac:chgData name="WILLIAM RICARDO AGUILAR PIÑA" userId="25538c52-b196-49fc-9025-2dd86a54f18a" providerId="ADAL" clId="{51AE2F63-1A27-43EF-B5E3-319C3DEB3A1F}" dt="2018-11-13T14:12:22.028" v="6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  <pc:docChgLst>
    <pc:chgData name="WILLIAM RICARDO AGUILAR PIÑA" userId="25538c52-b196-49fc-9025-2dd86a54f18a" providerId="ADAL" clId="{6EA509F5-78FC-4DB8-8705-992E03FD31B3}"/>
    <pc:docChg chg="undo custSel modSld">
      <pc:chgData name="WILLIAM RICARDO AGUILAR PIÑA" userId="25538c52-b196-49fc-9025-2dd86a54f18a" providerId="ADAL" clId="{6EA509F5-78FC-4DB8-8705-992E03FD31B3}" dt="2018-11-21T18:45:49.562" v="204" actId="478"/>
      <pc:docMkLst>
        <pc:docMk/>
      </pc:docMkLst>
      <pc:sldChg chg="addSp delSp modSp">
        <pc:chgData name="WILLIAM RICARDO AGUILAR PIÑA" userId="25538c52-b196-49fc-9025-2dd86a54f18a" providerId="ADAL" clId="{6EA509F5-78FC-4DB8-8705-992E03FD31B3}" dt="2018-11-21T18:45:44.013" v="203" actId="1076"/>
        <pc:sldMkLst>
          <pc:docMk/>
          <pc:sldMk cId="0" sldId="256"/>
        </pc:sldMkLst>
        <pc:spChg chg="del mod">
          <ac:chgData name="WILLIAM RICARDO AGUILAR PIÑA" userId="25538c52-b196-49fc-9025-2dd86a54f18a" providerId="ADAL" clId="{6EA509F5-78FC-4DB8-8705-992E03FD31B3}" dt="2018-11-21T18:30:30.869" v="96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WILLIAM RICARDO AGUILAR PIÑA" userId="25538c52-b196-49fc-9025-2dd86a54f18a" providerId="ADAL" clId="{6EA509F5-78FC-4DB8-8705-992E03FD31B3}" dt="2018-11-21T18:36:51.431" v="172" actId="14100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WILLIAM RICARDO AGUILAR PIÑA" userId="25538c52-b196-49fc-9025-2dd86a54f18a" providerId="ADAL" clId="{6EA509F5-78FC-4DB8-8705-992E03FD31B3}" dt="2018-11-21T18:29:14.377" v="59" actId="1076"/>
          <ac:spMkLst>
            <pc:docMk/>
            <pc:sldMk cId="0" sldId="256"/>
            <ac:spMk id="10" creationId="{CC5E7953-FB11-47EE-BA31-E17F11ADF417}"/>
          </ac:spMkLst>
        </pc:spChg>
        <pc:spChg chg="add mod topLvl">
          <ac:chgData name="WILLIAM RICARDO AGUILAR PIÑA" userId="25538c52-b196-49fc-9025-2dd86a54f18a" providerId="ADAL" clId="{6EA509F5-78FC-4DB8-8705-992E03FD31B3}" dt="2018-11-21T18:34:17.866" v="166" actId="164"/>
          <ac:spMkLst>
            <pc:docMk/>
            <pc:sldMk cId="0" sldId="256"/>
            <ac:spMk id="11" creationId="{2724D7B0-631D-4341-9FD0-52097D9644F3}"/>
          </ac:spMkLst>
        </pc:spChg>
        <pc:spChg chg="mod">
          <ac:chgData name="WILLIAM RICARDO AGUILAR PIÑA" userId="25538c52-b196-49fc-9025-2dd86a54f18a" providerId="ADAL" clId="{6EA509F5-78FC-4DB8-8705-992E03FD31B3}" dt="2018-11-21T18:32:36.576" v="150" actId="20577"/>
          <ac:spMkLst>
            <pc:docMk/>
            <pc:sldMk cId="0" sldId="256"/>
            <ac:spMk id="15" creationId="{02F73234-6DCD-4BEE-B2B6-767D64D438F2}"/>
          </ac:spMkLst>
        </pc:spChg>
        <pc:spChg chg="add mod">
          <ac:chgData name="WILLIAM RICARDO AGUILAR PIÑA" userId="25538c52-b196-49fc-9025-2dd86a54f18a" providerId="ADAL" clId="{6EA509F5-78FC-4DB8-8705-992E03FD31B3}" dt="2018-11-21T18:36:14.591" v="170" actId="14100"/>
          <ac:spMkLst>
            <pc:docMk/>
            <pc:sldMk cId="0" sldId="256"/>
            <ac:spMk id="18" creationId="{3EFF6669-DE9D-478E-A231-B3DE20A5B1C9}"/>
          </ac:spMkLst>
        </pc:spChg>
        <pc:grpChg chg="add del mod">
          <ac:chgData name="WILLIAM RICARDO AGUILAR PIÑA" userId="25538c52-b196-49fc-9025-2dd86a54f18a" providerId="ADAL" clId="{6EA509F5-78FC-4DB8-8705-992E03FD31B3}" dt="2018-11-21T18:34:02.246" v="162" actId="165"/>
          <ac:grpSpMkLst>
            <pc:docMk/>
            <pc:sldMk cId="0" sldId="256"/>
            <ac:grpSpMk id="4" creationId="{7DFE592D-001A-4878-9A1D-C219DFA77F73}"/>
          </ac:grpSpMkLst>
        </pc:grpChg>
        <pc:grpChg chg="add del mod">
          <ac:chgData name="WILLIAM RICARDO AGUILAR PIÑA" userId="25538c52-b196-49fc-9025-2dd86a54f18a" providerId="ADAL" clId="{6EA509F5-78FC-4DB8-8705-992E03FD31B3}" dt="2018-11-21T18:34:27.048" v="167"/>
          <ac:grpSpMkLst>
            <pc:docMk/>
            <pc:sldMk cId="0" sldId="256"/>
            <ac:grpSpMk id="5" creationId="{2D6048F8-673C-47F4-8369-A0B29BED263E}"/>
          </ac:grpSpMkLst>
        </pc:grpChg>
        <pc:grpChg chg="add del mod ord">
          <ac:chgData name="WILLIAM RICARDO AGUILAR PIÑA" userId="25538c52-b196-49fc-9025-2dd86a54f18a" providerId="ADAL" clId="{6EA509F5-78FC-4DB8-8705-992E03FD31B3}" dt="2018-11-21T18:34:27.048" v="167"/>
          <ac:grpSpMkLst>
            <pc:docMk/>
            <pc:sldMk cId="0" sldId="256"/>
            <ac:grpSpMk id="13" creationId="{3B987C32-AC9F-42ED-959A-6764CBB0A521}"/>
          </ac:grpSpMkLst>
        </pc:grpChg>
        <pc:grpChg chg="add mod">
          <ac:chgData name="WILLIAM RICARDO AGUILAR PIÑA" userId="25538c52-b196-49fc-9025-2dd86a54f18a" providerId="ADAL" clId="{6EA509F5-78FC-4DB8-8705-992E03FD31B3}" dt="2018-11-21T18:45:44.013" v="203" actId="1076"/>
          <ac:grpSpMkLst>
            <pc:docMk/>
            <pc:sldMk cId="0" sldId="256"/>
            <ac:grpSpMk id="19" creationId="{FA717F53-E3AF-4BFA-8C12-0EA155B34435}"/>
          </ac:grpSpMkLst>
        </pc:grpChg>
        <pc:picChg chg="add mod topLvl">
          <ac:chgData name="WILLIAM RICARDO AGUILAR PIÑA" userId="25538c52-b196-49fc-9025-2dd86a54f18a" providerId="ADAL" clId="{6EA509F5-78FC-4DB8-8705-992E03FD31B3}" dt="2018-11-21T18:34:17.866" v="166" actId="164"/>
          <ac:picMkLst>
            <pc:docMk/>
            <pc:sldMk cId="0" sldId="256"/>
            <ac:picMk id="3" creationId="{CDE19BAB-097A-4C82-9363-240B97DC4A98}"/>
          </ac:picMkLst>
        </pc:picChg>
      </pc:sldChg>
      <pc:sldChg chg="addSp delSp modSp">
        <pc:chgData name="WILLIAM RICARDO AGUILAR PIÑA" userId="25538c52-b196-49fc-9025-2dd86a54f18a" providerId="ADAL" clId="{6EA509F5-78FC-4DB8-8705-992E03FD31B3}" dt="2018-11-21T18:45:49.562" v="204" actId="478"/>
        <pc:sldMkLst>
          <pc:docMk/>
          <pc:sldMk cId="159271927" sldId="351"/>
        </pc:sldMkLst>
        <pc:spChg chg="mod topLvl">
          <ac:chgData name="WILLIAM RICARDO AGUILAR PIÑA" userId="25538c52-b196-49fc-9025-2dd86a54f18a" providerId="ADAL" clId="{6EA509F5-78FC-4DB8-8705-992E03FD31B3}" dt="2018-11-21T18:45:31.275" v="200" actId="164"/>
          <ac:spMkLst>
            <pc:docMk/>
            <pc:sldMk cId="159271927" sldId="351"/>
            <ac:spMk id="13" creationId="{CC725204-E3AA-4103-AD5B-029BC9C40AD7}"/>
          </ac:spMkLst>
        </pc:spChg>
        <pc:grpChg chg="add del mod">
          <ac:chgData name="WILLIAM RICARDO AGUILAR PIÑA" userId="25538c52-b196-49fc-9025-2dd86a54f18a" providerId="ADAL" clId="{6EA509F5-78FC-4DB8-8705-992E03FD31B3}" dt="2018-11-21T18:45:49.562" v="204" actId="478"/>
          <ac:grpSpMkLst>
            <pc:docMk/>
            <pc:sldMk cId="159271927" sldId="351"/>
            <ac:grpSpMk id="4" creationId="{BA884435-2454-441B-BAEC-B9C510F48315}"/>
          </ac:grpSpMkLst>
        </pc:grpChg>
        <pc:grpChg chg="add del mod">
          <ac:chgData name="WILLIAM RICARDO AGUILAR PIÑA" userId="25538c52-b196-49fc-9025-2dd86a54f18a" providerId="ADAL" clId="{6EA509F5-78FC-4DB8-8705-992E03FD31B3}" dt="2018-11-21T18:44:42.572" v="186" actId="165"/>
          <ac:grpSpMkLst>
            <pc:docMk/>
            <pc:sldMk cId="159271927" sldId="351"/>
            <ac:grpSpMk id="11" creationId="{F28BCF0B-E59C-4AEA-A5BE-4087C3D1F6F2}"/>
          </ac:grpSpMkLst>
        </pc:grpChg>
        <pc:grpChg chg="add del">
          <ac:chgData name="WILLIAM RICARDO AGUILAR PIÑA" userId="25538c52-b196-49fc-9025-2dd86a54f18a" providerId="ADAL" clId="{6EA509F5-78FC-4DB8-8705-992E03FD31B3}" dt="2018-11-21T18:39:50.493" v="174" actId="478"/>
          <ac:grpSpMkLst>
            <pc:docMk/>
            <pc:sldMk cId="159271927" sldId="351"/>
            <ac:grpSpMk id="14" creationId="{655F83BF-96CA-4DB8-B9F6-AF3D78DC7299}"/>
          </ac:grpSpMkLst>
        </pc:grpChg>
        <pc:picChg chg="add mod modCrop">
          <ac:chgData name="WILLIAM RICARDO AGUILAR PIÑA" userId="25538c52-b196-49fc-9025-2dd86a54f18a" providerId="ADAL" clId="{6EA509F5-78FC-4DB8-8705-992E03FD31B3}" dt="2018-11-21T18:45:31.275" v="200" actId="164"/>
          <ac:picMkLst>
            <pc:docMk/>
            <pc:sldMk cId="159271927" sldId="351"/>
            <ac:picMk id="3" creationId="{19E38503-1067-4899-9459-E63ED32D9094}"/>
          </ac:picMkLst>
        </pc:picChg>
        <pc:picChg chg="del mod topLvl">
          <ac:chgData name="WILLIAM RICARDO AGUILAR PIÑA" userId="25538c52-b196-49fc-9025-2dd86a54f18a" providerId="ADAL" clId="{6EA509F5-78FC-4DB8-8705-992E03FD31B3}" dt="2018-11-21T18:44:43.998" v="187" actId="478"/>
          <ac:picMkLst>
            <pc:docMk/>
            <pc:sldMk cId="159271927" sldId="351"/>
            <ac:picMk id="12" creationId="{C3ACD50C-68C5-4AF4-BAB2-105251A9AA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6011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484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161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3472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0992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0028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9887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231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520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121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110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0296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5601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5296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0644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4482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84031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6319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721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23/11/2021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/R.HydroTools/wiki/License" TargetMode="External"/><Relationship Id="rId2" Type="http://schemas.openxmlformats.org/officeDocument/2006/relationships/hyperlink" Target="https://github.com/rcfdtoo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3072C985-1B9B-4BDD-9204-91D61E909C9C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v.20201118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F6DDFB0-630E-45A2-B5EE-AB34BE184EC4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r.cfdtools@gmail.com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hidráulica 2D con HEC-RAS y RAS </a:t>
            </a:r>
            <a:r>
              <a:rPr lang="es-CO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de matrices de datos y resultados del modelo 2D con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HDFView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DBA65C-27D4-407B-8130-9BA9026567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B1070B9D-56B8-431A-B7E1-15C6D63AB6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" y="26672"/>
            <a:ext cx="449679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719736" y="3275111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0. Conceptos generales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1E21EB-C358-4E31-A352-D272E48345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4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035660" y="1659285"/>
            <a:ext cx="61206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HEC-RAS, utiliza archivos de datos científicos .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almacenar los siguientes datos y resultados: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Modelo de terreno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Geometría del modelo 2D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Parámetros y condiciones de frontera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Resultados de modelación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la visualización de los elementos, utilizaremos un modelo simplificado denominado HECRAS2DSimpleModel_v0, disponible en el Tema 5 del repositorio de datos del curso. Descomprimir y copiar en C:\HPSD\HECRAS2DSimpleModel_v0. Es requerida la herramienta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HDFView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disponible en http://docs.h5py.org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D24DA4C-11DC-45E9-834B-A79D410EC7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0. Conceptos generales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74576D-863C-4741-9915-F32303FFCA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8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215680" y="2505670"/>
            <a:ext cx="57606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1. Modelo de terreno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Los archivos del modelo de terreno, generalmente son almacenados dentro del proyecto HEC-RAS en la carpeta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EBB37E-80BF-48D1-9F95-DB18144B0D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3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9EBF09A-615F-4A52-80BB-7653C5CF9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87" y="1066580"/>
            <a:ext cx="3016367" cy="5445224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la carpeta de proyecto, abrir la carpeta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8DC54F-803B-4C2D-8284-DDAEA61BEC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170" y="2420888"/>
            <a:ext cx="360000" cy="360000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8D24DA4C-11DC-45E9-834B-A79D410EC7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Modelo de terreno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23E8F1F-9B30-4AAE-8DAA-8F21578FD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236" y="1066580"/>
            <a:ext cx="7810500" cy="23812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C460351-A1B1-420C-AECD-5608FDE5E0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460" y="2329213"/>
            <a:ext cx="360000" cy="360000"/>
          </a:xfrm>
          <a:prstGeom prst="rect">
            <a:avLst/>
          </a:prstGeom>
        </p:spPr>
      </p:pic>
      <p:sp>
        <p:nvSpPr>
          <p:cNvPr id="14" name="7 CuadroTexto">
            <a:extLst>
              <a:ext uri="{FF2B5EF4-FFF2-40B4-BE49-F238E27FC236}">
                <a16:creationId xmlns:a16="http://schemas.microsoft.com/office/drawing/2014/main" id="{A0D708C5-4428-4627-AFFE-7DEFAF929130}"/>
              </a:ext>
            </a:extLst>
          </p:cNvPr>
          <p:cNvSpPr txBox="1"/>
          <p:nvPr/>
        </p:nvSpPr>
        <p:spPr>
          <a:xfrm>
            <a:off x="3952236" y="3719267"/>
            <a:ext cx="35839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Terrain.hdf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Modelo de terreno en formato .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it-IT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Terrain.tin_terrenonaturalcaucesinuoso_v0.tif: Grilla de terreno original en formato GeoTIFF.</a:t>
            </a:r>
          </a:p>
          <a:p>
            <a:endParaRPr lang="it-IT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Terrain.vrt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Especificaciones del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dataset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sistema de coordenadas y estadísticos del modelo de terreno. 9158 x 5131 = 46,989,698 celdas.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1D1A15-5FCD-46ED-A1BB-63C6914252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203" y="3558102"/>
            <a:ext cx="4079533" cy="300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1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visualice el modelo de terreno e identifique el número de cuadrantes que componen el MDT.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2C32A93-2E32-4311-8F3B-BE6D3BBB2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1" y="931899"/>
            <a:ext cx="6264696" cy="337602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66E7B31-37E9-49ED-B00F-22ECE240AB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864" y="1988840"/>
            <a:ext cx="360000" cy="36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3E7F37-98B3-4AB2-B41C-C88C8DEC4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096" y="863725"/>
            <a:ext cx="4919949" cy="583618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D628108-D9B1-428F-9535-A7CBC9506C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4005064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30B8ED4-4C06-4608-87EE-34214DF43D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322" y="5157192"/>
            <a:ext cx="360000" cy="360000"/>
          </a:xfrm>
          <a:prstGeom prst="rect">
            <a:avLst/>
          </a:prstGeom>
        </p:spPr>
      </p:pic>
      <p:sp>
        <p:nvSpPr>
          <p:cNvPr id="18" name="7 CuadroTexto">
            <a:extLst>
              <a:ext uri="{FF2B5EF4-FFF2-40B4-BE49-F238E27FC236}">
                <a16:creationId xmlns:a16="http://schemas.microsoft.com/office/drawing/2014/main" id="{91380888-2BE3-4519-9D31-7EEB9F6855B3}"/>
              </a:ext>
            </a:extLst>
          </p:cNvPr>
          <p:cNvSpPr txBox="1"/>
          <p:nvPr/>
        </p:nvSpPr>
        <p:spPr>
          <a:xfrm>
            <a:off x="335361" y="4587434"/>
            <a:ext cx="5544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el modelo, se ha descompuesto el MDT en un mosaico compuesto por 756 celdas (de 0 a 755).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641822D9-8A30-4B97-9A9A-91F9D8677C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Modelo de terreno</a:t>
            </a:r>
          </a:p>
        </p:txBody>
      </p:sp>
    </p:spTree>
    <p:extLst>
      <p:ext uri="{BB962C8B-B14F-4D97-AF65-F5344CB8AC3E}">
        <p14:creationId xmlns:p14="http://schemas.microsoft.com/office/powerpoint/2010/main" val="821516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HDFView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abrir el archivo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Terrain.hdf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visualizar los valores numéricos de las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piramides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visualización correspondientes a los pixeles que se dibujarán dependiendo de la escala. La máscara 0 contiene en las fila el número de celda y en las columnas el marcado de visualización (00 sin valor, 01 con valor), de 0 a 65535 columnas.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6011AD9-FBC0-4477-AB6C-AC50B5226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88" y="1346872"/>
            <a:ext cx="5554263" cy="53732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1371904-ABED-41AB-9AE5-8B285758AF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3207652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8794C79-809A-4C2B-9BA8-6A61300227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8" y="2229601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8709F00-3CAB-417B-B857-88832E7164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840" y="4389841"/>
            <a:ext cx="360000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30ED376-C2FE-4469-B076-93BFF84AB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640" y="1346872"/>
            <a:ext cx="5395984" cy="5373216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CAE6C40F-D535-4D1D-816F-0CA9E61D495A}"/>
              </a:ext>
            </a:extLst>
          </p:cNvPr>
          <p:cNvSpPr/>
          <p:nvPr/>
        </p:nvSpPr>
        <p:spPr>
          <a:xfrm>
            <a:off x="6361218" y="6165327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2EEFD4B-00AE-472A-80D9-63A4B33104EC}"/>
              </a:ext>
            </a:extLst>
          </p:cNvPr>
          <p:cNvSpPr/>
          <p:nvPr/>
        </p:nvSpPr>
        <p:spPr>
          <a:xfrm>
            <a:off x="3696777" y="3612072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238B266A-F799-4749-B714-1583FAB96B6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Modelo de terreno</a:t>
            </a:r>
          </a:p>
        </p:txBody>
      </p:sp>
    </p:spTree>
    <p:extLst>
      <p:ext uri="{BB962C8B-B14F-4D97-AF65-F5344CB8AC3E}">
        <p14:creationId xmlns:p14="http://schemas.microsoft.com/office/powerpoint/2010/main" val="149286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HDFView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la ruta Min-Max contiene los estadísticos de elevación de cada cuadrante del mosaico de terreno para cada una de las 756 celdas de la superficie.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FD5E0E0-7647-47E2-AEEC-EF3EA9A13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186" y="1092486"/>
            <a:ext cx="2537973" cy="56425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22F581-6117-40C3-B5D0-1E12C1A8C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472" y="1092485"/>
            <a:ext cx="5832648" cy="564252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03CEE1C-C8D8-48F6-9425-D0ECE44227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554" y="3212976"/>
            <a:ext cx="360000" cy="360000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E1C63D4C-7C20-49C5-854F-282631D37C03}"/>
              </a:ext>
            </a:extLst>
          </p:cNvPr>
          <p:cNvSpPr/>
          <p:nvPr/>
        </p:nvSpPr>
        <p:spPr>
          <a:xfrm>
            <a:off x="4647172" y="3463947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1 Título">
            <a:extLst>
              <a:ext uri="{FF2B5EF4-FFF2-40B4-BE49-F238E27FC236}">
                <a16:creationId xmlns:a16="http://schemas.microsoft.com/office/drawing/2014/main" id="{667073B8-987F-4CFD-9769-C19BDC77D2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Modelo de terreno</a:t>
            </a:r>
          </a:p>
        </p:txBody>
      </p:sp>
    </p:spTree>
    <p:extLst>
      <p:ext uri="{BB962C8B-B14F-4D97-AF65-F5344CB8AC3E}">
        <p14:creationId xmlns:p14="http://schemas.microsoft.com/office/powerpoint/2010/main" val="135482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243572" y="2382559"/>
            <a:ext cx="77048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2. Geometría del modelo 2D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Los archivos .g0#.hdf (donde # representa el consecutivo de la geometría creada) contienen la información relacionada con la geometría del modelo y se encuentran almacenados en la carpeta raíz del proyecto. </a:t>
            </a:r>
          </a:p>
          <a:p>
            <a:pPr algn="just"/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el ejemplo visualizaremos el archivo:</a:t>
            </a: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C:\HPSD\HECRAS2DSimpleModel_v0\HECRAS2D_v0.g01.hdf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EBB37E-80BF-48D1-9F95-DB18144B0D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9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rotule los números de celda del perímetro definido para la malla de la geometría e identifique el número de celdas obtenidas en el refinamiento. El modelo prototipo se compone de 768 celdas y 696 puntos de cálculo.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D24DA4C-11DC-45E9-834B-A79D410EC7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Geometría del modelo 2D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153A151-8082-408C-B147-95A5CD847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1268760"/>
            <a:ext cx="5647818" cy="30435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88116CE-449E-463D-8C9E-1CFE2448C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581" y="1273694"/>
            <a:ext cx="5647816" cy="304359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038C599-A22F-49D4-8DE3-194D230C08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824" y="2084726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60BFB2-4179-48F9-87A5-69796B9AB4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2480790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C52D54A-4E46-4478-A5E6-DCEB7DAA7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1918" y="4474643"/>
            <a:ext cx="450532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1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de número de celdas 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756ABD9-1373-4850-A4AE-460380BF8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012" y="1077398"/>
            <a:ext cx="9335976" cy="5444776"/>
          </a:xfrm>
          <a:prstGeom prst="rect">
            <a:avLst/>
          </a:prstGeom>
        </p:spPr>
      </p:pic>
      <p:sp>
        <p:nvSpPr>
          <p:cNvPr id="14" name="Elipse 13">
            <a:extLst>
              <a:ext uri="{FF2B5EF4-FFF2-40B4-BE49-F238E27FC236}">
                <a16:creationId xmlns:a16="http://schemas.microsoft.com/office/drawing/2014/main" id="{34B84C19-1A26-4957-8D4B-3CCC9D9C8136}"/>
              </a:ext>
            </a:extLst>
          </p:cNvPr>
          <p:cNvSpPr/>
          <p:nvPr/>
        </p:nvSpPr>
        <p:spPr>
          <a:xfrm>
            <a:off x="9272590" y="5345071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0632FC8-1887-4A76-851E-0D97A627AC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2420888"/>
            <a:ext cx="360000" cy="360000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309BBE8C-8CD5-42E3-87CE-CE8DB27338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Geometría del modelo 2D</a:t>
            </a:r>
          </a:p>
        </p:txBody>
      </p:sp>
    </p:spTree>
    <p:extLst>
      <p:ext uri="{BB962C8B-B14F-4D97-AF65-F5344CB8AC3E}">
        <p14:creationId xmlns:p14="http://schemas.microsoft.com/office/powerpoint/2010/main" val="57663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de coordenadas con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HDFView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de cada uno de los 696 puntos de cálculo del mallado (0 a 695).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55DDC6A-CF8A-4564-9EB3-EDBAACD38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1127363"/>
            <a:ext cx="4019550" cy="5257800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995C10B9-B8EC-4EE0-82D4-8AD52E81C66D}"/>
              </a:ext>
            </a:extLst>
          </p:cNvPr>
          <p:cNvSpPr/>
          <p:nvPr/>
        </p:nvSpPr>
        <p:spPr>
          <a:xfrm>
            <a:off x="7717046" y="5896389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F99ED35-4E0F-4EFA-BF95-662C7DFD8805}"/>
              </a:ext>
            </a:extLst>
          </p:cNvPr>
          <p:cNvSpPr/>
          <p:nvPr/>
        </p:nvSpPr>
        <p:spPr>
          <a:xfrm>
            <a:off x="9048328" y="2564904"/>
            <a:ext cx="338554" cy="3385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CX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3598662-6E94-42AF-A0CA-C54EA426D2A7}"/>
              </a:ext>
            </a:extLst>
          </p:cNvPr>
          <p:cNvSpPr/>
          <p:nvPr/>
        </p:nvSpPr>
        <p:spPr>
          <a:xfrm>
            <a:off x="10560496" y="2564904"/>
            <a:ext cx="338554" cy="3385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8B0674-423B-4C88-B5DF-CFA28237E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282" y="980728"/>
            <a:ext cx="6762077" cy="5721758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8F2C55B1-C5D5-411E-B903-CBA9672848C1}"/>
              </a:ext>
            </a:extLst>
          </p:cNvPr>
          <p:cNvSpPr/>
          <p:nvPr/>
        </p:nvSpPr>
        <p:spPr>
          <a:xfrm>
            <a:off x="4205130" y="3499250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3ECA4CE-6F04-46EC-8DBF-9F570413EE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35" y="3015614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E8F682F-4DC2-4F35-A676-AE00A64E11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71" y="1643159"/>
            <a:ext cx="360000" cy="3600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FF74B35-4C04-4DF7-9CF8-08F2C8D32F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4365104"/>
            <a:ext cx="360000" cy="360000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2534C8F8-73AA-4489-AE0D-CA7B282F23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Geometría del modelo 2D</a:t>
            </a:r>
          </a:p>
        </p:txBody>
      </p:sp>
    </p:spTree>
    <p:extLst>
      <p:ext uri="{BB962C8B-B14F-4D97-AF65-F5344CB8AC3E}">
        <p14:creationId xmlns:p14="http://schemas.microsoft.com/office/powerpoint/2010/main" val="82333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4B79B86-5347-4A9B-A121-2E0D3412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44" y="1145843"/>
            <a:ext cx="6435265" cy="54452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9B2545-8A31-401C-88E0-4C778A292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176" y="982635"/>
            <a:ext cx="3634036" cy="5636464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de coordenadas con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HDFView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de cada uno de los 768 puntos del centroide de cada celda del mallado (0 a 767).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995C10B9-B8EC-4EE0-82D4-8AD52E81C66D}"/>
              </a:ext>
            </a:extLst>
          </p:cNvPr>
          <p:cNvSpPr/>
          <p:nvPr/>
        </p:nvSpPr>
        <p:spPr>
          <a:xfrm>
            <a:off x="7758876" y="6161060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F99ED35-4E0F-4EFA-BF95-662C7DFD8805}"/>
              </a:ext>
            </a:extLst>
          </p:cNvPr>
          <p:cNvSpPr/>
          <p:nvPr/>
        </p:nvSpPr>
        <p:spPr>
          <a:xfrm>
            <a:off x="9111961" y="2310637"/>
            <a:ext cx="338554" cy="3385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CX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3598662-6E94-42AF-A0CA-C54EA426D2A7}"/>
              </a:ext>
            </a:extLst>
          </p:cNvPr>
          <p:cNvSpPr/>
          <p:nvPr/>
        </p:nvSpPr>
        <p:spPr>
          <a:xfrm>
            <a:off x="10416480" y="2291977"/>
            <a:ext cx="338554" cy="3385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CY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F2C55B1-C5D5-411E-B903-CBA9672848C1}"/>
              </a:ext>
            </a:extLst>
          </p:cNvPr>
          <p:cNvSpPr/>
          <p:nvPr/>
        </p:nvSpPr>
        <p:spPr>
          <a:xfrm>
            <a:off x="4949498" y="3543854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3ECA4CE-6F04-46EC-8DBF-9F570413EE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3386892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E8F682F-4DC2-4F35-A676-AE00A64E11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56" y="1772816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9983F5E-CD16-4FA7-8C19-5512B7E57D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000" y="4365104"/>
            <a:ext cx="360000" cy="360000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E880BF78-C7DA-4702-B12E-18406C239E5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Geometría del modelo 2D</a:t>
            </a:r>
          </a:p>
        </p:txBody>
      </p:sp>
    </p:spTree>
    <p:extLst>
      <p:ext uri="{BB962C8B-B14F-4D97-AF65-F5344CB8AC3E}">
        <p14:creationId xmlns:p14="http://schemas.microsoft.com/office/powerpoint/2010/main" val="397663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7B0383D-3E7B-4B39-B8C7-109FF463A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54" y="931898"/>
            <a:ext cx="2898234" cy="575089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También podrá consultar los valores de elevación mínima, área superficial y volumen elevación por celda.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86EB54B7-D08B-4623-9A91-F2B37FD898A3}"/>
              </a:ext>
            </a:extLst>
          </p:cNvPr>
          <p:cNvSpPr/>
          <p:nvPr/>
        </p:nvSpPr>
        <p:spPr>
          <a:xfrm>
            <a:off x="1736010" y="2367945"/>
            <a:ext cx="338554" cy="3385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5C43D3-894A-45F1-8BD6-A020F8934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516" y="931898"/>
            <a:ext cx="2547595" cy="5759414"/>
          </a:xfrm>
          <a:prstGeom prst="rect">
            <a:avLst/>
          </a:prstGeom>
        </p:spPr>
      </p:pic>
      <p:sp>
        <p:nvSpPr>
          <p:cNvPr id="21" name="Elipse 20">
            <a:extLst>
              <a:ext uri="{FF2B5EF4-FFF2-40B4-BE49-F238E27FC236}">
                <a16:creationId xmlns:a16="http://schemas.microsoft.com/office/drawing/2014/main" id="{0BB1F018-DC16-478B-B627-A8BCCF39CCBE}"/>
              </a:ext>
            </a:extLst>
          </p:cNvPr>
          <p:cNvSpPr/>
          <p:nvPr/>
        </p:nvSpPr>
        <p:spPr>
          <a:xfrm>
            <a:off x="5521803" y="2204864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Área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9641040-76DD-4E63-AC4F-23D7C3667007}"/>
              </a:ext>
            </a:extLst>
          </p:cNvPr>
          <p:cNvSpPr/>
          <p:nvPr/>
        </p:nvSpPr>
        <p:spPr>
          <a:xfrm>
            <a:off x="4989753" y="2202442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Celda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C71945E-EB3C-49DE-8B40-33EDCEF62DF6}"/>
              </a:ext>
            </a:extLst>
          </p:cNvPr>
          <p:cNvSpPr/>
          <p:nvPr/>
        </p:nvSpPr>
        <p:spPr>
          <a:xfrm>
            <a:off x="1092063" y="2293920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Celda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01356A-94B1-4595-BD16-53351AF84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513" y="942620"/>
            <a:ext cx="3120063" cy="5740175"/>
          </a:xfrm>
          <a:prstGeom prst="rect">
            <a:avLst/>
          </a:prstGeom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3C180101-E8C8-4910-A736-67DEBDB8180B}"/>
              </a:ext>
            </a:extLst>
          </p:cNvPr>
          <p:cNvSpPr/>
          <p:nvPr/>
        </p:nvSpPr>
        <p:spPr>
          <a:xfrm>
            <a:off x="8822973" y="2144425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 err="1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Elev</a:t>
            </a:r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0446CC9-C262-484B-8794-4161D4CB3D3D}"/>
              </a:ext>
            </a:extLst>
          </p:cNvPr>
          <p:cNvSpPr/>
          <p:nvPr/>
        </p:nvSpPr>
        <p:spPr>
          <a:xfrm>
            <a:off x="9543052" y="2153756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Vol.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E2474BC0-D664-411B-A5A5-3F31AC75E202}"/>
              </a:ext>
            </a:extLst>
          </p:cNvPr>
          <p:cNvSpPr/>
          <p:nvPr/>
        </p:nvSpPr>
        <p:spPr>
          <a:xfrm>
            <a:off x="8231251" y="2311959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Celda</a:t>
            </a:r>
          </a:p>
        </p:txBody>
      </p:sp>
      <p:sp>
        <p:nvSpPr>
          <p:cNvPr id="15" name="1 Título">
            <a:extLst>
              <a:ext uri="{FF2B5EF4-FFF2-40B4-BE49-F238E27FC236}">
                <a16:creationId xmlns:a16="http://schemas.microsoft.com/office/drawing/2014/main" id="{C8DC5DF2-025F-4042-A9DF-B6EC51686AF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Geometría del modelo 2D</a:t>
            </a:r>
          </a:p>
        </p:txBody>
      </p:sp>
    </p:spTree>
    <p:extLst>
      <p:ext uri="{BB962C8B-B14F-4D97-AF65-F5344CB8AC3E}">
        <p14:creationId xmlns:p14="http://schemas.microsoft.com/office/powerpoint/2010/main" val="2370590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243572" y="2382559"/>
            <a:ext cx="770485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Parámetros y condiciones de frontera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Los archivos .p0#.hdf (donde # representa el consecutivo del plan de modelación creado) contienen la información relacionada los parámetros de entrada y condiciones de frontera del modelo para cada periodo de retorno estudiado y se encuentran almacenados en la carpeta raíz del proyecto. </a:t>
            </a:r>
          </a:p>
          <a:p>
            <a:pPr algn="just"/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el ejemplo visualizaremos el archivo:</a:t>
            </a: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C:\HPSD\HECRAS2DSimpleModel_v0\HECRAS2D_v0.p01.hdf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EBB37E-80BF-48D1-9F95-DB18144B0D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4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Hidrograma de entrada en la frontera aguas arriba definida en HEC-RAS.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D24DA4C-11DC-45E9-834B-A79D410EC7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Parámetros y condiciones de frontera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57845F3-5FEA-45C4-95D1-71614CC20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8" y="1340768"/>
            <a:ext cx="4870476" cy="49005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BA9DC52-7CB7-4CE0-AC15-28F407ADC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3" y="1340768"/>
            <a:ext cx="5574741" cy="490058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F64D8AC-E101-4728-BE43-0527C1A652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606135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8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5A70619-8638-4CBD-8DE4-E5DB3600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94" y="931003"/>
            <a:ext cx="7058658" cy="550799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 de datos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HDFView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El número de pulsos dependerá de las condiciones de control para la modelación.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F64D8AC-E101-4728-BE43-0527C1A652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434" y="4293096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96B608A-12B6-44D2-B35D-F3D05A23FA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378" y="2132856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C28B474-4B90-4E03-8A38-4E1916B150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506" y="2996952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61E0542-7758-412D-AA39-335D94CCB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176" y="4529860"/>
            <a:ext cx="4210050" cy="20383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A2FF22C-55E7-471B-9D18-89C032D71D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931003"/>
            <a:ext cx="3318457" cy="3483080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B22394AC-C17F-44A5-B345-15E850FAA5A1}"/>
              </a:ext>
            </a:extLst>
          </p:cNvPr>
          <p:cNvSpPr/>
          <p:nvPr/>
        </p:nvSpPr>
        <p:spPr>
          <a:xfrm>
            <a:off x="9281144" y="1880827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Q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2FD6A17-CD9E-4BF4-95F3-A5CBB337CE6E}"/>
              </a:ext>
            </a:extLst>
          </p:cNvPr>
          <p:cNvSpPr/>
          <p:nvPr/>
        </p:nvSpPr>
        <p:spPr>
          <a:xfrm>
            <a:off x="8616279" y="1886302"/>
            <a:ext cx="504057" cy="5040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Pulso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056BD69-3151-4F21-903F-381E2B511EFA}"/>
              </a:ext>
            </a:extLst>
          </p:cNvPr>
          <p:cNvSpPr/>
          <p:nvPr/>
        </p:nvSpPr>
        <p:spPr>
          <a:xfrm>
            <a:off x="8240218" y="5534146"/>
            <a:ext cx="781865" cy="7818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Pendiente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6C6C9C8-05EF-4F91-BE47-FBAD1DBB08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977" y="3325002"/>
            <a:ext cx="360000" cy="360000"/>
          </a:xfrm>
          <a:prstGeom prst="rect">
            <a:avLst/>
          </a:prstGeom>
        </p:spPr>
      </p:pic>
      <p:sp>
        <p:nvSpPr>
          <p:cNvPr id="19" name="1 Título">
            <a:extLst>
              <a:ext uri="{FF2B5EF4-FFF2-40B4-BE49-F238E27FC236}">
                <a16:creationId xmlns:a16="http://schemas.microsoft.com/office/drawing/2014/main" id="{A39D82F1-EB50-4417-81CC-7527463687D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Parámetros y condiciones de frontera</a:t>
            </a:r>
          </a:p>
        </p:txBody>
      </p:sp>
    </p:spTree>
    <p:extLst>
      <p:ext uri="{BB962C8B-B14F-4D97-AF65-F5344CB8AC3E}">
        <p14:creationId xmlns:p14="http://schemas.microsoft.com/office/powerpoint/2010/main" val="4097202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243572" y="2382559"/>
            <a:ext cx="77048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4. Resultados de la modelación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Los resultados de la modelación son almacenados en capetas que son rotuladas con el nombre del plan, para el ejemplo la carpeta Plan2 contiene los resultados.</a:t>
            </a:r>
          </a:p>
          <a:p>
            <a:pPr algn="just"/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archivo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PostProcessing.hdf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carpeta de resultados del plan, contiene los valores obtenidos para las variables representadas. Para el ejemplo, revisaremos los resultados de la elevación inversa o cota de la lámina de agua.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EBB37E-80BF-48D1-9F95-DB18144B0D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46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Resultados obtenidos para cada una de las 768 celdas del modelo y para cada uno de los 288 instantes de tiempo modelados.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D24DA4C-11DC-45E9-834B-A79D410EC7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Resultados de la modelación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1DF8871-A9B8-4895-8467-9AE61134D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60" y="905935"/>
            <a:ext cx="5508132" cy="576558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AD43D35-2B26-46D2-8966-EA3CA578CD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284" y="4005064"/>
            <a:ext cx="360000" cy="3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AE30C02-8920-4C28-B8E6-83488B51D3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4" y="2204864"/>
            <a:ext cx="360000" cy="36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E749D3F-80CF-4C17-9936-BB89028FDF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540" y="4156018"/>
            <a:ext cx="360000" cy="360000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BBE42024-D058-430B-92EF-E3418827C27C}"/>
              </a:ext>
            </a:extLst>
          </p:cNvPr>
          <p:cNvSpPr/>
          <p:nvPr/>
        </p:nvSpPr>
        <p:spPr>
          <a:xfrm>
            <a:off x="4454839" y="3284033"/>
            <a:ext cx="458039" cy="45803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4E75243-B175-4521-BB83-59A8CE1DA5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682" y="905935"/>
            <a:ext cx="5695950" cy="3943350"/>
          </a:xfrm>
          <a:prstGeom prst="rect">
            <a:avLst/>
          </a:prstGeom>
        </p:spPr>
      </p:pic>
      <p:sp>
        <p:nvSpPr>
          <p:cNvPr id="17" name="7 CuadroTexto">
            <a:extLst>
              <a:ext uri="{FF2B5EF4-FFF2-40B4-BE49-F238E27FC236}">
                <a16:creationId xmlns:a16="http://schemas.microsoft.com/office/drawing/2014/main" id="{58C330DF-8E8B-4EBC-81FF-AD0C17FFAE06}"/>
              </a:ext>
            </a:extLst>
          </p:cNvPr>
          <p:cNvSpPr txBox="1"/>
          <p:nvPr/>
        </p:nvSpPr>
        <p:spPr>
          <a:xfrm>
            <a:off x="6088682" y="4956775"/>
            <a:ext cx="55446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Las columnas representan cada celda y las filas los instantes de tiempo. Para obtener la envolvente de máximos se debe buscar para cada columna o celda del mallado, el valor máximo obtenido.</a:t>
            </a:r>
          </a:p>
        </p:txBody>
      </p:sp>
    </p:spTree>
    <p:extLst>
      <p:ext uri="{BB962C8B-B14F-4D97-AF65-F5344CB8AC3E}">
        <p14:creationId xmlns:p14="http://schemas.microsoft.com/office/powerpoint/2010/main" val="3376763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983FF1D-56E5-4CC6-9295-38634E8B1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84" y="931898"/>
            <a:ext cx="9840032" cy="5738743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82988" y="476672"/>
            <a:ext cx="1116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presenta la envolvente de elevación máxima de la superficie del agua o WSE a partir de estos valores.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99B2E4-FC46-4C30-8A66-61291F2273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AE30C02-8920-4C28-B8E6-83488B51D3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4077072"/>
            <a:ext cx="360000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58347DD-CBEE-41C1-B3BB-1B2DA0F1D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7648" y="1211362"/>
            <a:ext cx="4365104" cy="2613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3FEA2A5-60E4-4722-9C61-F1A734ABB7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338" y="1916832"/>
            <a:ext cx="360000" cy="360000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4BD1E7F4-9DAE-484C-90E8-6FE6EBACB32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Resultados de la modelación</a:t>
            </a:r>
          </a:p>
        </p:txBody>
      </p:sp>
    </p:spTree>
    <p:extLst>
      <p:ext uri="{BB962C8B-B14F-4D97-AF65-F5344CB8AC3E}">
        <p14:creationId xmlns:p14="http://schemas.microsoft.com/office/powerpoint/2010/main" val="4290759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2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11762</TotalTime>
  <Words>963</Words>
  <Application>Microsoft Office PowerPoint</Application>
  <PresentationFormat>Widescreen</PresentationFormat>
  <Paragraphs>106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HCMC_5_HDFView</dc:title>
  <dc:creator>master</dc:creator>
  <cp:lastModifiedBy>WILLIAM RICARDO AGUILAR PIÑA</cp:lastModifiedBy>
  <cp:revision>716</cp:revision>
  <dcterms:created xsi:type="dcterms:W3CDTF">2010-05-17T13:13:34Z</dcterms:created>
  <dcterms:modified xsi:type="dcterms:W3CDTF">2021-11-23T17:06:51Z</dcterms:modified>
</cp:coreProperties>
</file>