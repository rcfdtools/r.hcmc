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408" r:id="rId2"/>
    <p:sldId id="406" r:id="rId3"/>
    <p:sldId id="386" r:id="rId4"/>
    <p:sldId id="361" r:id="rId5"/>
    <p:sldId id="356" r:id="rId6"/>
    <p:sldId id="410" r:id="rId7"/>
    <p:sldId id="411" r:id="rId8"/>
    <p:sldId id="412" r:id="rId9"/>
    <p:sldId id="413" r:id="rId10"/>
    <p:sldId id="415" r:id="rId11"/>
    <p:sldId id="414" r:id="rId12"/>
    <p:sldId id="416" r:id="rId13"/>
    <p:sldId id="417" r:id="rId14"/>
    <p:sldId id="418" r:id="rId15"/>
    <p:sldId id="419" r:id="rId16"/>
    <p:sldId id="420" r:id="rId17"/>
    <p:sldId id="421" r:id="rId18"/>
    <p:sldId id="422" r:id="rId19"/>
    <p:sldId id="423" r:id="rId20"/>
    <p:sldId id="424" r:id="rId21"/>
    <p:sldId id="384" r:id="rId22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A4A4A"/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6416" autoAdjust="0"/>
  </p:normalViewPr>
  <p:slideViewPr>
    <p:cSldViewPr>
      <p:cViewPr varScale="1">
        <p:scale>
          <a:sx n="119" d="100"/>
          <a:sy n="119" d="100"/>
        </p:scale>
        <p:origin x="132" y="132"/>
      </p:cViewPr>
      <p:guideLst>
        <p:guide orient="horz" pos="2160"/>
        <p:guide pos="3840"/>
      </p:guideLst>
    </p:cSldViewPr>
  </p:slideViewPr>
  <p:notesTextViewPr>
    <p:cViewPr>
      <p:scale>
        <a:sx n="125" d="100"/>
        <a:sy n="125" d="100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LLIAM RICARDO AGUILAR PIÑA" userId="25538c52-b196-49fc-9025-2dd86a54f18a" providerId="ADAL" clId="{51AE2F63-1A27-43EF-B5E3-319C3DEB3A1F}"/>
    <pc:docChg chg="undo custSel addSld delSld modSld sldOrd">
      <pc:chgData name="WILLIAM RICARDO AGUILAR PIÑA" userId="25538c52-b196-49fc-9025-2dd86a54f18a" providerId="ADAL" clId="{51AE2F63-1A27-43EF-B5E3-319C3DEB3A1F}" dt="2018-11-14T15:23:53.489" v="2563" actId="6549"/>
      <pc:docMkLst>
        <pc:docMk/>
      </pc:docMkLst>
      <pc:sldChg chg="modSp">
        <pc:chgData name="WILLIAM RICARDO AGUILAR PIÑA" userId="25538c52-b196-49fc-9025-2dd86a54f18a" providerId="ADAL" clId="{51AE2F63-1A27-43EF-B5E3-319C3DEB3A1F}" dt="2018-11-13T14:12:22.028" v="6" actId="20577"/>
        <pc:sldMkLst>
          <pc:docMk/>
          <pc:sldMk cId="0" sldId="256"/>
        </pc:sldMkLst>
        <pc:spChg chg="mod">
          <ac:chgData name="WILLIAM RICARDO AGUILAR PIÑA" userId="25538c52-b196-49fc-9025-2dd86a54f18a" providerId="ADAL" clId="{51AE2F63-1A27-43EF-B5E3-319C3DEB3A1F}" dt="2018-11-13T14:12:22.028" v="6" actId="20577"/>
          <ac:spMkLst>
            <pc:docMk/>
            <pc:sldMk cId="0" sldId="256"/>
            <ac:spMk id="8" creationId="{00000000-0000-0000-0000-000000000000}"/>
          </ac:spMkLst>
        </pc:spChg>
      </pc:sldChg>
    </pc:docChg>
  </pc:docChgLst>
  <pc:docChgLst>
    <pc:chgData name="WILLIAM RICARDO AGUILAR PIÑA" userId="25538c52-b196-49fc-9025-2dd86a54f18a" providerId="ADAL" clId="{6EA509F5-78FC-4DB8-8705-992E03FD31B3}"/>
    <pc:docChg chg="undo custSel modSld">
      <pc:chgData name="WILLIAM RICARDO AGUILAR PIÑA" userId="25538c52-b196-49fc-9025-2dd86a54f18a" providerId="ADAL" clId="{6EA509F5-78FC-4DB8-8705-992E03FD31B3}" dt="2018-11-21T18:45:49.562" v="204" actId="478"/>
      <pc:docMkLst>
        <pc:docMk/>
      </pc:docMkLst>
      <pc:sldChg chg="addSp delSp modSp">
        <pc:chgData name="WILLIAM RICARDO AGUILAR PIÑA" userId="25538c52-b196-49fc-9025-2dd86a54f18a" providerId="ADAL" clId="{6EA509F5-78FC-4DB8-8705-992E03FD31B3}" dt="2018-11-21T18:45:44.013" v="203" actId="1076"/>
        <pc:sldMkLst>
          <pc:docMk/>
          <pc:sldMk cId="0" sldId="256"/>
        </pc:sldMkLst>
        <pc:spChg chg="del mod">
          <ac:chgData name="WILLIAM RICARDO AGUILAR PIÑA" userId="25538c52-b196-49fc-9025-2dd86a54f18a" providerId="ADAL" clId="{6EA509F5-78FC-4DB8-8705-992E03FD31B3}" dt="2018-11-21T18:30:30.869" v="96" actId="478"/>
          <ac:spMkLst>
            <pc:docMk/>
            <pc:sldMk cId="0" sldId="256"/>
            <ac:spMk id="7" creationId="{00000000-0000-0000-0000-000000000000}"/>
          </ac:spMkLst>
        </pc:spChg>
        <pc:spChg chg="mod">
          <ac:chgData name="WILLIAM RICARDO AGUILAR PIÑA" userId="25538c52-b196-49fc-9025-2dd86a54f18a" providerId="ADAL" clId="{6EA509F5-78FC-4DB8-8705-992E03FD31B3}" dt="2018-11-21T18:36:51.431" v="172" actId="14100"/>
          <ac:spMkLst>
            <pc:docMk/>
            <pc:sldMk cId="0" sldId="256"/>
            <ac:spMk id="8" creationId="{00000000-0000-0000-0000-000000000000}"/>
          </ac:spMkLst>
        </pc:spChg>
        <pc:spChg chg="add mod">
          <ac:chgData name="WILLIAM RICARDO AGUILAR PIÑA" userId="25538c52-b196-49fc-9025-2dd86a54f18a" providerId="ADAL" clId="{6EA509F5-78FC-4DB8-8705-992E03FD31B3}" dt="2018-11-21T18:29:14.377" v="59" actId="1076"/>
          <ac:spMkLst>
            <pc:docMk/>
            <pc:sldMk cId="0" sldId="256"/>
            <ac:spMk id="10" creationId="{CC5E7953-FB11-47EE-BA31-E17F11ADF417}"/>
          </ac:spMkLst>
        </pc:spChg>
        <pc:spChg chg="add mod topLvl">
          <ac:chgData name="WILLIAM RICARDO AGUILAR PIÑA" userId="25538c52-b196-49fc-9025-2dd86a54f18a" providerId="ADAL" clId="{6EA509F5-78FC-4DB8-8705-992E03FD31B3}" dt="2018-11-21T18:34:17.866" v="166" actId="164"/>
          <ac:spMkLst>
            <pc:docMk/>
            <pc:sldMk cId="0" sldId="256"/>
            <ac:spMk id="11" creationId="{2724D7B0-631D-4341-9FD0-52097D9644F3}"/>
          </ac:spMkLst>
        </pc:spChg>
        <pc:spChg chg="mod">
          <ac:chgData name="WILLIAM RICARDO AGUILAR PIÑA" userId="25538c52-b196-49fc-9025-2dd86a54f18a" providerId="ADAL" clId="{6EA509F5-78FC-4DB8-8705-992E03FD31B3}" dt="2018-11-21T18:32:36.576" v="150" actId="20577"/>
          <ac:spMkLst>
            <pc:docMk/>
            <pc:sldMk cId="0" sldId="256"/>
            <ac:spMk id="15" creationId="{02F73234-6DCD-4BEE-B2B6-767D64D438F2}"/>
          </ac:spMkLst>
        </pc:spChg>
        <pc:spChg chg="add mod">
          <ac:chgData name="WILLIAM RICARDO AGUILAR PIÑA" userId="25538c52-b196-49fc-9025-2dd86a54f18a" providerId="ADAL" clId="{6EA509F5-78FC-4DB8-8705-992E03FD31B3}" dt="2018-11-21T18:36:14.591" v="170" actId="14100"/>
          <ac:spMkLst>
            <pc:docMk/>
            <pc:sldMk cId="0" sldId="256"/>
            <ac:spMk id="18" creationId="{3EFF6669-DE9D-478E-A231-B3DE20A5B1C9}"/>
          </ac:spMkLst>
        </pc:spChg>
        <pc:grpChg chg="add del mod">
          <ac:chgData name="WILLIAM RICARDO AGUILAR PIÑA" userId="25538c52-b196-49fc-9025-2dd86a54f18a" providerId="ADAL" clId="{6EA509F5-78FC-4DB8-8705-992E03FD31B3}" dt="2018-11-21T18:34:02.246" v="162" actId="165"/>
          <ac:grpSpMkLst>
            <pc:docMk/>
            <pc:sldMk cId="0" sldId="256"/>
            <ac:grpSpMk id="4" creationId="{7DFE592D-001A-4878-9A1D-C219DFA77F73}"/>
          </ac:grpSpMkLst>
        </pc:grpChg>
        <pc:grpChg chg="add del mod">
          <ac:chgData name="WILLIAM RICARDO AGUILAR PIÑA" userId="25538c52-b196-49fc-9025-2dd86a54f18a" providerId="ADAL" clId="{6EA509F5-78FC-4DB8-8705-992E03FD31B3}" dt="2018-11-21T18:34:27.048" v="167"/>
          <ac:grpSpMkLst>
            <pc:docMk/>
            <pc:sldMk cId="0" sldId="256"/>
            <ac:grpSpMk id="5" creationId="{2D6048F8-673C-47F4-8369-A0B29BED263E}"/>
          </ac:grpSpMkLst>
        </pc:grpChg>
        <pc:grpChg chg="add del mod ord">
          <ac:chgData name="WILLIAM RICARDO AGUILAR PIÑA" userId="25538c52-b196-49fc-9025-2dd86a54f18a" providerId="ADAL" clId="{6EA509F5-78FC-4DB8-8705-992E03FD31B3}" dt="2018-11-21T18:34:27.048" v="167"/>
          <ac:grpSpMkLst>
            <pc:docMk/>
            <pc:sldMk cId="0" sldId="256"/>
            <ac:grpSpMk id="13" creationId="{3B987C32-AC9F-42ED-959A-6764CBB0A521}"/>
          </ac:grpSpMkLst>
        </pc:grpChg>
        <pc:grpChg chg="add mod">
          <ac:chgData name="WILLIAM RICARDO AGUILAR PIÑA" userId="25538c52-b196-49fc-9025-2dd86a54f18a" providerId="ADAL" clId="{6EA509F5-78FC-4DB8-8705-992E03FD31B3}" dt="2018-11-21T18:45:44.013" v="203" actId="1076"/>
          <ac:grpSpMkLst>
            <pc:docMk/>
            <pc:sldMk cId="0" sldId="256"/>
            <ac:grpSpMk id="19" creationId="{FA717F53-E3AF-4BFA-8C12-0EA155B34435}"/>
          </ac:grpSpMkLst>
        </pc:grpChg>
        <pc:picChg chg="add mod topLvl">
          <ac:chgData name="WILLIAM RICARDO AGUILAR PIÑA" userId="25538c52-b196-49fc-9025-2dd86a54f18a" providerId="ADAL" clId="{6EA509F5-78FC-4DB8-8705-992E03FD31B3}" dt="2018-11-21T18:34:17.866" v="166" actId="164"/>
          <ac:picMkLst>
            <pc:docMk/>
            <pc:sldMk cId="0" sldId="256"/>
            <ac:picMk id="3" creationId="{CDE19BAB-097A-4C82-9363-240B97DC4A98}"/>
          </ac:picMkLst>
        </pc:picChg>
      </pc:sldChg>
      <pc:sldChg chg="addSp delSp modSp">
        <pc:chgData name="WILLIAM RICARDO AGUILAR PIÑA" userId="25538c52-b196-49fc-9025-2dd86a54f18a" providerId="ADAL" clId="{6EA509F5-78FC-4DB8-8705-992E03FD31B3}" dt="2018-11-21T18:45:49.562" v="204" actId="478"/>
        <pc:sldMkLst>
          <pc:docMk/>
          <pc:sldMk cId="159271927" sldId="351"/>
        </pc:sldMkLst>
        <pc:spChg chg="mod topLvl">
          <ac:chgData name="WILLIAM RICARDO AGUILAR PIÑA" userId="25538c52-b196-49fc-9025-2dd86a54f18a" providerId="ADAL" clId="{6EA509F5-78FC-4DB8-8705-992E03FD31B3}" dt="2018-11-21T18:45:31.275" v="200" actId="164"/>
          <ac:spMkLst>
            <pc:docMk/>
            <pc:sldMk cId="159271927" sldId="351"/>
            <ac:spMk id="13" creationId="{CC725204-E3AA-4103-AD5B-029BC9C40AD7}"/>
          </ac:spMkLst>
        </pc:spChg>
        <pc:grpChg chg="add del mod">
          <ac:chgData name="WILLIAM RICARDO AGUILAR PIÑA" userId="25538c52-b196-49fc-9025-2dd86a54f18a" providerId="ADAL" clId="{6EA509F5-78FC-4DB8-8705-992E03FD31B3}" dt="2018-11-21T18:45:49.562" v="204" actId="478"/>
          <ac:grpSpMkLst>
            <pc:docMk/>
            <pc:sldMk cId="159271927" sldId="351"/>
            <ac:grpSpMk id="4" creationId="{BA884435-2454-441B-BAEC-B9C510F48315}"/>
          </ac:grpSpMkLst>
        </pc:grpChg>
        <pc:grpChg chg="add del mod">
          <ac:chgData name="WILLIAM RICARDO AGUILAR PIÑA" userId="25538c52-b196-49fc-9025-2dd86a54f18a" providerId="ADAL" clId="{6EA509F5-78FC-4DB8-8705-992E03FD31B3}" dt="2018-11-21T18:44:42.572" v="186" actId="165"/>
          <ac:grpSpMkLst>
            <pc:docMk/>
            <pc:sldMk cId="159271927" sldId="351"/>
            <ac:grpSpMk id="11" creationId="{F28BCF0B-E59C-4AEA-A5BE-4087C3D1F6F2}"/>
          </ac:grpSpMkLst>
        </pc:grpChg>
        <pc:grpChg chg="add del">
          <ac:chgData name="WILLIAM RICARDO AGUILAR PIÑA" userId="25538c52-b196-49fc-9025-2dd86a54f18a" providerId="ADAL" clId="{6EA509F5-78FC-4DB8-8705-992E03FD31B3}" dt="2018-11-21T18:39:50.493" v="174" actId="478"/>
          <ac:grpSpMkLst>
            <pc:docMk/>
            <pc:sldMk cId="159271927" sldId="351"/>
            <ac:grpSpMk id="14" creationId="{655F83BF-96CA-4DB8-B9F6-AF3D78DC7299}"/>
          </ac:grpSpMkLst>
        </pc:grpChg>
        <pc:picChg chg="add mod modCrop">
          <ac:chgData name="WILLIAM RICARDO AGUILAR PIÑA" userId="25538c52-b196-49fc-9025-2dd86a54f18a" providerId="ADAL" clId="{6EA509F5-78FC-4DB8-8705-992E03FD31B3}" dt="2018-11-21T18:45:31.275" v="200" actId="164"/>
          <ac:picMkLst>
            <pc:docMk/>
            <pc:sldMk cId="159271927" sldId="351"/>
            <ac:picMk id="3" creationId="{19E38503-1067-4899-9459-E63ED32D9094}"/>
          </ac:picMkLst>
        </pc:picChg>
        <pc:picChg chg="del mod topLvl">
          <ac:chgData name="WILLIAM RICARDO AGUILAR PIÑA" userId="25538c52-b196-49fc-9025-2dd86a54f18a" providerId="ADAL" clId="{6EA509F5-78FC-4DB8-8705-992E03FD31B3}" dt="2018-11-21T18:44:43.998" v="187" actId="478"/>
          <ac:picMkLst>
            <pc:docMk/>
            <pc:sldMk cId="159271927" sldId="351"/>
            <ac:picMk id="12" creationId="{C3ACD50C-68C5-4AF4-BAB2-105251A9AABC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2 Marcador de fecha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CE91DE-ABC6-4D22-89A0-1765B629FB43}" type="datetimeFigureOut">
              <a:rPr lang="es-CO" smtClean="0"/>
              <a:pPr/>
              <a:t>21/11/2025</a:t>
            </a:fld>
            <a:endParaRPr lang="es-CO"/>
          </a:p>
        </p:txBody>
      </p:sp>
      <p:sp>
        <p:nvSpPr>
          <p:cNvPr id="4" name="3 Marcador de 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4 Marcador de nota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FAC943-C359-4C07-B08A-993C08E8D67C}" type="slidenum">
              <a:rPr lang="es-CO" smtClean="0"/>
              <a:pPr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1702955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2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4560115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3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394843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4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2471615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5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0534723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6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409929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7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6700285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8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83988735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9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9123187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10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6352085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11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4411211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12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72411033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13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18029650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14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7856013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15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7252963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16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91064496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17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82448204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18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45840312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19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0631907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20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4072124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21/11/2025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21/11/2025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21/11/2025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21/11/2025</a:t>
            </a:fld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21/11/2025</a:t>
            </a:fld>
            <a:endParaRPr lang="es-CO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21/11/2025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21/11/2025</a:t>
            </a:fld>
            <a:endParaRPr lang="es-CO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21/11/2025</a:t>
            </a:fld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21/11/2025</a:t>
            </a:fld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21/11/2025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21/11/2025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título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DF08CB-A55A-40B1-AEFD-F19B3CFD19B5}" type="datetimeFigureOut">
              <a:rPr lang="es-CO" smtClean="0"/>
              <a:pPr/>
              <a:t>21/11/2025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1.png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5.png"/><Relationship Id="rId4" Type="http://schemas.openxmlformats.org/officeDocument/2006/relationships/image" Target="../media/image3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cfdtools/R.HydroTools/wiki/License" TargetMode="External"/><Relationship Id="rId2" Type="http://schemas.openxmlformats.org/officeDocument/2006/relationships/hyperlink" Target="https://github.com/rcfdtools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1 Título">
            <a:extLst>
              <a:ext uri="{FF2B5EF4-FFF2-40B4-BE49-F238E27FC236}">
                <a16:creationId xmlns:a16="http://schemas.microsoft.com/office/drawing/2014/main" id="{3072C985-1B9B-4BDD-9204-91D61E909C9C}"/>
              </a:ext>
            </a:extLst>
          </p:cNvPr>
          <p:cNvSpPr txBox="1">
            <a:spLocks/>
          </p:cNvSpPr>
          <p:nvPr/>
        </p:nvSpPr>
        <p:spPr>
          <a:xfrm>
            <a:off x="7620002" y="6669360"/>
            <a:ext cx="4572000" cy="18864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v.20201118</a:t>
            </a:r>
          </a:p>
        </p:txBody>
      </p:sp>
      <p:sp>
        <p:nvSpPr>
          <p:cNvPr id="10" name="1 Título">
            <a:extLst>
              <a:ext uri="{FF2B5EF4-FFF2-40B4-BE49-F238E27FC236}">
                <a16:creationId xmlns:a16="http://schemas.microsoft.com/office/drawing/2014/main" id="{7F6DDFB0-630E-45A2-B5EE-AB34BE184EC4}"/>
              </a:ext>
            </a:extLst>
          </p:cNvPr>
          <p:cNvSpPr txBox="1">
            <a:spLocks/>
          </p:cNvSpPr>
          <p:nvPr/>
        </p:nvSpPr>
        <p:spPr>
          <a:xfrm>
            <a:off x="0" y="6669360"/>
            <a:ext cx="4572000" cy="18864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Info: r.cfdtools@gmail.com</a:t>
            </a:r>
            <a:endParaRPr lang="es-CO" sz="800" spc="1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17" name="1 Título">
            <a:extLst>
              <a:ext uri="{FF2B5EF4-FFF2-40B4-BE49-F238E27FC236}">
                <a16:creationId xmlns:a16="http://schemas.microsoft.com/office/drawing/2014/main" id="{CF602DD4-6CD6-45A5-8387-11EC9AEA487E}"/>
              </a:ext>
            </a:extLst>
          </p:cNvPr>
          <p:cNvSpPr txBox="1">
            <a:spLocks/>
          </p:cNvSpPr>
          <p:nvPr/>
        </p:nvSpPr>
        <p:spPr>
          <a:xfrm>
            <a:off x="0" y="4263073"/>
            <a:ext cx="12192000" cy="154155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1200" dirty="0">
                <a:latin typeface="Segoe UI Light" panose="020B0502040204020203" pitchFamily="34" charset="0"/>
                <a:cs typeface="Segoe UI Light" panose="020B0502040204020203" pitchFamily="34" charset="0"/>
              </a:rPr>
              <a:t>Herramientas computacionales para el diseño y modelación de cauces</a:t>
            </a:r>
          </a:p>
          <a:p>
            <a:r>
              <a:rPr lang="es-CO" sz="1200" dirty="0">
                <a:latin typeface="Segoe UI Light" panose="020B0502040204020203" pitchFamily="34" charset="0"/>
                <a:cs typeface="Segoe UI Light" panose="020B0502040204020203" pitchFamily="34" charset="0"/>
              </a:rPr>
              <a:t>Modelación hidráulica 2D con HEC-RAS y RAS </a:t>
            </a:r>
            <a:r>
              <a:rPr lang="es-CO" sz="12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Mapper</a:t>
            </a:r>
            <a:endParaRPr lang="es-CO" sz="12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Visualización de matrices de datos y resultados del modelo 2D con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HDFView</a:t>
            </a:r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70C1FD41-6B01-4003-8583-7FDA4B45F6A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EADBA65C-27D4-407B-8130-9BA90265677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8852" y="2553460"/>
            <a:ext cx="1574295" cy="1751080"/>
          </a:xfrm>
          <a:prstGeom prst="rect">
            <a:avLst/>
          </a:prstGeom>
        </p:spPr>
      </p:pic>
      <p:pic>
        <p:nvPicPr>
          <p:cNvPr id="5" name="Picture 4" descr="Logo&#10;&#10;Description automatically generated">
            <a:extLst>
              <a:ext uri="{FF2B5EF4-FFF2-40B4-BE49-F238E27FC236}">
                <a16:creationId xmlns:a16="http://schemas.microsoft.com/office/drawing/2014/main" id="{B1070B9D-56B8-431A-B7E1-15C6D63AB69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97" y="26672"/>
            <a:ext cx="449679" cy="45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3719736" y="3275111"/>
            <a:ext cx="47525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0. Conceptos generales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91E21EB-C358-4E31-A352-D272E48345B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63460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3035660" y="1659285"/>
            <a:ext cx="6120680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RAS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Mapper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HEC-RAS, utiliza archivos de datos científicos .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hdf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para almacenar los siguientes datos y resultados:</a:t>
            </a:r>
          </a:p>
          <a:p>
            <a:pPr algn="just"/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Modelo de terreno</a:t>
            </a:r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Geometría del modelo 2D</a:t>
            </a:r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Parámetros y condiciones de frontera</a:t>
            </a:r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Resultados de modelación</a:t>
            </a:r>
          </a:p>
          <a:p>
            <a:pPr algn="just"/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Para la visualización de los elementos, utilizaremos un modelo simplificado denominado HECRAS2DSimpleModel_v0, disponible en el Tema 5 del repositorio de datos del curso. Descomprimir y copiar en C:\HPSD\HECRAS2DSimpleModel_v0. Es requerida la herramienta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HDFView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, disponible en http://docs.h5py.org</a:t>
            </a:r>
          </a:p>
          <a:p>
            <a:pPr algn="just"/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10" name="1 Título">
            <a:extLst>
              <a:ext uri="{FF2B5EF4-FFF2-40B4-BE49-F238E27FC236}">
                <a16:creationId xmlns:a16="http://schemas.microsoft.com/office/drawing/2014/main" id="{8D24DA4C-11DC-45E9-834B-A79D410EC798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CO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0. Conceptos generales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1874576D-863C-4741-9915-F32303FFCAC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64892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3215680" y="2505670"/>
            <a:ext cx="576064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1. Modelo de terreno</a:t>
            </a:r>
          </a:p>
          <a:p>
            <a:pPr algn="just"/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Los archivos del modelo de terreno, generalmente son almacenados dentro del proyecto HEC-RAS en la carpeta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Terrain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8EBB37E-80BF-48D1-9F95-DB18144B0DE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8331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49EBF09A-615F-4A52-80BB-7653C5CF91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987" y="1066580"/>
            <a:ext cx="3016367" cy="5445224"/>
          </a:xfrm>
          <a:prstGeom prst="rect">
            <a:avLst/>
          </a:prstGeom>
        </p:spPr>
      </p:pic>
      <p:sp>
        <p:nvSpPr>
          <p:cNvPr id="8" name="7 CuadroTexto"/>
          <p:cNvSpPr txBox="1"/>
          <p:nvPr/>
        </p:nvSpPr>
        <p:spPr>
          <a:xfrm>
            <a:off x="582988" y="476672"/>
            <a:ext cx="111632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Desde la carpeta de proyecto, abrir la carpeta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Terrain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128DC54F-803B-4C2D-8284-DDAEA61BEC3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1170" y="2420888"/>
            <a:ext cx="360000" cy="360000"/>
          </a:xfrm>
          <a:prstGeom prst="rect">
            <a:avLst/>
          </a:prstGeom>
        </p:spPr>
      </p:pic>
      <p:sp>
        <p:nvSpPr>
          <p:cNvPr id="10" name="1 Título">
            <a:extLst>
              <a:ext uri="{FF2B5EF4-FFF2-40B4-BE49-F238E27FC236}">
                <a16:creationId xmlns:a16="http://schemas.microsoft.com/office/drawing/2014/main" id="{8D24DA4C-11DC-45E9-834B-A79D410EC798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CO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1. Modelo de terreno</a:t>
            </a: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D299B2E4-FC46-4C30-8A66-61291F22734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123E8F1F-9B30-4AAE-8DAA-8F21578FDA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52236" y="1066580"/>
            <a:ext cx="7810500" cy="2381250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EC460351-A1B1-420C-AECD-5608FDE5E0F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8460" y="2329213"/>
            <a:ext cx="360000" cy="360000"/>
          </a:xfrm>
          <a:prstGeom prst="rect">
            <a:avLst/>
          </a:prstGeom>
        </p:spPr>
      </p:pic>
      <p:sp>
        <p:nvSpPr>
          <p:cNvPr id="14" name="7 CuadroTexto">
            <a:extLst>
              <a:ext uri="{FF2B5EF4-FFF2-40B4-BE49-F238E27FC236}">
                <a16:creationId xmlns:a16="http://schemas.microsoft.com/office/drawing/2014/main" id="{A0D708C5-4428-4627-AFFE-7DEFAF929130}"/>
              </a:ext>
            </a:extLst>
          </p:cNvPr>
          <p:cNvSpPr txBox="1"/>
          <p:nvPr/>
        </p:nvSpPr>
        <p:spPr>
          <a:xfrm>
            <a:off x="3952236" y="3719267"/>
            <a:ext cx="3583925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Terrain.hdf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: Modelo de terreno en formato .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hdf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</a:t>
            </a:r>
          </a:p>
          <a:p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r>
              <a:rPr lang="it-IT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Terrain.tin_terrenonaturalcaucesinuoso_v0.tif: Grilla de terreno original en formato GeoTIFF.</a:t>
            </a:r>
          </a:p>
          <a:p>
            <a:endParaRPr lang="it-IT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Terrain.vrt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: Especificaciones del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dataset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, sistema de coordenadas y estadísticos del modelo de terreno. 9158 x 5131 = 46,989,698 celdas.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3E1D1A15-5FCD-46ED-A1BB-63C69142523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83203" y="3558102"/>
            <a:ext cx="4079533" cy="3007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94174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582988" y="476672"/>
            <a:ext cx="111632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En RAS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Mapper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, visualice el modelo de terreno e identifique el número de cuadrantes que componen el MDT. </a:t>
            </a: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D299B2E4-FC46-4C30-8A66-61291F22734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42C32A93-2E32-4311-8F3B-BE6D3BBB2B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361" y="931899"/>
            <a:ext cx="6264696" cy="3376024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966E7B31-37E9-49ED-B00F-22ECE240AB8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1864" y="1988840"/>
            <a:ext cx="360000" cy="36000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133E7F37-98B3-4AB2-B41C-C88C8DEC4EC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60096" y="863725"/>
            <a:ext cx="4919949" cy="5836183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CD628108-D9B1-428F-9535-A7CBC9506C47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52184" y="4005064"/>
            <a:ext cx="360000" cy="360000"/>
          </a:xfrm>
          <a:prstGeom prst="rect">
            <a:avLst/>
          </a:prstGeom>
        </p:spPr>
      </p:pic>
      <p:pic>
        <p:nvPicPr>
          <p:cNvPr id="17" name="Imagen 16">
            <a:extLst>
              <a:ext uri="{FF2B5EF4-FFF2-40B4-BE49-F238E27FC236}">
                <a16:creationId xmlns:a16="http://schemas.microsoft.com/office/drawing/2014/main" id="{C30B8ED4-4C06-4608-87EE-34214DF43D57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69322" y="5157192"/>
            <a:ext cx="360000" cy="360000"/>
          </a:xfrm>
          <a:prstGeom prst="rect">
            <a:avLst/>
          </a:prstGeom>
        </p:spPr>
      </p:pic>
      <p:sp>
        <p:nvSpPr>
          <p:cNvPr id="18" name="7 CuadroTexto">
            <a:extLst>
              <a:ext uri="{FF2B5EF4-FFF2-40B4-BE49-F238E27FC236}">
                <a16:creationId xmlns:a16="http://schemas.microsoft.com/office/drawing/2014/main" id="{91380888-2BE3-4519-9D31-7EEB9F6855B3}"/>
              </a:ext>
            </a:extLst>
          </p:cNvPr>
          <p:cNvSpPr txBox="1"/>
          <p:nvPr/>
        </p:nvSpPr>
        <p:spPr>
          <a:xfrm>
            <a:off x="335361" y="4587434"/>
            <a:ext cx="554461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Para el modelo, se ha descompuesto el MDT en un mosaico compuesto por 756 celdas (de 0 a 755).</a:t>
            </a:r>
          </a:p>
        </p:txBody>
      </p:sp>
      <p:sp>
        <p:nvSpPr>
          <p:cNvPr id="11" name="1 Título">
            <a:extLst>
              <a:ext uri="{FF2B5EF4-FFF2-40B4-BE49-F238E27FC236}">
                <a16:creationId xmlns:a16="http://schemas.microsoft.com/office/drawing/2014/main" id="{641822D9-8A30-4B97-9A9A-91F9D8677C9E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CO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1. Modelo de terreno</a:t>
            </a:r>
          </a:p>
        </p:txBody>
      </p:sp>
    </p:spTree>
    <p:extLst>
      <p:ext uri="{BB962C8B-B14F-4D97-AF65-F5344CB8AC3E}">
        <p14:creationId xmlns:p14="http://schemas.microsoft.com/office/powerpoint/2010/main" val="8215168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582988" y="476672"/>
            <a:ext cx="111632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Desde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HDFView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, abrir el archivo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Terrain.hdf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y visualizar los valores numéricos de las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piramides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visualización correspondientes a los pixeles que se dibujarán dependiendo de la escala. La máscara 0 contiene en las fila el número de celda y en las columnas el marcado de visualización (00 sin valor, 01 con valor), de 0 a 65535 columnas.</a:t>
            </a: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D299B2E4-FC46-4C30-8A66-61291F22734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6011AD9-FBC0-4477-AB6C-AC50B52260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988" y="1346872"/>
            <a:ext cx="5554263" cy="5373216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A1371904-ABED-41AB-9AE5-8B285758AF8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1504" y="3207652"/>
            <a:ext cx="360000" cy="360000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58794C79-809A-4C2B-9BA8-6A613002273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7768" y="2229601"/>
            <a:ext cx="360000" cy="360000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C8709F00-3CAB-417B-B857-88832E71647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5840" y="4389841"/>
            <a:ext cx="360000" cy="360000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430ED376-C2FE-4469-B076-93BFF84ABDC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6640" y="1346872"/>
            <a:ext cx="5395984" cy="5373216"/>
          </a:xfrm>
          <a:prstGeom prst="rect">
            <a:avLst/>
          </a:prstGeom>
        </p:spPr>
      </p:pic>
      <p:sp>
        <p:nvSpPr>
          <p:cNvPr id="4" name="Elipse 3">
            <a:extLst>
              <a:ext uri="{FF2B5EF4-FFF2-40B4-BE49-F238E27FC236}">
                <a16:creationId xmlns:a16="http://schemas.microsoft.com/office/drawing/2014/main" id="{CAE6C40F-D535-4D1D-816F-0CA9E61D495A}"/>
              </a:ext>
            </a:extLst>
          </p:cNvPr>
          <p:cNvSpPr/>
          <p:nvPr/>
        </p:nvSpPr>
        <p:spPr>
          <a:xfrm>
            <a:off x="6361218" y="6165327"/>
            <a:ext cx="458039" cy="458039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14" name="Elipse 13">
            <a:extLst>
              <a:ext uri="{FF2B5EF4-FFF2-40B4-BE49-F238E27FC236}">
                <a16:creationId xmlns:a16="http://schemas.microsoft.com/office/drawing/2014/main" id="{D2EEFD4B-00AE-472A-80D9-63A4B33104EC}"/>
              </a:ext>
            </a:extLst>
          </p:cNvPr>
          <p:cNvSpPr/>
          <p:nvPr/>
        </p:nvSpPr>
        <p:spPr>
          <a:xfrm>
            <a:off x="3696777" y="3612072"/>
            <a:ext cx="458039" cy="458039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12" name="1 Título">
            <a:extLst>
              <a:ext uri="{FF2B5EF4-FFF2-40B4-BE49-F238E27FC236}">
                <a16:creationId xmlns:a16="http://schemas.microsoft.com/office/drawing/2014/main" id="{238B266A-F799-4749-B714-1583FAB96B62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CO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1. Modelo de terreno</a:t>
            </a:r>
          </a:p>
        </p:txBody>
      </p:sp>
    </p:spTree>
    <p:extLst>
      <p:ext uri="{BB962C8B-B14F-4D97-AF65-F5344CB8AC3E}">
        <p14:creationId xmlns:p14="http://schemas.microsoft.com/office/powerpoint/2010/main" val="14928644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582988" y="476672"/>
            <a:ext cx="111632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En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HDFView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, la ruta Min-Max contiene los estadísticos de elevación de cada cuadrante del mosaico de terreno para cada una de las 756 celdas de la superficie.</a:t>
            </a: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D299B2E4-FC46-4C30-8A66-61291F22734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7FD5E0E0-7647-47E2-AEEC-EF3EA9A13C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0186" y="1092486"/>
            <a:ext cx="2537973" cy="5642526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2D22F581-6117-40C3-B5D0-1E12C1A8CD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3472" y="1092485"/>
            <a:ext cx="5832648" cy="5642527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A03CEE1C-C8D8-48F6-9425-D0ECE44227C7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3554" y="3212976"/>
            <a:ext cx="360000" cy="360000"/>
          </a:xfrm>
          <a:prstGeom prst="rect">
            <a:avLst/>
          </a:prstGeom>
        </p:spPr>
      </p:pic>
      <p:sp>
        <p:nvSpPr>
          <p:cNvPr id="16" name="Elipse 15">
            <a:extLst>
              <a:ext uri="{FF2B5EF4-FFF2-40B4-BE49-F238E27FC236}">
                <a16:creationId xmlns:a16="http://schemas.microsoft.com/office/drawing/2014/main" id="{E1C63D4C-7C20-49C5-854F-282631D37C03}"/>
              </a:ext>
            </a:extLst>
          </p:cNvPr>
          <p:cNvSpPr/>
          <p:nvPr/>
        </p:nvSpPr>
        <p:spPr>
          <a:xfrm>
            <a:off x="4647172" y="3463947"/>
            <a:ext cx="458039" cy="458039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9" name="1 Título">
            <a:extLst>
              <a:ext uri="{FF2B5EF4-FFF2-40B4-BE49-F238E27FC236}">
                <a16:creationId xmlns:a16="http://schemas.microsoft.com/office/drawing/2014/main" id="{667073B8-987F-4CFD-9769-C19BDC77D2EF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CO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1. Modelo de terreno</a:t>
            </a:r>
          </a:p>
        </p:txBody>
      </p:sp>
    </p:spTree>
    <p:extLst>
      <p:ext uri="{BB962C8B-B14F-4D97-AF65-F5344CB8AC3E}">
        <p14:creationId xmlns:p14="http://schemas.microsoft.com/office/powerpoint/2010/main" val="13548242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2243572" y="2382559"/>
            <a:ext cx="7704856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2. Geometría del modelo 2D</a:t>
            </a:r>
          </a:p>
          <a:p>
            <a:pPr algn="just"/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s-E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Los archivos .g0#.hdf (donde # representa el consecutivo de la geometría creada) contienen la información relacionada con la geometría del modelo y se encuentran almacenados en la carpeta raíz del proyecto. </a:t>
            </a:r>
          </a:p>
          <a:p>
            <a:pPr algn="just"/>
            <a:endParaRPr lang="es-ES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s-E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Para el ejemplo visualizaremos el archivo:</a:t>
            </a:r>
          </a:p>
          <a:p>
            <a:pPr algn="just"/>
            <a:r>
              <a:rPr lang="es-E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C:\HPSD\HECRAS2DSimpleModel_v0\HECRAS2D_v0.g01.hdf</a:t>
            </a:r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8EBB37E-80BF-48D1-9F95-DB18144B0DE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84964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582988" y="476672"/>
            <a:ext cx="111632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En RAS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Mapper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, rotule los números de celda del perímetro definido para la malla de la geometría e identifique el número de celdas obtenidas en el refinamiento. El modelo prototipo se compone de 768 celdas y 696 puntos de cálculo.</a:t>
            </a:r>
          </a:p>
        </p:txBody>
      </p:sp>
      <p:sp>
        <p:nvSpPr>
          <p:cNvPr id="10" name="1 Título">
            <a:extLst>
              <a:ext uri="{FF2B5EF4-FFF2-40B4-BE49-F238E27FC236}">
                <a16:creationId xmlns:a16="http://schemas.microsoft.com/office/drawing/2014/main" id="{8D24DA4C-11DC-45E9-834B-A79D410EC798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2. Geometría del modelo 2D</a:t>
            </a: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D299B2E4-FC46-4C30-8A66-61291F22734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3153A151-8082-408C-B147-95A5CD847C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360" y="1268760"/>
            <a:ext cx="5647818" cy="3043590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E88116CE-449E-463D-8C9E-1CFE2448C3E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4581" y="1273694"/>
            <a:ext cx="5647816" cy="3043590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7038C599-A22F-49D4-8DE3-194D230C08F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1824" y="2084726"/>
            <a:ext cx="360000" cy="360000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9360BFB2-4179-48F9-87A5-69796B9AB40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96200" y="2480790"/>
            <a:ext cx="360000" cy="360000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AC52D54A-4E46-4478-A5E6-DCEB7DAA724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81918" y="4474643"/>
            <a:ext cx="4505325" cy="2219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76185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582988" y="476672"/>
            <a:ext cx="111632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Visualización de número de celdas en RAS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Mapper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</a:t>
            </a: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D299B2E4-FC46-4C30-8A66-61291F22734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9756ABD9-1373-4850-A4AE-460380BF89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8012" y="1077398"/>
            <a:ext cx="9335976" cy="5444776"/>
          </a:xfrm>
          <a:prstGeom prst="rect">
            <a:avLst/>
          </a:prstGeom>
        </p:spPr>
      </p:pic>
      <p:sp>
        <p:nvSpPr>
          <p:cNvPr id="14" name="Elipse 13">
            <a:extLst>
              <a:ext uri="{FF2B5EF4-FFF2-40B4-BE49-F238E27FC236}">
                <a16:creationId xmlns:a16="http://schemas.microsoft.com/office/drawing/2014/main" id="{34B84C19-1A26-4957-8D4B-3CCC9D9C8136}"/>
              </a:ext>
            </a:extLst>
          </p:cNvPr>
          <p:cNvSpPr/>
          <p:nvPr/>
        </p:nvSpPr>
        <p:spPr>
          <a:xfrm>
            <a:off x="9272590" y="5345071"/>
            <a:ext cx="458039" cy="458039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E0632FC8-1887-4A76-851E-0D97A627ACD1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7608" y="2420888"/>
            <a:ext cx="360000" cy="360000"/>
          </a:xfrm>
          <a:prstGeom prst="rect">
            <a:avLst/>
          </a:prstGeom>
        </p:spPr>
      </p:pic>
      <p:sp>
        <p:nvSpPr>
          <p:cNvPr id="9" name="1 Título">
            <a:extLst>
              <a:ext uri="{FF2B5EF4-FFF2-40B4-BE49-F238E27FC236}">
                <a16:creationId xmlns:a16="http://schemas.microsoft.com/office/drawing/2014/main" id="{309BBE8C-8CD5-42E3-87CE-CE8DB273386C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2. Geometría del modelo 2D</a:t>
            </a:r>
          </a:p>
        </p:txBody>
      </p:sp>
    </p:spTree>
    <p:extLst>
      <p:ext uri="{BB962C8B-B14F-4D97-AF65-F5344CB8AC3E}">
        <p14:creationId xmlns:p14="http://schemas.microsoft.com/office/powerpoint/2010/main" val="5766370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582988" y="476672"/>
            <a:ext cx="111632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Visualización de coordenadas con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HDFView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, de cada uno de los 696 puntos de cálculo del mallado (0 a 695).</a:t>
            </a: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D299B2E4-FC46-4C30-8A66-61291F22734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855DDC6A-CF8A-4564-9EB3-EDBAACD384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8168" y="1127363"/>
            <a:ext cx="4019550" cy="5257800"/>
          </a:xfrm>
          <a:prstGeom prst="rect">
            <a:avLst/>
          </a:prstGeom>
        </p:spPr>
      </p:pic>
      <p:sp>
        <p:nvSpPr>
          <p:cNvPr id="9" name="Elipse 8">
            <a:extLst>
              <a:ext uri="{FF2B5EF4-FFF2-40B4-BE49-F238E27FC236}">
                <a16:creationId xmlns:a16="http://schemas.microsoft.com/office/drawing/2014/main" id="{995C10B9-B8EC-4EE0-82D4-8AD52E81C66D}"/>
              </a:ext>
            </a:extLst>
          </p:cNvPr>
          <p:cNvSpPr/>
          <p:nvPr/>
        </p:nvSpPr>
        <p:spPr>
          <a:xfrm>
            <a:off x="7717046" y="5896389"/>
            <a:ext cx="458039" cy="458039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5F99ED35-4E0F-4EFA-BF95-662C7DFD8805}"/>
              </a:ext>
            </a:extLst>
          </p:cNvPr>
          <p:cNvSpPr/>
          <p:nvPr/>
        </p:nvSpPr>
        <p:spPr>
          <a:xfrm>
            <a:off x="9048328" y="2564904"/>
            <a:ext cx="338554" cy="338554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s-CO" sz="1000" dirty="0">
                <a:solidFill>
                  <a:schemeClr val="tx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CX</a:t>
            </a:r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13598662-6E94-42AF-A0CA-C54EA426D2A7}"/>
              </a:ext>
            </a:extLst>
          </p:cNvPr>
          <p:cNvSpPr/>
          <p:nvPr/>
        </p:nvSpPr>
        <p:spPr>
          <a:xfrm>
            <a:off x="10560496" y="2564904"/>
            <a:ext cx="338554" cy="338554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s-CO" sz="1000" dirty="0">
                <a:solidFill>
                  <a:schemeClr val="tx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CY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48B0674-423B-4C88-B5DF-CFA28237E1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4282" y="980728"/>
            <a:ext cx="6762077" cy="5721758"/>
          </a:xfrm>
          <a:prstGeom prst="rect">
            <a:avLst/>
          </a:prstGeom>
        </p:spPr>
      </p:pic>
      <p:sp>
        <p:nvSpPr>
          <p:cNvPr id="15" name="Elipse 14">
            <a:extLst>
              <a:ext uri="{FF2B5EF4-FFF2-40B4-BE49-F238E27FC236}">
                <a16:creationId xmlns:a16="http://schemas.microsoft.com/office/drawing/2014/main" id="{8F2C55B1-C5D5-411E-B903-CBA9672848C1}"/>
              </a:ext>
            </a:extLst>
          </p:cNvPr>
          <p:cNvSpPr/>
          <p:nvPr/>
        </p:nvSpPr>
        <p:spPr>
          <a:xfrm>
            <a:off x="4205130" y="3499250"/>
            <a:ext cx="458039" cy="458039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B3ECA4CE-6F04-46EC-8DBF-9F570413EE4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9535" y="3015614"/>
            <a:ext cx="360000" cy="360000"/>
          </a:xfrm>
          <a:prstGeom prst="rect">
            <a:avLst/>
          </a:prstGeom>
        </p:spPr>
      </p:pic>
      <p:pic>
        <p:nvPicPr>
          <p:cNvPr id="18" name="Imagen 17">
            <a:extLst>
              <a:ext uri="{FF2B5EF4-FFF2-40B4-BE49-F238E27FC236}">
                <a16:creationId xmlns:a16="http://schemas.microsoft.com/office/drawing/2014/main" id="{8E8F682F-4DC2-4F35-A676-AE00A64E1189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8671" y="1643159"/>
            <a:ext cx="360000" cy="360000"/>
          </a:xfrm>
          <a:prstGeom prst="rect">
            <a:avLst/>
          </a:prstGeom>
        </p:spPr>
      </p:pic>
      <p:pic>
        <p:nvPicPr>
          <p:cNvPr id="19" name="Imagen 18">
            <a:extLst>
              <a:ext uri="{FF2B5EF4-FFF2-40B4-BE49-F238E27FC236}">
                <a16:creationId xmlns:a16="http://schemas.microsoft.com/office/drawing/2014/main" id="{1FF74B35-4C04-4DF7-9CF8-08F2C8D32F6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47928" y="4365104"/>
            <a:ext cx="360000" cy="360000"/>
          </a:xfrm>
          <a:prstGeom prst="rect">
            <a:avLst/>
          </a:prstGeom>
        </p:spPr>
      </p:pic>
      <p:sp>
        <p:nvSpPr>
          <p:cNvPr id="14" name="1 Título">
            <a:extLst>
              <a:ext uri="{FF2B5EF4-FFF2-40B4-BE49-F238E27FC236}">
                <a16:creationId xmlns:a16="http://schemas.microsoft.com/office/drawing/2014/main" id="{2534C8F8-73AA-4489-AE0D-CA7B282F23DA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2. Geometría del modelo 2D</a:t>
            </a:r>
          </a:p>
        </p:txBody>
      </p:sp>
    </p:spTree>
    <p:extLst>
      <p:ext uri="{BB962C8B-B14F-4D97-AF65-F5344CB8AC3E}">
        <p14:creationId xmlns:p14="http://schemas.microsoft.com/office/powerpoint/2010/main" val="823331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04B79B86-5347-4A9B-A121-2E0D34120C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144" y="1145843"/>
            <a:ext cx="6435265" cy="5445224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099B2545-8A31-401C-88E0-4C778A2927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0176" y="982635"/>
            <a:ext cx="3634036" cy="5636464"/>
          </a:xfrm>
          <a:prstGeom prst="rect">
            <a:avLst/>
          </a:prstGeom>
        </p:spPr>
      </p:pic>
      <p:sp>
        <p:nvSpPr>
          <p:cNvPr id="8" name="7 CuadroTexto"/>
          <p:cNvSpPr txBox="1"/>
          <p:nvPr/>
        </p:nvSpPr>
        <p:spPr>
          <a:xfrm>
            <a:off x="582988" y="476672"/>
            <a:ext cx="111632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Visualización de coordenadas con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HDFView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, de cada uno de los 768 puntos del centroide de cada celda del mallado (0 a 767).</a:t>
            </a: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D299B2E4-FC46-4C30-8A66-61291F22734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9" name="Elipse 8">
            <a:extLst>
              <a:ext uri="{FF2B5EF4-FFF2-40B4-BE49-F238E27FC236}">
                <a16:creationId xmlns:a16="http://schemas.microsoft.com/office/drawing/2014/main" id="{995C10B9-B8EC-4EE0-82D4-8AD52E81C66D}"/>
              </a:ext>
            </a:extLst>
          </p:cNvPr>
          <p:cNvSpPr/>
          <p:nvPr/>
        </p:nvSpPr>
        <p:spPr>
          <a:xfrm>
            <a:off x="7758876" y="6161060"/>
            <a:ext cx="458039" cy="458039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5F99ED35-4E0F-4EFA-BF95-662C7DFD8805}"/>
              </a:ext>
            </a:extLst>
          </p:cNvPr>
          <p:cNvSpPr/>
          <p:nvPr/>
        </p:nvSpPr>
        <p:spPr>
          <a:xfrm>
            <a:off x="9111961" y="2310637"/>
            <a:ext cx="338554" cy="338554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s-CO" sz="1000" dirty="0">
                <a:solidFill>
                  <a:schemeClr val="tx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CX</a:t>
            </a:r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13598662-6E94-42AF-A0CA-C54EA426D2A7}"/>
              </a:ext>
            </a:extLst>
          </p:cNvPr>
          <p:cNvSpPr/>
          <p:nvPr/>
        </p:nvSpPr>
        <p:spPr>
          <a:xfrm>
            <a:off x="10416480" y="2291977"/>
            <a:ext cx="338554" cy="338554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s-CO" sz="1000" dirty="0">
                <a:solidFill>
                  <a:schemeClr val="tx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CY</a:t>
            </a:r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8F2C55B1-C5D5-411E-B903-CBA9672848C1}"/>
              </a:ext>
            </a:extLst>
          </p:cNvPr>
          <p:cNvSpPr/>
          <p:nvPr/>
        </p:nvSpPr>
        <p:spPr>
          <a:xfrm>
            <a:off x="4949498" y="3543854"/>
            <a:ext cx="458039" cy="458039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B3ECA4CE-6F04-46EC-8DBF-9F570413EE4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5640" y="3386892"/>
            <a:ext cx="360000" cy="360000"/>
          </a:xfrm>
          <a:prstGeom prst="rect">
            <a:avLst/>
          </a:prstGeom>
        </p:spPr>
      </p:pic>
      <p:pic>
        <p:nvPicPr>
          <p:cNvPr id="18" name="Imagen 17">
            <a:extLst>
              <a:ext uri="{FF2B5EF4-FFF2-40B4-BE49-F238E27FC236}">
                <a16:creationId xmlns:a16="http://schemas.microsoft.com/office/drawing/2014/main" id="{8E8F682F-4DC2-4F35-A676-AE00A64E1189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9856" y="1772816"/>
            <a:ext cx="360000" cy="360000"/>
          </a:xfrm>
          <a:prstGeom prst="rect">
            <a:avLst/>
          </a:prstGeom>
        </p:spPr>
      </p:pic>
      <p:pic>
        <p:nvPicPr>
          <p:cNvPr id="17" name="Imagen 16">
            <a:extLst>
              <a:ext uri="{FF2B5EF4-FFF2-40B4-BE49-F238E27FC236}">
                <a16:creationId xmlns:a16="http://schemas.microsoft.com/office/drawing/2014/main" id="{B9983F5E-CD16-4FA7-8C19-5512B7E57D2E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6000" y="4365104"/>
            <a:ext cx="360000" cy="360000"/>
          </a:xfrm>
          <a:prstGeom prst="rect">
            <a:avLst/>
          </a:prstGeom>
        </p:spPr>
      </p:pic>
      <p:sp>
        <p:nvSpPr>
          <p:cNvPr id="14" name="1 Título">
            <a:extLst>
              <a:ext uri="{FF2B5EF4-FFF2-40B4-BE49-F238E27FC236}">
                <a16:creationId xmlns:a16="http://schemas.microsoft.com/office/drawing/2014/main" id="{E880BF78-C7DA-4702-B12E-18406C239E57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2. Geometría del modelo 2D</a:t>
            </a:r>
          </a:p>
        </p:txBody>
      </p:sp>
    </p:spTree>
    <p:extLst>
      <p:ext uri="{BB962C8B-B14F-4D97-AF65-F5344CB8AC3E}">
        <p14:creationId xmlns:p14="http://schemas.microsoft.com/office/powerpoint/2010/main" val="39766312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7B0383D-3E7B-4B39-B8C7-109FF463A1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1954" y="931898"/>
            <a:ext cx="2898234" cy="5750898"/>
          </a:xfrm>
          <a:prstGeom prst="rect">
            <a:avLst/>
          </a:prstGeom>
        </p:spPr>
      </p:pic>
      <p:sp>
        <p:nvSpPr>
          <p:cNvPr id="8" name="7 CuadroTexto"/>
          <p:cNvSpPr txBox="1"/>
          <p:nvPr/>
        </p:nvSpPr>
        <p:spPr>
          <a:xfrm>
            <a:off x="582988" y="476672"/>
            <a:ext cx="111632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También podrá consultar los valores de elevación mínima, área superficial y volumen elevación por celda.</a:t>
            </a: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D299B2E4-FC46-4C30-8A66-61291F22734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19" name="Elipse 18">
            <a:extLst>
              <a:ext uri="{FF2B5EF4-FFF2-40B4-BE49-F238E27FC236}">
                <a16:creationId xmlns:a16="http://schemas.microsoft.com/office/drawing/2014/main" id="{86EB54B7-D08B-4623-9A91-F2B37FD898A3}"/>
              </a:ext>
            </a:extLst>
          </p:cNvPr>
          <p:cNvSpPr/>
          <p:nvPr/>
        </p:nvSpPr>
        <p:spPr>
          <a:xfrm>
            <a:off x="1736010" y="2367945"/>
            <a:ext cx="338554" cy="338554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s-CO" sz="1000" dirty="0">
                <a:solidFill>
                  <a:schemeClr val="tx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Z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585C43D3-894A-45F1-8BD6-A020F89347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9516" y="931898"/>
            <a:ext cx="2547595" cy="5759414"/>
          </a:xfrm>
          <a:prstGeom prst="rect">
            <a:avLst/>
          </a:prstGeom>
        </p:spPr>
      </p:pic>
      <p:sp>
        <p:nvSpPr>
          <p:cNvPr id="21" name="Elipse 20">
            <a:extLst>
              <a:ext uri="{FF2B5EF4-FFF2-40B4-BE49-F238E27FC236}">
                <a16:creationId xmlns:a16="http://schemas.microsoft.com/office/drawing/2014/main" id="{0BB1F018-DC16-478B-B627-A8BCCF39CCBE}"/>
              </a:ext>
            </a:extLst>
          </p:cNvPr>
          <p:cNvSpPr/>
          <p:nvPr/>
        </p:nvSpPr>
        <p:spPr>
          <a:xfrm>
            <a:off x="5521803" y="2204864"/>
            <a:ext cx="504057" cy="504057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s-CO" sz="1000" dirty="0">
                <a:solidFill>
                  <a:schemeClr val="tx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Área</a:t>
            </a:r>
          </a:p>
        </p:txBody>
      </p:sp>
      <p:sp>
        <p:nvSpPr>
          <p:cNvPr id="22" name="Elipse 21">
            <a:extLst>
              <a:ext uri="{FF2B5EF4-FFF2-40B4-BE49-F238E27FC236}">
                <a16:creationId xmlns:a16="http://schemas.microsoft.com/office/drawing/2014/main" id="{39641040-76DD-4E63-AC4F-23D7C3667007}"/>
              </a:ext>
            </a:extLst>
          </p:cNvPr>
          <p:cNvSpPr/>
          <p:nvPr/>
        </p:nvSpPr>
        <p:spPr>
          <a:xfrm>
            <a:off x="4989753" y="2202442"/>
            <a:ext cx="504057" cy="504057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s-CO" sz="1000" dirty="0">
                <a:solidFill>
                  <a:schemeClr val="tx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Celda</a:t>
            </a:r>
          </a:p>
        </p:txBody>
      </p:sp>
      <p:sp>
        <p:nvSpPr>
          <p:cNvPr id="23" name="Elipse 22">
            <a:extLst>
              <a:ext uri="{FF2B5EF4-FFF2-40B4-BE49-F238E27FC236}">
                <a16:creationId xmlns:a16="http://schemas.microsoft.com/office/drawing/2014/main" id="{9C71945E-EB3C-49DE-8B40-33EDCEF62DF6}"/>
              </a:ext>
            </a:extLst>
          </p:cNvPr>
          <p:cNvSpPr/>
          <p:nvPr/>
        </p:nvSpPr>
        <p:spPr>
          <a:xfrm>
            <a:off x="1092063" y="2293920"/>
            <a:ext cx="504057" cy="504057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s-CO" sz="1000" dirty="0">
                <a:solidFill>
                  <a:schemeClr val="tx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Celda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4001356A-94B1-4595-BD16-53351AF848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60513" y="942620"/>
            <a:ext cx="3120063" cy="5740175"/>
          </a:xfrm>
          <a:prstGeom prst="rect">
            <a:avLst/>
          </a:prstGeom>
        </p:spPr>
      </p:pic>
      <p:sp>
        <p:nvSpPr>
          <p:cNvPr id="24" name="Elipse 23">
            <a:extLst>
              <a:ext uri="{FF2B5EF4-FFF2-40B4-BE49-F238E27FC236}">
                <a16:creationId xmlns:a16="http://schemas.microsoft.com/office/drawing/2014/main" id="{3C180101-E8C8-4910-A736-67DEBDB8180B}"/>
              </a:ext>
            </a:extLst>
          </p:cNvPr>
          <p:cNvSpPr/>
          <p:nvPr/>
        </p:nvSpPr>
        <p:spPr>
          <a:xfrm>
            <a:off x="8822973" y="2144425"/>
            <a:ext cx="504057" cy="504057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s-CO" sz="1000" dirty="0" err="1">
                <a:solidFill>
                  <a:schemeClr val="tx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Elev</a:t>
            </a:r>
            <a:r>
              <a:rPr lang="es-CO" sz="1000" dirty="0">
                <a:solidFill>
                  <a:schemeClr val="tx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.</a:t>
            </a:r>
          </a:p>
        </p:txBody>
      </p:sp>
      <p:sp>
        <p:nvSpPr>
          <p:cNvPr id="25" name="Elipse 24">
            <a:extLst>
              <a:ext uri="{FF2B5EF4-FFF2-40B4-BE49-F238E27FC236}">
                <a16:creationId xmlns:a16="http://schemas.microsoft.com/office/drawing/2014/main" id="{F0446CC9-C262-484B-8794-4161D4CB3D3D}"/>
              </a:ext>
            </a:extLst>
          </p:cNvPr>
          <p:cNvSpPr/>
          <p:nvPr/>
        </p:nvSpPr>
        <p:spPr>
          <a:xfrm>
            <a:off x="9543052" y="2153756"/>
            <a:ext cx="504057" cy="504057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s-CO" sz="1000" dirty="0">
                <a:solidFill>
                  <a:schemeClr val="tx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Vol.</a:t>
            </a:r>
          </a:p>
        </p:txBody>
      </p:sp>
      <p:sp>
        <p:nvSpPr>
          <p:cNvPr id="26" name="Elipse 25">
            <a:extLst>
              <a:ext uri="{FF2B5EF4-FFF2-40B4-BE49-F238E27FC236}">
                <a16:creationId xmlns:a16="http://schemas.microsoft.com/office/drawing/2014/main" id="{E2474BC0-D664-411B-A5A5-3F31AC75E202}"/>
              </a:ext>
            </a:extLst>
          </p:cNvPr>
          <p:cNvSpPr/>
          <p:nvPr/>
        </p:nvSpPr>
        <p:spPr>
          <a:xfrm>
            <a:off x="8231251" y="2311959"/>
            <a:ext cx="504057" cy="504057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s-CO" sz="1000" dirty="0">
                <a:solidFill>
                  <a:schemeClr val="tx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Celda</a:t>
            </a:r>
          </a:p>
        </p:txBody>
      </p:sp>
      <p:sp>
        <p:nvSpPr>
          <p:cNvPr id="15" name="1 Título">
            <a:extLst>
              <a:ext uri="{FF2B5EF4-FFF2-40B4-BE49-F238E27FC236}">
                <a16:creationId xmlns:a16="http://schemas.microsoft.com/office/drawing/2014/main" id="{C8DC5DF2-025F-4042-A9DF-B6EC51686AF6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2. Geometría del modelo 2D</a:t>
            </a:r>
          </a:p>
        </p:txBody>
      </p:sp>
    </p:spTree>
    <p:extLst>
      <p:ext uri="{BB962C8B-B14F-4D97-AF65-F5344CB8AC3E}">
        <p14:creationId xmlns:p14="http://schemas.microsoft.com/office/powerpoint/2010/main" val="23705904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2243572" y="2382559"/>
            <a:ext cx="7704856" cy="2339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3. Parámetros y condiciones de frontera</a:t>
            </a:r>
          </a:p>
          <a:p>
            <a:pPr algn="just"/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s-E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Los archivos .p0#.hdf (donde # representa el consecutivo del plan de modelación creado) contienen la información relacionada los parámetros de entrada y condiciones de frontera del modelo para cada periodo de retorno estudiado y se encuentran almacenados en la carpeta raíz del proyecto. </a:t>
            </a:r>
          </a:p>
          <a:p>
            <a:pPr algn="just"/>
            <a:endParaRPr lang="es-ES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s-E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Para el ejemplo visualizaremos el archivo:</a:t>
            </a:r>
          </a:p>
          <a:p>
            <a:pPr algn="just"/>
            <a:r>
              <a:rPr lang="es-E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C:\HPSD\HECRAS2DSimpleModel_v0\HECRAS2D_v0.p01.hdf</a:t>
            </a:r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8EBB37E-80BF-48D1-9F95-DB18144B0DE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84438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582988" y="476672"/>
            <a:ext cx="111632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Hidrograma de entrada en la frontera aguas arriba definida en HEC-RAS.</a:t>
            </a:r>
          </a:p>
        </p:txBody>
      </p:sp>
      <p:sp>
        <p:nvSpPr>
          <p:cNvPr id="10" name="1 Título">
            <a:extLst>
              <a:ext uri="{FF2B5EF4-FFF2-40B4-BE49-F238E27FC236}">
                <a16:creationId xmlns:a16="http://schemas.microsoft.com/office/drawing/2014/main" id="{8D24DA4C-11DC-45E9-834B-A79D410EC798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3. Parámetros y condiciones de frontera</a:t>
            </a: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D299B2E4-FC46-4C30-8A66-61291F22734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657845F3-5FEA-45C4-95D1-71614CC208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408" y="1340768"/>
            <a:ext cx="4870476" cy="4900587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0BA9DC52-7CB7-4CE0-AC15-28F407ADCE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51983" y="1340768"/>
            <a:ext cx="5574741" cy="4900586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6F64D8AC-E101-4728-BE43-0527C1A652F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9776" y="6061354"/>
            <a:ext cx="36000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31842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C5A70619-8638-4CBD-8DE4-E5DB3600D7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494" y="931003"/>
            <a:ext cx="7058658" cy="5507998"/>
          </a:xfrm>
          <a:prstGeom prst="rect">
            <a:avLst/>
          </a:prstGeom>
        </p:spPr>
      </p:pic>
      <p:sp>
        <p:nvSpPr>
          <p:cNvPr id="8" name="7 CuadroTexto"/>
          <p:cNvSpPr txBox="1"/>
          <p:nvPr/>
        </p:nvSpPr>
        <p:spPr>
          <a:xfrm>
            <a:off x="582988" y="476672"/>
            <a:ext cx="111632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Visualización de datos en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HDFView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 El número de pulsos dependerá de las condiciones de control para la modelación. </a:t>
            </a: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D299B2E4-FC46-4C30-8A66-61291F22734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6F64D8AC-E101-4728-BE43-0527C1A652FF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6434" y="4293096"/>
            <a:ext cx="360000" cy="360000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796B608A-12B6-44D2-B35D-F3D05A23FA81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9378" y="2132856"/>
            <a:ext cx="360000" cy="360000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7C28B474-4B90-4E03-8A38-4E1916B150CF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51506" y="2996952"/>
            <a:ext cx="360000" cy="36000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861E0542-7758-412D-AA39-335D94CCBC9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80176" y="4529860"/>
            <a:ext cx="4210050" cy="2038350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DA2FF22C-55E7-471B-9D18-89C032D71DE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0216" y="931003"/>
            <a:ext cx="3318457" cy="3483080"/>
          </a:xfrm>
          <a:prstGeom prst="rect">
            <a:avLst/>
          </a:prstGeom>
        </p:spPr>
      </p:pic>
      <p:sp>
        <p:nvSpPr>
          <p:cNvPr id="15" name="Elipse 14">
            <a:extLst>
              <a:ext uri="{FF2B5EF4-FFF2-40B4-BE49-F238E27FC236}">
                <a16:creationId xmlns:a16="http://schemas.microsoft.com/office/drawing/2014/main" id="{B22394AC-C17F-44A5-B345-15E850FAA5A1}"/>
              </a:ext>
            </a:extLst>
          </p:cNvPr>
          <p:cNvSpPr/>
          <p:nvPr/>
        </p:nvSpPr>
        <p:spPr>
          <a:xfrm>
            <a:off x="9281144" y="1880827"/>
            <a:ext cx="504057" cy="504057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s-CO" sz="1000" dirty="0">
                <a:solidFill>
                  <a:schemeClr val="tx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Q</a:t>
            </a:r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F2FD6A17-CD9E-4BF4-95F3-A5CBB337CE6E}"/>
              </a:ext>
            </a:extLst>
          </p:cNvPr>
          <p:cNvSpPr/>
          <p:nvPr/>
        </p:nvSpPr>
        <p:spPr>
          <a:xfrm>
            <a:off x="8616279" y="1886302"/>
            <a:ext cx="504057" cy="504057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s-CO" sz="1000" dirty="0">
                <a:solidFill>
                  <a:schemeClr val="tx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Pulso</a:t>
            </a:r>
          </a:p>
        </p:txBody>
      </p:sp>
      <p:sp>
        <p:nvSpPr>
          <p:cNvPr id="17" name="Elipse 16">
            <a:extLst>
              <a:ext uri="{FF2B5EF4-FFF2-40B4-BE49-F238E27FC236}">
                <a16:creationId xmlns:a16="http://schemas.microsoft.com/office/drawing/2014/main" id="{4056BD69-3151-4F21-903F-381E2B511EFA}"/>
              </a:ext>
            </a:extLst>
          </p:cNvPr>
          <p:cNvSpPr/>
          <p:nvPr/>
        </p:nvSpPr>
        <p:spPr>
          <a:xfrm>
            <a:off x="8240218" y="5534146"/>
            <a:ext cx="781865" cy="781865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s-CO" sz="1000" dirty="0">
                <a:solidFill>
                  <a:schemeClr val="tx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Pendiente</a:t>
            </a:r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56C6C9C8-05EF-4F91-BE47-FBAD1DBB0821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9977" y="3325002"/>
            <a:ext cx="360000" cy="360000"/>
          </a:xfrm>
          <a:prstGeom prst="rect">
            <a:avLst/>
          </a:prstGeom>
        </p:spPr>
      </p:pic>
      <p:sp>
        <p:nvSpPr>
          <p:cNvPr id="19" name="1 Título">
            <a:extLst>
              <a:ext uri="{FF2B5EF4-FFF2-40B4-BE49-F238E27FC236}">
                <a16:creationId xmlns:a16="http://schemas.microsoft.com/office/drawing/2014/main" id="{A39D82F1-EB50-4417-81CC-7527463687D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3. Parámetros y condiciones de frontera</a:t>
            </a:r>
          </a:p>
        </p:txBody>
      </p:sp>
    </p:spTree>
    <p:extLst>
      <p:ext uri="{BB962C8B-B14F-4D97-AF65-F5344CB8AC3E}">
        <p14:creationId xmlns:p14="http://schemas.microsoft.com/office/powerpoint/2010/main" val="40972027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2243572" y="2382559"/>
            <a:ext cx="7704856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4. Resultados de la modelación</a:t>
            </a:r>
          </a:p>
          <a:p>
            <a:pPr algn="just"/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s-E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Los resultados de la modelación son almacenados en capetas que son rotuladas con el nombre del plan, para el ejemplo la carpeta Plan2 contiene los resultados.</a:t>
            </a:r>
          </a:p>
          <a:p>
            <a:pPr algn="just"/>
            <a:endParaRPr lang="es-ES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s-E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El archivo </a:t>
            </a:r>
            <a:r>
              <a:rPr lang="es-E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PostProcessing.hdf</a:t>
            </a:r>
            <a:r>
              <a:rPr lang="es-E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la carpeta de resultados del plan, contiene los valores obtenidos para las variables representadas. Para el ejemplo, revisaremos los resultados de la elevación inversa o cota de la lámina de agua.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8EBB37E-80BF-48D1-9F95-DB18144B0DE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72461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582988" y="476672"/>
            <a:ext cx="111632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Resultados obtenidos para cada una de las 768 celdas del modelo y para cada uno de los 288 instantes de tiempo modelados.</a:t>
            </a:r>
          </a:p>
        </p:txBody>
      </p:sp>
      <p:sp>
        <p:nvSpPr>
          <p:cNvPr id="10" name="1 Título">
            <a:extLst>
              <a:ext uri="{FF2B5EF4-FFF2-40B4-BE49-F238E27FC236}">
                <a16:creationId xmlns:a16="http://schemas.microsoft.com/office/drawing/2014/main" id="{8D24DA4C-11DC-45E9-834B-A79D410EC798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4. Resultados de la modelación</a:t>
            </a: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D299B2E4-FC46-4C30-8A66-61291F22734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31DF8871-A9B8-4895-8467-9AE61134DA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060" y="905935"/>
            <a:ext cx="5508132" cy="5765585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CAD43D35-2B26-46D2-8966-EA3CA578CDD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7284" y="4005064"/>
            <a:ext cx="360000" cy="360000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8AE30C02-8920-4C28-B8E6-83488B51D3F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7204" y="2204864"/>
            <a:ext cx="360000" cy="360000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0E749D3F-80CF-4C17-9936-BB89028FDFC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51540" y="4156018"/>
            <a:ext cx="360000" cy="360000"/>
          </a:xfrm>
          <a:prstGeom prst="rect">
            <a:avLst/>
          </a:prstGeom>
        </p:spPr>
      </p:pic>
      <p:sp>
        <p:nvSpPr>
          <p:cNvPr id="16" name="Elipse 15">
            <a:extLst>
              <a:ext uri="{FF2B5EF4-FFF2-40B4-BE49-F238E27FC236}">
                <a16:creationId xmlns:a16="http://schemas.microsoft.com/office/drawing/2014/main" id="{BBE42024-D058-430B-92EF-E3418827C27C}"/>
              </a:ext>
            </a:extLst>
          </p:cNvPr>
          <p:cNvSpPr/>
          <p:nvPr/>
        </p:nvSpPr>
        <p:spPr>
          <a:xfrm>
            <a:off x="4454839" y="3284033"/>
            <a:ext cx="458039" cy="458039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14E75243-B175-4521-BB83-59A8CE1DA5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88682" y="905935"/>
            <a:ext cx="5695950" cy="3943350"/>
          </a:xfrm>
          <a:prstGeom prst="rect">
            <a:avLst/>
          </a:prstGeom>
        </p:spPr>
      </p:pic>
      <p:sp>
        <p:nvSpPr>
          <p:cNvPr id="17" name="7 CuadroTexto">
            <a:extLst>
              <a:ext uri="{FF2B5EF4-FFF2-40B4-BE49-F238E27FC236}">
                <a16:creationId xmlns:a16="http://schemas.microsoft.com/office/drawing/2014/main" id="{58C330DF-8E8B-4EBC-81FF-AD0C17FFAE06}"/>
              </a:ext>
            </a:extLst>
          </p:cNvPr>
          <p:cNvSpPr txBox="1"/>
          <p:nvPr/>
        </p:nvSpPr>
        <p:spPr>
          <a:xfrm>
            <a:off x="6088682" y="4956775"/>
            <a:ext cx="554461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Las columnas representan cada celda y las filas los instantes de tiempo. Para obtener la envolvente de máximos se debe buscar para cada columna o celda del mallado, el valor máximo obtenido.</a:t>
            </a:r>
          </a:p>
        </p:txBody>
      </p:sp>
    </p:spTree>
    <p:extLst>
      <p:ext uri="{BB962C8B-B14F-4D97-AF65-F5344CB8AC3E}">
        <p14:creationId xmlns:p14="http://schemas.microsoft.com/office/powerpoint/2010/main" val="33767637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0983FF1D-56E5-4CC6-9295-38634E8B1A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5984" y="931898"/>
            <a:ext cx="9840032" cy="5738743"/>
          </a:xfrm>
          <a:prstGeom prst="rect">
            <a:avLst/>
          </a:prstGeom>
        </p:spPr>
      </p:pic>
      <p:sp>
        <p:nvSpPr>
          <p:cNvPr id="8" name="7 CuadroTexto"/>
          <p:cNvSpPr txBox="1"/>
          <p:nvPr/>
        </p:nvSpPr>
        <p:spPr>
          <a:xfrm>
            <a:off x="582988" y="476672"/>
            <a:ext cx="111632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RAS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Mapper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presenta la envolvente de elevación máxima de la superficie del agua o WSE a partir de estos valores.</a:t>
            </a: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D299B2E4-FC46-4C30-8A66-61291F22734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8AE30C02-8920-4C28-B8E6-83488B51D3F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9576" y="4077072"/>
            <a:ext cx="360000" cy="360000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558347DD-CBEE-41C1-B3BB-1B2DA0F1DF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27648" y="1211362"/>
            <a:ext cx="4365104" cy="2613000"/>
          </a:xfrm>
          <a:prstGeom prst="rect">
            <a:avLst/>
          </a:prstGeom>
        </p:spPr>
      </p:pic>
      <p:pic>
        <p:nvPicPr>
          <p:cNvPr id="18" name="Imagen 17">
            <a:extLst>
              <a:ext uri="{FF2B5EF4-FFF2-40B4-BE49-F238E27FC236}">
                <a16:creationId xmlns:a16="http://schemas.microsoft.com/office/drawing/2014/main" id="{B3FEA2A5-60E4-4722-9C61-F1A734ABB757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9338" y="1916832"/>
            <a:ext cx="360000" cy="360000"/>
          </a:xfrm>
          <a:prstGeom prst="rect">
            <a:avLst/>
          </a:prstGeom>
        </p:spPr>
      </p:pic>
      <p:sp>
        <p:nvSpPr>
          <p:cNvPr id="9" name="1 Título">
            <a:extLst>
              <a:ext uri="{FF2B5EF4-FFF2-40B4-BE49-F238E27FC236}">
                <a16:creationId xmlns:a16="http://schemas.microsoft.com/office/drawing/2014/main" id="{4BD1E7F4-9DAE-484C-90E8-6FE6EBACB324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4. Resultados de la modelación</a:t>
            </a:r>
          </a:p>
        </p:txBody>
      </p:sp>
    </p:spTree>
    <p:extLst>
      <p:ext uri="{BB962C8B-B14F-4D97-AF65-F5344CB8AC3E}">
        <p14:creationId xmlns:p14="http://schemas.microsoft.com/office/powerpoint/2010/main" val="42907590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E70EE07A-5BFD-466E-B14A-12C366129646}"/>
              </a:ext>
            </a:extLst>
          </p:cNvPr>
          <p:cNvGrpSpPr/>
          <p:nvPr/>
        </p:nvGrpSpPr>
        <p:grpSpPr>
          <a:xfrm>
            <a:off x="4331804" y="1579664"/>
            <a:ext cx="3528392" cy="3698672"/>
            <a:chOff x="4223792" y="1628800"/>
            <a:chExt cx="3528392" cy="3698672"/>
          </a:xfrm>
        </p:grpSpPr>
        <p:sp>
          <p:nvSpPr>
            <p:cNvPr id="6" name="7 CuadroTexto">
              <a:extLst>
                <a:ext uri="{FF2B5EF4-FFF2-40B4-BE49-F238E27FC236}">
                  <a16:creationId xmlns:a16="http://schemas.microsoft.com/office/drawing/2014/main" id="{3572065F-81C1-454C-8E77-453E36FB65E9}"/>
                </a:ext>
              </a:extLst>
            </p:cNvPr>
            <p:cNvSpPr txBox="1"/>
            <p:nvPr/>
          </p:nvSpPr>
          <p:spPr>
            <a:xfrm>
              <a:off x="4223792" y="1628800"/>
              <a:ext cx="3528392" cy="8617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000" dirty="0">
                  <a:latin typeface="Segoe UI Light" panose="020B0502040204020203" pitchFamily="34" charset="0"/>
                  <a:cs typeface="Segoe UI Light" panose="020B0502040204020203" pitchFamily="34" charset="0"/>
                </a:rPr>
                <a:t>Contenido creado por: r.cfdtools@gmail.com</a:t>
              </a:r>
            </a:p>
            <a:p>
              <a:pPr algn="ctr"/>
              <a:r>
                <a:rPr lang="es-ES" sz="1000" dirty="0">
                  <a:latin typeface="Segoe UI Light" panose="020B0502040204020203" pitchFamily="34" charset="0"/>
                  <a:cs typeface="Segoe UI Light" panose="020B0502040204020203" pitchFamily="34" charset="0"/>
                  <a:hlinkClick r:id="rId2"/>
                </a:rPr>
                <a:t>https://github.com/rcfdtools</a:t>
              </a:r>
              <a:endParaRPr lang="es-ES" sz="1000" dirty="0">
                <a:latin typeface="Segoe UI Light" panose="020B0502040204020203" pitchFamily="34" charset="0"/>
                <a:cs typeface="Segoe UI Light" panose="020B0502040204020203" pitchFamily="34" charset="0"/>
              </a:endParaRPr>
            </a:p>
            <a:p>
              <a:pPr algn="ctr"/>
              <a:endParaRPr lang="es-ES" sz="1000" dirty="0">
                <a:latin typeface="Segoe UI Light" panose="020B0502040204020203" pitchFamily="34" charset="0"/>
                <a:cs typeface="Segoe UI Light" panose="020B0502040204020203" pitchFamily="34" charset="0"/>
              </a:endParaRPr>
            </a:p>
            <a:p>
              <a:pPr algn="ctr"/>
              <a:r>
                <a:rPr lang="es-ES" sz="1000" dirty="0">
                  <a:latin typeface="Segoe UI Light" panose="020B0502040204020203" pitchFamily="34" charset="0"/>
                  <a:cs typeface="Segoe UI Light" panose="020B0502040204020203" pitchFamily="34" charset="0"/>
                </a:rPr>
                <a:t>Licencia, cláusulas y condiciones de uso en:</a:t>
              </a:r>
            </a:p>
            <a:p>
              <a:pPr algn="ctr"/>
              <a:r>
                <a:rPr lang="es-ES" sz="1000" dirty="0">
                  <a:latin typeface="Segoe UI Light" panose="020B0502040204020203" pitchFamily="34" charset="0"/>
                  <a:cs typeface="Segoe UI Light" panose="020B0502040204020203" pitchFamily="34" charset="0"/>
                  <a:hlinkClick r:id="rId3"/>
                </a:rPr>
                <a:t>https://github.com/rcfdtools/R.HydroTools/wiki/License</a:t>
              </a:r>
              <a:endParaRPr lang="es-ES" sz="1000" dirty="0">
                <a:latin typeface="Segoe UI Light" panose="020B0502040204020203" pitchFamily="34" charset="0"/>
                <a:cs typeface="Segoe UI Light" panose="020B0502040204020203" pitchFamily="34" charset="0"/>
              </a:endParaRPr>
            </a:p>
          </p:txBody>
        </p:sp>
        <p:pic>
          <p:nvPicPr>
            <p:cNvPr id="7" name="Picture 6" descr="Qr code&#10;&#10;Description automatically generated">
              <a:extLst>
                <a:ext uri="{FF2B5EF4-FFF2-40B4-BE49-F238E27FC236}">
                  <a16:creationId xmlns:a16="http://schemas.microsoft.com/office/drawing/2014/main" id="{90F7619C-3D91-416E-B1F4-909E882E746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7988" y="2627472"/>
              <a:ext cx="2700000" cy="2700000"/>
            </a:xfrm>
            <a:prstGeom prst="rect">
              <a:avLst/>
            </a:prstGeom>
          </p:spPr>
        </p:pic>
      </p:grpSp>
      <p:pic>
        <p:nvPicPr>
          <p:cNvPr id="9" name="Imagen 8">
            <a:extLst>
              <a:ext uri="{FF2B5EF4-FFF2-40B4-BE49-F238E27FC236}">
                <a16:creationId xmlns:a16="http://schemas.microsoft.com/office/drawing/2014/main" id="{D1E24590-5B37-4B8E-8E7F-7CC7FF0BA204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85993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11762</TotalTime>
  <Words>963</Words>
  <Application>Microsoft Office PowerPoint</Application>
  <PresentationFormat>Widescreen</PresentationFormat>
  <Paragraphs>106</Paragraphs>
  <Slides>21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Arial</vt:lpstr>
      <vt:lpstr>Calibri</vt:lpstr>
      <vt:lpstr>Segoe UI Light</vt:lpstr>
      <vt:lpstr>Wingdings</vt:lpstr>
      <vt:lpstr>Tema de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HCMC_4_10</dc:title>
  <dc:creator>master</dc:creator>
  <cp:lastModifiedBy>WILLIAM RICARDO AGUILAR PIÑA</cp:lastModifiedBy>
  <cp:revision>717</cp:revision>
  <dcterms:created xsi:type="dcterms:W3CDTF">2010-05-17T13:13:34Z</dcterms:created>
  <dcterms:modified xsi:type="dcterms:W3CDTF">2025-11-21T16:16:09Z</dcterms:modified>
</cp:coreProperties>
</file>