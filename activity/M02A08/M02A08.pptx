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325" r:id="rId2"/>
    <p:sldId id="289" r:id="rId3"/>
    <p:sldId id="388" r:id="rId4"/>
    <p:sldId id="389" r:id="rId5"/>
    <p:sldId id="390" r:id="rId6"/>
    <p:sldId id="295" r:id="rId7"/>
    <p:sldId id="386" r:id="rId8"/>
    <p:sldId id="391" r:id="rId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07" d="100"/>
          <a:sy n="107" d="100"/>
        </p:scale>
        <p:origin x="630" y="102"/>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31/07/2025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31/07/2025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191704"/>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Planos de ingeniería de detalle</a:t>
            </a:r>
          </a:p>
          <a:p>
            <a:r>
              <a:rPr lang="es-CO" sz="1600" dirty="0">
                <a:latin typeface="Segoe UI Light" panose="020B0502040204020203" pitchFamily="34" charset="0"/>
                <a:cs typeface="Segoe UI Light" panose="020B0502040204020203" pitchFamily="34" charset="0"/>
              </a:rPr>
              <a:t>Cálculo de volúmenes corte y relleno</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8" name="1 Título">
            <a:extLst>
              <a:ext uri="{FF2B5EF4-FFF2-40B4-BE49-F238E27FC236}">
                <a16:creationId xmlns:a16="http://schemas.microsoft.com/office/drawing/2014/main" id="{6FC48DCA-5C8A-4E53-A170-D0726ABA5FC3}"/>
              </a:ext>
            </a:extLst>
          </p:cNvPr>
          <p:cNvSpPr txBox="1">
            <a:spLocks/>
          </p:cNvSpPr>
          <p:nvPr/>
        </p:nvSpPr>
        <p:spPr>
          <a:xfrm>
            <a:off x="83840" y="6597352"/>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baalkara@gmail.com</a:t>
            </a:r>
            <a:endParaRPr lang="es-CO" sz="800" spc="1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C6AECCD6-F872-4095-9966-A198FB754A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sp>
        <p:nvSpPr>
          <p:cNvPr id="10" name="1 Título">
            <a:extLst>
              <a:ext uri="{FF2B5EF4-FFF2-40B4-BE49-F238E27FC236}">
                <a16:creationId xmlns:a16="http://schemas.microsoft.com/office/drawing/2014/main" id="{B7C3D92F-5A34-4F9D-BF16-32848BE75534}"/>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solidFill>
                  <a:schemeClr val="bg1">
                    <a:lumMod val="65000"/>
                  </a:schemeClr>
                </a:solidFill>
                <a:latin typeface="Segoe UI Light" panose="020B0502040204020203" pitchFamily="34" charset="0"/>
                <a:cs typeface="Segoe UI Light" panose="020B0502040204020203" pitchFamily="34" charset="0"/>
              </a:rPr>
              <a:t>v.20250731</a:t>
            </a:r>
            <a:endParaRPr lang="es-CO" sz="800" spc="100" dirty="0">
              <a:solidFill>
                <a:schemeClr val="bg1">
                  <a:lumMod val="65000"/>
                </a:schemeClr>
              </a:solidFill>
              <a:latin typeface="Segoe UI Light" panose="020B0502040204020203" pitchFamily="34" charset="0"/>
              <a:cs typeface="Segoe UI Light" panose="020B0502040204020203"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81654" y="2582614"/>
            <a:ext cx="6228692" cy="1692771"/>
          </a:xfrm>
          <a:prstGeom prst="rect">
            <a:avLst/>
          </a:prstGeom>
          <a:noFill/>
        </p:spPr>
        <p:txBody>
          <a:bodyPr wrap="square" rtlCol="0">
            <a:spAutoFit/>
          </a:bodyPr>
          <a:lstStyle/>
          <a:p>
            <a:pPr algn="just"/>
            <a:r>
              <a:rPr lang="es-ES" dirty="0">
                <a:latin typeface="Segoe UI Light" panose="020B0502040204020203" pitchFamily="34" charset="0"/>
                <a:cs typeface="Segoe UI Light" panose="020B0502040204020203" pitchFamily="34" charset="0"/>
              </a:rPr>
              <a:t>Objetivo</a:t>
            </a:r>
          </a:p>
          <a:p>
            <a:pPr algn="just"/>
            <a:r>
              <a:rPr lang="es-ES" dirty="0">
                <a:latin typeface="Segoe UI Light" panose="020B0502040204020203" pitchFamily="34" charset="0"/>
                <a:cs typeface="Segoe UI Light" panose="020B0502040204020203" pitchFamily="34" charset="0"/>
              </a:rPr>
              <a:t> </a:t>
            </a:r>
          </a:p>
          <a:p>
            <a:pPr algn="just"/>
            <a:r>
              <a:rPr lang="es-ES" sz="1600" dirty="0">
                <a:latin typeface="Segoe UI Light" panose="020B0502040204020203" pitchFamily="34" charset="0"/>
                <a:cs typeface="Segoe UI Light" panose="020B0502040204020203" pitchFamily="34" charset="0"/>
              </a:rPr>
              <a:t>A partir de los modelos de terreno para la planicie y para el canal combinado, determinar los volúmenes de corte y relleno para el canal. </a:t>
            </a:r>
          </a:p>
          <a:p>
            <a:pPr algn="just"/>
            <a:endParaRPr lang="es-ES" sz="1600"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Generar las tablas de volúmenes.</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45750" y="2721114"/>
            <a:ext cx="4500500" cy="1415772"/>
          </a:xfrm>
          <a:prstGeom prst="rect">
            <a:avLst/>
          </a:prstGeom>
          <a:noFill/>
        </p:spPr>
        <p:txBody>
          <a:bodyPr wrap="square" rtlCol="0">
            <a:spAutoFit/>
          </a:bodyPr>
          <a:lstStyle/>
          <a:p>
            <a:pPr algn="just"/>
            <a:r>
              <a:rPr lang="es-ES" dirty="0">
                <a:latin typeface="Segoe UI Light" panose="020B0502040204020203" pitchFamily="34" charset="0"/>
                <a:cs typeface="Segoe UI Light" panose="020B0502040204020203" pitchFamily="34" charset="0"/>
              </a:rPr>
              <a:t>Herramientas computacionales requeridas</a:t>
            </a:r>
          </a:p>
          <a:p>
            <a:pPr algn="just"/>
            <a:endParaRPr lang="es-ES"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Autodesk AutoCAD®.</a:t>
            </a:r>
          </a:p>
          <a:p>
            <a:pPr algn="just"/>
            <a:endParaRPr lang="es-ES" sz="1600"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Autodesk Civil 3D ®.</a:t>
            </a:r>
          </a:p>
        </p:txBody>
      </p:sp>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06088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a:extLst>
              <a:ext uri="{FF2B5EF4-FFF2-40B4-BE49-F238E27FC236}">
                <a16:creationId xmlns:a16="http://schemas.microsoft.com/office/drawing/2014/main" id="{BEB4CAB2-8D21-4E2F-BBEF-ABE05EC38D78}"/>
              </a:ext>
            </a:extLst>
          </p:cNvPr>
          <p:cNvPicPr>
            <a:picLocks noChangeAspect="1"/>
          </p:cNvPicPr>
          <p:nvPr/>
        </p:nvPicPr>
        <p:blipFill rotWithShape="1">
          <a:blip r:embed="rId2"/>
          <a:srcRect l="31887" t="29313" r="20863" b="16350"/>
          <a:stretch/>
        </p:blipFill>
        <p:spPr>
          <a:xfrm>
            <a:off x="1243442" y="2682705"/>
            <a:ext cx="4320480" cy="2647949"/>
          </a:xfrm>
          <a:prstGeom prst="rect">
            <a:avLst/>
          </a:prstGeom>
        </p:spPr>
      </p:pic>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5" name="7 CuadroTexto">
            <a:extLst>
              <a:ext uri="{FF2B5EF4-FFF2-40B4-BE49-F238E27FC236}">
                <a16:creationId xmlns:a16="http://schemas.microsoft.com/office/drawing/2014/main" id="{122D828A-57BB-459C-B5E0-7C65294E99D0}"/>
              </a:ext>
            </a:extLst>
          </p:cNvPr>
          <p:cNvSpPr txBox="1"/>
          <p:nvPr/>
        </p:nvSpPr>
        <p:spPr>
          <a:xfrm>
            <a:off x="407368" y="1196878"/>
            <a:ext cx="6048672" cy="132343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A partir del archivo </a:t>
            </a:r>
            <a:r>
              <a:rPr lang="es-CO" sz="1600" i="1" dirty="0">
                <a:latin typeface="Segoe UI Light" panose="020B0502040204020203" pitchFamily="34" charset="0"/>
                <a:cs typeface="Segoe UI Light" panose="020B0502040204020203" pitchFamily="34" charset="0"/>
              </a:rPr>
              <a:t>/</a:t>
            </a:r>
            <a:r>
              <a:rPr lang="es-CO" sz="1600" i="1" dirty="0" err="1">
                <a:latin typeface="Segoe UI Light" panose="020B0502040204020203" pitchFamily="34" charset="0"/>
                <a:cs typeface="Segoe UI Light" panose="020B0502040204020203" pitchFamily="34" charset="0"/>
              </a:rPr>
              <a:t>cad</a:t>
            </a:r>
            <a:r>
              <a:rPr lang="es-CO" sz="1600" i="1" dirty="0">
                <a:latin typeface="Segoe UI Light" panose="020B0502040204020203" pitchFamily="34" charset="0"/>
                <a:cs typeface="Segoe UI Light" panose="020B0502040204020203" pitchFamily="34" charset="0"/>
              </a:rPr>
              <a:t>/civil/Civil3D_MDT_Planicie_v1.dwg</a:t>
            </a:r>
            <a:r>
              <a:rPr lang="es-CO" sz="1600" dirty="0">
                <a:latin typeface="Segoe UI Light" panose="020B0502040204020203" pitchFamily="34" charset="0"/>
                <a:cs typeface="Segoe UI Light" panose="020B0502040204020203" pitchFamily="34" charset="0"/>
              </a:rPr>
              <a:t> en el cual se generó el MDT para la planicie, importar los elementos 3D contenidos que componen el canal y que fueron generados al momento de trazar los respectivos corredores para el valle y cauce sinuoso. Guardar como /</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/civil/Civil3D_MDT_PlanicieCanal_v1.dwg.</a:t>
            </a:r>
          </a:p>
        </p:txBody>
      </p:sp>
      <p:sp>
        <p:nvSpPr>
          <p:cNvPr id="6" name="7 CuadroTexto">
            <a:extLst>
              <a:ext uri="{FF2B5EF4-FFF2-40B4-BE49-F238E27FC236}">
                <a16:creationId xmlns:a16="http://schemas.microsoft.com/office/drawing/2014/main" id="{1EEAA7C1-0804-4A3F-B61C-FB721D01FE87}"/>
              </a:ext>
            </a:extLst>
          </p:cNvPr>
          <p:cNvSpPr txBox="1"/>
          <p:nvPr/>
        </p:nvSpPr>
        <p:spPr>
          <a:xfrm>
            <a:off x="6681572" y="1203355"/>
            <a:ext cx="5319084"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Desde el archivo /</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a:t>
            </a:r>
            <a:r>
              <a:rPr lang="es-CO" sz="1600" dirty="0" err="1">
                <a:latin typeface="Segoe UI Light" panose="020B0502040204020203" pitchFamily="34" charset="0"/>
                <a:cs typeface="Segoe UI Light" panose="020B0502040204020203" pitchFamily="34" charset="0"/>
              </a:rPr>
              <a:t>acad</a:t>
            </a:r>
            <a:r>
              <a:rPr lang="es-CO" sz="1600" dirty="0">
                <a:latin typeface="Segoe UI Light" panose="020B0502040204020203" pitchFamily="34" charset="0"/>
                <a:cs typeface="Segoe UI Light" panose="020B0502040204020203" pitchFamily="34" charset="0"/>
              </a:rPr>
              <a:t>/Civil3D_MDT_ValleRio_v0.dwg,  añadir todas las líneas definidas para el canal y generar la superficie.</a:t>
            </a:r>
          </a:p>
        </p:txBody>
      </p:sp>
      <p:sp>
        <p:nvSpPr>
          <p:cNvPr id="7" name="7 CuadroTexto">
            <a:extLst>
              <a:ext uri="{FF2B5EF4-FFF2-40B4-BE49-F238E27FC236}">
                <a16:creationId xmlns:a16="http://schemas.microsoft.com/office/drawing/2014/main" id="{530BCBBC-AC73-4056-9988-26FD88CAD11B}"/>
              </a:ext>
            </a:extLst>
          </p:cNvPr>
          <p:cNvSpPr txBox="1"/>
          <p:nvPr/>
        </p:nvSpPr>
        <p:spPr>
          <a:xfrm>
            <a:off x="6681572" y="3767554"/>
            <a:ext cx="5319084"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Es recomendable editar la superficie para quitar todas las líneas de interpolación que está fuera del borde definido para el canal, con el fin de no tener encuentra en el calculo de volúmenes estas líneas.</a:t>
            </a:r>
          </a:p>
        </p:txBody>
      </p:sp>
      <p:pic>
        <p:nvPicPr>
          <p:cNvPr id="9" name="Imagen 8">
            <a:extLst>
              <a:ext uri="{FF2B5EF4-FFF2-40B4-BE49-F238E27FC236}">
                <a16:creationId xmlns:a16="http://schemas.microsoft.com/office/drawing/2014/main" id="{2589AD4B-925A-4849-A85D-EA8309BFB590}"/>
              </a:ext>
            </a:extLst>
          </p:cNvPr>
          <p:cNvPicPr>
            <a:picLocks noChangeAspect="1"/>
          </p:cNvPicPr>
          <p:nvPr/>
        </p:nvPicPr>
        <p:blipFill>
          <a:blip r:embed="rId4"/>
          <a:stretch>
            <a:fillRect/>
          </a:stretch>
        </p:blipFill>
        <p:spPr>
          <a:xfrm>
            <a:off x="407368" y="4415626"/>
            <a:ext cx="2831373" cy="2145310"/>
          </a:xfrm>
          <a:prstGeom prst="rect">
            <a:avLst/>
          </a:prstGeom>
        </p:spPr>
      </p:pic>
      <p:pic>
        <p:nvPicPr>
          <p:cNvPr id="10" name="Imagen 9">
            <a:extLst>
              <a:ext uri="{FF2B5EF4-FFF2-40B4-BE49-F238E27FC236}">
                <a16:creationId xmlns:a16="http://schemas.microsoft.com/office/drawing/2014/main" id="{54D83D34-8C71-458E-BC06-77AB04C48F2D}"/>
              </a:ext>
            </a:extLst>
          </p:cNvPr>
          <p:cNvPicPr>
            <a:picLocks noChangeAspect="1"/>
          </p:cNvPicPr>
          <p:nvPr/>
        </p:nvPicPr>
        <p:blipFill rotWithShape="1">
          <a:blip r:embed="rId5"/>
          <a:srcRect l="18500" t="33192" r="15350" b="31419"/>
          <a:stretch/>
        </p:blipFill>
        <p:spPr>
          <a:xfrm>
            <a:off x="7216878" y="2129627"/>
            <a:ext cx="4248472" cy="1277887"/>
          </a:xfrm>
          <a:prstGeom prst="rect">
            <a:avLst/>
          </a:prstGeom>
        </p:spPr>
      </p:pic>
      <p:pic>
        <p:nvPicPr>
          <p:cNvPr id="11" name="Imagen 10">
            <a:extLst>
              <a:ext uri="{FF2B5EF4-FFF2-40B4-BE49-F238E27FC236}">
                <a16:creationId xmlns:a16="http://schemas.microsoft.com/office/drawing/2014/main" id="{BDE1D1CD-4314-4408-9FB5-13065F24F66D}"/>
              </a:ext>
            </a:extLst>
          </p:cNvPr>
          <p:cNvPicPr>
            <a:picLocks noChangeAspect="1"/>
          </p:cNvPicPr>
          <p:nvPr/>
        </p:nvPicPr>
        <p:blipFill rotWithShape="1">
          <a:blip r:embed="rId6"/>
          <a:srcRect l="8264" t="41096" r="7475" b="24103"/>
          <a:stretch/>
        </p:blipFill>
        <p:spPr>
          <a:xfrm>
            <a:off x="7128586" y="5097784"/>
            <a:ext cx="4425055" cy="974026"/>
          </a:xfrm>
          <a:prstGeom prst="rect">
            <a:avLst/>
          </a:prstGeom>
        </p:spPr>
      </p:pic>
      <p:sp>
        <p:nvSpPr>
          <p:cNvPr id="2" name="CuadroTexto 1">
            <a:extLst>
              <a:ext uri="{FF2B5EF4-FFF2-40B4-BE49-F238E27FC236}">
                <a16:creationId xmlns:a16="http://schemas.microsoft.com/office/drawing/2014/main" id="{91EAA2DE-5EF0-49AF-9699-CAD757064F30}"/>
              </a:ext>
            </a:extLst>
          </p:cNvPr>
          <p:cNvSpPr txBox="1"/>
          <p:nvPr/>
        </p:nvSpPr>
        <p:spPr>
          <a:xfrm>
            <a:off x="0" y="548680"/>
            <a:ext cx="12192000"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Generar el modelo de terreno del canal combinado (valle y cauce sinuoso)</a:t>
            </a:r>
          </a:p>
        </p:txBody>
      </p:sp>
    </p:spTree>
    <p:extLst>
      <p:ext uri="{BB962C8B-B14F-4D97-AF65-F5344CB8AC3E}">
        <p14:creationId xmlns:p14="http://schemas.microsoft.com/office/powerpoint/2010/main" val="13135742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5" name="7 CuadroTexto">
            <a:extLst>
              <a:ext uri="{FF2B5EF4-FFF2-40B4-BE49-F238E27FC236}">
                <a16:creationId xmlns:a16="http://schemas.microsoft.com/office/drawing/2014/main" id="{BA49036B-F830-4C78-A3EC-6C5DEC38E956}"/>
              </a:ext>
            </a:extLst>
          </p:cNvPr>
          <p:cNvSpPr txBox="1"/>
          <p:nvPr/>
        </p:nvSpPr>
        <p:spPr>
          <a:xfrm>
            <a:off x="652358" y="1247274"/>
            <a:ext cx="5184576" cy="2308324"/>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Para definir las secciones transversales, se pueden tomar como referencia las líneas utilizadas para la elaboración del modelo de muestreo en HEC-RAS y luego generar líneas de muestreo en Autodesk Civil 3D, en la mitad de cada curva y en la mitad de las entre tangencias. El cálculo del volumen será más preciso si se definen secciones transversales en un delta en x pequeño, sin embargo, demasiadas secciones hacen que el programa se torne lento.</a:t>
            </a:r>
          </a:p>
        </p:txBody>
      </p:sp>
      <p:sp>
        <p:nvSpPr>
          <p:cNvPr id="6" name="7 CuadroTexto">
            <a:extLst>
              <a:ext uri="{FF2B5EF4-FFF2-40B4-BE49-F238E27FC236}">
                <a16:creationId xmlns:a16="http://schemas.microsoft.com/office/drawing/2014/main" id="{4F215BC5-E1F5-4EA0-B6AB-86AE2D25F272}"/>
              </a:ext>
            </a:extLst>
          </p:cNvPr>
          <p:cNvSpPr txBox="1"/>
          <p:nvPr/>
        </p:nvSpPr>
        <p:spPr>
          <a:xfrm>
            <a:off x="6846485" y="1247274"/>
            <a:ext cx="385802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Generar líneas de muestreo “</a:t>
            </a:r>
            <a:r>
              <a:rPr lang="es-CO" sz="1600" dirty="0" err="1">
                <a:latin typeface="Segoe UI Light" panose="020B0502040204020203" pitchFamily="34" charset="0"/>
                <a:cs typeface="Segoe UI Light" panose="020B0502040204020203" pitchFamily="34" charset="0"/>
              </a:rPr>
              <a:t>Sample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Lines</a:t>
            </a:r>
            <a:r>
              <a:rPr lang="es-CO" sz="1600" dirty="0">
                <a:latin typeface="Segoe UI Light" panose="020B0502040204020203" pitchFamily="34" charset="0"/>
                <a:cs typeface="Segoe UI Light" panose="020B0502040204020203" pitchFamily="34" charset="0"/>
              </a:rPr>
              <a:t>” utilizando como referencia el eje del cauce sinuoso.</a:t>
            </a:r>
          </a:p>
        </p:txBody>
      </p:sp>
      <p:sp>
        <p:nvSpPr>
          <p:cNvPr id="7" name="7 CuadroTexto">
            <a:extLst>
              <a:ext uri="{FF2B5EF4-FFF2-40B4-BE49-F238E27FC236}">
                <a16:creationId xmlns:a16="http://schemas.microsoft.com/office/drawing/2014/main" id="{E0E6EDF2-64DB-40F4-B760-A6B4A6FEDB42}"/>
              </a:ext>
            </a:extLst>
          </p:cNvPr>
          <p:cNvSpPr txBox="1"/>
          <p:nvPr/>
        </p:nvSpPr>
        <p:spPr>
          <a:xfrm>
            <a:off x="6744072" y="3991816"/>
            <a:ext cx="3858027"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3. Generar vista de secciones transversales, no es necesario generar todas la secciones, basta con una para poder visualizar los cortes y rellenos.</a:t>
            </a:r>
          </a:p>
        </p:txBody>
      </p:sp>
      <p:pic>
        <p:nvPicPr>
          <p:cNvPr id="9" name="Imagen 8">
            <a:extLst>
              <a:ext uri="{FF2B5EF4-FFF2-40B4-BE49-F238E27FC236}">
                <a16:creationId xmlns:a16="http://schemas.microsoft.com/office/drawing/2014/main" id="{2D3F9C06-5C6D-4F4B-8A47-79D6F570AAE0}"/>
              </a:ext>
            </a:extLst>
          </p:cNvPr>
          <p:cNvPicPr>
            <a:picLocks noChangeAspect="1"/>
          </p:cNvPicPr>
          <p:nvPr/>
        </p:nvPicPr>
        <p:blipFill rotWithShape="1">
          <a:blip r:embed="rId3"/>
          <a:srcRect l="13679" t="25828" r="28834" b="26962"/>
          <a:stretch/>
        </p:blipFill>
        <p:spPr>
          <a:xfrm>
            <a:off x="709883" y="3815528"/>
            <a:ext cx="5069526" cy="2340684"/>
          </a:xfrm>
          <a:prstGeom prst="rect">
            <a:avLst/>
          </a:prstGeom>
        </p:spPr>
      </p:pic>
      <p:pic>
        <p:nvPicPr>
          <p:cNvPr id="10" name="Imagen 9">
            <a:extLst>
              <a:ext uri="{FF2B5EF4-FFF2-40B4-BE49-F238E27FC236}">
                <a16:creationId xmlns:a16="http://schemas.microsoft.com/office/drawing/2014/main" id="{0680A606-7ACC-49CC-91D4-D9BE6AB512FC}"/>
              </a:ext>
            </a:extLst>
          </p:cNvPr>
          <p:cNvPicPr>
            <a:picLocks noChangeAspect="1"/>
          </p:cNvPicPr>
          <p:nvPr/>
        </p:nvPicPr>
        <p:blipFill rotWithShape="1">
          <a:blip r:embed="rId4"/>
          <a:srcRect l="12201" t="30353" r="14563" b="21925"/>
          <a:stretch/>
        </p:blipFill>
        <p:spPr>
          <a:xfrm>
            <a:off x="6727667" y="5097787"/>
            <a:ext cx="4048853" cy="1406071"/>
          </a:xfrm>
          <a:prstGeom prst="rect">
            <a:avLst/>
          </a:prstGeom>
        </p:spPr>
      </p:pic>
      <p:pic>
        <p:nvPicPr>
          <p:cNvPr id="11" name="Imagen 10">
            <a:extLst>
              <a:ext uri="{FF2B5EF4-FFF2-40B4-BE49-F238E27FC236}">
                <a16:creationId xmlns:a16="http://schemas.microsoft.com/office/drawing/2014/main" id="{1C99768C-6D88-439D-997D-2607FB1FC931}"/>
              </a:ext>
            </a:extLst>
          </p:cNvPr>
          <p:cNvPicPr>
            <a:picLocks noChangeAspect="1"/>
          </p:cNvPicPr>
          <p:nvPr/>
        </p:nvPicPr>
        <p:blipFill rotWithShape="1">
          <a:blip r:embed="rId5"/>
          <a:srcRect l="5900" t="26189" r="16138" b="16384"/>
          <a:stretch/>
        </p:blipFill>
        <p:spPr>
          <a:xfrm>
            <a:off x="6777443" y="2077157"/>
            <a:ext cx="3999077" cy="1656184"/>
          </a:xfrm>
          <a:prstGeom prst="rect">
            <a:avLst/>
          </a:prstGeom>
        </p:spPr>
      </p:pic>
      <p:sp>
        <p:nvSpPr>
          <p:cNvPr id="12" name="CuadroTexto 11">
            <a:extLst>
              <a:ext uri="{FF2B5EF4-FFF2-40B4-BE49-F238E27FC236}">
                <a16:creationId xmlns:a16="http://schemas.microsoft.com/office/drawing/2014/main" id="{B84FB1CA-36F0-4CEA-AD7C-FD3AE580D76A}"/>
              </a:ext>
            </a:extLst>
          </p:cNvPr>
          <p:cNvSpPr txBox="1"/>
          <p:nvPr/>
        </p:nvSpPr>
        <p:spPr>
          <a:xfrm>
            <a:off x="0" y="692696"/>
            <a:ext cx="1219200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2: Líneas de secciones transversales</a:t>
            </a:r>
          </a:p>
        </p:txBody>
      </p:sp>
    </p:spTree>
    <p:extLst>
      <p:ext uri="{BB962C8B-B14F-4D97-AF65-F5344CB8AC3E}">
        <p14:creationId xmlns:p14="http://schemas.microsoft.com/office/powerpoint/2010/main" val="10614785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72F957C6-A7F6-481B-B3CB-A9B220B968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4" name="7 CuadroTexto">
            <a:extLst>
              <a:ext uri="{FF2B5EF4-FFF2-40B4-BE49-F238E27FC236}">
                <a16:creationId xmlns:a16="http://schemas.microsoft.com/office/drawing/2014/main" id="{645A23EA-370D-4F8B-8738-0BED3F337A4F}"/>
              </a:ext>
            </a:extLst>
          </p:cNvPr>
          <p:cNvSpPr txBox="1"/>
          <p:nvPr/>
        </p:nvSpPr>
        <p:spPr>
          <a:xfrm>
            <a:off x="6732563" y="1052736"/>
            <a:ext cx="3971949"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Definir los materiales para el relleno y el corte, teniendo en cuenta las superficies base y su localización arriba y abajo para el corte y el relleno.</a:t>
            </a:r>
          </a:p>
        </p:txBody>
      </p:sp>
      <p:sp>
        <p:nvSpPr>
          <p:cNvPr id="6" name="7 CuadroTexto">
            <a:extLst>
              <a:ext uri="{FF2B5EF4-FFF2-40B4-BE49-F238E27FC236}">
                <a16:creationId xmlns:a16="http://schemas.microsoft.com/office/drawing/2014/main" id="{77E55295-5351-4C97-A01E-233A0B98D629}"/>
              </a:ext>
            </a:extLst>
          </p:cNvPr>
          <p:cNvSpPr txBox="1"/>
          <p:nvPr/>
        </p:nvSpPr>
        <p:spPr>
          <a:xfrm>
            <a:off x="6692961" y="5229200"/>
            <a:ext cx="4011551" cy="1569660"/>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Arriba y Abajo se refiere a la posición del material, de relleno o corte, con respecto a la superficie. Por ejemplo, en una situación de corte, el material de corte estará encima del canal (</a:t>
            </a:r>
            <a:r>
              <a:rPr lang="es-CO" sz="1600" dirty="0" err="1">
                <a:latin typeface="Segoe UI Light" panose="020B0502040204020203" pitchFamily="34" charset="0"/>
                <a:cs typeface="Segoe UI Light" panose="020B0502040204020203" pitchFamily="34" charset="0"/>
              </a:rPr>
              <a:t>above</a:t>
            </a:r>
            <a:r>
              <a:rPr lang="es-CO" sz="1600" dirty="0">
                <a:latin typeface="Segoe UI Light" panose="020B0502040204020203" pitchFamily="34" charset="0"/>
                <a:cs typeface="Segoe UI Light" panose="020B0502040204020203" pitchFamily="34" charset="0"/>
              </a:rPr>
              <a:t>) pero debajo del terreno natural (</a:t>
            </a:r>
            <a:r>
              <a:rPr lang="es-CO" sz="1600" dirty="0" err="1">
                <a:latin typeface="Segoe UI Light" panose="020B0502040204020203" pitchFamily="34" charset="0"/>
                <a:cs typeface="Segoe UI Light" panose="020B0502040204020203" pitchFamily="34" charset="0"/>
              </a:rPr>
              <a:t>below</a:t>
            </a:r>
            <a:r>
              <a:rPr lang="es-CO" sz="1600" dirty="0">
                <a:latin typeface="Segoe UI Light" panose="020B0502040204020203" pitchFamily="34" charset="0"/>
                <a:cs typeface="Segoe UI Light" panose="020B0502040204020203" pitchFamily="34" charset="0"/>
              </a:rPr>
              <a:t>)  </a:t>
            </a:r>
          </a:p>
        </p:txBody>
      </p:sp>
      <p:sp>
        <p:nvSpPr>
          <p:cNvPr id="7" name="7 CuadroTexto">
            <a:extLst>
              <a:ext uri="{FF2B5EF4-FFF2-40B4-BE49-F238E27FC236}">
                <a16:creationId xmlns:a16="http://schemas.microsoft.com/office/drawing/2014/main" id="{0844DC53-F545-4111-9998-A70C101889C0}"/>
              </a:ext>
            </a:extLst>
          </p:cNvPr>
          <p:cNvSpPr txBox="1"/>
          <p:nvPr/>
        </p:nvSpPr>
        <p:spPr>
          <a:xfrm>
            <a:off x="1127447" y="1268760"/>
            <a:ext cx="4536504" cy="2062103"/>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En la pestaña de análisis seleccionar calcular materiales (Compute </a:t>
            </a:r>
            <a:r>
              <a:rPr lang="es-CO" sz="1600" dirty="0" err="1">
                <a:latin typeface="Segoe UI Light" panose="020B0502040204020203" pitchFamily="34" charset="0"/>
                <a:cs typeface="Segoe UI Light" panose="020B0502040204020203" pitchFamily="34" charset="0"/>
              </a:rPr>
              <a:t>Materials</a:t>
            </a:r>
            <a:r>
              <a:rPr lang="es-CO" sz="1600" dirty="0">
                <a:latin typeface="Segoe UI Light" panose="020B0502040204020203" pitchFamily="34" charset="0"/>
                <a:cs typeface="Segoe UI Light" panose="020B0502040204020203" pitchFamily="34" charset="0"/>
              </a:rPr>
              <a:t>) </a:t>
            </a:r>
          </a:p>
          <a:p>
            <a:pPr algn="just"/>
            <a:endParaRPr lang="es-CO" sz="1600" dirty="0">
              <a:latin typeface="Segoe UI Light" panose="020B0502040204020203" pitchFamily="34" charset="0"/>
              <a:cs typeface="Segoe UI Light" panose="020B0502040204020203" pitchFamily="34" charset="0"/>
            </a:endParaRPr>
          </a:p>
          <a:p>
            <a:pPr algn="just"/>
            <a:endParaRPr lang="es-CO" sz="1600" i="1" dirty="0">
              <a:latin typeface="Segoe UI Light" panose="020B0502040204020203" pitchFamily="34" charset="0"/>
              <a:cs typeface="Segoe UI Light" panose="020B0502040204020203" pitchFamily="34" charset="0"/>
            </a:endParaRPr>
          </a:p>
          <a:p>
            <a:pPr algn="just"/>
            <a:endParaRPr lang="es-CO" sz="1600" dirty="0">
              <a:latin typeface="Segoe UI Light" panose="020B0502040204020203" pitchFamily="34" charset="0"/>
              <a:cs typeface="Segoe UI Light" panose="020B0502040204020203" pitchFamily="34" charset="0"/>
            </a:endParaRPr>
          </a:p>
          <a:p>
            <a:pPr marL="342900" indent="-342900">
              <a:buAutoNum type="arabicPeriod"/>
            </a:pPr>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p:txBody>
      </p:sp>
      <p:sp>
        <p:nvSpPr>
          <p:cNvPr id="9" name="7 CuadroTexto">
            <a:extLst>
              <a:ext uri="{FF2B5EF4-FFF2-40B4-BE49-F238E27FC236}">
                <a16:creationId xmlns:a16="http://schemas.microsoft.com/office/drawing/2014/main" id="{1B63AD35-727D-4609-9961-A46BCCCD7F06}"/>
              </a:ext>
            </a:extLst>
          </p:cNvPr>
          <p:cNvSpPr txBox="1"/>
          <p:nvPr/>
        </p:nvSpPr>
        <p:spPr>
          <a:xfrm>
            <a:off x="1250475" y="5415410"/>
            <a:ext cx="439248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Se debe seleccionar el eje y las secciones transversales base para el cálculo del volumen. Se crea un nuevo estilo de corte y relleno</a:t>
            </a:r>
          </a:p>
        </p:txBody>
      </p:sp>
      <p:pic>
        <p:nvPicPr>
          <p:cNvPr id="10" name="Imagen 9">
            <a:extLst>
              <a:ext uri="{FF2B5EF4-FFF2-40B4-BE49-F238E27FC236}">
                <a16:creationId xmlns:a16="http://schemas.microsoft.com/office/drawing/2014/main" id="{C822692F-13DE-41BC-84F2-6C483EFDD0A6}"/>
              </a:ext>
            </a:extLst>
          </p:cNvPr>
          <p:cNvPicPr>
            <a:picLocks noChangeAspect="1"/>
          </p:cNvPicPr>
          <p:nvPr/>
        </p:nvPicPr>
        <p:blipFill rotWithShape="1">
          <a:blip r:embed="rId3"/>
          <a:srcRect l="26375" t="13331" r="26376" b="19186"/>
          <a:stretch/>
        </p:blipFill>
        <p:spPr>
          <a:xfrm>
            <a:off x="1970554" y="2655692"/>
            <a:ext cx="3672408" cy="2665507"/>
          </a:xfrm>
          <a:prstGeom prst="rect">
            <a:avLst/>
          </a:prstGeom>
        </p:spPr>
      </p:pic>
      <p:pic>
        <p:nvPicPr>
          <p:cNvPr id="11" name="Imagen 10">
            <a:extLst>
              <a:ext uri="{FF2B5EF4-FFF2-40B4-BE49-F238E27FC236}">
                <a16:creationId xmlns:a16="http://schemas.microsoft.com/office/drawing/2014/main" id="{B69F0266-976D-47CB-9297-D95A8E4F51C1}"/>
              </a:ext>
            </a:extLst>
          </p:cNvPr>
          <p:cNvPicPr>
            <a:picLocks noChangeAspect="1"/>
          </p:cNvPicPr>
          <p:nvPr/>
        </p:nvPicPr>
        <p:blipFill>
          <a:blip r:embed="rId4"/>
          <a:stretch>
            <a:fillRect/>
          </a:stretch>
        </p:blipFill>
        <p:spPr>
          <a:xfrm>
            <a:off x="721166" y="2201137"/>
            <a:ext cx="2590800" cy="1771650"/>
          </a:xfrm>
          <a:prstGeom prst="rect">
            <a:avLst/>
          </a:prstGeom>
        </p:spPr>
      </p:pic>
      <p:pic>
        <p:nvPicPr>
          <p:cNvPr id="12" name="Imagen 11">
            <a:extLst>
              <a:ext uri="{FF2B5EF4-FFF2-40B4-BE49-F238E27FC236}">
                <a16:creationId xmlns:a16="http://schemas.microsoft.com/office/drawing/2014/main" id="{E5C95F99-42FC-47C8-BC8E-3F12ADD8DB70}"/>
              </a:ext>
            </a:extLst>
          </p:cNvPr>
          <p:cNvPicPr>
            <a:picLocks noChangeAspect="1"/>
          </p:cNvPicPr>
          <p:nvPr/>
        </p:nvPicPr>
        <p:blipFill rotWithShape="1">
          <a:blip r:embed="rId5"/>
          <a:srcRect l="25588" t="17522" r="38156" b="59443"/>
          <a:stretch/>
        </p:blipFill>
        <p:spPr>
          <a:xfrm>
            <a:off x="6728183" y="2190991"/>
            <a:ext cx="2612032" cy="933043"/>
          </a:xfrm>
          <a:prstGeom prst="rect">
            <a:avLst/>
          </a:prstGeom>
        </p:spPr>
      </p:pic>
      <p:pic>
        <p:nvPicPr>
          <p:cNvPr id="13" name="Imagen 12">
            <a:extLst>
              <a:ext uri="{FF2B5EF4-FFF2-40B4-BE49-F238E27FC236}">
                <a16:creationId xmlns:a16="http://schemas.microsoft.com/office/drawing/2014/main" id="{A02C22EF-1F48-4292-8C0A-00E7F15789B1}"/>
              </a:ext>
            </a:extLst>
          </p:cNvPr>
          <p:cNvPicPr>
            <a:picLocks noChangeAspect="1"/>
          </p:cNvPicPr>
          <p:nvPr/>
        </p:nvPicPr>
        <p:blipFill>
          <a:blip r:embed="rId6"/>
          <a:stretch>
            <a:fillRect/>
          </a:stretch>
        </p:blipFill>
        <p:spPr>
          <a:xfrm>
            <a:off x="6728183" y="3124034"/>
            <a:ext cx="3976329" cy="2123942"/>
          </a:xfrm>
          <a:prstGeom prst="rect">
            <a:avLst/>
          </a:prstGeom>
        </p:spPr>
      </p:pic>
      <p:sp>
        <p:nvSpPr>
          <p:cNvPr id="14" name="CuadroTexto 13">
            <a:extLst>
              <a:ext uri="{FF2B5EF4-FFF2-40B4-BE49-F238E27FC236}">
                <a16:creationId xmlns:a16="http://schemas.microsoft.com/office/drawing/2014/main" id="{A603990C-AC8B-492E-A190-9F6B57612045}"/>
              </a:ext>
            </a:extLst>
          </p:cNvPr>
          <p:cNvSpPr txBox="1"/>
          <p:nvPr/>
        </p:nvSpPr>
        <p:spPr>
          <a:xfrm>
            <a:off x="0" y="476672"/>
            <a:ext cx="1219200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3: Crear materiales de corte y relleno</a:t>
            </a:r>
          </a:p>
        </p:txBody>
      </p:sp>
    </p:spTree>
    <p:extLst>
      <p:ext uri="{BB962C8B-B14F-4D97-AF65-F5344CB8AC3E}">
        <p14:creationId xmlns:p14="http://schemas.microsoft.com/office/powerpoint/2010/main" val="1110869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72F957C6-A7F6-481B-B3CB-A9B220B968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7 CuadroTexto">
            <a:extLst>
              <a:ext uri="{FF2B5EF4-FFF2-40B4-BE49-F238E27FC236}">
                <a16:creationId xmlns:a16="http://schemas.microsoft.com/office/drawing/2014/main" id="{823BB7CB-46E6-4779-B08C-EA4E34E5830D}"/>
              </a:ext>
            </a:extLst>
          </p:cNvPr>
          <p:cNvSpPr txBox="1"/>
          <p:nvPr/>
        </p:nvSpPr>
        <p:spPr>
          <a:xfrm>
            <a:off x="1271464" y="4005064"/>
            <a:ext cx="478618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A partir de las secciones transversales se pueden generar los reportes de volúmenes de corte y relleno y personalizar su presentación. </a:t>
            </a:r>
          </a:p>
        </p:txBody>
      </p:sp>
      <p:pic>
        <p:nvPicPr>
          <p:cNvPr id="10" name="Imagen 9">
            <a:extLst>
              <a:ext uri="{FF2B5EF4-FFF2-40B4-BE49-F238E27FC236}">
                <a16:creationId xmlns:a16="http://schemas.microsoft.com/office/drawing/2014/main" id="{A0503608-F9D8-4B49-ACE0-5AE833069BE8}"/>
              </a:ext>
            </a:extLst>
          </p:cNvPr>
          <p:cNvPicPr>
            <a:picLocks noChangeAspect="1"/>
          </p:cNvPicPr>
          <p:nvPr/>
        </p:nvPicPr>
        <p:blipFill rotWithShape="1">
          <a:blip r:embed="rId3"/>
          <a:srcRect l="19646" t="-431" r="3425" b="22544"/>
          <a:stretch/>
        </p:blipFill>
        <p:spPr>
          <a:xfrm>
            <a:off x="1343472" y="1268760"/>
            <a:ext cx="4680520" cy="2664296"/>
          </a:xfrm>
          <a:prstGeom prst="rect">
            <a:avLst/>
          </a:prstGeom>
        </p:spPr>
      </p:pic>
      <p:pic>
        <p:nvPicPr>
          <p:cNvPr id="11" name="Imagen 10">
            <a:extLst>
              <a:ext uri="{FF2B5EF4-FFF2-40B4-BE49-F238E27FC236}">
                <a16:creationId xmlns:a16="http://schemas.microsoft.com/office/drawing/2014/main" id="{DE73BB9A-82F3-4A17-AC03-E60894F65AB5}"/>
              </a:ext>
            </a:extLst>
          </p:cNvPr>
          <p:cNvPicPr>
            <a:picLocks noChangeAspect="1"/>
          </p:cNvPicPr>
          <p:nvPr/>
        </p:nvPicPr>
        <p:blipFill rotWithShape="1">
          <a:blip r:embed="rId4"/>
          <a:srcRect l="18500" t="40652" r="20075" b="28778"/>
          <a:stretch/>
        </p:blipFill>
        <p:spPr>
          <a:xfrm>
            <a:off x="5663952" y="4797152"/>
            <a:ext cx="5616624" cy="1571569"/>
          </a:xfrm>
          <a:prstGeom prst="rect">
            <a:avLst/>
          </a:prstGeom>
        </p:spPr>
      </p:pic>
      <p:sp>
        <p:nvSpPr>
          <p:cNvPr id="12" name="CuadroTexto 11">
            <a:extLst>
              <a:ext uri="{FF2B5EF4-FFF2-40B4-BE49-F238E27FC236}">
                <a16:creationId xmlns:a16="http://schemas.microsoft.com/office/drawing/2014/main" id="{12E1A4C4-98A2-4F3A-B357-45B13EE353BB}"/>
              </a:ext>
            </a:extLst>
          </p:cNvPr>
          <p:cNvSpPr txBox="1"/>
          <p:nvPr/>
        </p:nvSpPr>
        <p:spPr>
          <a:xfrm>
            <a:off x="0" y="714182"/>
            <a:ext cx="12192000"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Crear tablas de reporte</a:t>
            </a:r>
          </a:p>
        </p:txBody>
      </p:sp>
    </p:spTree>
    <p:extLst>
      <p:ext uri="{BB962C8B-B14F-4D97-AF65-F5344CB8AC3E}">
        <p14:creationId xmlns:p14="http://schemas.microsoft.com/office/powerpoint/2010/main" val="224804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7 CuadroTexto">
            <a:extLst>
              <a:ext uri="{FF2B5EF4-FFF2-40B4-BE49-F238E27FC236}">
                <a16:creationId xmlns:a16="http://schemas.microsoft.com/office/drawing/2014/main" id="{3572065F-81C1-454C-8E77-453E36FB65E9}"/>
              </a:ext>
            </a:extLst>
          </p:cNvPr>
          <p:cNvSpPr txBox="1"/>
          <p:nvPr/>
        </p:nvSpPr>
        <p:spPr>
          <a:xfrm>
            <a:off x="4331804" y="3305889"/>
            <a:ext cx="3528392" cy="246221"/>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baalkara@gmail.com</a:t>
            </a:r>
          </a:p>
        </p:txBody>
      </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4277</TotalTime>
  <Words>542</Words>
  <Application>Microsoft Office PowerPoint</Application>
  <PresentationFormat>Widescreen</PresentationFormat>
  <Paragraphs>35</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Segoe UI Light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HCMC_4_1</dc:title>
  <dc:creator>master</dc:creator>
  <cp:lastModifiedBy>WILLIAM RICARDO AGUILAR PIÑA</cp:lastModifiedBy>
  <cp:revision>297</cp:revision>
  <dcterms:created xsi:type="dcterms:W3CDTF">2010-05-17T13:13:34Z</dcterms:created>
  <dcterms:modified xsi:type="dcterms:W3CDTF">2025-07-31T13:23:45Z</dcterms:modified>
</cp:coreProperties>
</file>