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325" r:id="rId2"/>
    <p:sldId id="289" r:id="rId3"/>
    <p:sldId id="388" r:id="rId4"/>
    <p:sldId id="389" r:id="rId5"/>
    <p:sldId id="390" r:id="rId6"/>
    <p:sldId id="295" r:id="rId7"/>
    <p:sldId id="386" r:id="rId8"/>
    <p:sldId id="391" r:id="rId9"/>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F0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53" autoAdjust="0"/>
    <p:restoredTop sz="93623" autoAdjust="0"/>
  </p:normalViewPr>
  <p:slideViewPr>
    <p:cSldViewPr>
      <p:cViewPr varScale="1">
        <p:scale>
          <a:sx n="111" d="100"/>
          <a:sy n="111" d="100"/>
        </p:scale>
        <p:origin x="552" y="96"/>
      </p:cViewPr>
      <p:guideLst>
        <p:guide orient="horz" pos="2160"/>
        <p:guide pos="384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CO"/>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3CE91DE-ABC6-4D22-89A0-1765B629FB43}" type="datetimeFigureOut">
              <a:rPr lang="es-CO" smtClean="0"/>
              <a:pPr/>
              <a:t>23/11/2021</a:t>
            </a:fld>
            <a:endParaRPr lang="es-CO"/>
          </a:p>
        </p:txBody>
      </p:sp>
      <p:sp>
        <p:nvSpPr>
          <p:cNvPr id="4" name="3 Marcador de imagen de diapositiva"/>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s-CO"/>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CO"/>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0FAC943-C359-4C07-B08A-993C08E8D67C}" type="slidenum">
              <a:rPr lang="es-CO" smtClean="0"/>
              <a:pPr/>
              <a:t>‹#›</a:t>
            </a:fld>
            <a:endParaRPr lang="es-CO"/>
          </a:p>
        </p:txBody>
      </p:sp>
    </p:spTree>
    <p:extLst>
      <p:ext uri="{BB962C8B-B14F-4D97-AF65-F5344CB8AC3E}">
        <p14:creationId xmlns:p14="http://schemas.microsoft.com/office/powerpoint/2010/main" val="31702955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914400" y="2130426"/>
            <a:ext cx="10363200" cy="1470025"/>
          </a:xfrm>
        </p:spPr>
        <p:txBody>
          <a:bodyPr/>
          <a:lstStyle/>
          <a:p>
            <a:r>
              <a:rPr lang="es-ES"/>
              <a:t>Haga clic para modificar el estilo de título del patrón</a:t>
            </a:r>
            <a:endParaRPr lang="es-CO"/>
          </a:p>
        </p:txBody>
      </p:sp>
      <p:sp>
        <p:nvSpPr>
          <p:cNvPr id="3" name="2 Subtítulo"/>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s-CO"/>
          </a:p>
        </p:txBody>
      </p:sp>
      <p:sp>
        <p:nvSpPr>
          <p:cNvPr id="4" name="3 Marcador de fecha"/>
          <p:cNvSpPr>
            <a:spLocks noGrp="1"/>
          </p:cNvSpPr>
          <p:nvPr>
            <p:ph type="dt" sz="half" idx="10"/>
          </p:nvPr>
        </p:nvSpPr>
        <p:spPr/>
        <p:txBody>
          <a:bodyPr/>
          <a:lstStyle/>
          <a:p>
            <a:fld id="{43DF08CB-A55A-40B1-AEFD-F19B3CFD19B5}" type="datetimeFigureOut">
              <a:rPr lang="es-CO" smtClean="0"/>
              <a:pPr/>
              <a:t>23/11/2021</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10"/>
          </p:nvPr>
        </p:nvSpPr>
        <p:spPr/>
        <p:txBody>
          <a:bodyPr/>
          <a:lstStyle/>
          <a:p>
            <a:fld id="{43DF08CB-A55A-40B1-AEFD-F19B3CFD19B5}" type="datetimeFigureOut">
              <a:rPr lang="es-CO" smtClean="0"/>
              <a:pPr/>
              <a:t>23/11/2021</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963084" y="4406901"/>
            <a:ext cx="10363200" cy="1362075"/>
          </a:xfrm>
        </p:spPr>
        <p:txBody>
          <a:bodyPr anchor="t"/>
          <a:lstStyle>
            <a:lvl1pPr algn="l">
              <a:defRPr sz="4000" b="1" cap="all"/>
            </a:lvl1pPr>
          </a:lstStyle>
          <a:p>
            <a:r>
              <a:rPr lang="es-ES"/>
              <a:t>Haga clic para modificar el estilo de título del patrón</a:t>
            </a:r>
            <a:endParaRPr lang="es-CO"/>
          </a:p>
        </p:txBody>
      </p:sp>
      <p:sp>
        <p:nvSpPr>
          <p:cNvPr id="3" name="2 Marcador de texto"/>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3 Marcador de fecha"/>
          <p:cNvSpPr>
            <a:spLocks noGrp="1"/>
          </p:cNvSpPr>
          <p:nvPr>
            <p:ph type="dt" sz="half" idx="10"/>
          </p:nvPr>
        </p:nvSpPr>
        <p:spPr/>
        <p:txBody>
          <a:bodyPr/>
          <a:lstStyle/>
          <a:p>
            <a:fld id="{43DF08CB-A55A-40B1-AEFD-F19B3CFD19B5}" type="datetimeFigureOut">
              <a:rPr lang="es-CO" smtClean="0"/>
              <a:pPr/>
              <a:t>23/11/2021</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contenido"/>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contenido"/>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4 Marcador de fecha"/>
          <p:cNvSpPr>
            <a:spLocks noGrp="1"/>
          </p:cNvSpPr>
          <p:nvPr>
            <p:ph type="dt" sz="half" idx="10"/>
          </p:nvPr>
        </p:nvSpPr>
        <p:spPr/>
        <p:txBody>
          <a:bodyPr/>
          <a:lstStyle/>
          <a:p>
            <a:fld id="{43DF08CB-A55A-40B1-AEFD-F19B3CFD19B5}" type="datetimeFigureOut">
              <a:rPr lang="es-CO" smtClean="0"/>
              <a:pPr/>
              <a:t>23/11/2021</a:t>
            </a:fld>
            <a:endParaRPr lang="es-CO"/>
          </a:p>
        </p:txBody>
      </p:sp>
      <p:sp>
        <p:nvSpPr>
          <p:cNvPr id="6" name="5 Marcador de pie de página"/>
          <p:cNvSpPr>
            <a:spLocks noGrp="1"/>
          </p:cNvSpPr>
          <p:nvPr>
            <p:ph type="ftr" sz="quarter" idx="11"/>
          </p:nvPr>
        </p:nvSpPr>
        <p:spPr/>
        <p:txBody>
          <a:bodyPr/>
          <a:lstStyle/>
          <a:p>
            <a:endParaRPr lang="es-CO"/>
          </a:p>
        </p:txBody>
      </p:sp>
      <p:sp>
        <p:nvSpPr>
          <p:cNvPr id="7" name="6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a:t>Haga clic para modificar el estilo de título del patrón</a:t>
            </a:r>
            <a:endParaRPr lang="es-CO"/>
          </a:p>
        </p:txBody>
      </p:sp>
      <p:sp>
        <p:nvSpPr>
          <p:cNvPr id="3" name="2 Marcador de texto"/>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4 Marcador de texto"/>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6 Marcador de fecha"/>
          <p:cNvSpPr>
            <a:spLocks noGrp="1"/>
          </p:cNvSpPr>
          <p:nvPr>
            <p:ph type="dt" sz="half" idx="10"/>
          </p:nvPr>
        </p:nvSpPr>
        <p:spPr/>
        <p:txBody>
          <a:bodyPr/>
          <a:lstStyle/>
          <a:p>
            <a:fld id="{43DF08CB-A55A-40B1-AEFD-F19B3CFD19B5}" type="datetimeFigureOut">
              <a:rPr lang="es-CO" smtClean="0"/>
              <a:pPr/>
              <a:t>23/11/2021</a:t>
            </a:fld>
            <a:endParaRPr lang="es-CO"/>
          </a:p>
        </p:txBody>
      </p:sp>
      <p:sp>
        <p:nvSpPr>
          <p:cNvPr id="8" name="7 Marcador de pie de página"/>
          <p:cNvSpPr>
            <a:spLocks noGrp="1"/>
          </p:cNvSpPr>
          <p:nvPr>
            <p:ph type="ftr" sz="quarter" idx="11"/>
          </p:nvPr>
        </p:nvSpPr>
        <p:spPr/>
        <p:txBody>
          <a:bodyPr/>
          <a:lstStyle/>
          <a:p>
            <a:endParaRPr lang="es-CO"/>
          </a:p>
        </p:txBody>
      </p:sp>
      <p:sp>
        <p:nvSpPr>
          <p:cNvPr id="9" name="8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fecha"/>
          <p:cNvSpPr>
            <a:spLocks noGrp="1"/>
          </p:cNvSpPr>
          <p:nvPr>
            <p:ph type="dt" sz="half" idx="10"/>
          </p:nvPr>
        </p:nvSpPr>
        <p:spPr/>
        <p:txBody>
          <a:bodyPr/>
          <a:lstStyle/>
          <a:p>
            <a:fld id="{43DF08CB-A55A-40B1-AEFD-F19B3CFD19B5}" type="datetimeFigureOut">
              <a:rPr lang="es-CO" smtClean="0"/>
              <a:pPr/>
              <a:t>23/11/2021</a:t>
            </a:fld>
            <a:endParaRPr lang="es-CO"/>
          </a:p>
        </p:txBody>
      </p:sp>
      <p:sp>
        <p:nvSpPr>
          <p:cNvPr id="4" name="3 Marcador de pie de página"/>
          <p:cNvSpPr>
            <a:spLocks noGrp="1"/>
          </p:cNvSpPr>
          <p:nvPr>
            <p:ph type="ftr" sz="quarter" idx="11"/>
          </p:nvPr>
        </p:nvSpPr>
        <p:spPr/>
        <p:txBody>
          <a:bodyPr/>
          <a:lstStyle/>
          <a:p>
            <a:endParaRPr lang="es-CO"/>
          </a:p>
        </p:txBody>
      </p:sp>
      <p:sp>
        <p:nvSpPr>
          <p:cNvPr id="5" name="4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43DF08CB-A55A-40B1-AEFD-F19B3CFD19B5}" type="datetimeFigureOut">
              <a:rPr lang="es-CO" smtClean="0"/>
              <a:pPr/>
              <a:t>23/11/2021</a:t>
            </a:fld>
            <a:endParaRPr lang="es-CO"/>
          </a:p>
        </p:txBody>
      </p:sp>
      <p:sp>
        <p:nvSpPr>
          <p:cNvPr id="3" name="2 Marcador de pie de página"/>
          <p:cNvSpPr>
            <a:spLocks noGrp="1"/>
          </p:cNvSpPr>
          <p:nvPr>
            <p:ph type="ftr" sz="quarter" idx="11"/>
          </p:nvPr>
        </p:nvSpPr>
        <p:spPr/>
        <p:txBody>
          <a:bodyPr/>
          <a:lstStyle/>
          <a:p>
            <a:endParaRPr lang="es-CO"/>
          </a:p>
        </p:txBody>
      </p:sp>
      <p:sp>
        <p:nvSpPr>
          <p:cNvPr id="4" name="3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609601" y="273050"/>
            <a:ext cx="4011084" cy="1162050"/>
          </a:xfrm>
        </p:spPr>
        <p:txBody>
          <a:bodyPr anchor="b"/>
          <a:lstStyle>
            <a:lvl1pPr algn="l">
              <a:defRPr sz="2000" b="1"/>
            </a:lvl1pPr>
          </a:lstStyle>
          <a:p>
            <a:r>
              <a:rPr lang="es-ES"/>
              <a:t>Haga clic para modificar el estilo de título del patrón</a:t>
            </a:r>
            <a:endParaRPr lang="es-CO"/>
          </a:p>
        </p:txBody>
      </p:sp>
      <p:sp>
        <p:nvSpPr>
          <p:cNvPr id="3" name="2 Marcador de contenido"/>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texto"/>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43DF08CB-A55A-40B1-AEFD-F19B3CFD19B5}" type="datetimeFigureOut">
              <a:rPr lang="es-CO" smtClean="0"/>
              <a:pPr/>
              <a:t>23/11/2021</a:t>
            </a:fld>
            <a:endParaRPr lang="es-CO"/>
          </a:p>
        </p:txBody>
      </p:sp>
      <p:sp>
        <p:nvSpPr>
          <p:cNvPr id="6" name="5 Marcador de pie de página"/>
          <p:cNvSpPr>
            <a:spLocks noGrp="1"/>
          </p:cNvSpPr>
          <p:nvPr>
            <p:ph type="ftr" sz="quarter" idx="11"/>
          </p:nvPr>
        </p:nvSpPr>
        <p:spPr/>
        <p:txBody>
          <a:bodyPr/>
          <a:lstStyle/>
          <a:p>
            <a:endParaRPr lang="es-CO"/>
          </a:p>
        </p:txBody>
      </p:sp>
      <p:sp>
        <p:nvSpPr>
          <p:cNvPr id="7" name="6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2389717" y="4800600"/>
            <a:ext cx="7315200" cy="566738"/>
          </a:xfrm>
        </p:spPr>
        <p:txBody>
          <a:bodyPr anchor="b"/>
          <a:lstStyle>
            <a:lvl1pPr algn="l">
              <a:defRPr sz="2000" b="1"/>
            </a:lvl1pPr>
          </a:lstStyle>
          <a:p>
            <a:r>
              <a:rPr lang="es-ES"/>
              <a:t>Haga clic para modificar el estilo de título del patrón</a:t>
            </a:r>
            <a:endParaRPr lang="es-CO"/>
          </a:p>
        </p:txBody>
      </p:sp>
      <p:sp>
        <p:nvSpPr>
          <p:cNvPr id="3" name="2 Marcador de posición de imagen"/>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3 Marcador de texto"/>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43DF08CB-A55A-40B1-AEFD-F19B3CFD19B5}" type="datetimeFigureOut">
              <a:rPr lang="es-CO" smtClean="0"/>
              <a:pPr/>
              <a:t>23/11/2021</a:t>
            </a:fld>
            <a:endParaRPr lang="es-CO"/>
          </a:p>
        </p:txBody>
      </p:sp>
      <p:sp>
        <p:nvSpPr>
          <p:cNvPr id="6" name="5 Marcador de pie de página"/>
          <p:cNvSpPr>
            <a:spLocks noGrp="1"/>
          </p:cNvSpPr>
          <p:nvPr>
            <p:ph type="ftr" sz="quarter" idx="11"/>
          </p:nvPr>
        </p:nvSpPr>
        <p:spPr/>
        <p:txBody>
          <a:bodyPr/>
          <a:lstStyle/>
          <a:p>
            <a:endParaRPr lang="es-CO"/>
          </a:p>
        </p:txBody>
      </p:sp>
      <p:sp>
        <p:nvSpPr>
          <p:cNvPr id="7" name="6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CO"/>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10"/>
          </p:nvPr>
        </p:nvSpPr>
        <p:spPr/>
        <p:txBody>
          <a:bodyPr/>
          <a:lstStyle/>
          <a:p>
            <a:fld id="{43DF08CB-A55A-40B1-AEFD-F19B3CFD19B5}" type="datetimeFigureOut">
              <a:rPr lang="es-CO" smtClean="0"/>
              <a:pPr/>
              <a:t>23/11/2021</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8839200" y="274639"/>
            <a:ext cx="2743200" cy="5851525"/>
          </a:xfrm>
        </p:spPr>
        <p:txBody>
          <a:bodyPr vert="eaVert"/>
          <a:lstStyle/>
          <a:p>
            <a:r>
              <a:rPr lang="es-ES"/>
              <a:t>Haga clic para modificar el estilo de título del patrón</a:t>
            </a:r>
            <a:endParaRPr lang="es-CO"/>
          </a:p>
        </p:txBody>
      </p:sp>
      <p:sp>
        <p:nvSpPr>
          <p:cNvPr id="3" name="2 Marcador de texto vertical"/>
          <p:cNvSpPr>
            <a:spLocks noGrp="1"/>
          </p:cNvSpPr>
          <p:nvPr>
            <p:ph type="body" orient="vert" idx="1"/>
          </p:nvPr>
        </p:nvSpPr>
        <p:spPr>
          <a:xfrm>
            <a:off x="609600" y="274639"/>
            <a:ext cx="8026400"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10"/>
          </p:nvPr>
        </p:nvSpPr>
        <p:spPr/>
        <p:txBody>
          <a:bodyPr/>
          <a:lstStyle/>
          <a:p>
            <a:fld id="{43DF08CB-A55A-40B1-AEFD-F19B3CFD19B5}" type="datetimeFigureOut">
              <a:rPr lang="es-CO" smtClean="0"/>
              <a:pPr/>
              <a:t>23/11/2021</a:t>
            </a:fld>
            <a:endParaRPr lang="es-CO"/>
          </a:p>
        </p:txBody>
      </p:sp>
      <p:sp>
        <p:nvSpPr>
          <p:cNvPr id="5" name="4 Marcador de pie de página"/>
          <p:cNvSpPr>
            <a:spLocks noGrp="1"/>
          </p:cNvSpPr>
          <p:nvPr>
            <p:ph type="ftr" sz="quarter" idx="11"/>
          </p:nvPr>
        </p:nvSpPr>
        <p:spPr/>
        <p:txBody>
          <a:bodyPr/>
          <a:lstStyle/>
          <a:p>
            <a:endParaRPr lang="es-CO"/>
          </a:p>
        </p:txBody>
      </p:sp>
      <p:sp>
        <p:nvSpPr>
          <p:cNvPr id="6" name="5 Marcador de número de diapositiva"/>
          <p:cNvSpPr>
            <a:spLocks noGrp="1"/>
          </p:cNvSpPr>
          <p:nvPr>
            <p:ph type="sldNum" sz="quarter" idx="12"/>
          </p:nvPr>
        </p:nvSpPr>
        <p:spPr/>
        <p:txBody>
          <a:bodyPr/>
          <a:lstStyle/>
          <a:p>
            <a:fld id="{F079857C-C111-4800-9D0C-003B4AAA4019}" type="slidenum">
              <a:rPr lang="es-CO" smtClean="0"/>
              <a:pPr/>
              <a:t>‹#›</a:t>
            </a:fld>
            <a:endParaRPr lang="es-CO"/>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0F0F0"/>
        </a:solidFill>
        <a:effectLst/>
      </p:bgPr>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2 Marcador de texto"/>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3 Marcador de fecha"/>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DF08CB-A55A-40B1-AEFD-F19B3CFD19B5}" type="datetimeFigureOut">
              <a:rPr lang="es-CO" smtClean="0"/>
              <a:pPr/>
              <a:t>23/11/2021</a:t>
            </a:fld>
            <a:endParaRPr lang="es-CO"/>
          </a:p>
        </p:txBody>
      </p:sp>
      <p:sp>
        <p:nvSpPr>
          <p:cNvPr id="5" name="4 Marcador de pie de página"/>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5 Marcador de número de diapositiva"/>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079857C-C111-4800-9D0C-003B4AAA4019}" type="slidenum">
              <a:rPr lang="es-CO" smtClean="0"/>
              <a:pPr/>
              <a:t>‹#›</a:t>
            </a:fld>
            <a:endParaRPr lang="es-CO"/>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1 Título">
            <a:extLst>
              <a:ext uri="{FF2B5EF4-FFF2-40B4-BE49-F238E27FC236}">
                <a16:creationId xmlns:a16="http://schemas.microsoft.com/office/drawing/2014/main" id="{CF602DD4-6CD6-45A5-8387-11EC9AEA487E}"/>
              </a:ext>
            </a:extLst>
          </p:cNvPr>
          <p:cNvSpPr txBox="1">
            <a:spLocks/>
          </p:cNvSpPr>
          <p:nvPr/>
        </p:nvSpPr>
        <p:spPr>
          <a:xfrm>
            <a:off x="0" y="4191704"/>
            <a:ext cx="12192000" cy="1541552"/>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s-CO" sz="1200" dirty="0">
                <a:latin typeface="Segoe UI Light" panose="020B0502040204020203" pitchFamily="34" charset="0"/>
                <a:cs typeface="Segoe UI Light" panose="020B0502040204020203" pitchFamily="34" charset="0"/>
              </a:rPr>
              <a:t>Herramientas computacionales para el diseño y modelación de cauces</a:t>
            </a:r>
          </a:p>
          <a:p>
            <a:r>
              <a:rPr lang="es-CO" sz="1200" dirty="0">
                <a:latin typeface="Segoe UI Light" panose="020B0502040204020203" pitchFamily="34" charset="0"/>
                <a:cs typeface="Segoe UI Light" panose="020B0502040204020203" pitchFamily="34" charset="0"/>
              </a:rPr>
              <a:t>Planos de ingeniería de detalle</a:t>
            </a:r>
          </a:p>
          <a:p>
            <a:r>
              <a:rPr lang="es-CO" sz="1600" dirty="0">
                <a:latin typeface="Segoe UI Light" panose="020B0502040204020203" pitchFamily="34" charset="0"/>
                <a:cs typeface="Segoe UI Light" panose="020B0502040204020203" pitchFamily="34" charset="0"/>
              </a:rPr>
              <a:t>Cálculo de volúmenes corte y relleno</a:t>
            </a:r>
          </a:p>
        </p:txBody>
      </p:sp>
      <p:pic>
        <p:nvPicPr>
          <p:cNvPr id="3" name="Imagen 2">
            <a:extLst>
              <a:ext uri="{FF2B5EF4-FFF2-40B4-BE49-F238E27FC236}">
                <a16:creationId xmlns:a16="http://schemas.microsoft.com/office/drawing/2014/main" id="{70C1FD41-6B01-4003-8583-7FDA4B45F6A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8" name="1 Título">
            <a:extLst>
              <a:ext uri="{FF2B5EF4-FFF2-40B4-BE49-F238E27FC236}">
                <a16:creationId xmlns:a16="http://schemas.microsoft.com/office/drawing/2014/main" id="{6FC48DCA-5C8A-4E53-A170-D0726ABA5FC3}"/>
              </a:ext>
            </a:extLst>
          </p:cNvPr>
          <p:cNvSpPr txBox="1">
            <a:spLocks/>
          </p:cNvSpPr>
          <p:nvPr/>
        </p:nvSpPr>
        <p:spPr>
          <a:xfrm>
            <a:off x="83840" y="6597352"/>
            <a:ext cx="4572000" cy="18864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800" dirty="0">
                <a:latin typeface="Segoe UI Light" panose="020B0502040204020203" pitchFamily="34" charset="0"/>
                <a:cs typeface="Segoe UI Light" panose="020B0502040204020203" pitchFamily="34" charset="0"/>
              </a:rPr>
              <a:t>Info: baalkara@gmail.com</a:t>
            </a:r>
            <a:endParaRPr lang="es-CO" sz="800" spc="100" dirty="0">
              <a:latin typeface="Segoe UI Light" panose="020B0502040204020203" pitchFamily="34" charset="0"/>
              <a:cs typeface="Segoe UI Light" panose="020B0502040204020203" pitchFamily="34" charset="0"/>
            </a:endParaRPr>
          </a:p>
        </p:txBody>
      </p:sp>
      <p:pic>
        <p:nvPicPr>
          <p:cNvPr id="4" name="Imagen 3">
            <a:extLst>
              <a:ext uri="{FF2B5EF4-FFF2-40B4-BE49-F238E27FC236}">
                <a16:creationId xmlns:a16="http://schemas.microsoft.com/office/drawing/2014/main" id="{C6AECCD6-F872-4095-9966-A198FB754A9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308852" y="2553460"/>
            <a:ext cx="1574295" cy="1751080"/>
          </a:xfrm>
          <a:prstGeom prst="rect">
            <a:avLst/>
          </a:prstGeom>
        </p:spPr>
      </p:pic>
      <p:sp>
        <p:nvSpPr>
          <p:cNvPr id="10" name="1 Título">
            <a:extLst>
              <a:ext uri="{FF2B5EF4-FFF2-40B4-BE49-F238E27FC236}">
                <a16:creationId xmlns:a16="http://schemas.microsoft.com/office/drawing/2014/main" id="{B7C3D92F-5A34-4F9D-BF16-32848BE75534}"/>
              </a:ext>
            </a:extLst>
          </p:cNvPr>
          <p:cNvSpPr txBox="1">
            <a:spLocks/>
          </p:cNvSpPr>
          <p:nvPr/>
        </p:nvSpPr>
        <p:spPr>
          <a:xfrm>
            <a:off x="7620002" y="6669360"/>
            <a:ext cx="4572000" cy="188640"/>
          </a:xfrm>
          <a:prstGeom prst="rect">
            <a:avLst/>
          </a:prstGeom>
        </p:spPr>
        <p:txBody>
          <a:bodyPr vert="horz" wrap="square"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r"/>
            <a:r>
              <a:rPr lang="es-ES" sz="800" dirty="0">
                <a:solidFill>
                  <a:schemeClr val="bg1">
                    <a:lumMod val="65000"/>
                  </a:schemeClr>
                </a:solidFill>
                <a:latin typeface="Segoe UI Light" panose="020B0502040204020203" pitchFamily="34" charset="0"/>
                <a:cs typeface="Segoe UI Light" panose="020B0502040204020203" pitchFamily="34" charset="0"/>
              </a:rPr>
              <a:t>v.20200505</a:t>
            </a:r>
            <a:endParaRPr lang="es-CO" sz="800" spc="100" dirty="0">
              <a:solidFill>
                <a:schemeClr val="bg1">
                  <a:lumMod val="65000"/>
                </a:schemeClr>
              </a:solidFill>
              <a:latin typeface="Segoe UI Light" panose="020B0502040204020203" pitchFamily="34" charset="0"/>
              <a:cs typeface="Segoe UI Light" panose="020B0502040204020203"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2981654" y="2582614"/>
            <a:ext cx="6228692" cy="1692771"/>
          </a:xfrm>
          <a:prstGeom prst="rect">
            <a:avLst/>
          </a:prstGeom>
          <a:noFill/>
        </p:spPr>
        <p:txBody>
          <a:bodyPr wrap="square" rtlCol="0">
            <a:spAutoFit/>
          </a:bodyPr>
          <a:lstStyle/>
          <a:p>
            <a:pPr algn="just"/>
            <a:r>
              <a:rPr lang="es-ES" dirty="0">
                <a:latin typeface="Segoe UI Light" panose="020B0502040204020203" pitchFamily="34" charset="0"/>
                <a:cs typeface="Segoe UI Light" panose="020B0502040204020203" pitchFamily="34" charset="0"/>
              </a:rPr>
              <a:t>Objetivo</a:t>
            </a:r>
          </a:p>
          <a:p>
            <a:pPr algn="just"/>
            <a:r>
              <a:rPr lang="es-ES" dirty="0">
                <a:latin typeface="Segoe UI Light" panose="020B0502040204020203" pitchFamily="34" charset="0"/>
                <a:cs typeface="Segoe UI Light" panose="020B0502040204020203" pitchFamily="34" charset="0"/>
              </a:rPr>
              <a:t> </a:t>
            </a:r>
          </a:p>
          <a:p>
            <a:pPr algn="just"/>
            <a:r>
              <a:rPr lang="es-ES" sz="1600" dirty="0">
                <a:latin typeface="Segoe UI Light" panose="020B0502040204020203" pitchFamily="34" charset="0"/>
                <a:cs typeface="Segoe UI Light" panose="020B0502040204020203" pitchFamily="34" charset="0"/>
              </a:rPr>
              <a:t>A partir de los modelos de terreno para la planicie y para el canal combinado, determinar los volúmenes de corte y relleno para el canal. </a:t>
            </a:r>
          </a:p>
          <a:p>
            <a:pPr algn="just"/>
            <a:endParaRPr lang="es-ES" sz="1600" dirty="0">
              <a:latin typeface="Segoe UI Light" panose="020B0502040204020203" pitchFamily="34" charset="0"/>
              <a:cs typeface="Segoe UI Light" panose="020B0502040204020203" pitchFamily="34" charset="0"/>
            </a:endParaRPr>
          </a:p>
          <a:p>
            <a:pPr algn="just"/>
            <a:r>
              <a:rPr lang="es-ES" sz="1600" dirty="0">
                <a:latin typeface="Segoe UI Light" panose="020B0502040204020203" pitchFamily="34" charset="0"/>
                <a:cs typeface="Segoe UI Light" panose="020B0502040204020203" pitchFamily="34" charset="0"/>
              </a:rPr>
              <a:t>Generar las tablas de volúmenes.</a:t>
            </a:r>
            <a:endParaRPr lang="es-CO" sz="1400" dirty="0">
              <a:latin typeface="Segoe UI Light" panose="020B0502040204020203" pitchFamily="34" charset="0"/>
              <a:cs typeface="Segoe UI Light" panose="020B0502040204020203" pitchFamily="34" charset="0"/>
            </a:endParaRPr>
          </a:p>
        </p:txBody>
      </p:sp>
      <p:pic>
        <p:nvPicPr>
          <p:cNvPr id="4" name="Imagen 3">
            <a:extLst>
              <a:ext uri="{FF2B5EF4-FFF2-40B4-BE49-F238E27FC236}">
                <a16:creationId xmlns:a16="http://schemas.microsoft.com/office/drawing/2014/main" id="{8218390F-188B-465D-9C15-DCF7AE7BF49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18053278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7 CuadroTexto"/>
          <p:cNvSpPr txBox="1"/>
          <p:nvPr/>
        </p:nvSpPr>
        <p:spPr>
          <a:xfrm>
            <a:off x="3845750" y="2721114"/>
            <a:ext cx="4500500" cy="1415772"/>
          </a:xfrm>
          <a:prstGeom prst="rect">
            <a:avLst/>
          </a:prstGeom>
          <a:noFill/>
        </p:spPr>
        <p:txBody>
          <a:bodyPr wrap="square" rtlCol="0">
            <a:spAutoFit/>
          </a:bodyPr>
          <a:lstStyle/>
          <a:p>
            <a:pPr algn="just"/>
            <a:r>
              <a:rPr lang="es-ES" dirty="0">
                <a:latin typeface="Segoe UI Light" panose="020B0502040204020203" pitchFamily="34" charset="0"/>
                <a:cs typeface="Segoe UI Light" panose="020B0502040204020203" pitchFamily="34" charset="0"/>
              </a:rPr>
              <a:t>Herramientas computacionales requeridas</a:t>
            </a:r>
          </a:p>
          <a:p>
            <a:pPr algn="just"/>
            <a:endParaRPr lang="es-ES" dirty="0">
              <a:latin typeface="Segoe UI Light" panose="020B0502040204020203" pitchFamily="34" charset="0"/>
              <a:cs typeface="Segoe UI Light" panose="020B0502040204020203" pitchFamily="34" charset="0"/>
            </a:endParaRPr>
          </a:p>
          <a:p>
            <a:pPr algn="just"/>
            <a:r>
              <a:rPr lang="es-ES" sz="1600" dirty="0">
                <a:latin typeface="Segoe UI Light" panose="020B0502040204020203" pitchFamily="34" charset="0"/>
                <a:cs typeface="Segoe UI Light" panose="020B0502040204020203" pitchFamily="34" charset="0"/>
              </a:rPr>
              <a:t>Autodesk </a:t>
            </a:r>
            <a:r>
              <a:rPr lang="es-ES" sz="1600" dirty="0" err="1">
                <a:latin typeface="Segoe UI Light" panose="020B0502040204020203" pitchFamily="34" charset="0"/>
                <a:cs typeface="Segoe UI Light" panose="020B0502040204020203" pitchFamily="34" charset="0"/>
              </a:rPr>
              <a:t>Autocad</a:t>
            </a:r>
            <a:r>
              <a:rPr lang="es-ES" sz="1600" dirty="0">
                <a:latin typeface="Segoe UI Light" panose="020B0502040204020203" pitchFamily="34" charset="0"/>
                <a:cs typeface="Segoe UI Light" panose="020B0502040204020203" pitchFamily="34" charset="0"/>
              </a:rPr>
              <a:t> ® 2007.</a:t>
            </a:r>
          </a:p>
          <a:p>
            <a:pPr algn="just"/>
            <a:endParaRPr lang="es-ES" sz="1600" dirty="0">
              <a:latin typeface="Segoe UI Light" panose="020B0502040204020203" pitchFamily="34" charset="0"/>
              <a:cs typeface="Segoe UI Light" panose="020B0502040204020203" pitchFamily="34" charset="0"/>
            </a:endParaRPr>
          </a:p>
          <a:p>
            <a:pPr algn="just"/>
            <a:r>
              <a:rPr lang="es-ES" sz="1600" dirty="0">
                <a:latin typeface="Segoe UI Light" panose="020B0502040204020203" pitchFamily="34" charset="0"/>
                <a:cs typeface="Segoe UI Light" panose="020B0502040204020203" pitchFamily="34" charset="0"/>
              </a:rPr>
              <a:t>Autodesk Civil ®3D.</a:t>
            </a:r>
          </a:p>
        </p:txBody>
      </p:sp>
      <p:pic>
        <p:nvPicPr>
          <p:cNvPr id="4" name="Imagen 3">
            <a:extLst>
              <a:ext uri="{FF2B5EF4-FFF2-40B4-BE49-F238E27FC236}">
                <a16:creationId xmlns:a16="http://schemas.microsoft.com/office/drawing/2014/main" id="{8218390F-188B-465D-9C15-DCF7AE7BF49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27060885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Imagen 11">
            <a:extLst>
              <a:ext uri="{FF2B5EF4-FFF2-40B4-BE49-F238E27FC236}">
                <a16:creationId xmlns:a16="http://schemas.microsoft.com/office/drawing/2014/main" id="{BEB4CAB2-8D21-4E2F-BBEF-ABE05EC38D78}"/>
              </a:ext>
            </a:extLst>
          </p:cNvPr>
          <p:cNvPicPr>
            <a:picLocks noChangeAspect="1"/>
          </p:cNvPicPr>
          <p:nvPr/>
        </p:nvPicPr>
        <p:blipFill rotWithShape="1">
          <a:blip r:embed="rId2"/>
          <a:srcRect l="31887" t="29313" r="20863" b="16350"/>
          <a:stretch/>
        </p:blipFill>
        <p:spPr>
          <a:xfrm>
            <a:off x="1523492" y="2917612"/>
            <a:ext cx="4320480" cy="2647949"/>
          </a:xfrm>
          <a:prstGeom prst="rect">
            <a:avLst/>
          </a:prstGeom>
        </p:spPr>
      </p:pic>
      <p:pic>
        <p:nvPicPr>
          <p:cNvPr id="4" name="Imagen 3">
            <a:extLst>
              <a:ext uri="{FF2B5EF4-FFF2-40B4-BE49-F238E27FC236}">
                <a16:creationId xmlns:a16="http://schemas.microsoft.com/office/drawing/2014/main" id="{8218390F-188B-465D-9C15-DCF7AE7BF49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5" name="7 CuadroTexto">
            <a:extLst>
              <a:ext uri="{FF2B5EF4-FFF2-40B4-BE49-F238E27FC236}">
                <a16:creationId xmlns:a16="http://schemas.microsoft.com/office/drawing/2014/main" id="{122D828A-57BB-459C-B5E0-7C65294E99D0}"/>
              </a:ext>
            </a:extLst>
          </p:cNvPr>
          <p:cNvSpPr txBox="1"/>
          <p:nvPr/>
        </p:nvSpPr>
        <p:spPr>
          <a:xfrm>
            <a:off x="1451484" y="1484784"/>
            <a:ext cx="4392488" cy="1323439"/>
          </a:xfrm>
          <a:prstGeom prst="rect">
            <a:avLst/>
          </a:prstGeom>
          <a:noFill/>
        </p:spPr>
        <p:txBody>
          <a:bodyPr wrap="square" rtlCol="0">
            <a:spAutoFit/>
          </a:bodyPr>
          <a:lstStyle/>
          <a:p>
            <a:pPr algn="just"/>
            <a:r>
              <a:rPr lang="es-CO" sz="1600" dirty="0">
                <a:latin typeface="Segoe UI Light" panose="020B0502040204020203" pitchFamily="34" charset="0"/>
                <a:cs typeface="Segoe UI Light" panose="020B0502040204020203" pitchFamily="34" charset="0"/>
              </a:rPr>
              <a:t>1. Partiendo del archivo en el cual se generó el MDT para la planicie importar los elementos 3D que componen el canal y que fueron generados al momento de trazar los respectivos corredores para el valle y cauce sinuoso.</a:t>
            </a:r>
          </a:p>
        </p:txBody>
      </p:sp>
      <p:sp>
        <p:nvSpPr>
          <p:cNvPr id="6" name="7 CuadroTexto">
            <a:extLst>
              <a:ext uri="{FF2B5EF4-FFF2-40B4-BE49-F238E27FC236}">
                <a16:creationId xmlns:a16="http://schemas.microsoft.com/office/drawing/2014/main" id="{1EEAA7C1-0804-4A3F-B61C-FB721D01FE87}"/>
              </a:ext>
            </a:extLst>
          </p:cNvPr>
          <p:cNvSpPr txBox="1"/>
          <p:nvPr/>
        </p:nvSpPr>
        <p:spPr>
          <a:xfrm>
            <a:off x="6681572" y="1565097"/>
            <a:ext cx="4140967" cy="584775"/>
          </a:xfrm>
          <a:prstGeom prst="rect">
            <a:avLst/>
          </a:prstGeom>
          <a:noFill/>
        </p:spPr>
        <p:txBody>
          <a:bodyPr wrap="square" rtlCol="0">
            <a:spAutoFit/>
          </a:bodyPr>
          <a:lstStyle/>
          <a:p>
            <a:pPr algn="just"/>
            <a:r>
              <a:rPr lang="es-CO" sz="1600" dirty="0">
                <a:latin typeface="Segoe UI Light" panose="020B0502040204020203" pitchFamily="34" charset="0"/>
                <a:cs typeface="Segoe UI Light" panose="020B0502040204020203" pitchFamily="34" charset="0"/>
              </a:rPr>
              <a:t>2. Añadir todas las líneas definidas para el canal, y generar la superficie.</a:t>
            </a:r>
          </a:p>
        </p:txBody>
      </p:sp>
      <p:sp>
        <p:nvSpPr>
          <p:cNvPr id="7" name="7 CuadroTexto">
            <a:extLst>
              <a:ext uri="{FF2B5EF4-FFF2-40B4-BE49-F238E27FC236}">
                <a16:creationId xmlns:a16="http://schemas.microsoft.com/office/drawing/2014/main" id="{530BCBBC-AC73-4056-9988-26FD88CAD11B}"/>
              </a:ext>
            </a:extLst>
          </p:cNvPr>
          <p:cNvSpPr txBox="1"/>
          <p:nvPr/>
        </p:nvSpPr>
        <p:spPr>
          <a:xfrm>
            <a:off x="6681572" y="3645024"/>
            <a:ext cx="4248472" cy="1323439"/>
          </a:xfrm>
          <a:prstGeom prst="rect">
            <a:avLst/>
          </a:prstGeom>
          <a:noFill/>
        </p:spPr>
        <p:txBody>
          <a:bodyPr wrap="square" rtlCol="0">
            <a:spAutoFit/>
          </a:bodyPr>
          <a:lstStyle/>
          <a:p>
            <a:pPr algn="just"/>
            <a:r>
              <a:rPr lang="es-CO" sz="1600" dirty="0">
                <a:latin typeface="Segoe UI Light" panose="020B0502040204020203" pitchFamily="34" charset="0"/>
                <a:cs typeface="Segoe UI Light" panose="020B0502040204020203" pitchFamily="34" charset="0"/>
              </a:rPr>
              <a:t>3. Es recomendable editar la superficie para quitar todas las líneas de interpolación que está fuera del borde definido para el canal, con el fin de no tener encuentra en el calculo de volúmenes estas líneas.</a:t>
            </a:r>
          </a:p>
        </p:txBody>
      </p:sp>
      <p:pic>
        <p:nvPicPr>
          <p:cNvPr id="9" name="Imagen 8">
            <a:extLst>
              <a:ext uri="{FF2B5EF4-FFF2-40B4-BE49-F238E27FC236}">
                <a16:creationId xmlns:a16="http://schemas.microsoft.com/office/drawing/2014/main" id="{2589AD4B-925A-4849-A85D-EA8309BFB590}"/>
              </a:ext>
            </a:extLst>
          </p:cNvPr>
          <p:cNvPicPr>
            <a:picLocks noChangeAspect="1"/>
          </p:cNvPicPr>
          <p:nvPr/>
        </p:nvPicPr>
        <p:blipFill>
          <a:blip r:embed="rId4"/>
          <a:stretch>
            <a:fillRect/>
          </a:stretch>
        </p:blipFill>
        <p:spPr>
          <a:xfrm>
            <a:off x="2672600" y="4308026"/>
            <a:ext cx="2831373" cy="2145310"/>
          </a:xfrm>
          <a:prstGeom prst="rect">
            <a:avLst/>
          </a:prstGeom>
        </p:spPr>
      </p:pic>
      <p:pic>
        <p:nvPicPr>
          <p:cNvPr id="10" name="Imagen 9">
            <a:extLst>
              <a:ext uri="{FF2B5EF4-FFF2-40B4-BE49-F238E27FC236}">
                <a16:creationId xmlns:a16="http://schemas.microsoft.com/office/drawing/2014/main" id="{54D83D34-8C71-458E-BC06-77AB04C48F2D}"/>
              </a:ext>
            </a:extLst>
          </p:cNvPr>
          <p:cNvPicPr>
            <a:picLocks noChangeAspect="1"/>
          </p:cNvPicPr>
          <p:nvPr/>
        </p:nvPicPr>
        <p:blipFill rotWithShape="1">
          <a:blip r:embed="rId5"/>
          <a:srcRect l="18500" t="33192" r="15350" b="31419"/>
          <a:stretch/>
        </p:blipFill>
        <p:spPr>
          <a:xfrm>
            <a:off x="6681572" y="2286987"/>
            <a:ext cx="4248472" cy="1277887"/>
          </a:xfrm>
          <a:prstGeom prst="rect">
            <a:avLst/>
          </a:prstGeom>
        </p:spPr>
      </p:pic>
      <p:pic>
        <p:nvPicPr>
          <p:cNvPr id="11" name="Imagen 10">
            <a:extLst>
              <a:ext uri="{FF2B5EF4-FFF2-40B4-BE49-F238E27FC236}">
                <a16:creationId xmlns:a16="http://schemas.microsoft.com/office/drawing/2014/main" id="{BDE1D1CD-4314-4408-9FB5-13065F24F66D}"/>
              </a:ext>
            </a:extLst>
          </p:cNvPr>
          <p:cNvPicPr>
            <a:picLocks noChangeAspect="1"/>
          </p:cNvPicPr>
          <p:nvPr/>
        </p:nvPicPr>
        <p:blipFill rotWithShape="1">
          <a:blip r:embed="rId6"/>
          <a:srcRect l="8264" t="41096" r="7475" b="24103"/>
          <a:stretch/>
        </p:blipFill>
        <p:spPr>
          <a:xfrm>
            <a:off x="6688028" y="5119270"/>
            <a:ext cx="4425055" cy="974026"/>
          </a:xfrm>
          <a:prstGeom prst="rect">
            <a:avLst/>
          </a:prstGeom>
        </p:spPr>
      </p:pic>
      <p:sp>
        <p:nvSpPr>
          <p:cNvPr id="2" name="CuadroTexto 1">
            <a:extLst>
              <a:ext uri="{FF2B5EF4-FFF2-40B4-BE49-F238E27FC236}">
                <a16:creationId xmlns:a16="http://schemas.microsoft.com/office/drawing/2014/main" id="{91EAA2DE-5EF0-49AF-9699-CAD757064F30}"/>
              </a:ext>
            </a:extLst>
          </p:cNvPr>
          <p:cNvSpPr txBox="1"/>
          <p:nvPr/>
        </p:nvSpPr>
        <p:spPr>
          <a:xfrm>
            <a:off x="0" y="714182"/>
            <a:ext cx="12192000" cy="369332"/>
          </a:xfrm>
          <a:prstGeom prst="rect">
            <a:avLst/>
          </a:prstGeom>
          <a:noFill/>
        </p:spPr>
        <p:txBody>
          <a:bodyPr wrap="square" rtlCol="0">
            <a:spAutoFit/>
          </a:bodyPr>
          <a:lstStyle/>
          <a:p>
            <a:pPr algn="ctr"/>
            <a:r>
              <a:rPr lang="es-CO" dirty="0">
                <a:latin typeface="Segoe UI Light" panose="020B0502040204020203" pitchFamily="34" charset="0"/>
                <a:cs typeface="Segoe UI Light" panose="020B0502040204020203" pitchFamily="34" charset="0"/>
              </a:rPr>
              <a:t>Actividad 1: Generar el modelo de terreno del canal combinado (valle y cauce sinuoso)</a:t>
            </a:r>
          </a:p>
        </p:txBody>
      </p:sp>
    </p:spTree>
    <p:extLst>
      <p:ext uri="{BB962C8B-B14F-4D97-AF65-F5344CB8AC3E}">
        <p14:creationId xmlns:p14="http://schemas.microsoft.com/office/powerpoint/2010/main" val="13135742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8218390F-188B-465D-9C15-DCF7AE7BF49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5" name="7 CuadroTexto">
            <a:extLst>
              <a:ext uri="{FF2B5EF4-FFF2-40B4-BE49-F238E27FC236}">
                <a16:creationId xmlns:a16="http://schemas.microsoft.com/office/drawing/2014/main" id="{BA49036B-F830-4C78-A3EC-6C5DEC38E956}"/>
              </a:ext>
            </a:extLst>
          </p:cNvPr>
          <p:cNvSpPr txBox="1"/>
          <p:nvPr/>
        </p:nvSpPr>
        <p:spPr>
          <a:xfrm>
            <a:off x="1213532" y="1340768"/>
            <a:ext cx="4666444" cy="1569660"/>
          </a:xfrm>
          <a:prstGeom prst="rect">
            <a:avLst/>
          </a:prstGeom>
          <a:noFill/>
        </p:spPr>
        <p:txBody>
          <a:bodyPr wrap="square" rtlCol="0">
            <a:spAutoFit/>
          </a:bodyPr>
          <a:lstStyle/>
          <a:p>
            <a:pPr algn="just"/>
            <a:r>
              <a:rPr lang="es-CO" sz="1600" dirty="0">
                <a:latin typeface="Segoe UI Light" panose="020B0502040204020203" pitchFamily="34" charset="0"/>
                <a:cs typeface="Segoe UI Light" panose="020B0502040204020203" pitchFamily="34" charset="0"/>
              </a:rPr>
              <a:t>1. Para definirá las sección transversal se parte de las líneas utilizadas para la elaboración del Modelo en HEC-RAS.  El cálculo del volumen será más preciso si se definen secciones transversales en un delta en x pequeño, sin embargo, demasiadas secciones hacen que el programa se torne lento.</a:t>
            </a:r>
          </a:p>
        </p:txBody>
      </p:sp>
      <p:sp>
        <p:nvSpPr>
          <p:cNvPr id="6" name="7 CuadroTexto">
            <a:extLst>
              <a:ext uri="{FF2B5EF4-FFF2-40B4-BE49-F238E27FC236}">
                <a16:creationId xmlns:a16="http://schemas.microsoft.com/office/drawing/2014/main" id="{4F215BC5-E1F5-4EA0-B6AB-86AE2D25F272}"/>
              </a:ext>
            </a:extLst>
          </p:cNvPr>
          <p:cNvSpPr txBox="1"/>
          <p:nvPr/>
        </p:nvSpPr>
        <p:spPr>
          <a:xfrm>
            <a:off x="6846485" y="1268760"/>
            <a:ext cx="3858027" cy="830997"/>
          </a:xfrm>
          <a:prstGeom prst="rect">
            <a:avLst/>
          </a:prstGeom>
          <a:noFill/>
        </p:spPr>
        <p:txBody>
          <a:bodyPr wrap="square" rtlCol="0">
            <a:spAutoFit/>
          </a:bodyPr>
          <a:lstStyle/>
          <a:p>
            <a:pPr algn="just"/>
            <a:r>
              <a:rPr lang="es-CO" sz="1600" dirty="0">
                <a:latin typeface="Segoe UI Light" panose="020B0502040204020203" pitchFamily="34" charset="0"/>
                <a:cs typeface="Segoe UI Light" panose="020B0502040204020203" pitchFamily="34" charset="0"/>
              </a:rPr>
              <a:t>2. Generar líneas de muestreo “</a:t>
            </a:r>
            <a:r>
              <a:rPr lang="es-CO" sz="1600" dirty="0" err="1">
                <a:latin typeface="Segoe UI Light" panose="020B0502040204020203" pitchFamily="34" charset="0"/>
                <a:cs typeface="Segoe UI Light" panose="020B0502040204020203" pitchFamily="34" charset="0"/>
              </a:rPr>
              <a:t>sample</a:t>
            </a:r>
            <a:r>
              <a:rPr lang="es-CO" sz="1600" dirty="0">
                <a:latin typeface="Segoe UI Light" panose="020B0502040204020203" pitchFamily="34" charset="0"/>
                <a:cs typeface="Segoe UI Light" panose="020B0502040204020203" pitchFamily="34" charset="0"/>
              </a:rPr>
              <a:t> </a:t>
            </a:r>
            <a:r>
              <a:rPr lang="es-CO" sz="1600" dirty="0" err="1">
                <a:latin typeface="Segoe UI Light" panose="020B0502040204020203" pitchFamily="34" charset="0"/>
                <a:cs typeface="Segoe UI Light" panose="020B0502040204020203" pitchFamily="34" charset="0"/>
              </a:rPr>
              <a:t>lines</a:t>
            </a:r>
            <a:r>
              <a:rPr lang="es-CO" sz="1600" dirty="0">
                <a:latin typeface="Segoe UI Light" panose="020B0502040204020203" pitchFamily="34" charset="0"/>
                <a:cs typeface="Segoe UI Light" panose="020B0502040204020203" pitchFamily="34" charset="0"/>
              </a:rPr>
              <a:t>” utilizando como referencia el eje del cauce sinuoso.</a:t>
            </a:r>
          </a:p>
        </p:txBody>
      </p:sp>
      <p:sp>
        <p:nvSpPr>
          <p:cNvPr id="7" name="7 CuadroTexto">
            <a:extLst>
              <a:ext uri="{FF2B5EF4-FFF2-40B4-BE49-F238E27FC236}">
                <a16:creationId xmlns:a16="http://schemas.microsoft.com/office/drawing/2014/main" id="{E0E6EDF2-64DB-40F4-B760-A6B4A6FEDB42}"/>
              </a:ext>
            </a:extLst>
          </p:cNvPr>
          <p:cNvSpPr txBox="1"/>
          <p:nvPr/>
        </p:nvSpPr>
        <p:spPr>
          <a:xfrm>
            <a:off x="6744072" y="4013302"/>
            <a:ext cx="3858027" cy="1077218"/>
          </a:xfrm>
          <a:prstGeom prst="rect">
            <a:avLst/>
          </a:prstGeom>
          <a:noFill/>
        </p:spPr>
        <p:txBody>
          <a:bodyPr wrap="square" rtlCol="0">
            <a:spAutoFit/>
          </a:bodyPr>
          <a:lstStyle/>
          <a:p>
            <a:r>
              <a:rPr lang="es-CO" sz="1600" dirty="0">
                <a:latin typeface="Segoe UI Light" panose="020B0502040204020203" pitchFamily="34" charset="0"/>
                <a:cs typeface="Segoe UI Light" panose="020B0502040204020203" pitchFamily="34" charset="0"/>
              </a:rPr>
              <a:t>3. Generar vista de secciones transversales, no es necesario generar todas la secciones, basta con una para poder visualizar los cortes y rellenos.</a:t>
            </a:r>
          </a:p>
        </p:txBody>
      </p:sp>
      <p:pic>
        <p:nvPicPr>
          <p:cNvPr id="9" name="Imagen 8">
            <a:extLst>
              <a:ext uri="{FF2B5EF4-FFF2-40B4-BE49-F238E27FC236}">
                <a16:creationId xmlns:a16="http://schemas.microsoft.com/office/drawing/2014/main" id="{2D3F9C06-5C6D-4F4B-8A47-79D6F570AAE0}"/>
              </a:ext>
            </a:extLst>
          </p:cNvPr>
          <p:cNvPicPr>
            <a:picLocks noChangeAspect="1"/>
          </p:cNvPicPr>
          <p:nvPr/>
        </p:nvPicPr>
        <p:blipFill rotWithShape="1">
          <a:blip r:embed="rId3"/>
          <a:srcRect l="13679" t="25828" r="28834" b="26962"/>
          <a:stretch/>
        </p:blipFill>
        <p:spPr>
          <a:xfrm>
            <a:off x="1199456" y="2996952"/>
            <a:ext cx="4522428" cy="2088079"/>
          </a:xfrm>
          <a:prstGeom prst="rect">
            <a:avLst/>
          </a:prstGeom>
        </p:spPr>
      </p:pic>
      <p:pic>
        <p:nvPicPr>
          <p:cNvPr id="10" name="Imagen 9">
            <a:extLst>
              <a:ext uri="{FF2B5EF4-FFF2-40B4-BE49-F238E27FC236}">
                <a16:creationId xmlns:a16="http://schemas.microsoft.com/office/drawing/2014/main" id="{0680A606-7ACC-49CC-91D4-D9BE6AB512FC}"/>
              </a:ext>
            </a:extLst>
          </p:cNvPr>
          <p:cNvPicPr>
            <a:picLocks noChangeAspect="1"/>
          </p:cNvPicPr>
          <p:nvPr/>
        </p:nvPicPr>
        <p:blipFill rotWithShape="1">
          <a:blip r:embed="rId4"/>
          <a:srcRect l="12201" t="30353" r="14563" b="21925"/>
          <a:stretch/>
        </p:blipFill>
        <p:spPr>
          <a:xfrm>
            <a:off x="6727667" y="5119273"/>
            <a:ext cx="4048853" cy="1406071"/>
          </a:xfrm>
          <a:prstGeom prst="rect">
            <a:avLst/>
          </a:prstGeom>
        </p:spPr>
      </p:pic>
      <p:pic>
        <p:nvPicPr>
          <p:cNvPr id="11" name="Imagen 10">
            <a:extLst>
              <a:ext uri="{FF2B5EF4-FFF2-40B4-BE49-F238E27FC236}">
                <a16:creationId xmlns:a16="http://schemas.microsoft.com/office/drawing/2014/main" id="{1C99768C-6D88-439D-997D-2607FB1FC931}"/>
              </a:ext>
            </a:extLst>
          </p:cNvPr>
          <p:cNvPicPr>
            <a:picLocks noChangeAspect="1"/>
          </p:cNvPicPr>
          <p:nvPr/>
        </p:nvPicPr>
        <p:blipFill rotWithShape="1">
          <a:blip r:embed="rId5"/>
          <a:srcRect l="5900" t="26189" r="16138" b="16384"/>
          <a:stretch/>
        </p:blipFill>
        <p:spPr>
          <a:xfrm>
            <a:off x="6777443" y="2098643"/>
            <a:ext cx="3999077" cy="1656184"/>
          </a:xfrm>
          <a:prstGeom prst="rect">
            <a:avLst/>
          </a:prstGeom>
        </p:spPr>
      </p:pic>
      <p:sp>
        <p:nvSpPr>
          <p:cNvPr id="12" name="CuadroTexto 11">
            <a:extLst>
              <a:ext uri="{FF2B5EF4-FFF2-40B4-BE49-F238E27FC236}">
                <a16:creationId xmlns:a16="http://schemas.microsoft.com/office/drawing/2014/main" id="{B84FB1CA-36F0-4CEA-AD7C-FD3AE580D76A}"/>
              </a:ext>
            </a:extLst>
          </p:cNvPr>
          <p:cNvSpPr txBox="1"/>
          <p:nvPr/>
        </p:nvSpPr>
        <p:spPr>
          <a:xfrm>
            <a:off x="0" y="714182"/>
            <a:ext cx="12192000" cy="369332"/>
          </a:xfrm>
          <a:prstGeom prst="rect">
            <a:avLst/>
          </a:prstGeom>
          <a:noFill/>
        </p:spPr>
        <p:txBody>
          <a:bodyPr wrap="square" rtlCol="0">
            <a:spAutoFit/>
          </a:bodyPr>
          <a:lstStyle/>
          <a:p>
            <a:pPr algn="ctr"/>
            <a:r>
              <a:rPr lang="es-ES" dirty="0">
                <a:latin typeface="Segoe UI Light" panose="020B0502040204020203" pitchFamily="34" charset="0"/>
                <a:cs typeface="Segoe UI Light" panose="020B0502040204020203" pitchFamily="34" charset="0"/>
              </a:rPr>
              <a:t>Actividad 2: Líneas de secciones transversales</a:t>
            </a:r>
          </a:p>
        </p:txBody>
      </p:sp>
    </p:spTree>
    <p:extLst>
      <p:ext uri="{BB962C8B-B14F-4D97-AF65-F5344CB8AC3E}">
        <p14:creationId xmlns:p14="http://schemas.microsoft.com/office/powerpoint/2010/main" val="10614785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72F957C6-A7F6-481B-B3CB-A9B220B968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4" name="7 CuadroTexto">
            <a:extLst>
              <a:ext uri="{FF2B5EF4-FFF2-40B4-BE49-F238E27FC236}">
                <a16:creationId xmlns:a16="http://schemas.microsoft.com/office/drawing/2014/main" id="{645A23EA-370D-4F8B-8738-0BED3F337A4F}"/>
              </a:ext>
            </a:extLst>
          </p:cNvPr>
          <p:cNvSpPr txBox="1"/>
          <p:nvPr/>
        </p:nvSpPr>
        <p:spPr>
          <a:xfrm>
            <a:off x="6732563" y="1052736"/>
            <a:ext cx="3971949" cy="1077218"/>
          </a:xfrm>
          <a:prstGeom prst="rect">
            <a:avLst/>
          </a:prstGeom>
          <a:noFill/>
        </p:spPr>
        <p:txBody>
          <a:bodyPr wrap="square" rtlCol="0">
            <a:spAutoFit/>
          </a:bodyPr>
          <a:lstStyle/>
          <a:p>
            <a:pPr algn="just"/>
            <a:r>
              <a:rPr lang="es-CO" sz="1600" dirty="0">
                <a:latin typeface="Segoe UI Light" panose="020B0502040204020203" pitchFamily="34" charset="0"/>
                <a:cs typeface="Segoe UI Light" panose="020B0502040204020203" pitchFamily="34" charset="0"/>
              </a:rPr>
              <a:t>2. Definir los materiales para el relleno y el corte, teniendo en cuenta las superficies base y su localización arriba y abajo para el corte y el relleno.</a:t>
            </a:r>
          </a:p>
        </p:txBody>
      </p:sp>
      <p:sp>
        <p:nvSpPr>
          <p:cNvPr id="6" name="7 CuadroTexto">
            <a:extLst>
              <a:ext uri="{FF2B5EF4-FFF2-40B4-BE49-F238E27FC236}">
                <a16:creationId xmlns:a16="http://schemas.microsoft.com/office/drawing/2014/main" id="{77E55295-5351-4C97-A01E-233A0B98D629}"/>
              </a:ext>
            </a:extLst>
          </p:cNvPr>
          <p:cNvSpPr txBox="1"/>
          <p:nvPr/>
        </p:nvSpPr>
        <p:spPr>
          <a:xfrm>
            <a:off x="6692961" y="5229200"/>
            <a:ext cx="4011551" cy="1569660"/>
          </a:xfrm>
          <a:prstGeom prst="rect">
            <a:avLst/>
          </a:prstGeom>
          <a:noFill/>
        </p:spPr>
        <p:txBody>
          <a:bodyPr wrap="square" rtlCol="0">
            <a:spAutoFit/>
          </a:bodyPr>
          <a:lstStyle/>
          <a:p>
            <a:pPr algn="just"/>
            <a:r>
              <a:rPr lang="es-CO" sz="1600" dirty="0">
                <a:latin typeface="Segoe UI Light" panose="020B0502040204020203" pitchFamily="34" charset="0"/>
                <a:cs typeface="Segoe UI Light" panose="020B0502040204020203" pitchFamily="34" charset="0"/>
              </a:rPr>
              <a:t>Arriba y Abajo se refiere a la posición del material, de relleno o corte, con respecto a la superficie. Por ejemplo, en una situación de corte, el material de corte estará encima del canal (</a:t>
            </a:r>
            <a:r>
              <a:rPr lang="es-CO" sz="1600" dirty="0" err="1">
                <a:latin typeface="Segoe UI Light" panose="020B0502040204020203" pitchFamily="34" charset="0"/>
                <a:cs typeface="Segoe UI Light" panose="020B0502040204020203" pitchFamily="34" charset="0"/>
              </a:rPr>
              <a:t>above</a:t>
            </a:r>
            <a:r>
              <a:rPr lang="es-CO" sz="1600" dirty="0">
                <a:latin typeface="Segoe UI Light" panose="020B0502040204020203" pitchFamily="34" charset="0"/>
                <a:cs typeface="Segoe UI Light" panose="020B0502040204020203" pitchFamily="34" charset="0"/>
              </a:rPr>
              <a:t>) pero debajo del terreno natural (</a:t>
            </a:r>
            <a:r>
              <a:rPr lang="es-CO" sz="1600" dirty="0" err="1">
                <a:latin typeface="Segoe UI Light" panose="020B0502040204020203" pitchFamily="34" charset="0"/>
                <a:cs typeface="Segoe UI Light" panose="020B0502040204020203" pitchFamily="34" charset="0"/>
              </a:rPr>
              <a:t>below</a:t>
            </a:r>
            <a:r>
              <a:rPr lang="es-CO" sz="1600" dirty="0">
                <a:latin typeface="Segoe UI Light" panose="020B0502040204020203" pitchFamily="34" charset="0"/>
                <a:cs typeface="Segoe UI Light" panose="020B0502040204020203" pitchFamily="34" charset="0"/>
              </a:rPr>
              <a:t>)  </a:t>
            </a:r>
          </a:p>
        </p:txBody>
      </p:sp>
      <p:sp>
        <p:nvSpPr>
          <p:cNvPr id="7" name="7 CuadroTexto">
            <a:extLst>
              <a:ext uri="{FF2B5EF4-FFF2-40B4-BE49-F238E27FC236}">
                <a16:creationId xmlns:a16="http://schemas.microsoft.com/office/drawing/2014/main" id="{0844DC53-F545-4111-9998-A70C101889C0}"/>
              </a:ext>
            </a:extLst>
          </p:cNvPr>
          <p:cNvSpPr txBox="1"/>
          <p:nvPr/>
        </p:nvSpPr>
        <p:spPr>
          <a:xfrm>
            <a:off x="1127447" y="1268760"/>
            <a:ext cx="4536504" cy="2062103"/>
          </a:xfrm>
          <a:prstGeom prst="rect">
            <a:avLst/>
          </a:prstGeom>
          <a:noFill/>
        </p:spPr>
        <p:txBody>
          <a:bodyPr wrap="square" rtlCol="0">
            <a:spAutoFit/>
          </a:bodyPr>
          <a:lstStyle/>
          <a:p>
            <a:pPr algn="just"/>
            <a:r>
              <a:rPr lang="es-CO" sz="1600" dirty="0">
                <a:latin typeface="Segoe UI Light" panose="020B0502040204020203" pitchFamily="34" charset="0"/>
                <a:cs typeface="Segoe UI Light" panose="020B0502040204020203" pitchFamily="34" charset="0"/>
              </a:rPr>
              <a:t>1. En la pestaña de análisis seleccionar calcular materiales (compute </a:t>
            </a:r>
            <a:r>
              <a:rPr lang="es-CO" sz="1600" dirty="0" err="1">
                <a:latin typeface="Segoe UI Light" panose="020B0502040204020203" pitchFamily="34" charset="0"/>
                <a:cs typeface="Segoe UI Light" panose="020B0502040204020203" pitchFamily="34" charset="0"/>
              </a:rPr>
              <a:t>materials</a:t>
            </a:r>
            <a:r>
              <a:rPr lang="es-CO" sz="1600" dirty="0">
                <a:latin typeface="Segoe UI Light" panose="020B0502040204020203" pitchFamily="34" charset="0"/>
                <a:cs typeface="Segoe UI Light" panose="020B0502040204020203" pitchFamily="34" charset="0"/>
              </a:rPr>
              <a:t>) </a:t>
            </a:r>
          </a:p>
          <a:p>
            <a:pPr algn="just"/>
            <a:endParaRPr lang="es-CO" sz="1600" dirty="0">
              <a:latin typeface="Segoe UI Light" panose="020B0502040204020203" pitchFamily="34" charset="0"/>
              <a:cs typeface="Segoe UI Light" panose="020B0502040204020203" pitchFamily="34" charset="0"/>
            </a:endParaRPr>
          </a:p>
          <a:p>
            <a:pPr algn="just"/>
            <a:endParaRPr lang="es-CO" sz="1600" i="1" dirty="0">
              <a:latin typeface="Segoe UI Light" panose="020B0502040204020203" pitchFamily="34" charset="0"/>
              <a:cs typeface="Segoe UI Light" panose="020B0502040204020203" pitchFamily="34" charset="0"/>
            </a:endParaRPr>
          </a:p>
          <a:p>
            <a:pPr algn="just"/>
            <a:endParaRPr lang="es-CO" sz="1600" dirty="0">
              <a:latin typeface="Segoe UI Light" panose="020B0502040204020203" pitchFamily="34" charset="0"/>
              <a:cs typeface="Segoe UI Light" panose="020B0502040204020203" pitchFamily="34" charset="0"/>
            </a:endParaRPr>
          </a:p>
          <a:p>
            <a:pPr marL="342900" indent="-342900">
              <a:buAutoNum type="arabicPeriod"/>
            </a:pPr>
            <a:endParaRPr lang="es-CO" sz="1600" dirty="0">
              <a:latin typeface="Segoe UI Light" panose="020B0502040204020203" pitchFamily="34" charset="0"/>
              <a:cs typeface="Segoe UI Light" panose="020B0502040204020203" pitchFamily="34" charset="0"/>
            </a:endParaRPr>
          </a:p>
          <a:p>
            <a:endParaRPr lang="es-CO" sz="1600" dirty="0">
              <a:latin typeface="Segoe UI Light" panose="020B0502040204020203" pitchFamily="34" charset="0"/>
              <a:cs typeface="Segoe UI Light" panose="020B0502040204020203" pitchFamily="34" charset="0"/>
            </a:endParaRPr>
          </a:p>
          <a:p>
            <a:endParaRPr lang="es-CO" sz="1600" dirty="0">
              <a:latin typeface="Segoe UI Light" panose="020B0502040204020203" pitchFamily="34" charset="0"/>
              <a:cs typeface="Segoe UI Light" panose="020B0502040204020203" pitchFamily="34" charset="0"/>
            </a:endParaRPr>
          </a:p>
        </p:txBody>
      </p:sp>
      <p:sp>
        <p:nvSpPr>
          <p:cNvPr id="9" name="7 CuadroTexto">
            <a:extLst>
              <a:ext uri="{FF2B5EF4-FFF2-40B4-BE49-F238E27FC236}">
                <a16:creationId xmlns:a16="http://schemas.microsoft.com/office/drawing/2014/main" id="{1B63AD35-727D-4609-9961-A46BCCCD7F06}"/>
              </a:ext>
            </a:extLst>
          </p:cNvPr>
          <p:cNvSpPr txBox="1"/>
          <p:nvPr/>
        </p:nvSpPr>
        <p:spPr>
          <a:xfrm>
            <a:off x="1250475" y="5415410"/>
            <a:ext cx="4392487" cy="830997"/>
          </a:xfrm>
          <a:prstGeom prst="rect">
            <a:avLst/>
          </a:prstGeom>
          <a:noFill/>
        </p:spPr>
        <p:txBody>
          <a:bodyPr wrap="square" rtlCol="0">
            <a:spAutoFit/>
          </a:bodyPr>
          <a:lstStyle/>
          <a:p>
            <a:pPr algn="just"/>
            <a:r>
              <a:rPr lang="es-CO" sz="1600" dirty="0">
                <a:latin typeface="Segoe UI Light" panose="020B0502040204020203" pitchFamily="34" charset="0"/>
                <a:cs typeface="Segoe UI Light" panose="020B0502040204020203" pitchFamily="34" charset="0"/>
              </a:rPr>
              <a:t>Se debe seleccionar el eje y las secciones transversales base para el cálculo del volumen. Se crea un nuevo estilo de corte y relleno</a:t>
            </a:r>
          </a:p>
        </p:txBody>
      </p:sp>
      <p:pic>
        <p:nvPicPr>
          <p:cNvPr id="10" name="Imagen 9">
            <a:extLst>
              <a:ext uri="{FF2B5EF4-FFF2-40B4-BE49-F238E27FC236}">
                <a16:creationId xmlns:a16="http://schemas.microsoft.com/office/drawing/2014/main" id="{C822692F-13DE-41BC-84F2-6C483EFDD0A6}"/>
              </a:ext>
            </a:extLst>
          </p:cNvPr>
          <p:cNvPicPr>
            <a:picLocks noChangeAspect="1"/>
          </p:cNvPicPr>
          <p:nvPr/>
        </p:nvPicPr>
        <p:blipFill rotWithShape="1">
          <a:blip r:embed="rId3"/>
          <a:srcRect l="26375" t="13331" r="26376" b="19186"/>
          <a:stretch/>
        </p:blipFill>
        <p:spPr>
          <a:xfrm>
            <a:off x="1970554" y="2655692"/>
            <a:ext cx="3672408" cy="2665507"/>
          </a:xfrm>
          <a:prstGeom prst="rect">
            <a:avLst/>
          </a:prstGeom>
        </p:spPr>
      </p:pic>
      <p:pic>
        <p:nvPicPr>
          <p:cNvPr id="11" name="Imagen 10">
            <a:extLst>
              <a:ext uri="{FF2B5EF4-FFF2-40B4-BE49-F238E27FC236}">
                <a16:creationId xmlns:a16="http://schemas.microsoft.com/office/drawing/2014/main" id="{B69F0266-976D-47CB-9297-D95A8E4F51C1}"/>
              </a:ext>
            </a:extLst>
          </p:cNvPr>
          <p:cNvPicPr>
            <a:picLocks noChangeAspect="1"/>
          </p:cNvPicPr>
          <p:nvPr/>
        </p:nvPicPr>
        <p:blipFill>
          <a:blip r:embed="rId4"/>
          <a:stretch>
            <a:fillRect/>
          </a:stretch>
        </p:blipFill>
        <p:spPr>
          <a:xfrm>
            <a:off x="721166" y="2201137"/>
            <a:ext cx="2590800" cy="1771650"/>
          </a:xfrm>
          <a:prstGeom prst="rect">
            <a:avLst/>
          </a:prstGeom>
        </p:spPr>
      </p:pic>
      <p:pic>
        <p:nvPicPr>
          <p:cNvPr id="12" name="Imagen 11">
            <a:extLst>
              <a:ext uri="{FF2B5EF4-FFF2-40B4-BE49-F238E27FC236}">
                <a16:creationId xmlns:a16="http://schemas.microsoft.com/office/drawing/2014/main" id="{E5C95F99-42FC-47C8-BC8E-3F12ADD8DB70}"/>
              </a:ext>
            </a:extLst>
          </p:cNvPr>
          <p:cNvPicPr>
            <a:picLocks noChangeAspect="1"/>
          </p:cNvPicPr>
          <p:nvPr/>
        </p:nvPicPr>
        <p:blipFill rotWithShape="1">
          <a:blip r:embed="rId5"/>
          <a:srcRect l="25588" t="17522" r="38156" b="59443"/>
          <a:stretch/>
        </p:blipFill>
        <p:spPr>
          <a:xfrm>
            <a:off x="6728183" y="2190991"/>
            <a:ext cx="2612032" cy="933043"/>
          </a:xfrm>
          <a:prstGeom prst="rect">
            <a:avLst/>
          </a:prstGeom>
        </p:spPr>
      </p:pic>
      <p:pic>
        <p:nvPicPr>
          <p:cNvPr id="13" name="Imagen 12">
            <a:extLst>
              <a:ext uri="{FF2B5EF4-FFF2-40B4-BE49-F238E27FC236}">
                <a16:creationId xmlns:a16="http://schemas.microsoft.com/office/drawing/2014/main" id="{A02C22EF-1F48-4292-8C0A-00E7F15789B1}"/>
              </a:ext>
            </a:extLst>
          </p:cNvPr>
          <p:cNvPicPr>
            <a:picLocks noChangeAspect="1"/>
          </p:cNvPicPr>
          <p:nvPr/>
        </p:nvPicPr>
        <p:blipFill>
          <a:blip r:embed="rId6"/>
          <a:stretch>
            <a:fillRect/>
          </a:stretch>
        </p:blipFill>
        <p:spPr>
          <a:xfrm>
            <a:off x="6728183" y="3124034"/>
            <a:ext cx="3976329" cy="2123942"/>
          </a:xfrm>
          <a:prstGeom prst="rect">
            <a:avLst/>
          </a:prstGeom>
        </p:spPr>
      </p:pic>
      <p:sp>
        <p:nvSpPr>
          <p:cNvPr id="14" name="CuadroTexto 13">
            <a:extLst>
              <a:ext uri="{FF2B5EF4-FFF2-40B4-BE49-F238E27FC236}">
                <a16:creationId xmlns:a16="http://schemas.microsoft.com/office/drawing/2014/main" id="{A603990C-AC8B-492E-A190-9F6B57612045}"/>
              </a:ext>
            </a:extLst>
          </p:cNvPr>
          <p:cNvSpPr txBox="1"/>
          <p:nvPr/>
        </p:nvSpPr>
        <p:spPr>
          <a:xfrm>
            <a:off x="0" y="476672"/>
            <a:ext cx="12192000" cy="369332"/>
          </a:xfrm>
          <a:prstGeom prst="rect">
            <a:avLst/>
          </a:prstGeom>
          <a:noFill/>
        </p:spPr>
        <p:txBody>
          <a:bodyPr wrap="square" rtlCol="0">
            <a:spAutoFit/>
          </a:bodyPr>
          <a:lstStyle/>
          <a:p>
            <a:pPr algn="ctr"/>
            <a:r>
              <a:rPr lang="es-ES" dirty="0">
                <a:latin typeface="Segoe UI Light" panose="020B0502040204020203" pitchFamily="34" charset="0"/>
                <a:cs typeface="Segoe UI Light" panose="020B0502040204020203" pitchFamily="34" charset="0"/>
              </a:rPr>
              <a:t>Actividad 3: Crear materiales de corte y relleno</a:t>
            </a:r>
          </a:p>
        </p:txBody>
      </p:sp>
    </p:spTree>
    <p:extLst>
      <p:ext uri="{BB962C8B-B14F-4D97-AF65-F5344CB8AC3E}">
        <p14:creationId xmlns:p14="http://schemas.microsoft.com/office/powerpoint/2010/main" val="11108693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72F957C6-A7F6-481B-B3CB-A9B220B968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
        <p:nvSpPr>
          <p:cNvPr id="9" name="7 CuadroTexto">
            <a:extLst>
              <a:ext uri="{FF2B5EF4-FFF2-40B4-BE49-F238E27FC236}">
                <a16:creationId xmlns:a16="http://schemas.microsoft.com/office/drawing/2014/main" id="{823BB7CB-46E6-4779-B08C-EA4E34E5830D}"/>
              </a:ext>
            </a:extLst>
          </p:cNvPr>
          <p:cNvSpPr txBox="1"/>
          <p:nvPr/>
        </p:nvSpPr>
        <p:spPr>
          <a:xfrm>
            <a:off x="1271464" y="4005064"/>
            <a:ext cx="4786187" cy="830997"/>
          </a:xfrm>
          <a:prstGeom prst="rect">
            <a:avLst/>
          </a:prstGeom>
          <a:noFill/>
        </p:spPr>
        <p:txBody>
          <a:bodyPr wrap="square" rtlCol="0">
            <a:spAutoFit/>
          </a:bodyPr>
          <a:lstStyle/>
          <a:p>
            <a:pPr algn="just"/>
            <a:r>
              <a:rPr lang="es-CO" sz="1600" dirty="0">
                <a:latin typeface="Segoe UI Light" panose="020B0502040204020203" pitchFamily="34" charset="0"/>
                <a:cs typeface="Segoe UI Light" panose="020B0502040204020203" pitchFamily="34" charset="0"/>
              </a:rPr>
              <a:t>A partir de las secciones transversales se pueden generar los reportes de volúmenes de corte y relleno y personalizar su presentación. </a:t>
            </a:r>
          </a:p>
        </p:txBody>
      </p:sp>
      <p:pic>
        <p:nvPicPr>
          <p:cNvPr id="10" name="Imagen 9">
            <a:extLst>
              <a:ext uri="{FF2B5EF4-FFF2-40B4-BE49-F238E27FC236}">
                <a16:creationId xmlns:a16="http://schemas.microsoft.com/office/drawing/2014/main" id="{A0503608-F9D8-4B49-ACE0-5AE833069BE8}"/>
              </a:ext>
            </a:extLst>
          </p:cNvPr>
          <p:cNvPicPr>
            <a:picLocks noChangeAspect="1"/>
          </p:cNvPicPr>
          <p:nvPr/>
        </p:nvPicPr>
        <p:blipFill rotWithShape="1">
          <a:blip r:embed="rId3"/>
          <a:srcRect l="19646" t="-431" r="3425" b="22544"/>
          <a:stretch/>
        </p:blipFill>
        <p:spPr>
          <a:xfrm>
            <a:off x="1343472" y="1268760"/>
            <a:ext cx="4680520" cy="2664296"/>
          </a:xfrm>
          <a:prstGeom prst="rect">
            <a:avLst/>
          </a:prstGeom>
        </p:spPr>
      </p:pic>
      <p:pic>
        <p:nvPicPr>
          <p:cNvPr id="11" name="Imagen 10">
            <a:extLst>
              <a:ext uri="{FF2B5EF4-FFF2-40B4-BE49-F238E27FC236}">
                <a16:creationId xmlns:a16="http://schemas.microsoft.com/office/drawing/2014/main" id="{DE73BB9A-82F3-4A17-AC03-E60894F65AB5}"/>
              </a:ext>
            </a:extLst>
          </p:cNvPr>
          <p:cNvPicPr>
            <a:picLocks noChangeAspect="1"/>
          </p:cNvPicPr>
          <p:nvPr/>
        </p:nvPicPr>
        <p:blipFill rotWithShape="1">
          <a:blip r:embed="rId4"/>
          <a:srcRect l="18500" t="40652" r="20075" b="28778"/>
          <a:stretch/>
        </p:blipFill>
        <p:spPr>
          <a:xfrm>
            <a:off x="5663952" y="4797152"/>
            <a:ext cx="5616624" cy="1571569"/>
          </a:xfrm>
          <a:prstGeom prst="rect">
            <a:avLst/>
          </a:prstGeom>
        </p:spPr>
      </p:pic>
      <p:sp>
        <p:nvSpPr>
          <p:cNvPr id="12" name="CuadroTexto 11">
            <a:extLst>
              <a:ext uri="{FF2B5EF4-FFF2-40B4-BE49-F238E27FC236}">
                <a16:creationId xmlns:a16="http://schemas.microsoft.com/office/drawing/2014/main" id="{12E1A4C4-98A2-4F3A-B357-45B13EE353BB}"/>
              </a:ext>
            </a:extLst>
          </p:cNvPr>
          <p:cNvSpPr txBox="1"/>
          <p:nvPr/>
        </p:nvSpPr>
        <p:spPr>
          <a:xfrm>
            <a:off x="0" y="714182"/>
            <a:ext cx="12192000" cy="369332"/>
          </a:xfrm>
          <a:prstGeom prst="rect">
            <a:avLst/>
          </a:prstGeom>
          <a:noFill/>
        </p:spPr>
        <p:txBody>
          <a:bodyPr wrap="square" rtlCol="0">
            <a:spAutoFit/>
          </a:bodyPr>
          <a:lstStyle/>
          <a:p>
            <a:pPr algn="ctr"/>
            <a:r>
              <a:rPr lang="es-CO" dirty="0">
                <a:latin typeface="Segoe UI Light" panose="020B0502040204020203" pitchFamily="34" charset="0"/>
                <a:cs typeface="Segoe UI Light" panose="020B0502040204020203" pitchFamily="34" charset="0"/>
              </a:rPr>
              <a:t>Actividad 4. Crear tablas de reporte</a:t>
            </a:r>
          </a:p>
        </p:txBody>
      </p:sp>
    </p:spTree>
    <p:extLst>
      <p:ext uri="{BB962C8B-B14F-4D97-AF65-F5344CB8AC3E}">
        <p14:creationId xmlns:p14="http://schemas.microsoft.com/office/powerpoint/2010/main" val="224804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7 CuadroTexto">
            <a:extLst>
              <a:ext uri="{FF2B5EF4-FFF2-40B4-BE49-F238E27FC236}">
                <a16:creationId xmlns:a16="http://schemas.microsoft.com/office/drawing/2014/main" id="{3572065F-81C1-454C-8E77-453E36FB65E9}"/>
              </a:ext>
            </a:extLst>
          </p:cNvPr>
          <p:cNvSpPr txBox="1"/>
          <p:nvPr/>
        </p:nvSpPr>
        <p:spPr>
          <a:xfrm>
            <a:off x="4331804" y="3305889"/>
            <a:ext cx="3528392" cy="246221"/>
          </a:xfrm>
          <a:prstGeom prst="rect">
            <a:avLst/>
          </a:prstGeom>
          <a:noFill/>
        </p:spPr>
        <p:txBody>
          <a:bodyPr wrap="square" rtlCol="0">
            <a:spAutoFit/>
          </a:bodyPr>
          <a:lstStyle/>
          <a:p>
            <a:pPr algn="ctr"/>
            <a:r>
              <a:rPr lang="es-ES" sz="1000" dirty="0">
                <a:latin typeface="Segoe UI Light" panose="020B0502040204020203" pitchFamily="34" charset="0"/>
                <a:cs typeface="Segoe UI Light" panose="020B0502040204020203" pitchFamily="34" charset="0"/>
              </a:rPr>
              <a:t>Contenido creado por: baalkara@gmail.com</a:t>
            </a:r>
          </a:p>
        </p:txBody>
      </p:sp>
      <p:pic>
        <p:nvPicPr>
          <p:cNvPr id="9" name="Imagen 8">
            <a:extLst>
              <a:ext uri="{FF2B5EF4-FFF2-40B4-BE49-F238E27FC236}">
                <a16:creationId xmlns:a16="http://schemas.microsoft.com/office/drawing/2014/main" id="{D1E24590-5B37-4B8E-8E7F-7CC7FF0BA20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512295" y="0"/>
            <a:ext cx="679705" cy="274321"/>
          </a:xfrm>
          <a:prstGeom prst="rect">
            <a:avLst/>
          </a:prstGeom>
        </p:spPr>
      </p:pic>
    </p:spTree>
    <p:extLst>
      <p:ext uri="{BB962C8B-B14F-4D97-AF65-F5344CB8AC3E}">
        <p14:creationId xmlns:p14="http://schemas.microsoft.com/office/powerpoint/2010/main" val="2945859939"/>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4233</TotalTime>
  <Words>464</Words>
  <Application>Microsoft Office PowerPoint</Application>
  <PresentationFormat>Widescreen</PresentationFormat>
  <Paragraphs>35</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Segoe UI Light</vt:lpstr>
      <vt:lpstr>Tema de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HCMC_4_1</dc:title>
  <dc:creator>master</dc:creator>
  <cp:lastModifiedBy>WILLIAM RICARDO AGUILAR PIÑA</cp:lastModifiedBy>
  <cp:revision>295</cp:revision>
  <dcterms:created xsi:type="dcterms:W3CDTF">2010-05-17T13:13:34Z</dcterms:created>
  <dcterms:modified xsi:type="dcterms:W3CDTF">2021-11-23T16:31:26Z</dcterms:modified>
</cp:coreProperties>
</file>