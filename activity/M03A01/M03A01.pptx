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301" r:id="rId3"/>
    <p:sldId id="289" r:id="rId4"/>
    <p:sldId id="311" r:id="rId5"/>
    <p:sldId id="299" r:id="rId6"/>
    <p:sldId id="359" r:id="rId7"/>
    <p:sldId id="331" r:id="rId8"/>
    <p:sldId id="346" r:id="rId9"/>
    <p:sldId id="348" r:id="rId10"/>
    <p:sldId id="349" r:id="rId11"/>
    <p:sldId id="350" r:id="rId12"/>
    <p:sldId id="351" r:id="rId13"/>
    <p:sldId id="353" r:id="rId14"/>
    <p:sldId id="352" r:id="rId15"/>
    <p:sldId id="354" r:id="rId16"/>
    <p:sldId id="355" r:id="rId17"/>
    <p:sldId id="360" r:id="rId18"/>
    <p:sldId id="356" r:id="rId19"/>
    <p:sldId id="357" r:id="rId20"/>
    <p:sldId id="358" r:id="rId21"/>
    <p:sldId id="361" r:id="rId22"/>
    <p:sldId id="362" r:id="rId23"/>
    <p:sldId id="363" r:id="rId24"/>
    <p:sldId id="364" r:id="rId25"/>
    <p:sldId id="365" r:id="rId26"/>
    <p:sldId id="366" r:id="rId27"/>
    <p:sldId id="368" r:id="rId28"/>
    <p:sldId id="367" r:id="rId29"/>
    <p:sldId id="369" r:id="rId30"/>
    <p:sldId id="370" r:id="rId31"/>
    <p:sldId id="371" r:id="rId32"/>
    <p:sldId id="372" r:id="rId33"/>
    <p:sldId id="373" r:id="rId34"/>
    <p:sldId id="374" r:id="rId35"/>
    <p:sldId id="376" r:id="rId36"/>
    <p:sldId id="375" r:id="rId37"/>
    <p:sldId id="377" r:id="rId38"/>
    <p:sldId id="378" r:id="rId39"/>
    <p:sldId id="379" r:id="rId40"/>
    <p:sldId id="380" r:id="rId41"/>
    <p:sldId id="381" r:id="rId42"/>
    <p:sldId id="382" r:id="rId43"/>
    <p:sldId id="344" r:id="rId44"/>
    <p:sldId id="384" r:id="rId45"/>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53" autoAdjust="0"/>
    <p:restoredTop sz="93623" autoAdjust="0"/>
  </p:normalViewPr>
  <p:slideViewPr>
    <p:cSldViewPr>
      <p:cViewPr varScale="1">
        <p:scale>
          <a:sx n="120" d="100"/>
          <a:sy n="120" d="100"/>
        </p:scale>
        <p:origin x="114" y="108"/>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ICARDO AGUILAR PIÑA" userId="25538c52-b196-49fc-9025-2dd86a54f18a" providerId="ADAL" clId="{F66090DF-4A71-4268-BBB7-C870D77D9150}"/>
    <pc:docChg chg="undo custSel modSld">
      <pc:chgData name="WILLIAM RICARDO AGUILAR PIÑA" userId="25538c52-b196-49fc-9025-2dd86a54f18a" providerId="ADAL" clId="{F66090DF-4A71-4268-BBB7-C870D77D9150}" dt="2022-10-25T18:40:21.023" v="3" actId="6549"/>
      <pc:docMkLst>
        <pc:docMk/>
      </pc:docMkLst>
      <pc:sldChg chg="modSp mod">
        <pc:chgData name="WILLIAM RICARDO AGUILAR PIÑA" userId="25538c52-b196-49fc-9025-2dd86a54f18a" providerId="ADAL" clId="{F66090DF-4A71-4268-BBB7-C870D77D9150}" dt="2022-10-25T18:31:38.909" v="1" actId="20577"/>
        <pc:sldMkLst>
          <pc:docMk/>
          <pc:sldMk cId="124204418" sldId="346"/>
        </pc:sldMkLst>
      </pc:sldChg>
      <pc:sldChg chg="modSp mod">
        <pc:chgData name="WILLIAM RICARDO AGUILAR PIÑA" userId="25538c52-b196-49fc-9025-2dd86a54f18a" providerId="ADAL" clId="{F66090DF-4A71-4268-BBB7-C870D77D9150}" dt="2022-10-25T18:40:21.023" v="3" actId="6549"/>
        <pc:sldMkLst>
          <pc:docMk/>
          <pc:sldMk cId="1305808855" sldId="379"/>
        </pc:sldMkLst>
      </pc:sldChg>
    </pc:docChg>
  </pc:docChgLst>
  <pc:docChgLst>
    <pc:chgData name="WILLIAM RICARDO AGUILAR PIÑA" userId="25538c52-b196-49fc-9025-2dd86a54f18a" providerId="ADAL" clId="{DA3F3BDB-56DC-4ABB-9776-D6618EA4575C}"/>
    <pc:docChg chg="modSld">
      <pc:chgData name="WILLIAM RICARDO AGUILAR PIÑA" userId="25538c52-b196-49fc-9025-2dd86a54f18a" providerId="ADAL" clId="{DA3F3BDB-56DC-4ABB-9776-D6618EA4575C}" dt="2024-11-14T15:40:21.113" v="24" actId="20577"/>
      <pc:docMkLst>
        <pc:docMk/>
      </pc:docMkLst>
      <pc:sldChg chg="modSp mod">
        <pc:chgData name="WILLIAM RICARDO AGUILAR PIÑA" userId="25538c52-b196-49fc-9025-2dd86a54f18a" providerId="ADAL" clId="{DA3F3BDB-56DC-4ABB-9776-D6618EA4575C}" dt="2024-11-14T15:33:24.193" v="22" actId="20577"/>
        <pc:sldMkLst>
          <pc:docMk/>
          <pc:sldMk cId="0" sldId="256"/>
        </pc:sldMkLst>
        <pc:spChg chg="mod">
          <ac:chgData name="WILLIAM RICARDO AGUILAR PIÑA" userId="25538c52-b196-49fc-9025-2dd86a54f18a" providerId="ADAL" clId="{DA3F3BDB-56DC-4ABB-9776-D6618EA4575C}" dt="2024-11-14T15:31:56.341" v="21" actId="20577"/>
          <ac:spMkLst>
            <pc:docMk/>
            <pc:sldMk cId="0" sldId="256"/>
            <ac:spMk id="9" creationId="{3072C985-1B9B-4BDD-9204-91D61E909C9C}"/>
          </ac:spMkLst>
        </pc:spChg>
        <pc:spChg chg="mod">
          <ac:chgData name="WILLIAM RICARDO AGUILAR PIÑA" userId="25538c52-b196-49fc-9025-2dd86a54f18a" providerId="ADAL" clId="{DA3F3BDB-56DC-4ABB-9776-D6618EA4575C}" dt="2024-11-14T15:33:24.193" v="22" actId="20577"/>
          <ac:spMkLst>
            <pc:docMk/>
            <pc:sldMk cId="0" sldId="256"/>
            <ac:spMk id="17" creationId="{CF602DD4-6CD6-45A5-8387-11EC9AEA487E}"/>
          </ac:spMkLst>
        </pc:spChg>
      </pc:sldChg>
      <pc:sldChg chg="modSp mod">
        <pc:chgData name="WILLIAM RICARDO AGUILAR PIÑA" userId="25538c52-b196-49fc-9025-2dd86a54f18a" providerId="ADAL" clId="{DA3F3BDB-56DC-4ABB-9776-D6618EA4575C}" dt="2024-11-14T15:40:21.113" v="24" actId="20577"/>
        <pc:sldMkLst>
          <pc:docMk/>
          <pc:sldMk cId="1177015215" sldId="372"/>
        </pc:sldMkLst>
        <pc:spChg chg="mod">
          <ac:chgData name="WILLIAM RICARDO AGUILAR PIÑA" userId="25538c52-b196-49fc-9025-2dd86a54f18a" providerId="ADAL" clId="{DA3F3BDB-56DC-4ABB-9776-D6618EA4575C}" dt="2024-11-14T15:40:21.113" v="24" actId="20577"/>
          <ac:spMkLst>
            <pc:docMk/>
            <pc:sldMk cId="1177015215" sldId="372"/>
            <ac:spMk id="8" creationId="{00000000-0000-0000-0000-000000000000}"/>
          </ac:spMkLst>
        </pc:spChg>
      </pc:sldChg>
    </pc:docChg>
  </pc:docChgLst>
  <pc:docChgLst>
    <pc:chgData name="WILLIAM RICARDO AGUILAR PIÑA" userId="25538c52-b196-49fc-9025-2dd86a54f18a" providerId="ADAL" clId="{EF1BB9B7-FB67-4D46-9A1E-F1D7AE1ABA6A}"/>
    <pc:docChg chg="modSld">
      <pc:chgData name="WILLIAM RICARDO AGUILAR PIÑA" userId="25538c52-b196-49fc-9025-2dd86a54f18a" providerId="ADAL" clId="{EF1BB9B7-FB67-4D46-9A1E-F1D7AE1ABA6A}" dt="2018-06-29T15:34:12.222" v="1" actId="20577"/>
      <pc:docMkLst>
        <pc:docMk/>
      </pc:docMkLst>
      <pc:sldChg chg="modSp">
        <pc:chgData name="WILLIAM RICARDO AGUILAR PIÑA" userId="25538c52-b196-49fc-9025-2dd86a54f18a" providerId="ADAL" clId="{EF1BB9B7-FB67-4D46-9A1E-F1D7AE1ABA6A}" dt="2018-06-29T15:34:12.222" v="1" actId="20577"/>
        <pc:sldMkLst>
          <pc:docMk/>
          <pc:sldMk cId="0" sldId="256"/>
        </pc:sldMkLst>
      </pc:sldChg>
    </pc:docChg>
  </pc:docChgLst>
  <pc:docChgLst>
    <pc:chgData name="WILLIAM RICARDO AGUILAR PIÑA" userId="25538c52-b196-49fc-9025-2dd86a54f18a" providerId="ADAL" clId="{B2328A58-5650-44C9-9EE5-BD6E8BEA7F25}"/>
    <pc:docChg chg="undo custSel modSld">
      <pc:chgData name="WILLIAM RICARDO AGUILAR PIÑA" userId="25538c52-b196-49fc-9025-2dd86a54f18a" providerId="ADAL" clId="{B2328A58-5650-44C9-9EE5-BD6E8BEA7F25}" dt="2020-10-24T13:26:05.456" v="527" actId="1076"/>
      <pc:docMkLst>
        <pc:docMk/>
      </pc:docMkLst>
      <pc:sldChg chg="modSp mod">
        <pc:chgData name="WILLIAM RICARDO AGUILAR PIÑA" userId="25538c52-b196-49fc-9025-2dd86a54f18a" providerId="ADAL" clId="{B2328A58-5650-44C9-9EE5-BD6E8BEA7F25}" dt="2020-10-24T12:27:24.538" v="11" actId="207"/>
        <pc:sldMkLst>
          <pc:docMk/>
          <pc:sldMk cId="0" sldId="256"/>
        </pc:sldMkLst>
      </pc:sldChg>
      <pc:sldChg chg="modSp mod">
        <pc:chgData name="WILLIAM RICARDO AGUILAR PIÑA" userId="25538c52-b196-49fc-9025-2dd86a54f18a" providerId="ADAL" clId="{B2328A58-5650-44C9-9EE5-BD6E8BEA7F25}" dt="2020-10-24T12:27:39.688" v="15" actId="20577"/>
        <pc:sldMkLst>
          <pc:docMk/>
          <pc:sldMk cId="1805327859" sldId="289"/>
        </pc:sldMkLst>
      </pc:sldChg>
      <pc:sldChg chg="modSp mod">
        <pc:chgData name="WILLIAM RICARDO AGUILAR PIÑA" userId="25538c52-b196-49fc-9025-2dd86a54f18a" providerId="ADAL" clId="{B2328A58-5650-44C9-9EE5-BD6E8BEA7F25}" dt="2020-10-24T12:36:21.851" v="104" actId="1076"/>
        <pc:sldMkLst>
          <pc:docMk/>
          <pc:sldMk cId="3111998350" sldId="299"/>
        </pc:sldMkLst>
      </pc:sldChg>
      <pc:sldChg chg="modSp mod">
        <pc:chgData name="WILLIAM RICARDO AGUILAR PIÑA" userId="25538c52-b196-49fc-9025-2dd86a54f18a" providerId="ADAL" clId="{B2328A58-5650-44C9-9EE5-BD6E8BEA7F25}" dt="2020-10-24T12:27:19.687" v="10" actId="207"/>
        <pc:sldMkLst>
          <pc:docMk/>
          <pc:sldMk cId="2852190545" sldId="301"/>
        </pc:sldMkLst>
      </pc:sldChg>
      <pc:sldChg chg="modSp mod">
        <pc:chgData name="WILLIAM RICARDO AGUILAR PIÑA" userId="25538c52-b196-49fc-9025-2dd86a54f18a" providerId="ADAL" clId="{B2328A58-5650-44C9-9EE5-BD6E8BEA7F25}" dt="2020-10-24T12:28:37.016" v="41" actId="20577"/>
        <pc:sldMkLst>
          <pc:docMk/>
          <pc:sldMk cId="2774032636" sldId="311"/>
        </pc:sldMkLst>
      </pc:sldChg>
      <pc:sldChg chg="modSp mod">
        <pc:chgData name="WILLIAM RICARDO AGUILAR PIÑA" userId="25538c52-b196-49fc-9025-2dd86a54f18a" providerId="ADAL" clId="{B2328A58-5650-44C9-9EE5-BD6E8BEA7F25}" dt="2020-10-24T12:29:28.216" v="43" actId="207"/>
        <pc:sldMkLst>
          <pc:docMk/>
          <pc:sldMk cId="104439413" sldId="331"/>
        </pc:sldMkLst>
      </pc:sldChg>
      <pc:sldChg chg="modSp mod">
        <pc:chgData name="WILLIAM RICARDO AGUILAR PIÑA" userId="25538c52-b196-49fc-9025-2dd86a54f18a" providerId="ADAL" clId="{B2328A58-5650-44C9-9EE5-BD6E8BEA7F25}" dt="2020-10-24T12:55:16.821" v="524" actId="207"/>
        <pc:sldMkLst>
          <pc:docMk/>
          <pc:sldMk cId="4086616382" sldId="344"/>
        </pc:sldMkLst>
      </pc:sldChg>
      <pc:sldChg chg="modSp mod">
        <pc:chgData name="WILLIAM RICARDO AGUILAR PIÑA" userId="25538c52-b196-49fc-9025-2dd86a54f18a" providerId="ADAL" clId="{B2328A58-5650-44C9-9EE5-BD6E8BEA7F25}" dt="2020-10-24T12:30:04.615" v="51" actId="20577"/>
        <pc:sldMkLst>
          <pc:docMk/>
          <pc:sldMk cId="124204418" sldId="346"/>
        </pc:sldMkLst>
      </pc:sldChg>
      <pc:sldChg chg="modSp mod">
        <pc:chgData name="WILLIAM RICARDO AGUILAR PIÑA" userId="25538c52-b196-49fc-9025-2dd86a54f18a" providerId="ADAL" clId="{B2328A58-5650-44C9-9EE5-BD6E8BEA7F25}" dt="2020-10-24T12:30:36.989" v="52" actId="207"/>
        <pc:sldMkLst>
          <pc:docMk/>
          <pc:sldMk cId="4100759124" sldId="348"/>
        </pc:sldMkLst>
      </pc:sldChg>
      <pc:sldChg chg="modSp mod">
        <pc:chgData name="WILLIAM RICARDO AGUILAR PIÑA" userId="25538c52-b196-49fc-9025-2dd86a54f18a" providerId="ADAL" clId="{B2328A58-5650-44C9-9EE5-BD6E8BEA7F25}" dt="2020-10-24T12:30:54.002" v="53" actId="207"/>
        <pc:sldMkLst>
          <pc:docMk/>
          <pc:sldMk cId="3481336277" sldId="349"/>
        </pc:sldMkLst>
      </pc:sldChg>
      <pc:sldChg chg="modSp mod">
        <pc:chgData name="WILLIAM RICARDO AGUILAR PIÑA" userId="25538c52-b196-49fc-9025-2dd86a54f18a" providerId="ADAL" clId="{B2328A58-5650-44C9-9EE5-BD6E8BEA7F25}" dt="2020-10-24T12:31:07.845" v="54" actId="207"/>
        <pc:sldMkLst>
          <pc:docMk/>
          <pc:sldMk cId="1447759370" sldId="350"/>
        </pc:sldMkLst>
      </pc:sldChg>
      <pc:sldChg chg="modSp mod">
        <pc:chgData name="WILLIAM RICARDO AGUILAR PIÑA" userId="25538c52-b196-49fc-9025-2dd86a54f18a" providerId="ADAL" clId="{B2328A58-5650-44C9-9EE5-BD6E8BEA7F25}" dt="2020-10-24T12:31:20.655" v="55" actId="207"/>
        <pc:sldMkLst>
          <pc:docMk/>
          <pc:sldMk cId="53083875" sldId="351"/>
        </pc:sldMkLst>
      </pc:sldChg>
      <pc:sldChg chg="modSp mod">
        <pc:chgData name="WILLIAM RICARDO AGUILAR PIÑA" userId="25538c52-b196-49fc-9025-2dd86a54f18a" providerId="ADAL" clId="{B2328A58-5650-44C9-9EE5-BD6E8BEA7F25}" dt="2020-10-24T12:33:33.440" v="91" actId="20577"/>
        <pc:sldMkLst>
          <pc:docMk/>
          <pc:sldMk cId="481984086" sldId="352"/>
        </pc:sldMkLst>
      </pc:sldChg>
      <pc:sldChg chg="modSp mod">
        <pc:chgData name="WILLIAM RICARDO AGUILAR PIÑA" userId="25538c52-b196-49fc-9025-2dd86a54f18a" providerId="ADAL" clId="{B2328A58-5650-44C9-9EE5-BD6E8BEA7F25}" dt="2020-10-24T12:33:14.953" v="85" actId="20577"/>
        <pc:sldMkLst>
          <pc:docMk/>
          <pc:sldMk cId="2596133852" sldId="353"/>
        </pc:sldMkLst>
      </pc:sldChg>
      <pc:sldChg chg="modSp mod">
        <pc:chgData name="WILLIAM RICARDO AGUILAR PIÑA" userId="25538c52-b196-49fc-9025-2dd86a54f18a" providerId="ADAL" clId="{B2328A58-5650-44C9-9EE5-BD6E8BEA7F25}" dt="2020-10-24T12:33:53.519" v="92" actId="207"/>
        <pc:sldMkLst>
          <pc:docMk/>
          <pc:sldMk cId="3315997566" sldId="354"/>
        </pc:sldMkLst>
      </pc:sldChg>
      <pc:sldChg chg="modSp mod">
        <pc:chgData name="WILLIAM RICARDO AGUILAR PIÑA" userId="25538c52-b196-49fc-9025-2dd86a54f18a" providerId="ADAL" clId="{B2328A58-5650-44C9-9EE5-BD6E8BEA7F25}" dt="2020-10-24T12:33:55.954" v="93" actId="207"/>
        <pc:sldMkLst>
          <pc:docMk/>
          <pc:sldMk cId="66992575" sldId="355"/>
        </pc:sldMkLst>
      </pc:sldChg>
      <pc:sldChg chg="modSp mod">
        <pc:chgData name="WILLIAM RICARDO AGUILAR PIÑA" userId="25538c52-b196-49fc-9025-2dd86a54f18a" providerId="ADAL" clId="{B2328A58-5650-44C9-9EE5-BD6E8BEA7F25}" dt="2020-10-24T12:41:47.232" v="105" actId="1076"/>
        <pc:sldMkLst>
          <pc:docMk/>
          <pc:sldMk cId="2058407165" sldId="356"/>
        </pc:sldMkLst>
      </pc:sldChg>
      <pc:sldChg chg="modSp mod">
        <pc:chgData name="WILLIAM RICARDO AGUILAR PIÑA" userId="25538c52-b196-49fc-9025-2dd86a54f18a" providerId="ADAL" clId="{B2328A58-5650-44C9-9EE5-BD6E8BEA7F25}" dt="2020-10-24T12:41:54.294" v="106" actId="1076"/>
        <pc:sldMkLst>
          <pc:docMk/>
          <pc:sldMk cId="3761314355" sldId="357"/>
        </pc:sldMkLst>
      </pc:sldChg>
      <pc:sldChg chg="modSp mod">
        <pc:chgData name="WILLIAM RICARDO AGUILAR PIÑA" userId="25538c52-b196-49fc-9025-2dd86a54f18a" providerId="ADAL" clId="{B2328A58-5650-44C9-9EE5-BD6E8BEA7F25}" dt="2020-10-24T12:34:27.040" v="96" actId="207"/>
        <pc:sldMkLst>
          <pc:docMk/>
          <pc:sldMk cId="2972077440" sldId="358"/>
        </pc:sldMkLst>
      </pc:sldChg>
      <pc:sldChg chg="modSp mod">
        <pc:chgData name="WILLIAM RICARDO AGUILAR PIÑA" userId="25538c52-b196-49fc-9025-2dd86a54f18a" providerId="ADAL" clId="{B2328A58-5650-44C9-9EE5-BD6E8BEA7F25}" dt="2020-10-24T12:35:19.416" v="98" actId="20577"/>
        <pc:sldMkLst>
          <pc:docMk/>
          <pc:sldMk cId="866358430" sldId="362"/>
        </pc:sldMkLst>
      </pc:sldChg>
      <pc:sldChg chg="modSp mod">
        <pc:chgData name="WILLIAM RICARDO AGUILAR PIÑA" userId="25538c52-b196-49fc-9025-2dd86a54f18a" providerId="ADAL" clId="{B2328A58-5650-44C9-9EE5-BD6E8BEA7F25}" dt="2020-10-24T12:35:57.024" v="100" actId="255"/>
        <pc:sldMkLst>
          <pc:docMk/>
          <pc:sldMk cId="2153582064" sldId="363"/>
        </pc:sldMkLst>
      </pc:sldChg>
      <pc:sldChg chg="modSp mod">
        <pc:chgData name="WILLIAM RICARDO AGUILAR PIÑA" userId="25538c52-b196-49fc-9025-2dd86a54f18a" providerId="ADAL" clId="{B2328A58-5650-44C9-9EE5-BD6E8BEA7F25}" dt="2020-10-24T12:42:42.770" v="122" actId="20577"/>
        <pc:sldMkLst>
          <pc:docMk/>
          <pc:sldMk cId="721199814" sldId="364"/>
        </pc:sldMkLst>
      </pc:sldChg>
      <pc:sldChg chg="modSp mod">
        <pc:chgData name="WILLIAM RICARDO AGUILAR PIÑA" userId="25538c52-b196-49fc-9025-2dd86a54f18a" providerId="ADAL" clId="{B2328A58-5650-44C9-9EE5-BD6E8BEA7F25}" dt="2020-10-24T12:42:50.727" v="123" actId="207"/>
        <pc:sldMkLst>
          <pc:docMk/>
          <pc:sldMk cId="1637743327" sldId="365"/>
        </pc:sldMkLst>
      </pc:sldChg>
      <pc:sldChg chg="modSp mod">
        <pc:chgData name="WILLIAM RICARDO AGUILAR PIÑA" userId="25538c52-b196-49fc-9025-2dd86a54f18a" providerId="ADAL" clId="{B2328A58-5650-44C9-9EE5-BD6E8BEA7F25}" dt="2020-10-24T12:43:50.582" v="125" actId="1076"/>
        <pc:sldMkLst>
          <pc:docMk/>
          <pc:sldMk cId="2305145482" sldId="366"/>
        </pc:sldMkLst>
      </pc:sldChg>
      <pc:sldChg chg="modSp mod">
        <pc:chgData name="WILLIAM RICARDO AGUILAR PIÑA" userId="25538c52-b196-49fc-9025-2dd86a54f18a" providerId="ADAL" clId="{B2328A58-5650-44C9-9EE5-BD6E8BEA7F25}" dt="2020-10-24T12:44:47.547" v="130" actId="1076"/>
        <pc:sldMkLst>
          <pc:docMk/>
          <pc:sldMk cId="2886257086" sldId="367"/>
        </pc:sldMkLst>
      </pc:sldChg>
      <pc:sldChg chg="modSp mod">
        <pc:chgData name="WILLIAM RICARDO AGUILAR PIÑA" userId="25538c52-b196-49fc-9025-2dd86a54f18a" providerId="ADAL" clId="{B2328A58-5650-44C9-9EE5-BD6E8BEA7F25}" dt="2020-10-24T12:44:14.657" v="128" actId="207"/>
        <pc:sldMkLst>
          <pc:docMk/>
          <pc:sldMk cId="150690924" sldId="368"/>
        </pc:sldMkLst>
      </pc:sldChg>
      <pc:sldChg chg="modSp mod">
        <pc:chgData name="WILLIAM RICARDO AGUILAR PIÑA" userId="25538c52-b196-49fc-9025-2dd86a54f18a" providerId="ADAL" clId="{B2328A58-5650-44C9-9EE5-BD6E8BEA7F25}" dt="2020-10-24T12:45:05.685" v="131" actId="207"/>
        <pc:sldMkLst>
          <pc:docMk/>
          <pc:sldMk cId="2941477937" sldId="369"/>
        </pc:sldMkLst>
      </pc:sldChg>
      <pc:sldChg chg="modSp mod">
        <pc:chgData name="WILLIAM RICARDO AGUILAR PIÑA" userId="25538c52-b196-49fc-9025-2dd86a54f18a" providerId="ADAL" clId="{B2328A58-5650-44C9-9EE5-BD6E8BEA7F25}" dt="2020-10-24T12:48:18.474" v="497" actId="20577"/>
        <pc:sldMkLst>
          <pc:docMk/>
          <pc:sldMk cId="794263296" sldId="370"/>
        </pc:sldMkLst>
      </pc:sldChg>
      <pc:sldChg chg="modSp mod">
        <pc:chgData name="WILLIAM RICARDO AGUILAR PIÑA" userId="25538c52-b196-49fc-9025-2dd86a54f18a" providerId="ADAL" clId="{B2328A58-5650-44C9-9EE5-BD6E8BEA7F25}" dt="2020-10-24T12:48:45.043" v="500" actId="1076"/>
        <pc:sldMkLst>
          <pc:docMk/>
          <pc:sldMk cId="3340473109" sldId="371"/>
        </pc:sldMkLst>
      </pc:sldChg>
      <pc:sldChg chg="modSp mod">
        <pc:chgData name="WILLIAM RICARDO AGUILAR PIÑA" userId="25538c52-b196-49fc-9025-2dd86a54f18a" providerId="ADAL" clId="{B2328A58-5650-44C9-9EE5-BD6E8BEA7F25}" dt="2020-10-24T12:48:56.631" v="502" actId="1076"/>
        <pc:sldMkLst>
          <pc:docMk/>
          <pc:sldMk cId="1177015215" sldId="372"/>
        </pc:sldMkLst>
      </pc:sldChg>
      <pc:sldChg chg="modSp mod">
        <pc:chgData name="WILLIAM RICARDO AGUILAR PIÑA" userId="25538c52-b196-49fc-9025-2dd86a54f18a" providerId="ADAL" clId="{B2328A58-5650-44C9-9EE5-BD6E8BEA7F25}" dt="2020-10-24T12:53:02.835" v="504" actId="1076"/>
        <pc:sldMkLst>
          <pc:docMk/>
          <pc:sldMk cId="3912555" sldId="373"/>
        </pc:sldMkLst>
      </pc:sldChg>
      <pc:sldChg chg="modSp mod">
        <pc:chgData name="WILLIAM RICARDO AGUILAR PIÑA" userId="25538c52-b196-49fc-9025-2dd86a54f18a" providerId="ADAL" clId="{B2328A58-5650-44C9-9EE5-BD6E8BEA7F25}" dt="2020-10-24T12:53:35.072" v="507" actId="1076"/>
        <pc:sldMkLst>
          <pc:docMk/>
          <pc:sldMk cId="130823440" sldId="374"/>
        </pc:sldMkLst>
      </pc:sldChg>
      <pc:sldChg chg="modSp mod">
        <pc:chgData name="WILLIAM RICARDO AGUILAR PIÑA" userId="25538c52-b196-49fc-9025-2dd86a54f18a" providerId="ADAL" clId="{B2328A58-5650-44C9-9EE5-BD6E8BEA7F25}" dt="2020-10-24T12:54:02.322" v="509" actId="1076"/>
        <pc:sldMkLst>
          <pc:docMk/>
          <pc:sldMk cId="1778102651" sldId="375"/>
        </pc:sldMkLst>
      </pc:sldChg>
      <pc:sldChg chg="modSp mod">
        <pc:chgData name="WILLIAM RICARDO AGUILAR PIÑA" userId="25538c52-b196-49fc-9025-2dd86a54f18a" providerId="ADAL" clId="{B2328A58-5650-44C9-9EE5-BD6E8BEA7F25}" dt="2020-10-24T12:54:19.204" v="511" actId="1076"/>
        <pc:sldMkLst>
          <pc:docMk/>
          <pc:sldMk cId="69759399" sldId="377"/>
        </pc:sldMkLst>
      </pc:sldChg>
      <pc:sldChg chg="modSp mod">
        <pc:chgData name="WILLIAM RICARDO AGUILAR PIÑA" userId="25538c52-b196-49fc-9025-2dd86a54f18a" providerId="ADAL" clId="{B2328A58-5650-44C9-9EE5-BD6E8BEA7F25}" dt="2020-10-24T12:54:29.128" v="513" actId="1076"/>
        <pc:sldMkLst>
          <pc:docMk/>
          <pc:sldMk cId="57808860" sldId="378"/>
        </pc:sldMkLst>
      </pc:sldChg>
      <pc:sldChg chg="modSp mod">
        <pc:chgData name="WILLIAM RICARDO AGUILAR PIÑA" userId="25538c52-b196-49fc-9025-2dd86a54f18a" providerId="ADAL" clId="{B2328A58-5650-44C9-9EE5-BD6E8BEA7F25}" dt="2020-10-24T12:54:39.067" v="515" actId="1076"/>
        <pc:sldMkLst>
          <pc:docMk/>
          <pc:sldMk cId="1305808855" sldId="379"/>
        </pc:sldMkLst>
      </pc:sldChg>
      <pc:sldChg chg="modSp mod">
        <pc:chgData name="WILLIAM RICARDO AGUILAR PIÑA" userId="25538c52-b196-49fc-9025-2dd86a54f18a" providerId="ADAL" clId="{B2328A58-5650-44C9-9EE5-BD6E8BEA7F25}" dt="2020-10-24T12:55:06.281" v="522" actId="1076"/>
        <pc:sldMkLst>
          <pc:docMk/>
          <pc:sldMk cId="1334487138" sldId="380"/>
        </pc:sldMkLst>
      </pc:sldChg>
      <pc:sldChg chg="modSp mod">
        <pc:chgData name="WILLIAM RICARDO AGUILAR PIÑA" userId="25538c52-b196-49fc-9025-2dd86a54f18a" providerId="ADAL" clId="{B2328A58-5650-44C9-9EE5-BD6E8BEA7F25}" dt="2020-10-24T13:26:05.456" v="527" actId="1076"/>
        <pc:sldMkLst>
          <pc:docMk/>
          <pc:sldMk cId="2365244574" sldId="382"/>
        </pc:sldMkLst>
      </pc:sldChg>
      <pc:sldChg chg="modSp mod">
        <pc:chgData name="WILLIAM RICARDO AGUILAR PIÑA" userId="25538c52-b196-49fc-9025-2dd86a54f18a" providerId="ADAL" clId="{B2328A58-5650-44C9-9EE5-BD6E8BEA7F25}" dt="2020-10-24T12:56:33.516" v="526" actId="207"/>
        <pc:sldMkLst>
          <pc:docMk/>
          <pc:sldMk cId="1349867334" sldId="38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CE91DE-ABC6-4D22-89A0-1765B629FB43}" type="datetimeFigureOut">
              <a:rPr lang="es-CO" smtClean="0"/>
              <a:pPr/>
              <a:t>31/07/2025</a:t>
            </a:fld>
            <a:endParaRPr lang="es-CO"/>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FAC943-C359-4C07-B08A-993C08E8D67C}" type="slidenum">
              <a:rPr lang="es-CO" smtClean="0"/>
              <a:pPr/>
              <a:t>‹#›</a:t>
            </a:fld>
            <a:endParaRPr lang="es-CO"/>
          </a:p>
        </p:txBody>
      </p:sp>
    </p:spTree>
    <p:extLst>
      <p:ext uri="{BB962C8B-B14F-4D97-AF65-F5344CB8AC3E}">
        <p14:creationId xmlns:p14="http://schemas.microsoft.com/office/powerpoint/2010/main" val="3170295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sz="1200" noProof="0" dirty="0">
                <a:latin typeface="Orkney Light" panose="00000400000000000000" pitchFamily="2" charset="0"/>
                <a:cs typeface="Arial" pitchFamily="34" charset="0"/>
              </a:rPr>
              <a:t>(Aluvión: Conjunto de sedimentos que son arrastrados por una creciente que se depositan en el lecho del río o en el valle)</a:t>
            </a:r>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5</a:t>
            </a:fld>
            <a:endParaRPr lang="es-CO" dirty="0"/>
          </a:p>
        </p:txBody>
      </p:sp>
    </p:spTree>
    <p:extLst>
      <p:ext uri="{BB962C8B-B14F-4D97-AF65-F5344CB8AC3E}">
        <p14:creationId xmlns:p14="http://schemas.microsoft.com/office/powerpoint/2010/main" val="31872179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400" y="2130426"/>
            <a:ext cx="10363200" cy="1470025"/>
          </a:xfr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31/07/2025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31/07/2025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43DF08CB-A55A-40B1-AEFD-F19B3CFD19B5}" type="datetimeFigureOut">
              <a:rPr lang="es-CO" smtClean="0"/>
              <a:pPr/>
              <a:t>31/07/2025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fecha"/>
          <p:cNvSpPr>
            <a:spLocks noGrp="1"/>
          </p:cNvSpPr>
          <p:nvPr>
            <p:ph type="dt" sz="half" idx="10"/>
          </p:nvPr>
        </p:nvSpPr>
        <p:spPr/>
        <p:txBody>
          <a:bodyPr/>
          <a:lstStyle/>
          <a:p>
            <a:fld id="{43DF08CB-A55A-40B1-AEFD-F19B3CFD19B5}" type="datetimeFigureOut">
              <a:rPr lang="es-CO" smtClean="0"/>
              <a:pPr/>
              <a:t>31/07/2025</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6 Marcador de fecha"/>
          <p:cNvSpPr>
            <a:spLocks noGrp="1"/>
          </p:cNvSpPr>
          <p:nvPr>
            <p:ph type="dt" sz="half" idx="10"/>
          </p:nvPr>
        </p:nvSpPr>
        <p:spPr/>
        <p:txBody>
          <a:bodyPr/>
          <a:lstStyle/>
          <a:p>
            <a:fld id="{43DF08CB-A55A-40B1-AEFD-F19B3CFD19B5}" type="datetimeFigureOut">
              <a:rPr lang="es-CO" smtClean="0"/>
              <a:pPr/>
              <a:t>31/07/2025</a:t>
            </a:fld>
            <a:endParaRPr lang="es-CO"/>
          </a:p>
        </p:txBody>
      </p:sp>
      <p:sp>
        <p:nvSpPr>
          <p:cNvPr id="8" name="7 Marcador de pie de página"/>
          <p:cNvSpPr>
            <a:spLocks noGrp="1"/>
          </p:cNvSpPr>
          <p:nvPr>
            <p:ph type="ftr" sz="quarter" idx="11"/>
          </p:nvPr>
        </p:nvSpPr>
        <p:spPr/>
        <p:txBody>
          <a:bodyPr/>
          <a:lstStyle/>
          <a:p>
            <a:endParaRPr lang="es-CO"/>
          </a:p>
        </p:txBody>
      </p:sp>
      <p:sp>
        <p:nvSpPr>
          <p:cNvPr id="9" name="8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fecha"/>
          <p:cNvSpPr>
            <a:spLocks noGrp="1"/>
          </p:cNvSpPr>
          <p:nvPr>
            <p:ph type="dt" sz="half" idx="10"/>
          </p:nvPr>
        </p:nvSpPr>
        <p:spPr/>
        <p:txBody>
          <a:bodyPr/>
          <a:lstStyle/>
          <a:p>
            <a:fld id="{43DF08CB-A55A-40B1-AEFD-F19B3CFD19B5}" type="datetimeFigureOut">
              <a:rPr lang="es-CO" smtClean="0"/>
              <a:pPr/>
              <a:t>31/07/2025</a:t>
            </a:fld>
            <a:endParaRPr lang="es-CO"/>
          </a:p>
        </p:txBody>
      </p:sp>
      <p:sp>
        <p:nvSpPr>
          <p:cNvPr id="4" name="3 Marcador de pie de página"/>
          <p:cNvSpPr>
            <a:spLocks noGrp="1"/>
          </p:cNvSpPr>
          <p:nvPr>
            <p:ph type="ftr" sz="quarter" idx="11"/>
          </p:nvPr>
        </p:nvSpPr>
        <p:spPr/>
        <p:txBody>
          <a:bodyPr/>
          <a:lstStyle/>
          <a:p>
            <a:endParaRPr lang="es-CO"/>
          </a:p>
        </p:txBody>
      </p:sp>
      <p:sp>
        <p:nvSpPr>
          <p:cNvPr id="5" name="4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43DF08CB-A55A-40B1-AEFD-F19B3CFD19B5}" type="datetimeFigureOut">
              <a:rPr lang="es-CO" smtClean="0"/>
              <a:pPr/>
              <a:t>31/07/2025</a:t>
            </a:fld>
            <a:endParaRPr lang="es-CO"/>
          </a:p>
        </p:txBody>
      </p:sp>
      <p:sp>
        <p:nvSpPr>
          <p:cNvPr id="3" name="2 Marcador de pie de página"/>
          <p:cNvSpPr>
            <a:spLocks noGrp="1"/>
          </p:cNvSpPr>
          <p:nvPr>
            <p:ph type="ftr" sz="quarter" idx="11"/>
          </p:nvPr>
        </p:nvSpPr>
        <p:spPr/>
        <p:txBody>
          <a:bodyPr/>
          <a:lstStyle/>
          <a:p>
            <a:endParaRPr lang="es-CO"/>
          </a:p>
        </p:txBody>
      </p:sp>
      <p:sp>
        <p:nvSpPr>
          <p:cNvPr id="4" name="3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31/07/2025</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31/07/2025</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31/07/2025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31/07/2025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DF08CB-A55A-40B1-AEFD-F19B3CFD19B5}" type="datetimeFigureOut">
              <a:rPr lang="es-CO" smtClean="0"/>
              <a:pPr/>
              <a:t>31/07/2025</a:t>
            </a:fld>
            <a:endParaRPr lang="es-CO"/>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79857C-C111-4800-9D0C-003B4AAA4019}" type="slidenum">
              <a:rPr lang="es-CO" smtClean="0"/>
              <a:pPr/>
              <a:t>‹#›</a:t>
            </a:fld>
            <a:endParaRPr lang="es-CO"/>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esri.com/"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microsoft.com/office/2007/relationships/hdphoto" Target="../media/hdphoto6.wdp"/><Relationship Id="rId7"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5.png"/><Relationship Id="rId5" Type="http://schemas.microsoft.com/office/2007/relationships/hdphoto" Target="../media/hdphoto7.wdp"/><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4.png"/><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15.png"/><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microsoft.com/office/2007/relationships/hdphoto" Target="../media/hdphoto10.wdp"/><Relationship Id="rId7"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5.png"/><Relationship Id="rId5" Type="http://schemas.microsoft.com/office/2007/relationships/hdphoto" Target="../media/hdphoto11.wdp"/><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hdphoto" Target="../media/hdphoto12.wdp"/><Relationship Id="rId7" Type="http://schemas.microsoft.com/office/2007/relationships/hdphoto" Target="../media/hdphoto14.wdp"/><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0.png"/><Relationship Id="rId5" Type="http://schemas.microsoft.com/office/2007/relationships/hdphoto" Target="../media/hdphoto13.wdp"/><Relationship Id="rId4" Type="http://schemas.openxmlformats.org/officeDocument/2006/relationships/image" Target="../media/image19.png"/><Relationship Id="rId9"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microsoft.com/office/2007/relationships/hdphoto" Target="../media/hdphoto16.wdp"/><Relationship Id="rId7" Type="http://schemas.openxmlformats.org/officeDocument/2006/relationships/image" Target="../media/image1.png"/><Relationship Id="rId2"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5.png"/><Relationship Id="rId5" Type="http://schemas.microsoft.com/office/2007/relationships/hdphoto" Target="../media/hdphoto17.wdp"/><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hdphoto" Target="../media/hdphoto18.wdp"/><Relationship Id="rId7" Type="http://schemas.microsoft.com/office/2007/relationships/hdphoto" Target="../media/hdphoto20.wdp"/><Relationship Id="rId2"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27.png"/><Relationship Id="rId5" Type="http://schemas.microsoft.com/office/2007/relationships/hdphoto" Target="../media/hdphoto19.wdp"/><Relationship Id="rId4" Type="http://schemas.openxmlformats.org/officeDocument/2006/relationships/image" Target="../media/image26.png"/><Relationship Id="rId9" Type="http://schemas.openxmlformats.org/officeDocument/2006/relationships/image" Target="../media/image1.png"/></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microsoft.com/office/2007/relationships/hdphoto" Target="../media/hdphoto21.wdp"/><Relationship Id="rId7" Type="http://schemas.openxmlformats.org/officeDocument/2006/relationships/image" Target="../media/image1.png"/><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5.png"/><Relationship Id="rId5" Type="http://schemas.microsoft.com/office/2007/relationships/hdphoto" Target="../media/hdphoto22.wdp"/><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8" Type="http://schemas.openxmlformats.org/officeDocument/2006/relationships/image" Target="../media/image33.png"/><Relationship Id="rId3" Type="http://schemas.microsoft.com/office/2007/relationships/hdphoto" Target="../media/hdphoto23.wdp"/><Relationship Id="rId7" Type="http://schemas.microsoft.com/office/2007/relationships/hdphoto" Target="../media/hdphoto25.wdp"/><Relationship Id="rId2"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1.png"/><Relationship Id="rId5" Type="http://schemas.microsoft.com/office/2007/relationships/hdphoto" Target="../media/hdphoto24.wdp"/><Relationship Id="rId10" Type="http://schemas.openxmlformats.org/officeDocument/2006/relationships/image" Target="../media/image5.png"/><Relationship Id="rId4" Type="http://schemas.openxmlformats.org/officeDocument/2006/relationships/image" Target="../media/image31.png"/><Relationship Id="rId9" Type="http://schemas.microsoft.com/office/2007/relationships/hdphoto" Target="../media/hdphoto26.wdp"/></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4.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1.png"/><Relationship Id="rId2" Type="http://schemas.openxmlformats.org/officeDocument/2006/relationships/image" Target="../media/image35.png"/><Relationship Id="rId1" Type="http://schemas.openxmlformats.org/officeDocument/2006/relationships/slideLayout" Target="../slideLayouts/slideLayout1.xml"/><Relationship Id="rId6" Type="http://schemas.openxmlformats.org/officeDocument/2006/relationships/image" Target="../media/image5.png"/><Relationship Id="rId5" Type="http://schemas.microsoft.com/office/2007/relationships/hdphoto" Target="../media/hdphoto27.wdp"/><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7.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9.png"/><Relationship Id="rId7" Type="http://schemas.openxmlformats.org/officeDocument/2006/relationships/image" Target="../media/image5.png"/><Relationship Id="rId2" Type="http://schemas.openxmlformats.org/officeDocument/2006/relationships/image" Target="../media/image38.png"/><Relationship Id="rId1" Type="http://schemas.openxmlformats.org/officeDocument/2006/relationships/slideLayout" Target="../slideLayouts/slideLayout1.xml"/><Relationship Id="rId6" Type="http://schemas.openxmlformats.org/officeDocument/2006/relationships/image" Target="../media/image41.png"/><Relationship Id="rId5" Type="http://schemas.microsoft.com/office/2007/relationships/hdphoto" Target="../media/hdphoto28.wdp"/><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2.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1.png"/><Relationship Id="rId2" Type="http://schemas.openxmlformats.org/officeDocument/2006/relationships/image" Target="../media/image43.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6.png"/><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53.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9.png"/><Relationship Id="rId4" Type="http://schemas.openxmlformats.org/officeDocument/2006/relationships/image" Target="../media/image58.png"/></Relationships>
</file>

<file path=ppt/slides/_rels/slide37.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1.png"/><Relationship Id="rId2" Type="http://schemas.openxmlformats.org/officeDocument/2006/relationships/image" Target="../media/image60.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62.png"/><Relationship Id="rId4" Type="http://schemas.microsoft.com/office/2007/relationships/hdphoto" Target="../media/hdphoto29.wdp"/></Relationships>
</file>

<file path=ppt/slides/_rels/slide3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65.png"/></Relationships>
</file>

<file path=ppt/slides/_rels/slide3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68.png"/></Relationships>
</file>

<file path=ppt/slides/_rels/slide4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71.png"/></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microsoft.com/office/2007/relationships/hdphoto" Target="../media/hdphoto30.wdp"/></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hyperlink" Target="https://github.com/rcfdtools/R.HydroTools/wiki/License" TargetMode="External"/><Relationship Id="rId2" Type="http://schemas.openxmlformats.org/officeDocument/2006/relationships/hyperlink" Target="https://github.com/rcfdtools" TargetMode="Externa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 Título">
            <a:extLst>
              <a:ext uri="{FF2B5EF4-FFF2-40B4-BE49-F238E27FC236}">
                <a16:creationId xmlns:a16="http://schemas.microsoft.com/office/drawing/2014/main" id="{3072C985-1B9B-4BDD-9204-91D61E909C9C}"/>
              </a:ext>
            </a:extLst>
          </p:cNvPr>
          <p:cNvSpPr txBox="1">
            <a:spLocks/>
          </p:cNvSpPr>
          <p:nvPr/>
        </p:nvSpPr>
        <p:spPr>
          <a:xfrm>
            <a:off x="7620002"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ES" sz="800" dirty="0">
                <a:latin typeface="Segoe UI Light" panose="020B0502040204020203" pitchFamily="34" charset="0"/>
                <a:cs typeface="Segoe UI Light" panose="020B0502040204020203" pitchFamily="34" charset="0"/>
              </a:rPr>
              <a:t>v.20250731</a:t>
            </a:r>
            <a:endParaRPr lang="es-CO" sz="800" spc="100" dirty="0">
              <a:latin typeface="Segoe UI Light" panose="020B0502040204020203" pitchFamily="34" charset="0"/>
              <a:cs typeface="Segoe UI Light" panose="020B0502040204020203" pitchFamily="34" charset="0"/>
            </a:endParaRPr>
          </a:p>
        </p:txBody>
      </p:sp>
      <p:sp>
        <p:nvSpPr>
          <p:cNvPr id="10" name="1 Título">
            <a:extLst>
              <a:ext uri="{FF2B5EF4-FFF2-40B4-BE49-F238E27FC236}">
                <a16:creationId xmlns:a16="http://schemas.microsoft.com/office/drawing/2014/main" id="{7F6DDFB0-630E-45A2-B5EE-AB34BE184EC4}"/>
              </a:ext>
            </a:extLst>
          </p:cNvPr>
          <p:cNvSpPr txBox="1">
            <a:spLocks/>
          </p:cNvSpPr>
          <p:nvPr/>
        </p:nvSpPr>
        <p:spPr>
          <a:xfrm>
            <a:off x="0"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00" dirty="0">
                <a:latin typeface="Segoe UI Light" panose="020B0502040204020203" pitchFamily="34" charset="0"/>
                <a:cs typeface="Segoe UI Light" panose="020B0502040204020203" pitchFamily="34" charset="0"/>
              </a:rPr>
              <a:t>Info: r.cfdtools@gmail.com</a:t>
            </a:r>
            <a:endParaRPr lang="es-CO" sz="800" spc="100" dirty="0">
              <a:latin typeface="Segoe UI Light" panose="020B0502040204020203" pitchFamily="34" charset="0"/>
              <a:cs typeface="Segoe UI Light" panose="020B0502040204020203" pitchFamily="34" charset="0"/>
            </a:endParaRPr>
          </a:p>
        </p:txBody>
      </p:sp>
      <p:sp>
        <p:nvSpPr>
          <p:cNvPr id="17" name="1 Título">
            <a:extLst>
              <a:ext uri="{FF2B5EF4-FFF2-40B4-BE49-F238E27FC236}">
                <a16:creationId xmlns:a16="http://schemas.microsoft.com/office/drawing/2014/main" id="{CF602DD4-6CD6-45A5-8387-11EC9AEA487E}"/>
              </a:ext>
            </a:extLst>
          </p:cNvPr>
          <p:cNvSpPr txBox="1">
            <a:spLocks/>
          </p:cNvSpPr>
          <p:nvPr/>
        </p:nvSpPr>
        <p:spPr>
          <a:xfrm>
            <a:off x="0" y="4263073"/>
            <a:ext cx="12192000" cy="1541552"/>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1200" dirty="0">
                <a:latin typeface="Segoe UI Light" panose="020B0502040204020203" pitchFamily="34" charset="0"/>
                <a:cs typeface="Segoe UI Light" panose="020B0502040204020203" pitchFamily="34" charset="0"/>
              </a:rPr>
              <a:t>Herramientas computacionales para el diseño y modelación de cauces</a:t>
            </a:r>
          </a:p>
          <a:p>
            <a:r>
              <a:rPr lang="es-CO" sz="1200" dirty="0">
                <a:latin typeface="Segoe UI Light" panose="020B0502040204020203" pitchFamily="34" charset="0"/>
                <a:cs typeface="Segoe UI Light" panose="020B0502040204020203" pitchFamily="34" charset="0"/>
              </a:rPr>
              <a:t>Modelación hidráulica 1D con HEC-GeoRAS y HEC-RAS</a:t>
            </a:r>
          </a:p>
          <a:p>
            <a:r>
              <a:rPr lang="es-CO" sz="1600" dirty="0">
                <a:latin typeface="Segoe UI Light" panose="020B0502040204020203" pitchFamily="34" charset="0"/>
                <a:cs typeface="Segoe UI Light" panose="020B0502040204020203" pitchFamily="34" charset="0"/>
              </a:rPr>
              <a:t>Creación y exportación del modelo topológico usando HEC-GeoRAS y/o RAS-</a:t>
            </a:r>
            <a:r>
              <a:rPr lang="es-CO" sz="1600" dirty="0" err="1">
                <a:latin typeface="Segoe UI Light" panose="020B0502040204020203" pitchFamily="34" charset="0"/>
                <a:cs typeface="Segoe UI Light" panose="020B0502040204020203" pitchFamily="34" charset="0"/>
              </a:rPr>
              <a:t>Mapper</a:t>
            </a:r>
            <a:endParaRPr lang="es-ES" sz="1600" dirty="0">
              <a:latin typeface="Segoe UI Light" panose="020B0502040204020203" pitchFamily="34" charset="0"/>
              <a:cs typeface="Segoe UI Light" panose="020B0502040204020203" pitchFamily="34" charset="0"/>
            </a:endParaRPr>
          </a:p>
        </p:txBody>
      </p:sp>
      <p:pic>
        <p:nvPicPr>
          <p:cNvPr id="3" name="Imagen 2">
            <a:extLst>
              <a:ext uri="{FF2B5EF4-FFF2-40B4-BE49-F238E27FC236}">
                <a16:creationId xmlns:a16="http://schemas.microsoft.com/office/drawing/2014/main" id="{70C1FD41-6B01-4003-8583-7FDA4B45F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4" name="Imagen 3">
            <a:extLst>
              <a:ext uri="{FF2B5EF4-FFF2-40B4-BE49-F238E27FC236}">
                <a16:creationId xmlns:a16="http://schemas.microsoft.com/office/drawing/2014/main" id="{DA8696B7-6731-48A2-B3C8-29CF15919DE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8852" y="2553460"/>
            <a:ext cx="1574295" cy="1751080"/>
          </a:xfrm>
          <a:prstGeom prst="rect">
            <a:avLst/>
          </a:prstGeom>
        </p:spPr>
      </p:pic>
      <p:pic>
        <p:nvPicPr>
          <p:cNvPr id="5" name="Picture 4" descr="Logo&#10;&#10;Description automatically generated">
            <a:extLst>
              <a:ext uri="{FF2B5EF4-FFF2-40B4-BE49-F238E27FC236}">
                <a16:creationId xmlns:a16="http://schemas.microsoft.com/office/drawing/2014/main" id="{F1731905-5B70-4C74-9AF5-6B7D97E7D50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697" y="26672"/>
            <a:ext cx="449679" cy="45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364196" y="2490281"/>
            <a:ext cx="5463607" cy="1877437"/>
          </a:xfrm>
          <a:prstGeom prst="rect">
            <a:avLst/>
          </a:prstGeom>
          <a:noFill/>
        </p:spPr>
        <p:txBody>
          <a:bodyPr wrap="square" rtlCol="0">
            <a:spAutoFit/>
          </a:bodyPr>
          <a:lstStyle/>
          <a:p>
            <a:r>
              <a:rPr lang="es-CO" dirty="0">
                <a:latin typeface="Segoe UI Light" panose="020B0502040204020203" pitchFamily="34" charset="0"/>
                <a:cs typeface="Segoe UI Light" panose="020B0502040204020203" pitchFamily="34" charset="0"/>
              </a:rPr>
              <a:t>Objetivo</a:t>
            </a:r>
          </a:p>
          <a:p>
            <a:pPr algn="just"/>
            <a:endParaRPr lang="es-CO"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A partir de los ejes y modelos de terreno natural, del valle y cauce sinuoso diseñado y trazado, crear el modelo de terreno triangulado (TIN) combinado que permita generar el modelo topológico requerido para la modelación hidráulica en HEC-RAS.</a:t>
            </a:r>
          </a:p>
        </p:txBody>
      </p:sp>
      <p:pic>
        <p:nvPicPr>
          <p:cNvPr id="4" name="Imagen 3">
            <a:extLst>
              <a:ext uri="{FF2B5EF4-FFF2-40B4-BE49-F238E27FC236}">
                <a16:creationId xmlns:a16="http://schemas.microsoft.com/office/drawing/2014/main" id="{32B4F87D-2D54-445A-958E-8CB645F37E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852190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179676" y="1843950"/>
            <a:ext cx="5832648" cy="3385542"/>
          </a:xfrm>
          <a:prstGeom prst="rect">
            <a:avLst/>
          </a:prstGeom>
          <a:noFill/>
        </p:spPr>
        <p:txBody>
          <a:bodyPr wrap="square" rtlCol="0">
            <a:spAutoFit/>
          </a:bodyPr>
          <a:lstStyle/>
          <a:p>
            <a:r>
              <a:rPr lang="es-CO" dirty="0">
                <a:latin typeface="Segoe UI Light" panose="020B0502040204020203" pitchFamily="34" charset="0"/>
                <a:cs typeface="Segoe UI Light" panose="020B0502040204020203" pitchFamily="34" charset="0"/>
              </a:rPr>
              <a:t>Herramientas computacionales requeridas</a:t>
            </a:r>
          </a:p>
          <a:p>
            <a:r>
              <a:rPr lang="es-CO" dirty="0">
                <a:latin typeface="Segoe UI Light" panose="020B0502040204020203" pitchFamily="34" charset="0"/>
                <a:cs typeface="Segoe UI Light" panose="020B0502040204020203" pitchFamily="34" charset="0"/>
              </a:rPr>
              <a:t> </a:t>
            </a:r>
          </a:p>
          <a:p>
            <a:pPr marL="285750" indent="-285750">
              <a:buFont typeface="Wingdings" panose="05000000000000000000" pitchFamily="2" charset="2"/>
              <a:buChar char="ü"/>
            </a:pPr>
            <a:r>
              <a:rPr lang="pt-BR" sz="1600" dirty="0">
                <a:latin typeface="Segoe UI Light" panose="020B0502040204020203" pitchFamily="34" charset="0"/>
                <a:cs typeface="Segoe UI Light" panose="020B0502040204020203" pitchFamily="34" charset="0"/>
              </a:rPr>
              <a:t>Microsoft® Excel 2013 o superior.</a:t>
            </a:r>
          </a:p>
          <a:p>
            <a:pPr marL="285750" indent="-285750">
              <a:buFont typeface="Wingdings" panose="05000000000000000000" pitchFamily="2" charset="2"/>
              <a:buChar char="ü"/>
            </a:pPr>
            <a:endParaRPr lang="pt-BR"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ES" sz="1600" dirty="0">
                <a:latin typeface="Segoe UI Light" panose="020B0502040204020203" pitchFamily="34" charset="0"/>
                <a:cs typeface="Segoe UI Light" panose="020B0502040204020203" pitchFamily="34" charset="0"/>
              </a:rPr>
              <a:t>ESRI ArcGIS® 10.5 con las extensiones </a:t>
            </a:r>
            <a:r>
              <a:rPr lang="es-ES" sz="1600" dirty="0" err="1">
                <a:latin typeface="Segoe UI Light" panose="020B0502040204020203" pitchFamily="34" charset="0"/>
                <a:cs typeface="Segoe UI Light" panose="020B0502040204020203" pitchFamily="34" charset="0"/>
              </a:rPr>
              <a:t>Spatial</a:t>
            </a:r>
            <a:r>
              <a:rPr lang="es-ES" sz="1600" dirty="0">
                <a:latin typeface="Segoe UI Light" panose="020B0502040204020203" pitchFamily="34" charset="0"/>
                <a:cs typeface="Segoe UI Light" panose="020B0502040204020203" pitchFamily="34" charset="0"/>
              </a:rPr>
              <a:t> y 3D </a:t>
            </a:r>
            <a:r>
              <a:rPr lang="es-ES" sz="1600" dirty="0" err="1">
                <a:latin typeface="Segoe UI Light" panose="020B0502040204020203" pitchFamily="34" charset="0"/>
                <a:cs typeface="Segoe UI Light" panose="020B0502040204020203" pitchFamily="34" charset="0"/>
              </a:rPr>
              <a:t>Analyst</a:t>
            </a:r>
            <a:r>
              <a:rPr lang="es-ES" sz="1600" dirty="0">
                <a:latin typeface="Segoe UI Light" panose="020B0502040204020203" pitchFamily="34" charset="0"/>
                <a:cs typeface="Segoe UI Light" panose="020B0502040204020203" pitchFamily="34" charset="0"/>
              </a:rPr>
              <a:t>. </a:t>
            </a:r>
            <a:r>
              <a:rPr lang="es-ES" sz="1600" dirty="0">
                <a:latin typeface="Segoe UI Light" panose="020B0502040204020203" pitchFamily="34" charset="0"/>
                <a:cs typeface="Segoe UI Light" panose="020B0502040204020203" pitchFamily="34" charset="0"/>
                <a:hlinkClick r:id="rId2">
                  <a:extLst>
                    <a:ext uri="{A12FA001-AC4F-418D-AE19-62706E023703}">
                      <ahyp:hlinkClr xmlns:ahyp="http://schemas.microsoft.com/office/drawing/2018/hyperlinkcolor" val="tx"/>
                    </a:ext>
                  </a:extLst>
                </a:hlinkClick>
              </a:rPr>
              <a:t>www.esri.com</a:t>
            </a:r>
            <a:endParaRPr lang="es-ES"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endParaRPr lang="es-ES"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ES" sz="1600" dirty="0">
                <a:latin typeface="Segoe UI Light" panose="020B0502040204020203" pitchFamily="34" charset="0"/>
                <a:cs typeface="Segoe UI Light" panose="020B0502040204020203" pitchFamily="34" charset="0"/>
              </a:rPr>
              <a:t>QGIS 3.44 o superior.</a:t>
            </a:r>
          </a:p>
          <a:p>
            <a:pPr marL="285750" indent="-285750">
              <a:buFont typeface="Wingdings" panose="05000000000000000000" pitchFamily="2" charset="2"/>
              <a:buChar char="ü"/>
            </a:pPr>
            <a:endParaRPr lang="es-ES"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ES" sz="1600" dirty="0">
                <a:latin typeface="Segoe UI Light" panose="020B0502040204020203" pitchFamily="34" charset="0"/>
                <a:cs typeface="Segoe UI Light" panose="020B0502040204020203" pitchFamily="34" charset="0"/>
              </a:rPr>
              <a:t>HEC-GeoRAS v10.2.</a:t>
            </a:r>
          </a:p>
          <a:p>
            <a:pPr marL="285750" indent="-285750">
              <a:buFont typeface="Wingdings" panose="05000000000000000000" pitchFamily="2" charset="2"/>
              <a:buChar char="ü"/>
            </a:pPr>
            <a:endParaRPr lang="es-ES"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ES" sz="1600" dirty="0">
                <a:latin typeface="Segoe UI Light" panose="020B0502040204020203" pitchFamily="34" charset="0"/>
                <a:cs typeface="Segoe UI Light" panose="020B0502040204020203" pitchFamily="34" charset="0"/>
              </a:rPr>
              <a:t>HEC-RAS 5.0.7+.</a:t>
            </a:r>
          </a:p>
          <a:p>
            <a:endParaRPr lang="pt-BR"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3FFD74E0-E24C-42AA-83D7-1306EBEED8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805327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171564" y="1259175"/>
            <a:ext cx="7848872" cy="4339650"/>
          </a:xfrm>
          <a:prstGeom prst="rect">
            <a:avLst/>
          </a:prstGeom>
          <a:noFill/>
        </p:spPr>
        <p:txBody>
          <a:bodyPr wrap="square" rtlCol="0">
            <a:spAutoFit/>
          </a:bodyPr>
          <a:lstStyle/>
          <a:p>
            <a:r>
              <a:rPr lang="es-CO" dirty="0">
                <a:latin typeface="Segoe UI Light" panose="020B0502040204020203" pitchFamily="34" charset="0"/>
                <a:cs typeface="Segoe UI Light" panose="020B0502040204020203" pitchFamily="34" charset="0"/>
              </a:rPr>
              <a:t>Insumos requeridos</a:t>
            </a:r>
          </a:p>
          <a:p>
            <a:r>
              <a:rPr lang="es-CO" dirty="0">
                <a:latin typeface="Segoe UI Light" panose="020B0502040204020203" pitchFamily="34" charset="0"/>
                <a:cs typeface="Segoe UI Light" panose="020B0502040204020203" pitchFamily="34" charset="0"/>
              </a:rPr>
              <a:t> </a:t>
            </a:r>
          </a:p>
          <a:p>
            <a:pPr marL="285750" indent="-285750">
              <a:buFont typeface="Wingdings" panose="05000000000000000000" pitchFamily="2" charset="2"/>
              <a:buChar char="ü"/>
            </a:pPr>
            <a:r>
              <a:rPr lang="es-419" sz="1600" dirty="0">
                <a:latin typeface="Segoe UI Light" panose="020B0502040204020203" pitchFamily="34" charset="0"/>
                <a:cs typeface="Segoe UI Light" panose="020B0502040204020203" pitchFamily="34" charset="0"/>
              </a:rPr>
              <a:t>TIN_TerrenoNaturalAristas_v1: Capa de aristas del modelo de terreno TIN alrededor de los cauces estudiados. Creado en </a:t>
            </a:r>
            <a:r>
              <a:rPr lang="es-419" sz="1600" dirty="0" err="1">
                <a:latin typeface="Segoe UI Light" panose="020B0502040204020203" pitchFamily="34" charset="0"/>
                <a:cs typeface="Segoe UI Light" panose="020B0502040204020203" pitchFamily="34" charset="0"/>
              </a:rPr>
              <a:t>ArcGIS</a:t>
            </a:r>
            <a:r>
              <a:rPr lang="es-419" sz="1600" dirty="0">
                <a:latin typeface="Segoe UI Light" panose="020B0502040204020203" pitchFamily="34" charset="0"/>
                <a:cs typeface="Segoe UI Light" panose="020B0502040204020203" pitchFamily="34" charset="0"/>
              </a:rPr>
              <a:t> en el Tema 1.</a:t>
            </a:r>
          </a:p>
          <a:p>
            <a:pPr marL="285750" indent="-285750">
              <a:buFont typeface="Wingdings" panose="05000000000000000000" pitchFamily="2" charset="2"/>
              <a:buChar char="ü"/>
            </a:pPr>
            <a:endParaRPr lang="es-419"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419" sz="1600" dirty="0">
                <a:latin typeface="Segoe UI Light" panose="020B0502040204020203" pitchFamily="34" charset="0"/>
                <a:cs typeface="Segoe UI Light" panose="020B0502040204020203" pitchFamily="34" charset="0"/>
              </a:rPr>
              <a:t>TIN_TerrenoNaturalZonaEstudio_v1: Límite vectorial del modelo de terreno natural triangulado o del valle natural.</a:t>
            </a:r>
          </a:p>
          <a:p>
            <a:pPr marL="285750" indent="-285750">
              <a:buFont typeface="Wingdings" panose="05000000000000000000" pitchFamily="2" charset="2"/>
              <a:buChar char="ü"/>
            </a:pPr>
            <a:endParaRPr lang="es-419"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Civil3D_MDT_ValleRio_v0.dwg: Modelo de terreno combinado Valle – Cauce sinuoso creado en Autodesk Civil 3D.</a:t>
            </a:r>
          </a:p>
          <a:p>
            <a:pPr marL="285750" indent="-285750">
              <a:buFont typeface="Wingdings" panose="05000000000000000000" pitchFamily="2" charset="2"/>
              <a:buChar char="ü"/>
            </a:pPr>
            <a:endParaRPr lang="es-CO"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Civil3D_Ejes_v0.dwg: Ejes de valle, ejes del cauce sinuoso y ejes de taludes.</a:t>
            </a:r>
          </a:p>
          <a:p>
            <a:pPr marL="285750" indent="-285750">
              <a:buFont typeface="Wingdings" panose="05000000000000000000" pitchFamily="2" charset="2"/>
              <a:buChar char="ü"/>
            </a:pPr>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Los insumos vectoriales suministrados se encuentran almacenados en /file/</a:t>
            </a:r>
            <a:r>
              <a:rPr lang="es-CO" sz="1600" dirty="0" err="1">
                <a:latin typeface="Segoe UI Light" panose="020B0502040204020203" pitchFamily="34" charset="0"/>
                <a:cs typeface="Segoe UI Light" panose="020B0502040204020203" pitchFamily="34" charset="0"/>
              </a:rPr>
              <a:t>shp</a:t>
            </a:r>
            <a:r>
              <a:rPr lang="es-CO" sz="1600" dirty="0">
                <a:latin typeface="Segoe UI Light" panose="020B0502040204020203" pitchFamily="34" charset="0"/>
                <a:cs typeface="Segoe UI Light" panose="020B0502040204020203" pitchFamily="34" charset="0"/>
              </a:rPr>
              <a:t>/ y /file/</a:t>
            </a:r>
            <a:r>
              <a:rPr lang="es-CO" sz="1600" dirty="0" err="1">
                <a:latin typeface="Segoe UI Light" panose="020B0502040204020203" pitchFamily="34" charset="0"/>
                <a:cs typeface="Segoe UI Light" panose="020B0502040204020203" pitchFamily="34" charset="0"/>
              </a:rPr>
              <a:t>cad</a:t>
            </a:r>
            <a:r>
              <a:rPr lang="es-CO" sz="1600" dirty="0">
                <a:latin typeface="Segoe UI Light" panose="020B0502040204020203" pitchFamily="34" charset="0"/>
                <a:cs typeface="Segoe UI Light" panose="020B0502040204020203" pitchFamily="34" charset="0"/>
              </a:rPr>
              <a:t>/</a:t>
            </a:r>
          </a:p>
          <a:p>
            <a:endParaRPr lang="es-CO" sz="1600" dirty="0">
              <a:latin typeface="Segoe UI Light" panose="020B0502040204020203" pitchFamily="34" charset="0"/>
              <a:cs typeface="Segoe UI Light" panose="020B0502040204020203" pitchFamily="34" charset="0"/>
            </a:endParaRPr>
          </a:p>
          <a:p>
            <a:r>
              <a:rPr lang="it-IT" sz="1600" dirty="0">
                <a:latin typeface="Segoe UI Light" panose="020B0502040204020203" pitchFamily="34" charset="0"/>
                <a:cs typeface="Segoe UI Light" panose="020B0502040204020203" pitchFamily="34" charset="0"/>
              </a:rPr>
              <a:t>(Geometría: N - Punto, L - Linea, P - Polígono)</a:t>
            </a:r>
            <a:endParaRPr lang="es-CO" sz="16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5CE9F1C9-3602-439E-966A-9D94A1FED3F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774032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710262" y="785969"/>
            <a:ext cx="8771475" cy="5286062"/>
          </a:xfrm>
          <a:prstGeom prst="rect">
            <a:avLst/>
          </a:prstGeom>
          <a:noFill/>
        </p:spPr>
        <p:txBody>
          <a:bodyPr wrap="square" rtlCol="0">
            <a:spAutoFit/>
          </a:bodyPr>
          <a:lstStyle/>
          <a:p>
            <a:pPr algn="just"/>
            <a:r>
              <a:rPr lang="es-CO" dirty="0">
                <a:latin typeface="Segoe UI Light" panose="020B0502040204020203" pitchFamily="34" charset="0"/>
                <a:cs typeface="Segoe UI Light" panose="020B0502040204020203" pitchFamily="34" charset="0"/>
              </a:rPr>
              <a:t>¿Qué es HEC-RAS?</a:t>
            </a:r>
          </a:p>
          <a:p>
            <a:pPr algn="just"/>
            <a:r>
              <a:rPr lang="es-CO" sz="1100" dirty="0">
                <a:latin typeface="Segoe UI Light" panose="020B0502040204020203" pitchFamily="34" charset="0"/>
                <a:cs typeface="Segoe UI Light" panose="020B0502040204020203" pitchFamily="34" charset="0"/>
              </a:rPr>
              <a:t> </a:t>
            </a:r>
            <a:endParaRPr lang="es-CO"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Es una herramienta computacional de dominio público creada por el Cuerpo de Ingenieros Militares de los Estados Unidos de América (US Army Corps of Engineers), utilizada para realizar cálculos hidráulicos sobre una red compuesta por canales abiertos naturales o construidos, llanuras de inundación y aluviones. </a:t>
            </a:r>
          </a:p>
          <a:p>
            <a:pPr algn="just"/>
            <a:endParaRPr lang="en-US" dirty="0">
              <a:latin typeface="Segoe UI Light" panose="020B0502040204020203" pitchFamily="34" charset="0"/>
              <a:cs typeface="Segoe UI Light" panose="020B0502040204020203" pitchFamily="34" charset="0"/>
            </a:endParaRPr>
          </a:p>
          <a:p>
            <a:pPr algn="just"/>
            <a:endParaRPr lang="en-US" dirty="0">
              <a:latin typeface="Segoe UI Light" panose="020B0502040204020203" pitchFamily="34" charset="0"/>
              <a:cs typeface="Segoe UI Light" panose="020B0502040204020203" pitchFamily="34" charset="0"/>
            </a:endParaRPr>
          </a:p>
          <a:p>
            <a:pPr algn="just"/>
            <a:r>
              <a:rPr lang="es-CO" dirty="0">
                <a:latin typeface="Segoe UI Light" panose="020B0502040204020203" pitchFamily="34" charset="0"/>
                <a:cs typeface="Segoe UI Light" panose="020B0502040204020203" pitchFamily="34" charset="0"/>
              </a:rPr>
              <a:t>Simulación de flujo no permanente en una y dos dimensiones</a:t>
            </a:r>
          </a:p>
          <a:p>
            <a:pPr algn="just"/>
            <a:endParaRPr lang="es-CO"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HEC-RAS tiene la capacidad de simular Flujo No Permanente, unidimensional o bidimensionalmente y se puede utilizar para modelar regímenes de flujo subcrítico, supercrítico y mixto. </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Actualmente, los cálculos hidráulicos realizados para secciones transversales, puentes, alcantarillas y otras estructuras hidráulicas pueden ser realizados en flujo no permanente.</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Otras características especiales incluyen: análisis de rotura de presas y diques, estaciones de bombeo, operación de presas para sistemas navegables, sistemas de tuberías a presión, calibración automatizada, reglas de operación definidas por el usuario y la combinación de modelos 1D y 2D. </a:t>
            </a:r>
          </a:p>
          <a:p>
            <a:pPr algn="just"/>
            <a:endParaRPr lang="es-CO" dirty="0">
              <a:latin typeface="Segoe UI Light" panose="020B0502040204020203" pitchFamily="34" charset="0"/>
              <a:cs typeface="Segoe UI Light" panose="020B0502040204020203" pitchFamily="34" charset="0"/>
            </a:endParaRPr>
          </a:p>
          <a:p>
            <a:pPr algn="just"/>
            <a:r>
              <a:rPr lang="es-CO" sz="1050" dirty="0">
                <a:latin typeface="Segoe UI Light" panose="020B0502040204020203" pitchFamily="34" charset="0"/>
                <a:cs typeface="Segoe UI Light" panose="020B0502040204020203" pitchFamily="34" charset="0"/>
              </a:rPr>
              <a:t>(Texto adaptado al español de: http://www.hec.usace.army.mil/software/hec-ras/features.aspx#Unsteady)</a:t>
            </a:r>
          </a:p>
        </p:txBody>
      </p:sp>
      <p:pic>
        <p:nvPicPr>
          <p:cNvPr id="4" name="Imagen 3">
            <a:extLst>
              <a:ext uri="{FF2B5EF4-FFF2-40B4-BE49-F238E27FC236}">
                <a16:creationId xmlns:a16="http://schemas.microsoft.com/office/drawing/2014/main" id="{BA4B1AEE-B948-4A44-88EA-AF948E7CE77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111998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683732" y="3244334"/>
            <a:ext cx="4824536" cy="369332"/>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Actividad 1: Integración del modelo de terreno</a:t>
            </a:r>
          </a:p>
        </p:txBody>
      </p:sp>
      <p:pic>
        <p:nvPicPr>
          <p:cNvPr id="4" name="Imagen 3">
            <a:extLst>
              <a:ext uri="{FF2B5EF4-FFF2-40B4-BE49-F238E27FC236}">
                <a16:creationId xmlns:a16="http://schemas.microsoft.com/office/drawing/2014/main" id="{3803EA36-467E-4A9F-A6FD-9B5B12D547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348309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551384" y="692696"/>
            <a:ext cx="4283968" cy="3046988"/>
          </a:xfrm>
          <a:prstGeom prst="rect">
            <a:avLst/>
          </a:prstGeom>
          <a:noFill/>
        </p:spPr>
        <p:txBody>
          <a:bodyPr wrap="square" rtlCol="0">
            <a:spAutoFit/>
          </a:bodyPr>
          <a:lstStyle/>
          <a:p>
            <a:pPr algn="ctr"/>
            <a:r>
              <a:rPr lang="es-419" sz="1600" dirty="0">
                <a:latin typeface="Segoe UI Light" panose="020B0502040204020203" pitchFamily="34" charset="0"/>
                <a:cs typeface="Segoe UI Light" panose="020B0502040204020203" pitchFamily="34" charset="0"/>
              </a:rPr>
              <a:t>En ArcMap o QGIS, agregue primero las capas TIN_TerrenoNaturalAristas_v1 y </a:t>
            </a:r>
            <a:r>
              <a:rPr lang="es-419" sz="1600" dirty="0" err="1">
                <a:latin typeface="Segoe UI Light" panose="020B0502040204020203" pitchFamily="34" charset="0"/>
                <a:cs typeface="Segoe UI Light" panose="020B0502040204020203" pitchFamily="34" charset="0"/>
              </a:rPr>
              <a:t>TIN_TerrenoNaturalZonaEstudio</a:t>
            </a:r>
            <a:r>
              <a:rPr lang="es-419" sz="1600" dirty="0">
                <a:latin typeface="Segoe UI Light" panose="020B0502040204020203" pitchFamily="34" charset="0"/>
                <a:cs typeface="Segoe UI Light" panose="020B0502040204020203" pitchFamily="34" charset="0"/>
              </a:rPr>
              <a:t>_, luego el archivo CAD del modelo combinado de Valle y Cauce Sinuoso Civil3D_MDT_ValleRio_v0.dwg.</a:t>
            </a:r>
          </a:p>
          <a:p>
            <a:pPr algn="ctr"/>
            <a:endParaRPr lang="es-419" sz="1600" dirty="0">
              <a:latin typeface="Segoe UI Light" panose="020B0502040204020203" pitchFamily="34" charset="0"/>
              <a:cs typeface="Segoe UI Light" panose="020B0502040204020203" pitchFamily="34" charset="0"/>
            </a:endParaRPr>
          </a:p>
          <a:p>
            <a:pPr algn="ctr"/>
            <a:r>
              <a:rPr lang="es-419" sz="1600" dirty="0">
                <a:latin typeface="Segoe UI Light" panose="020B0502040204020203" pitchFamily="34" charset="0"/>
                <a:cs typeface="Segoe UI Light" panose="020B0502040204020203" pitchFamily="34" charset="0"/>
              </a:rPr>
              <a:t>Verifique que el sistema de coordenadas del proyecto sea GAUSS_BTA_MAGNA.</a:t>
            </a:r>
          </a:p>
          <a:p>
            <a:pPr algn="ctr"/>
            <a:endParaRPr lang="es-419" sz="1600" dirty="0">
              <a:latin typeface="Segoe UI Light" panose="020B0502040204020203" pitchFamily="34" charset="0"/>
              <a:cs typeface="Segoe UI Light" panose="020B0502040204020203" pitchFamily="34" charset="0"/>
            </a:endParaRPr>
          </a:p>
          <a:p>
            <a:pPr algn="ctr"/>
            <a:r>
              <a:rPr lang="es-419" sz="1600" dirty="0">
                <a:latin typeface="Segoe UI Light" panose="020B0502040204020203" pitchFamily="34" charset="0"/>
                <a:cs typeface="Segoe UI Light" panose="020B0502040204020203" pitchFamily="34" charset="0"/>
              </a:rPr>
              <a:t>Nota: este procedimiento también puede ser realizado con todas las curvas del nivel contenidas CGG_CurvaNivelLidar_v0.</a:t>
            </a:r>
          </a:p>
        </p:txBody>
      </p:sp>
      <p:pic>
        <p:nvPicPr>
          <p:cNvPr id="3" name="Imagen 2"/>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5735960" y="692696"/>
            <a:ext cx="5508104" cy="5967113"/>
          </a:xfrm>
          <a:prstGeom prst="rect">
            <a:avLst/>
          </a:prstGeom>
        </p:spPr>
      </p:pic>
      <p:sp>
        <p:nvSpPr>
          <p:cNvPr id="5" name="1 Título">
            <a:extLst>
              <a:ext uri="{FF2B5EF4-FFF2-40B4-BE49-F238E27FC236}">
                <a16:creationId xmlns:a16="http://schemas.microsoft.com/office/drawing/2014/main" id="{17B49629-88D0-4E64-B5BE-706D55ECCD70}"/>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Integración del modelo de terreno</a:t>
            </a:r>
          </a:p>
        </p:txBody>
      </p:sp>
      <p:pic>
        <p:nvPicPr>
          <p:cNvPr id="7" name="Imagen 6">
            <a:extLst>
              <a:ext uri="{FF2B5EF4-FFF2-40B4-BE49-F238E27FC236}">
                <a16:creationId xmlns:a16="http://schemas.microsoft.com/office/drawing/2014/main" id="{BEC1EB17-9C40-4BFD-BD77-018F7210B1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05180" y="1035644"/>
            <a:ext cx="360000" cy="360000"/>
          </a:xfrm>
          <a:prstGeom prst="rect">
            <a:avLst/>
          </a:prstGeom>
        </p:spPr>
      </p:pic>
      <p:pic>
        <p:nvPicPr>
          <p:cNvPr id="9" name="Imagen 8">
            <a:extLst>
              <a:ext uri="{FF2B5EF4-FFF2-40B4-BE49-F238E27FC236}">
                <a16:creationId xmlns:a16="http://schemas.microsoft.com/office/drawing/2014/main" id="{27E4020B-C424-4B44-84E4-10DB33A69B7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04439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76827" y="564701"/>
            <a:ext cx="5790164" cy="2800767"/>
          </a:xfrm>
          <a:prstGeom prst="rect">
            <a:avLst/>
          </a:prstGeom>
          <a:noFill/>
        </p:spPr>
        <p:txBody>
          <a:bodyPr wrap="square" rtlCol="0">
            <a:spAutoFit/>
          </a:bodyPr>
          <a:lstStyle/>
          <a:p>
            <a:r>
              <a:rPr lang="es-419" sz="1600" dirty="0">
                <a:latin typeface="Segoe UI Light" panose="020B0502040204020203" pitchFamily="34" charset="0"/>
                <a:cs typeface="Segoe UI Light" panose="020B0502040204020203" pitchFamily="34" charset="0"/>
              </a:rPr>
              <a:t>Del archivo CAD guardado como  Civil3D_MDT_ValleRio_v0.dwg, seleccione manualmente y exporte a un archivo </a:t>
            </a:r>
            <a:r>
              <a:rPr lang="es-419" sz="1600" dirty="0" err="1">
                <a:latin typeface="Segoe UI Light" panose="020B0502040204020203" pitchFamily="34" charset="0"/>
                <a:cs typeface="Segoe UI Light" panose="020B0502040204020203" pitchFamily="34" charset="0"/>
              </a:rPr>
              <a:t>shapefile</a:t>
            </a:r>
            <a:r>
              <a:rPr lang="es-419" sz="1600" dirty="0">
                <a:latin typeface="Segoe UI Light" panose="020B0502040204020203" pitchFamily="34" charset="0"/>
                <a:cs typeface="Segoe UI Light" panose="020B0502040204020203" pitchFamily="34" charset="0"/>
              </a:rPr>
              <a:t>, el polígono límite de corte del modelo de terreno del valle creado en Autodesk </a:t>
            </a:r>
            <a:r>
              <a:rPr lang="es-419" sz="1600" dirty="0" err="1">
                <a:latin typeface="Segoe UI Light" panose="020B0502040204020203" pitchFamily="34" charset="0"/>
                <a:cs typeface="Segoe UI Light" panose="020B0502040204020203" pitchFamily="34" charset="0"/>
              </a:rPr>
              <a:t>CivilL</a:t>
            </a:r>
            <a:r>
              <a:rPr lang="es-419" sz="1600" dirty="0">
                <a:latin typeface="Segoe UI Light" panose="020B0502040204020203" pitchFamily="34" charset="0"/>
                <a:cs typeface="Segoe UI Light" panose="020B0502040204020203" pitchFamily="34" charset="0"/>
              </a:rPr>
              <a:t> 3D. Utilice el sistema de proyección de coordenadas del marco de datos, Magna. </a:t>
            </a:r>
          </a:p>
          <a:p>
            <a:endParaRPr lang="es-419" sz="1600" dirty="0">
              <a:latin typeface="Segoe UI Light" panose="020B0502040204020203" pitchFamily="34" charset="0"/>
              <a:cs typeface="Segoe UI Light" panose="020B0502040204020203" pitchFamily="34" charset="0"/>
            </a:endParaRPr>
          </a:p>
          <a:p>
            <a:r>
              <a:rPr lang="es-419" sz="1600" dirty="0">
                <a:latin typeface="Segoe UI Light" panose="020B0502040204020203" pitchFamily="34" charset="0"/>
                <a:cs typeface="Segoe UI Light" panose="020B0502040204020203" pitchFamily="34" charset="0"/>
              </a:rPr>
              <a:t>Nombre el archivo de formas como: </a:t>
            </a:r>
          </a:p>
          <a:p>
            <a:r>
              <a:rPr lang="es-419" sz="1600" dirty="0">
                <a:latin typeface="Segoe UI Light" panose="020B0502040204020203" pitchFamily="34" charset="0"/>
                <a:cs typeface="Segoe UI Light" panose="020B0502040204020203" pitchFamily="34" charset="0"/>
              </a:rPr>
              <a:t>TIN_TerrenoNaturalZonaEstudio_v2.shp</a:t>
            </a:r>
          </a:p>
          <a:p>
            <a:endParaRPr lang="es-419" sz="1600" dirty="0">
              <a:latin typeface="Segoe UI Light" panose="020B0502040204020203" pitchFamily="34" charset="0"/>
              <a:cs typeface="Segoe UI Light" panose="020B0502040204020203" pitchFamily="34" charset="0"/>
            </a:endParaRPr>
          </a:p>
          <a:p>
            <a:r>
              <a:rPr lang="es-419" sz="1600" dirty="0">
                <a:latin typeface="Segoe UI Light" panose="020B0502040204020203" pitchFamily="34" charset="0"/>
                <a:cs typeface="Segoe UI Light" panose="020B0502040204020203" pitchFamily="34" charset="0"/>
              </a:rPr>
              <a:t>Nota: Se debe exportar primero como </a:t>
            </a:r>
            <a:r>
              <a:rPr lang="es-419" sz="1600" dirty="0" err="1">
                <a:latin typeface="Segoe UI Light" panose="020B0502040204020203" pitchFamily="34" charset="0"/>
                <a:cs typeface="Segoe UI Light" panose="020B0502040204020203" pitchFamily="34" charset="0"/>
              </a:rPr>
              <a:t>shapefile</a:t>
            </a:r>
            <a:r>
              <a:rPr lang="es-419" sz="1600" dirty="0">
                <a:latin typeface="Segoe UI Light" panose="020B0502040204020203" pitchFamily="34" charset="0"/>
                <a:cs typeface="Segoe UI Light" panose="020B0502040204020203" pitchFamily="34" charset="0"/>
              </a:rPr>
              <a:t> para convertir las curvas espirales en curvas compuestas por nodos.</a:t>
            </a:r>
          </a:p>
        </p:txBody>
      </p:sp>
      <p:pic>
        <p:nvPicPr>
          <p:cNvPr id="4" name="Imagen 3"/>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6210492" y="564701"/>
            <a:ext cx="5502132" cy="5960643"/>
          </a:xfrm>
          <a:prstGeom prst="rect">
            <a:avLst/>
          </a:prstGeom>
        </p:spPr>
      </p:pic>
      <p:pic>
        <p:nvPicPr>
          <p:cNvPr id="9" name="Imagen 8">
            <a:extLst>
              <a:ext uri="{FF2B5EF4-FFF2-40B4-BE49-F238E27FC236}">
                <a16:creationId xmlns:a16="http://schemas.microsoft.com/office/drawing/2014/main" id="{7EB0E70B-4B75-4F58-9BF1-86ADC12B814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60484" y="1883028"/>
            <a:ext cx="360000" cy="360000"/>
          </a:xfrm>
          <a:prstGeom prst="rect">
            <a:avLst/>
          </a:prstGeom>
        </p:spPr>
      </p:pic>
      <p:pic>
        <p:nvPicPr>
          <p:cNvPr id="10" name="Imagen 9">
            <a:extLst>
              <a:ext uri="{FF2B5EF4-FFF2-40B4-BE49-F238E27FC236}">
                <a16:creationId xmlns:a16="http://schemas.microsoft.com/office/drawing/2014/main" id="{E284DC81-3A3A-4A3A-B032-A75A8ABFBD2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8B86F017-C5B9-4369-98F9-3A632C9A6E17}"/>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Integración del modelo de terreno</a:t>
            </a:r>
          </a:p>
        </p:txBody>
      </p:sp>
    </p:spTree>
    <p:extLst>
      <p:ext uri="{BB962C8B-B14F-4D97-AF65-F5344CB8AC3E}">
        <p14:creationId xmlns:p14="http://schemas.microsoft.com/office/powerpoint/2010/main" val="124204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23627" y="559433"/>
            <a:ext cx="5328592" cy="2062103"/>
          </a:xfrm>
          <a:prstGeom prst="rect">
            <a:avLst/>
          </a:prstGeom>
          <a:noFill/>
        </p:spPr>
        <p:txBody>
          <a:bodyPr wrap="square" rtlCol="0">
            <a:spAutoFit/>
          </a:bodyPr>
          <a:lstStyle/>
          <a:p>
            <a:r>
              <a:rPr lang="es-419" sz="1600" dirty="0">
                <a:latin typeface="Segoe UI Light" panose="020B0502040204020203" pitchFamily="34" charset="0"/>
                <a:cs typeface="Segoe UI Light" panose="020B0502040204020203" pitchFamily="34" charset="0"/>
              </a:rPr>
              <a:t>Desde el Catálogo, importe el archivo de formas .</a:t>
            </a:r>
            <a:r>
              <a:rPr lang="es-419" sz="1600" dirty="0" err="1">
                <a:latin typeface="Segoe UI Light" panose="020B0502040204020203" pitchFamily="34" charset="0"/>
                <a:cs typeface="Segoe UI Light" panose="020B0502040204020203" pitchFamily="34" charset="0"/>
              </a:rPr>
              <a:t>shp</a:t>
            </a:r>
            <a:r>
              <a:rPr lang="es-419" sz="1600" dirty="0">
                <a:latin typeface="Segoe UI Light" panose="020B0502040204020203" pitchFamily="34" charset="0"/>
                <a:cs typeface="Segoe UI Light" panose="020B0502040204020203" pitchFamily="34" charset="0"/>
              </a:rPr>
              <a:t> del polígono exportado a una capa dentro de la base de datos geográfica del proyecto (</a:t>
            </a:r>
            <a:r>
              <a:rPr lang="es-419" sz="1600" dirty="0" err="1">
                <a:latin typeface="Segoe UI Light" panose="020B0502040204020203" pitchFamily="34" charset="0"/>
                <a:cs typeface="Segoe UI Light" panose="020B0502040204020203" pitchFamily="34" charset="0"/>
              </a:rPr>
              <a:t>GEODATABASE.gdb</a:t>
            </a:r>
            <a:r>
              <a:rPr lang="es-419" sz="1600" dirty="0">
                <a:latin typeface="Segoe UI Light" panose="020B0502040204020203" pitchFamily="34" charset="0"/>
                <a:cs typeface="Segoe UI Light" panose="020B0502040204020203" pitchFamily="34" charset="0"/>
              </a:rPr>
              <a:t>) con el nombre: TIN_TerrenoNaturalZonaEstudio_v2.</a:t>
            </a:r>
          </a:p>
          <a:p>
            <a:endParaRPr lang="es-419" sz="1600" dirty="0">
              <a:latin typeface="Segoe UI Light" panose="020B0502040204020203" pitchFamily="34" charset="0"/>
              <a:cs typeface="Segoe UI Light" panose="020B0502040204020203" pitchFamily="34" charset="0"/>
            </a:endParaRPr>
          </a:p>
          <a:p>
            <a:r>
              <a:rPr lang="es-419" sz="1600" dirty="0">
                <a:latin typeface="Segoe UI Light" panose="020B0502040204020203" pitchFamily="34" charset="0"/>
                <a:cs typeface="Segoe UI Light" panose="020B0502040204020203" pitchFamily="34" charset="0"/>
              </a:rPr>
              <a:t>Agregue la capa creada al mapa.</a:t>
            </a:r>
          </a:p>
          <a:p>
            <a:endParaRPr lang="es-419" sz="1600" dirty="0">
              <a:latin typeface="Segoe UI Light" panose="020B0502040204020203" pitchFamily="34" charset="0"/>
              <a:cs typeface="Segoe UI Light" panose="020B0502040204020203" pitchFamily="34" charset="0"/>
            </a:endParaRPr>
          </a:p>
          <a:p>
            <a:r>
              <a:rPr lang="es-419" sz="1600" dirty="0">
                <a:latin typeface="Segoe UI Light" panose="020B0502040204020203" pitchFamily="34" charset="0"/>
                <a:cs typeface="Segoe UI Light" panose="020B0502040204020203" pitchFamily="34" charset="0"/>
              </a:rPr>
              <a:t>Retire del mapa actual, la capa </a:t>
            </a:r>
            <a:r>
              <a:rPr lang="es-419" sz="1600" dirty="0" err="1">
                <a:latin typeface="Segoe UI Light" panose="020B0502040204020203" pitchFamily="34" charset="0"/>
                <a:cs typeface="Segoe UI Light" panose="020B0502040204020203" pitchFamily="34" charset="0"/>
              </a:rPr>
              <a:t>shapefile</a:t>
            </a:r>
            <a:r>
              <a:rPr lang="es-419" sz="1600" dirty="0">
                <a:latin typeface="Segoe UI Light" panose="020B0502040204020203" pitchFamily="34" charset="0"/>
                <a:cs typeface="Segoe UI Light" panose="020B0502040204020203" pitchFamily="34" charset="0"/>
              </a:rPr>
              <a:t> del borde del valle.</a:t>
            </a:r>
          </a:p>
        </p:txBody>
      </p:sp>
      <p:pic>
        <p:nvPicPr>
          <p:cNvPr id="4" name="Imagen 3"/>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50000" b="3800"/>
          <a:stretch/>
        </p:blipFill>
        <p:spPr>
          <a:xfrm>
            <a:off x="6056064" y="559433"/>
            <a:ext cx="5512544" cy="5965911"/>
          </a:xfrm>
          <a:prstGeom prst="rect">
            <a:avLst/>
          </a:prstGeom>
        </p:spPr>
      </p:pic>
      <p:pic>
        <p:nvPicPr>
          <p:cNvPr id="5" name="Imagen 4"/>
          <p:cNvPicPr>
            <a:picLocks noChangeAspect="1"/>
          </p:cNvPicPr>
          <p:nvPr/>
        </p:nvPicPr>
        <p:blipFill>
          <a:blip r:embed="rId4"/>
          <a:stretch>
            <a:fillRect/>
          </a:stretch>
        </p:blipFill>
        <p:spPr>
          <a:xfrm>
            <a:off x="1055439" y="2924944"/>
            <a:ext cx="4064967" cy="3600400"/>
          </a:xfrm>
          <a:prstGeom prst="rect">
            <a:avLst/>
          </a:prstGeom>
        </p:spPr>
      </p:pic>
      <p:pic>
        <p:nvPicPr>
          <p:cNvPr id="10" name="Imagen 9">
            <a:extLst>
              <a:ext uri="{FF2B5EF4-FFF2-40B4-BE49-F238E27FC236}">
                <a16:creationId xmlns:a16="http://schemas.microsoft.com/office/drawing/2014/main" id="{9F8E4A43-37CF-4749-A198-D60A97B9AA8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08592" y="3325293"/>
            <a:ext cx="360000" cy="360000"/>
          </a:xfrm>
          <a:prstGeom prst="rect">
            <a:avLst/>
          </a:prstGeom>
        </p:spPr>
      </p:pic>
      <p:pic>
        <p:nvPicPr>
          <p:cNvPr id="11" name="Imagen 10">
            <a:extLst>
              <a:ext uri="{FF2B5EF4-FFF2-40B4-BE49-F238E27FC236}">
                <a16:creationId xmlns:a16="http://schemas.microsoft.com/office/drawing/2014/main" id="{7582748C-90D0-4725-90E2-C05F7E12FB6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15E0252B-6D24-49ED-8AD2-72052691CE0D}"/>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Integración del modelo de terreno</a:t>
            </a:r>
          </a:p>
        </p:txBody>
      </p:sp>
    </p:spTree>
    <p:extLst>
      <p:ext uri="{BB962C8B-B14F-4D97-AF65-F5344CB8AC3E}">
        <p14:creationId xmlns:p14="http://schemas.microsoft.com/office/powerpoint/2010/main" val="4100759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47031" y="476672"/>
            <a:ext cx="6237001" cy="2800767"/>
          </a:xfrm>
          <a:prstGeom prst="rect">
            <a:avLst/>
          </a:prstGeom>
          <a:noFill/>
        </p:spPr>
        <p:txBody>
          <a:bodyPr wrap="square" rtlCol="0">
            <a:spAutoFit/>
          </a:bodyPr>
          <a:lstStyle/>
          <a:p>
            <a:r>
              <a:rPr lang="es-419" sz="1600" dirty="0">
                <a:latin typeface="Segoe UI Light" panose="020B0502040204020203" pitchFamily="34" charset="0"/>
                <a:cs typeface="Segoe UI Light" panose="020B0502040204020203" pitchFamily="34" charset="0"/>
              </a:rPr>
              <a:t>Combine la capa del límite externo del modelo TIN (TIN_TerrenoNaturalZonaEstudio_v1) con la capa del borde del valle creado en civil e importada a la base de datos geográfica (TIN_TerrenoNaturalZonaEstudio_v2), en las opciones de geo-procesamiento ejecute la herramienta Combinación (</a:t>
            </a:r>
            <a:r>
              <a:rPr lang="es-419" sz="1600" dirty="0" err="1">
                <a:latin typeface="Segoe UI Light" panose="020B0502040204020203" pitchFamily="34" charset="0"/>
                <a:cs typeface="Segoe UI Light" panose="020B0502040204020203" pitchFamily="34" charset="0"/>
              </a:rPr>
              <a:t>Union</a:t>
            </a:r>
            <a:r>
              <a:rPr lang="es-419" sz="1600" dirty="0">
                <a:latin typeface="Segoe UI Light" panose="020B0502040204020203" pitchFamily="34" charset="0"/>
                <a:cs typeface="Segoe UI Light" panose="020B0502040204020203" pitchFamily="34" charset="0"/>
              </a:rPr>
              <a:t>). Nombre el nuevo límite combinado como </a:t>
            </a:r>
            <a:r>
              <a:rPr lang="es-419" sz="1600" i="1" dirty="0">
                <a:latin typeface="Segoe UI Light" panose="020B0502040204020203" pitchFamily="34" charset="0"/>
                <a:cs typeface="Segoe UI Light" panose="020B0502040204020203" pitchFamily="34" charset="0"/>
              </a:rPr>
              <a:t>TIN_TerrenoNaturalZonaEstudio_v3.</a:t>
            </a:r>
          </a:p>
          <a:p>
            <a:endParaRPr lang="es-419" sz="1600" dirty="0">
              <a:latin typeface="Segoe UI Light" panose="020B0502040204020203" pitchFamily="34" charset="0"/>
              <a:cs typeface="Segoe UI Light" panose="020B0502040204020203" pitchFamily="34" charset="0"/>
            </a:endParaRPr>
          </a:p>
          <a:p>
            <a:r>
              <a:rPr lang="es-419" sz="1600" dirty="0">
                <a:latin typeface="Segoe UI Light" panose="020B0502040204020203" pitchFamily="34" charset="0"/>
                <a:cs typeface="Segoe UI Light" panose="020B0502040204020203" pitchFamily="34" charset="0"/>
              </a:rPr>
              <a:t>Nota: para utilizar el límite externo de todas las curvas de nivel contenidas en la GDB como </a:t>
            </a:r>
            <a:r>
              <a:rPr lang="es-419" sz="1600" i="1" dirty="0">
                <a:latin typeface="Segoe UI Light" panose="020B0502040204020203" pitchFamily="34" charset="0"/>
                <a:cs typeface="Segoe UI Light" panose="020B0502040204020203" pitchFamily="34" charset="0"/>
              </a:rPr>
              <a:t>CGG_CurvaNivelLidar_v0</a:t>
            </a:r>
            <a:r>
              <a:rPr lang="es-419" sz="1600" dirty="0">
                <a:latin typeface="Segoe UI Light" panose="020B0502040204020203" pitchFamily="34" charset="0"/>
                <a:cs typeface="Segoe UI Light" panose="020B0502040204020203" pitchFamily="34" charset="0"/>
              </a:rPr>
              <a:t>, cree primero el límite o perímetro externo. Utilice la herramienta </a:t>
            </a:r>
            <a:r>
              <a:rPr lang="es-419" sz="1600" i="1" dirty="0" err="1">
                <a:latin typeface="Segoe UI Light" panose="020B0502040204020203" pitchFamily="34" charset="0"/>
                <a:cs typeface="Segoe UI Light" panose="020B0502040204020203" pitchFamily="34" charset="0"/>
              </a:rPr>
              <a:t>Minimum</a:t>
            </a:r>
            <a:r>
              <a:rPr lang="es-419" sz="1600" i="1" dirty="0">
                <a:latin typeface="Segoe UI Light" panose="020B0502040204020203" pitchFamily="34" charset="0"/>
                <a:cs typeface="Segoe UI Light" panose="020B0502040204020203" pitchFamily="34" charset="0"/>
              </a:rPr>
              <a:t> </a:t>
            </a:r>
            <a:r>
              <a:rPr lang="es-419" sz="1600" i="1" dirty="0" err="1">
                <a:latin typeface="Segoe UI Light" panose="020B0502040204020203" pitchFamily="34" charset="0"/>
                <a:cs typeface="Segoe UI Light" panose="020B0502040204020203" pitchFamily="34" charset="0"/>
              </a:rPr>
              <a:t>Bounding</a:t>
            </a:r>
            <a:r>
              <a:rPr lang="es-419" sz="1600" i="1" dirty="0">
                <a:latin typeface="Segoe UI Light" panose="020B0502040204020203" pitchFamily="34" charset="0"/>
                <a:cs typeface="Segoe UI Light" panose="020B0502040204020203" pitchFamily="34" charset="0"/>
              </a:rPr>
              <a:t> </a:t>
            </a:r>
            <a:r>
              <a:rPr lang="es-419" sz="1600" i="1" dirty="0" err="1">
                <a:latin typeface="Segoe UI Light" panose="020B0502040204020203" pitchFamily="34" charset="0"/>
                <a:cs typeface="Segoe UI Light" panose="020B0502040204020203" pitchFamily="34" charset="0"/>
              </a:rPr>
              <a:t>Geometry</a:t>
            </a:r>
            <a:r>
              <a:rPr lang="es-419" sz="1600" dirty="0">
                <a:latin typeface="Segoe UI Light" panose="020B0502040204020203" pitchFamily="34" charset="0"/>
                <a:cs typeface="Segoe UI Light" panose="020B0502040204020203" pitchFamily="34" charset="0"/>
              </a:rPr>
              <a:t>,  guarde como </a:t>
            </a:r>
            <a:r>
              <a:rPr lang="es-419" sz="1600" i="1" dirty="0">
                <a:latin typeface="Segoe UI Light" panose="020B0502040204020203" pitchFamily="34" charset="0"/>
                <a:cs typeface="Segoe UI Light" panose="020B0502040204020203" pitchFamily="34" charset="0"/>
              </a:rPr>
              <a:t>TIN_TerrenoNaturalZonaEstudio_v2a.</a:t>
            </a:r>
            <a:r>
              <a:rPr lang="es-419" sz="1600" dirty="0">
                <a:latin typeface="Segoe UI Light" panose="020B0502040204020203" pitchFamily="34" charset="0"/>
                <a:cs typeface="Segoe UI Light" panose="020B0502040204020203" pitchFamily="34" charset="0"/>
              </a:rPr>
              <a:t> </a:t>
            </a:r>
          </a:p>
        </p:txBody>
      </p:sp>
      <p:grpSp>
        <p:nvGrpSpPr>
          <p:cNvPr id="13" name="Group 12">
            <a:extLst>
              <a:ext uri="{FF2B5EF4-FFF2-40B4-BE49-F238E27FC236}">
                <a16:creationId xmlns:a16="http://schemas.microsoft.com/office/drawing/2014/main" id="{7A0B6895-E426-69C2-C5DB-039F54317D62}"/>
              </a:ext>
            </a:extLst>
          </p:cNvPr>
          <p:cNvGrpSpPr/>
          <p:nvPr/>
        </p:nvGrpSpPr>
        <p:grpSpPr>
          <a:xfrm>
            <a:off x="6528048" y="476672"/>
            <a:ext cx="5516921" cy="5976664"/>
            <a:chOff x="6411727" y="476672"/>
            <a:chExt cx="5516921" cy="5976664"/>
          </a:xfrm>
        </p:grpSpPr>
        <p:pic>
          <p:nvPicPr>
            <p:cNvPr id="3" name="Imagen 2"/>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6411727" y="476672"/>
              <a:ext cx="5516921" cy="5976664"/>
            </a:xfrm>
            <a:prstGeom prst="rect">
              <a:avLst/>
            </a:prstGeom>
          </p:spPr>
        </p:pic>
        <p:pic>
          <p:nvPicPr>
            <p:cNvPr id="9" name="Imagen 8">
              <a:extLst>
                <a:ext uri="{FF2B5EF4-FFF2-40B4-BE49-F238E27FC236}">
                  <a16:creationId xmlns:a16="http://schemas.microsoft.com/office/drawing/2014/main" id="{DCEE3211-43D3-453E-8110-FBFDCA0C8D9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44175" y="3573016"/>
              <a:ext cx="360000" cy="360000"/>
            </a:xfrm>
            <a:prstGeom prst="rect">
              <a:avLst/>
            </a:prstGeom>
          </p:spPr>
        </p:pic>
      </p:grpSp>
      <p:pic>
        <p:nvPicPr>
          <p:cNvPr id="10" name="Imagen 9">
            <a:extLst>
              <a:ext uri="{FF2B5EF4-FFF2-40B4-BE49-F238E27FC236}">
                <a16:creationId xmlns:a16="http://schemas.microsoft.com/office/drawing/2014/main" id="{AB6BD1E3-C6D9-445B-BBCC-58C576E841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441E9277-64B9-42B6-862E-B2435579F563}"/>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Integración del modelo de terreno</a:t>
            </a:r>
          </a:p>
        </p:txBody>
      </p:sp>
      <p:pic>
        <p:nvPicPr>
          <p:cNvPr id="12" name="Picture 11">
            <a:extLst>
              <a:ext uri="{FF2B5EF4-FFF2-40B4-BE49-F238E27FC236}">
                <a16:creationId xmlns:a16="http://schemas.microsoft.com/office/drawing/2014/main" id="{A4AF270C-3F93-2204-47F0-BBEBFCB74757}"/>
              </a:ext>
            </a:extLst>
          </p:cNvPr>
          <p:cNvPicPr>
            <a:picLocks noChangeAspect="1"/>
          </p:cNvPicPr>
          <p:nvPr/>
        </p:nvPicPr>
        <p:blipFill>
          <a:blip r:embed="rId6"/>
          <a:stretch>
            <a:fillRect/>
          </a:stretch>
        </p:blipFill>
        <p:spPr>
          <a:xfrm>
            <a:off x="1102168" y="3388503"/>
            <a:ext cx="4320462" cy="3361860"/>
          </a:xfrm>
          <a:prstGeom prst="rect">
            <a:avLst/>
          </a:prstGeom>
        </p:spPr>
      </p:pic>
    </p:spTree>
    <p:extLst>
      <p:ext uri="{BB962C8B-B14F-4D97-AF65-F5344CB8AC3E}">
        <p14:creationId xmlns:p14="http://schemas.microsoft.com/office/powerpoint/2010/main" val="3481336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623392" y="561836"/>
            <a:ext cx="4320480" cy="1077218"/>
          </a:xfrm>
          <a:prstGeom prst="rect">
            <a:avLst/>
          </a:prstGeom>
          <a:noFill/>
        </p:spPr>
        <p:txBody>
          <a:bodyPr wrap="square" rtlCol="0">
            <a:spAutoFit/>
          </a:bodyPr>
          <a:lstStyle/>
          <a:p>
            <a:pPr algn="ctr"/>
            <a:r>
              <a:rPr lang="es-419" sz="1600">
                <a:latin typeface="Segoe UI Light" panose="020B0502040204020203" pitchFamily="34" charset="0"/>
                <a:cs typeface="Segoe UI Light" panose="020B0502040204020203" pitchFamily="34" charset="0"/>
              </a:rPr>
              <a:t>Mediante </a:t>
            </a:r>
            <a:r>
              <a:rPr lang="es-419" sz="1600" dirty="0">
                <a:latin typeface="Segoe UI Light" panose="020B0502040204020203" pitchFamily="34" charset="0"/>
                <a:cs typeface="Segoe UI Light" panose="020B0502040204020203" pitchFamily="34" charset="0"/>
              </a:rPr>
              <a:t>el constructor </a:t>
            </a:r>
            <a:r>
              <a:rPr lang="es-419" sz="1600">
                <a:latin typeface="Segoe UI Light" panose="020B0502040204020203" pitchFamily="34" charset="0"/>
                <a:cs typeface="Segoe UI Light" panose="020B0502040204020203" pitchFamily="34" charset="0"/>
              </a:rPr>
              <a:t>de consultas, </a:t>
            </a:r>
            <a:r>
              <a:rPr lang="es-419" sz="1600" dirty="0">
                <a:latin typeface="Segoe UI Light" panose="020B0502040204020203" pitchFamily="34" charset="0"/>
                <a:cs typeface="Segoe UI Light" panose="020B0502040204020203" pitchFamily="34" charset="0"/>
              </a:rPr>
              <a:t>de la capa TIN_TerrenoNaturalZonaEstudio_v3, filtre el polígono combinado de la zona externa al valle </a:t>
            </a:r>
            <a:r>
              <a:rPr lang="es-419" sz="1600">
                <a:latin typeface="Segoe UI Light" panose="020B0502040204020203" pitchFamily="34" charset="0"/>
                <a:cs typeface="Segoe UI Light" panose="020B0502040204020203" pitchFamily="34" charset="0"/>
              </a:rPr>
              <a:t>diseñado.</a:t>
            </a:r>
            <a:endParaRPr lang="es-419" sz="1600" dirty="0">
              <a:latin typeface="Segoe UI Light" panose="020B0502040204020203" pitchFamily="34" charset="0"/>
              <a:cs typeface="Segoe UI Light" panose="020B0502040204020203" pitchFamily="34" charset="0"/>
            </a:endParaRPr>
          </a:p>
        </p:txBody>
      </p:sp>
      <p:pic>
        <p:nvPicPr>
          <p:cNvPr id="2" name="Imagen 1"/>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5735960" y="561836"/>
            <a:ext cx="5504777" cy="5963508"/>
          </a:xfrm>
          <a:prstGeom prst="rect">
            <a:avLst/>
          </a:prstGeom>
        </p:spPr>
      </p:pic>
      <p:pic>
        <p:nvPicPr>
          <p:cNvPr id="9" name="Imagen 8">
            <a:extLst>
              <a:ext uri="{FF2B5EF4-FFF2-40B4-BE49-F238E27FC236}">
                <a16:creationId xmlns:a16="http://schemas.microsoft.com/office/drawing/2014/main" id="{B9E40B86-745B-403A-A76E-97C4FB67609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68408" y="5229200"/>
            <a:ext cx="360000" cy="360000"/>
          </a:xfrm>
          <a:prstGeom prst="rect">
            <a:avLst/>
          </a:prstGeom>
        </p:spPr>
      </p:pic>
      <p:pic>
        <p:nvPicPr>
          <p:cNvPr id="10" name="Imagen 9">
            <a:extLst>
              <a:ext uri="{FF2B5EF4-FFF2-40B4-BE49-F238E27FC236}">
                <a16:creationId xmlns:a16="http://schemas.microsoft.com/office/drawing/2014/main" id="{E723DFF0-AB61-476A-BB86-D1B5859A5B2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D6B96A3F-0B7F-4F79-BED2-B1DCEC4133C3}"/>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Integración del modelo de terreno</a:t>
            </a:r>
          </a:p>
        </p:txBody>
      </p:sp>
    </p:spTree>
    <p:extLst>
      <p:ext uri="{BB962C8B-B14F-4D97-AF65-F5344CB8AC3E}">
        <p14:creationId xmlns:p14="http://schemas.microsoft.com/office/powerpoint/2010/main" val="1447759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1811544" y="4134788"/>
            <a:ext cx="2808312" cy="2371684"/>
          </a:xfrm>
          <a:prstGeom prst="rect">
            <a:avLst/>
          </a:prstGeom>
        </p:spPr>
      </p:pic>
      <p:sp>
        <p:nvSpPr>
          <p:cNvPr id="8" name="7 CuadroTexto"/>
          <p:cNvSpPr txBox="1"/>
          <p:nvPr/>
        </p:nvSpPr>
        <p:spPr>
          <a:xfrm>
            <a:off x="191344" y="595358"/>
            <a:ext cx="6048712" cy="3539430"/>
          </a:xfrm>
          <a:prstGeom prst="rect">
            <a:avLst/>
          </a:prstGeom>
          <a:noFill/>
        </p:spPr>
        <p:txBody>
          <a:bodyPr wrap="square" rtlCol="0">
            <a:spAutoFit/>
          </a:bodyPr>
          <a:lstStyle/>
          <a:p>
            <a:r>
              <a:rPr lang="es-419" sz="1600" dirty="0">
                <a:latin typeface="Segoe UI Light" panose="020B0502040204020203" pitchFamily="34" charset="0"/>
                <a:cs typeface="Segoe UI Light" panose="020B0502040204020203" pitchFamily="34" charset="0"/>
              </a:rPr>
              <a:t>Recorte las aristas del modelo de terreno triangulado o las curvas de nivel del valle natural usando el polígono de la zona externa al valle diseñado.</a:t>
            </a:r>
          </a:p>
          <a:p>
            <a:endParaRPr lang="es-419" sz="1600" dirty="0">
              <a:latin typeface="Segoe UI Light" panose="020B0502040204020203" pitchFamily="34" charset="0"/>
              <a:cs typeface="Segoe UI Light" panose="020B0502040204020203" pitchFamily="34" charset="0"/>
            </a:endParaRPr>
          </a:p>
          <a:p>
            <a:r>
              <a:rPr lang="es-419" sz="1600" dirty="0">
                <a:latin typeface="Segoe UI Light" panose="020B0502040204020203" pitchFamily="34" charset="0"/>
                <a:cs typeface="Segoe UI Light" panose="020B0502040204020203" pitchFamily="34" charset="0"/>
              </a:rPr>
              <a:t>En las opciones de geoprocesamiento ejecute la herramienta Recortar (Clip). Guarde la capa resultante del corte como </a:t>
            </a:r>
            <a:r>
              <a:rPr lang="es-419" sz="1600" i="1" dirty="0">
                <a:latin typeface="Segoe UI Light" panose="020B0502040204020203" pitchFamily="34" charset="0"/>
                <a:cs typeface="Segoe UI Light" panose="020B0502040204020203" pitchFamily="34" charset="0"/>
              </a:rPr>
              <a:t>TIN_TerrenoNaturalAristas_v2.</a:t>
            </a:r>
          </a:p>
          <a:p>
            <a:endParaRPr lang="es-419" sz="1600" dirty="0">
              <a:latin typeface="Segoe UI Light" panose="020B0502040204020203" pitchFamily="34" charset="0"/>
              <a:cs typeface="Segoe UI Light" panose="020B0502040204020203" pitchFamily="34" charset="0"/>
            </a:endParaRPr>
          </a:p>
          <a:p>
            <a:r>
              <a:rPr lang="es-419" sz="1600" dirty="0">
                <a:latin typeface="Segoe UI Light" panose="020B0502040204020203" pitchFamily="34" charset="0"/>
                <a:cs typeface="Segoe UI Light" panose="020B0502040204020203" pitchFamily="34" charset="0"/>
              </a:rPr>
              <a:t>Para las líneas del TIN, este proceso puede tardar alrededor de 6 minutos, se recomienda en clase utilizar la capa ya recortada disponible en la base de datos geográfica.</a:t>
            </a:r>
          </a:p>
          <a:p>
            <a:endParaRPr lang="es-419" sz="1600" dirty="0">
              <a:latin typeface="Segoe UI Light" panose="020B0502040204020203" pitchFamily="34" charset="0"/>
              <a:cs typeface="Segoe UI Light" panose="020B0502040204020203" pitchFamily="34" charset="0"/>
            </a:endParaRPr>
          </a:p>
          <a:p>
            <a:r>
              <a:rPr lang="es-419" sz="1600" dirty="0">
                <a:latin typeface="Segoe UI Light" panose="020B0502040204020203" pitchFamily="34" charset="0"/>
                <a:cs typeface="Segoe UI Light" panose="020B0502040204020203" pitchFamily="34" charset="0"/>
              </a:rPr>
              <a:t>Nota: si realizó el procedimiento con todas las curvas de nivel, guarde como </a:t>
            </a:r>
            <a:r>
              <a:rPr lang="es-419" sz="1600" i="1" dirty="0">
                <a:latin typeface="Segoe UI Light" panose="020B0502040204020203" pitchFamily="34" charset="0"/>
                <a:cs typeface="Segoe UI Light" panose="020B0502040204020203" pitchFamily="34" charset="0"/>
              </a:rPr>
              <a:t>CGG_CurvaNivelLidar_v3</a:t>
            </a:r>
          </a:p>
        </p:txBody>
      </p:sp>
      <p:grpSp>
        <p:nvGrpSpPr>
          <p:cNvPr id="2" name="Group 1">
            <a:extLst>
              <a:ext uri="{FF2B5EF4-FFF2-40B4-BE49-F238E27FC236}">
                <a16:creationId xmlns:a16="http://schemas.microsoft.com/office/drawing/2014/main" id="{DA1AB868-1AA6-3656-6809-C5ECFB11C8E5}"/>
              </a:ext>
            </a:extLst>
          </p:cNvPr>
          <p:cNvGrpSpPr/>
          <p:nvPr/>
        </p:nvGrpSpPr>
        <p:grpSpPr>
          <a:xfrm>
            <a:off x="6456040" y="591463"/>
            <a:ext cx="5508104" cy="5967111"/>
            <a:chOff x="6060504" y="620688"/>
            <a:chExt cx="5508104" cy="5967111"/>
          </a:xfrm>
        </p:grpSpPr>
        <p:pic>
          <p:nvPicPr>
            <p:cNvPr id="3" name="Imagen 2"/>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6060504" y="620688"/>
              <a:ext cx="5508104" cy="5967111"/>
            </a:xfrm>
            <a:prstGeom prst="rect">
              <a:avLst/>
            </a:prstGeom>
          </p:spPr>
        </p:pic>
        <p:pic>
          <p:nvPicPr>
            <p:cNvPr id="9" name="Imagen 8">
              <a:extLst>
                <a:ext uri="{FF2B5EF4-FFF2-40B4-BE49-F238E27FC236}">
                  <a16:creationId xmlns:a16="http://schemas.microsoft.com/office/drawing/2014/main" id="{EBEE8D49-3921-4F53-AD1C-B4579B70BEC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54723" y="6018172"/>
              <a:ext cx="360000" cy="360000"/>
            </a:xfrm>
            <a:prstGeom prst="rect">
              <a:avLst/>
            </a:prstGeom>
          </p:spPr>
        </p:pic>
      </p:grpSp>
      <p:pic>
        <p:nvPicPr>
          <p:cNvPr id="12" name="Imagen 11">
            <a:extLst>
              <a:ext uri="{FF2B5EF4-FFF2-40B4-BE49-F238E27FC236}">
                <a16:creationId xmlns:a16="http://schemas.microsoft.com/office/drawing/2014/main" id="{BF49590A-CA5B-40E8-8D77-1E4E875A2EB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E8399B22-FDF8-42C2-85F6-3A8E2431F597}"/>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Integración del modelo de terreno</a:t>
            </a:r>
          </a:p>
        </p:txBody>
      </p:sp>
    </p:spTree>
    <p:extLst>
      <p:ext uri="{BB962C8B-B14F-4D97-AF65-F5344CB8AC3E}">
        <p14:creationId xmlns:p14="http://schemas.microsoft.com/office/powerpoint/2010/main" val="53083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35360" y="620688"/>
            <a:ext cx="5400600" cy="3539430"/>
          </a:xfrm>
          <a:prstGeom prst="rect">
            <a:avLst/>
          </a:prstGeom>
          <a:noFill/>
        </p:spPr>
        <p:txBody>
          <a:bodyPr wrap="square" rtlCol="0">
            <a:spAutoFit/>
          </a:bodyPr>
          <a:lstStyle/>
          <a:p>
            <a:r>
              <a:rPr lang="es-419" sz="1600" dirty="0">
                <a:latin typeface="Segoe UI Light" panose="020B0502040204020203" pitchFamily="34" charset="0"/>
                <a:cs typeface="Segoe UI Light" panose="020B0502040204020203" pitchFamily="34" charset="0"/>
              </a:rPr>
              <a:t>Desde el archivo </a:t>
            </a:r>
            <a:r>
              <a:rPr lang="es-419" sz="1600" i="1" dirty="0">
                <a:latin typeface="Segoe UI Light" panose="020B0502040204020203" pitchFamily="34" charset="0"/>
                <a:cs typeface="Segoe UI Light" panose="020B0502040204020203" pitchFamily="34" charset="0"/>
              </a:rPr>
              <a:t>CAD CIVIL3D_MDT_ValleRio_v0.dwg </a:t>
            </a:r>
            <a:r>
              <a:rPr lang="es-419" sz="1600" dirty="0">
                <a:latin typeface="Segoe UI Light" panose="020B0502040204020203" pitchFamily="34" charset="0"/>
                <a:cs typeface="Segoe UI Light" panose="020B0502040204020203" pitchFamily="34" charset="0"/>
              </a:rPr>
              <a:t>creado en Autodesk Civil 3D y cargado en el mapa, exporte todas las poli líneas del modelo de terreno integrado del valle y cauce sinuoso diseñado. </a:t>
            </a:r>
          </a:p>
          <a:p>
            <a:endParaRPr lang="es-419" sz="1600" dirty="0">
              <a:latin typeface="Segoe UI Light" panose="020B0502040204020203" pitchFamily="34" charset="0"/>
              <a:cs typeface="Segoe UI Light" panose="020B0502040204020203" pitchFamily="34" charset="0"/>
            </a:endParaRPr>
          </a:p>
          <a:p>
            <a:r>
              <a:rPr lang="es-419" sz="1600" dirty="0">
                <a:latin typeface="Segoe UI Light" panose="020B0502040204020203" pitchFamily="34" charset="0"/>
                <a:cs typeface="Segoe UI Light" panose="020B0502040204020203" pitchFamily="34" charset="0"/>
              </a:rPr>
              <a:t>Excluya de la exportación el borde externo del terreno. Guarde el archivo exportado en formato </a:t>
            </a:r>
            <a:r>
              <a:rPr lang="es-419" sz="1600" dirty="0" err="1">
                <a:latin typeface="Segoe UI Light" panose="020B0502040204020203" pitchFamily="34" charset="0"/>
                <a:cs typeface="Segoe UI Light" panose="020B0502040204020203" pitchFamily="34" charset="0"/>
              </a:rPr>
              <a:t>shapefile</a:t>
            </a:r>
            <a:r>
              <a:rPr lang="es-419" sz="1600" dirty="0">
                <a:latin typeface="Segoe UI Light" panose="020B0502040204020203" pitchFamily="34" charset="0"/>
                <a:cs typeface="Segoe UI Light" panose="020B0502040204020203" pitchFamily="34" charset="0"/>
              </a:rPr>
              <a:t> (</a:t>
            </a:r>
            <a:r>
              <a:rPr lang="es-419" sz="1600" i="1" dirty="0" err="1">
                <a:latin typeface="Segoe UI Light" panose="020B0502040204020203" pitchFamily="34" charset="0"/>
                <a:cs typeface="Segoe UI Light" panose="020B0502040204020203" pitchFamily="34" charset="0"/>
              </a:rPr>
              <a:t>MDT_ValleRio.shp</a:t>
            </a:r>
            <a:r>
              <a:rPr lang="es-419" sz="1600" dirty="0">
                <a:latin typeface="Segoe UI Light" panose="020B0502040204020203" pitchFamily="34" charset="0"/>
                <a:cs typeface="Segoe UI Light" panose="020B0502040204020203" pitchFamily="34" charset="0"/>
              </a:rPr>
              <a:t>) y luego desde el catálogo importe la capa a la base de datos </a:t>
            </a:r>
            <a:r>
              <a:rPr lang="es-419" sz="1600" i="1" dirty="0" err="1">
                <a:latin typeface="Segoe UI Light" panose="020B0502040204020203" pitchFamily="34" charset="0"/>
                <a:cs typeface="Segoe UI Light" panose="020B0502040204020203" pitchFamily="34" charset="0"/>
              </a:rPr>
              <a:t>GEODATABASE.gdb</a:t>
            </a:r>
            <a:r>
              <a:rPr lang="es-419" sz="1600" dirty="0">
                <a:latin typeface="Segoe UI Light" panose="020B0502040204020203" pitchFamily="34" charset="0"/>
                <a:cs typeface="Segoe UI Light" panose="020B0502040204020203" pitchFamily="34" charset="0"/>
              </a:rPr>
              <a:t> con el nombre de capa: </a:t>
            </a:r>
            <a:r>
              <a:rPr lang="es-419" sz="1600" i="1" dirty="0">
                <a:latin typeface="Segoe UI Light" panose="020B0502040204020203" pitchFamily="34" charset="0"/>
                <a:cs typeface="Segoe UI Light" panose="020B0502040204020203" pitchFamily="34" charset="0"/>
              </a:rPr>
              <a:t>MDT_ValleRio_v0</a:t>
            </a:r>
          </a:p>
          <a:p>
            <a:endParaRPr lang="es-419" sz="1600" dirty="0">
              <a:latin typeface="Segoe UI Light" panose="020B0502040204020203" pitchFamily="34" charset="0"/>
              <a:cs typeface="Segoe UI Light" panose="020B0502040204020203" pitchFamily="34" charset="0"/>
            </a:endParaRPr>
          </a:p>
          <a:p>
            <a:r>
              <a:rPr lang="es-419" sz="1600" dirty="0">
                <a:latin typeface="Segoe UI Light" panose="020B0502040204020203" pitchFamily="34" charset="0"/>
                <a:cs typeface="Segoe UI Light" panose="020B0502040204020203" pitchFamily="34" charset="0"/>
              </a:rPr>
              <a:t>Nota: se debe exportar primero como </a:t>
            </a:r>
            <a:r>
              <a:rPr lang="es-419" sz="1600" dirty="0" err="1">
                <a:latin typeface="Segoe UI Light" panose="020B0502040204020203" pitchFamily="34" charset="0"/>
                <a:cs typeface="Segoe UI Light" panose="020B0502040204020203" pitchFamily="34" charset="0"/>
              </a:rPr>
              <a:t>shapefile</a:t>
            </a:r>
            <a:r>
              <a:rPr lang="es-419" sz="1600" dirty="0">
                <a:latin typeface="Segoe UI Light" panose="020B0502040204020203" pitchFamily="34" charset="0"/>
                <a:cs typeface="Segoe UI Light" panose="020B0502040204020203" pitchFamily="34" charset="0"/>
              </a:rPr>
              <a:t> para convertir las curvas espirales en curvas compuestas por nodos y tramos rectos descriptores.</a:t>
            </a:r>
          </a:p>
        </p:txBody>
      </p:sp>
      <p:pic>
        <p:nvPicPr>
          <p:cNvPr id="2" name="Imagen 1"/>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5951984" y="620688"/>
            <a:ext cx="5492956" cy="5950702"/>
          </a:xfrm>
          <a:prstGeom prst="rect">
            <a:avLst/>
          </a:prstGeom>
        </p:spPr>
      </p:pic>
      <p:pic>
        <p:nvPicPr>
          <p:cNvPr id="9" name="Imagen 8">
            <a:extLst>
              <a:ext uri="{FF2B5EF4-FFF2-40B4-BE49-F238E27FC236}">
                <a16:creationId xmlns:a16="http://schemas.microsoft.com/office/drawing/2014/main" id="{B8C14BE7-F34E-4889-8B71-D5EBAF6FC0B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64152" y="2060848"/>
            <a:ext cx="360000" cy="360000"/>
          </a:xfrm>
          <a:prstGeom prst="rect">
            <a:avLst/>
          </a:prstGeom>
        </p:spPr>
      </p:pic>
      <p:pic>
        <p:nvPicPr>
          <p:cNvPr id="10" name="Imagen 9">
            <a:extLst>
              <a:ext uri="{FF2B5EF4-FFF2-40B4-BE49-F238E27FC236}">
                <a16:creationId xmlns:a16="http://schemas.microsoft.com/office/drawing/2014/main" id="{6212ACC1-0663-4ADE-97F9-DCF2C19FE1E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363583E8-6E6C-4F0C-B8F5-E702790EEB11}"/>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Integración del modelo de terreno</a:t>
            </a:r>
          </a:p>
        </p:txBody>
      </p:sp>
    </p:spTree>
    <p:extLst>
      <p:ext uri="{BB962C8B-B14F-4D97-AF65-F5344CB8AC3E}">
        <p14:creationId xmlns:p14="http://schemas.microsoft.com/office/powerpoint/2010/main" val="2596133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551384" y="544666"/>
            <a:ext cx="5112568" cy="2062103"/>
          </a:xfrm>
          <a:prstGeom prst="rect">
            <a:avLst/>
          </a:prstGeom>
          <a:noFill/>
        </p:spPr>
        <p:txBody>
          <a:bodyPr wrap="square" rtlCol="0">
            <a:spAutoFit/>
          </a:bodyPr>
          <a:lstStyle/>
          <a:p>
            <a:r>
              <a:rPr lang="es-419" sz="1600" dirty="0">
                <a:latin typeface="Segoe UI Light" panose="020B0502040204020203" pitchFamily="34" charset="0"/>
                <a:cs typeface="Segoe UI Light" panose="020B0502040204020203" pitchFamily="34" charset="0"/>
              </a:rPr>
              <a:t>En </a:t>
            </a:r>
            <a:r>
              <a:rPr lang="es-419" sz="1600" dirty="0" err="1">
                <a:latin typeface="Segoe UI Light" panose="020B0502040204020203" pitchFamily="34" charset="0"/>
                <a:cs typeface="Segoe UI Light" panose="020B0502040204020203" pitchFamily="34" charset="0"/>
              </a:rPr>
              <a:t>ArcScene</a:t>
            </a:r>
            <a:r>
              <a:rPr lang="es-419" sz="1600" dirty="0">
                <a:latin typeface="Segoe UI Light" panose="020B0502040204020203" pitchFamily="34" charset="0"/>
                <a:cs typeface="Segoe UI Light" panose="020B0502040204020203" pitchFamily="34" charset="0"/>
              </a:rPr>
              <a:t>, verificar que sea correcto el recorte de las líneas 3D del modelo de terreno y la integración espacial con el modelo de terreno del valle y cauce sinuoso diseñado. </a:t>
            </a:r>
          </a:p>
          <a:p>
            <a:endParaRPr lang="es-419" sz="1600" dirty="0">
              <a:latin typeface="Segoe UI Light" panose="020B0502040204020203" pitchFamily="34" charset="0"/>
              <a:cs typeface="Segoe UI Light" panose="020B0502040204020203" pitchFamily="34" charset="0"/>
            </a:endParaRPr>
          </a:p>
          <a:p>
            <a:r>
              <a:rPr lang="es-419" sz="1600" dirty="0">
                <a:latin typeface="Segoe UI Light" panose="020B0502040204020203" pitchFamily="34" charset="0"/>
                <a:cs typeface="Segoe UI Light" panose="020B0502040204020203" pitchFamily="34" charset="0"/>
              </a:rPr>
              <a:t>Agregar desde la base de datos GEODATABASE.mdb las capas TIN_TerrenoNaturalAristas_v2 </a:t>
            </a:r>
          </a:p>
          <a:p>
            <a:r>
              <a:rPr lang="es-419" sz="1600" dirty="0">
                <a:latin typeface="Segoe UI Light" panose="020B0502040204020203" pitchFamily="34" charset="0"/>
                <a:cs typeface="Segoe UI Light" panose="020B0502040204020203" pitchFamily="34" charset="0"/>
              </a:rPr>
              <a:t>y MDT_ValleRio_v0.</a:t>
            </a:r>
          </a:p>
        </p:txBody>
      </p:sp>
      <p:pic>
        <p:nvPicPr>
          <p:cNvPr id="5" name="Imagen 4"/>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5995374" y="544666"/>
            <a:ext cx="5516921" cy="5976664"/>
          </a:xfrm>
          <a:prstGeom prst="rect">
            <a:avLst/>
          </a:prstGeom>
        </p:spPr>
      </p:pic>
      <p:pic>
        <p:nvPicPr>
          <p:cNvPr id="6" name="Imagen 5">
            <a:extLst>
              <a:ext uri="{FF2B5EF4-FFF2-40B4-BE49-F238E27FC236}">
                <a16:creationId xmlns:a16="http://schemas.microsoft.com/office/drawing/2014/main" id="{41173836-5E02-4322-AF5D-E47E125F007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93430" y="955090"/>
            <a:ext cx="360000" cy="360000"/>
          </a:xfrm>
          <a:prstGeom prst="rect">
            <a:avLst/>
          </a:prstGeom>
        </p:spPr>
      </p:pic>
      <p:pic>
        <p:nvPicPr>
          <p:cNvPr id="10" name="Imagen 9">
            <a:extLst>
              <a:ext uri="{FF2B5EF4-FFF2-40B4-BE49-F238E27FC236}">
                <a16:creationId xmlns:a16="http://schemas.microsoft.com/office/drawing/2014/main" id="{B06D13F3-C69E-42F9-BE43-E8E28423B45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7" name="1 Título">
            <a:extLst>
              <a:ext uri="{FF2B5EF4-FFF2-40B4-BE49-F238E27FC236}">
                <a16:creationId xmlns:a16="http://schemas.microsoft.com/office/drawing/2014/main" id="{ABFDB3FA-A9B6-40F3-A10E-9ED817E6A567}"/>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Integración del modelo de terreno</a:t>
            </a:r>
          </a:p>
        </p:txBody>
      </p:sp>
    </p:spTree>
    <p:extLst>
      <p:ext uri="{BB962C8B-B14F-4D97-AF65-F5344CB8AC3E}">
        <p14:creationId xmlns:p14="http://schemas.microsoft.com/office/powerpoint/2010/main" val="481984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88783" y="589531"/>
            <a:ext cx="5328592" cy="2062103"/>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Para realizar la integración del valle natural y el modelo de terreno del valle y cauce sinuoso diseñado, en ArcGIS desde el menú de geo-procesamiento, ejecute la herramienta Fusionar (</a:t>
            </a:r>
            <a:r>
              <a:rPr lang="es-CO" sz="1600" dirty="0" err="1">
                <a:latin typeface="Segoe UI Light" panose="020B0502040204020203" pitchFamily="34" charset="0"/>
                <a:cs typeface="Segoe UI Light" panose="020B0502040204020203" pitchFamily="34" charset="0"/>
              </a:rPr>
              <a:t>Merge</a:t>
            </a:r>
            <a:r>
              <a:rPr lang="es-CO" sz="1600" dirty="0">
                <a:latin typeface="Segoe UI Light" panose="020B0502040204020203" pitchFamily="34" charset="0"/>
                <a:cs typeface="Segoe UI Light" panose="020B0502040204020203" pitchFamily="34" charset="0"/>
              </a:rPr>
              <a:t>) seleccionando las capas </a:t>
            </a:r>
            <a:r>
              <a:rPr lang="es-CO" sz="1600" i="1" dirty="0">
                <a:latin typeface="Segoe UI Light" panose="020B0502040204020203" pitchFamily="34" charset="0"/>
                <a:cs typeface="Segoe UI Light" panose="020B0502040204020203" pitchFamily="34" charset="0"/>
              </a:rPr>
              <a:t>TIN_TerrenoNaturalAristas_v2 </a:t>
            </a:r>
            <a:r>
              <a:rPr lang="es-CO" sz="1600" dirty="0">
                <a:latin typeface="Segoe UI Light" panose="020B0502040204020203" pitchFamily="34" charset="0"/>
                <a:cs typeface="Segoe UI Light" panose="020B0502040204020203" pitchFamily="34" charset="0"/>
              </a:rPr>
              <a:t>y </a:t>
            </a:r>
            <a:r>
              <a:rPr lang="es-CO" sz="1600" i="1" dirty="0">
                <a:latin typeface="Segoe UI Light" panose="020B0502040204020203" pitchFamily="34" charset="0"/>
                <a:cs typeface="Segoe UI Light" panose="020B0502040204020203" pitchFamily="34" charset="0"/>
              </a:rPr>
              <a:t>MDT_ValleRio_v0</a:t>
            </a:r>
            <a:r>
              <a:rPr lang="es-CO" sz="1600" dirty="0">
                <a:latin typeface="Segoe UI Light" panose="020B0502040204020203" pitchFamily="34" charset="0"/>
                <a:cs typeface="Segoe UI Light" panose="020B0502040204020203" pitchFamily="34" charset="0"/>
              </a:rPr>
              <a:t>. </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Nombre el modelo combinado como </a:t>
            </a:r>
            <a:r>
              <a:rPr lang="es-CO" sz="1600" i="1" dirty="0">
                <a:latin typeface="Segoe UI Light" panose="020B0502040204020203" pitchFamily="34" charset="0"/>
                <a:cs typeface="Segoe UI Light" panose="020B0502040204020203" pitchFamily="34" charset="0"/>
              </a:rPr>
              <a:t>TIN_TerrenoNaturalAristas_v3</a:t>
            </a:r>
            <a:r>
              <a:rPr lang="es-CO" sz="1600" dirty="0">
                <a:latin typeface="Segoe UI Light" panose="020B0502040204020203" pitchFamily="34" charset="0"/>
                <a:cs typeface="Segoe UI Light" panose="020B0502040204020203" pitchFamily="34" charset="0"/>
              </a:rPr>
              <a:t>.</a:t>
            </a:r>
          </a:p>
        </p:txBody>
      </p:sp>
      <p:pic>
        <p:nvPicPr>
          <p:cNvPr id="2" name="Imagen 1"/>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6060504" y="589531"/>
            <a:ext cx="5508104" cy="5967113"/>
          </a:xfrm>
          <a:prstGeom prst="rect">
            <a:avLst/>
          </a:prstGeom>
        </p:spPr>
      </p:pic>
      <p:pic>
        <p:nvPicPr>
          <p:cNvPr id="3" name="Imagen 2"/>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623392" y="2984629"/>
            <a:ext cx="4841021" cy="3572015"/>
          </a:xfrm>
          <a:prstGeom prst="rect">
            <a:avLst/>
          </a:prstGeom>
        </p:spPr>
      </p:pic>
      <p:pic>
        <p:nvPicPr>
          <p:cNvPr id="10" name="Imagen 9">
            <a:extLst>
              <a:ext uri="{FF2B5EF4-FFF2-40B4-BE49-F238E27FC236}">
                <a16:creationId xmlns:a16="http://schemas.microsoft.com/office/drawing/2014/main" id="{8F4A4704-1315-4330-8615-D34FF1DAD75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814556" y="5661248"/>
            <a:ext cx="360000" cy="360000"/>
          </a:xfrm>
          <a:prstGeom prst="rect">
            <a:avLst/>
          </a:prstGeom>
        </p:spPr>
      </p:pic>
      <p:pic>
        <p:nvPicPr>
          <p:cNvPr id="11" name="Imagen 10">
            <a:extLst>
              <a:ext uri="{FF2B5EF4-FFF2-40B4-BE49-F238E27FC236}">
                <a16:creationId xmlns:a16="http://schemas.microsoft.com/office/drawing/2014/main" id="{5CA8F58F-F5AE-4887-8E22-79D940990D8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B97EB6A3-9C04-4F2E-829A-0477EB9C43B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Integración del modelo de terreno</a:t>
            </a:r>
          </a:p>
        </p:txBody>
      </p:sp>
    </p:spTree>
    <p:extLst>
      <p:ext uri="{BB962C8B-B14F-4D97-AF65-F5344CB8AC3E}">
        <p14:creationId xmlns:p14="http://schemas.microsoft.com/office/powerpoint/2010/main" val="3315997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767408" y="1344410"/>
            <a:ext cx="4152694" cy="830997"/>
          </a:xfrm>
          <a:prstGeom prst="rect">
            <a:avLst/>
          </a:prstGeom>
          <a:noFill/>
        </p:spPr>
        <p:txBody>
          <a:bodyPr wrap="square" rtlCol="0">
            <a:spAutoFit/>
          </a:bodyPr>
          <a:lstStyle/>
          <a:p>
            <a:pPr algn="ctr"/>
            <a:r>
              <a:rPr lang="es-CO" sz="1600" dirty="0">
                <a:latin typeface="Segoe UI Light" panose="020B0502040204020203" pitchFamily="34" charset="0"/>
                <a:cs typeface="Segoe UI Light" panose="020B0502040204020203" pitchFamily="34" charset="0"/>
              </a:rPr>
              <a:t>Para finalizar verifique en </a:t>
            </a:r>
            <a:r>
              <a:rPr lang="es-CO" sz="1600" dirty="0" err="1">
                <a:latin typeface="Segoe UI Light" panose="020B0502040204020203" pitchFamily="34" charset="0"/>
                <a:cs typeface="Segoe UI Light" panose="020B0502040204020203" pitchFamily="34" charset="0"/>
              </a:rPr>
              <a:t>ArcSscene</a:t>
            </a:r>
            <a:r>
              <a:rPr lang="es-CO" sz="1600" dirty="0">
                <a:latin typeface="Segoe UI Light" panose="020B0502040204020203" pitchFamily="34" charset="0"/>
                <a:cs typeface="Segoe UI Light" panose="020B0502040204020203" pitchFamily="34" charset="0"/>
              </a:rPr>
              <a:t> el modelo fusionado revisando las zonas de inicio y entrega y algunas de las ondas. </a:t>
            </a:r>
          </a:p>
        </p:txBody>
      </p:sp>
      <p:pic>
        <p:nvPicPr>
          <p:cNvPr id="4" name="Imagen 3"/>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5663952" y="476672"/>
            <a:ext cx="5519538" cy="2989750"/>
          </a:xfrm>
          <a:prstGeom prst="rect">
            <a:avLst/>
          </a:prstGeom>
        </p:spPr>
      </p:pic>
      <p:pic>
        <p:nvPicPr>
          <p:cNvPr id="5" name="Imagen 4"/>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5663951" y="3673252"/>
            <a:ext cx="5531276" cy="2996108"/>
          </a:xfrm>
          <a:prstGeom prst="rect">
            <a:avLst/>
          </a:prstGeom>
        </p:spPr>
      </p:pic>
      <p:pic>
        <p:nvPicPr>
          <p:cNvPr id="6" name="Imagen 5"/>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914827" y="2396466"/>
            <a:ext cx="3857856" cy="2553571"/>
          </a:xfrm>
          <a:prstGeom prst="rect">
            <a:avLst/>
          </a:prstGeom>
        </p:spPr>
      </p:pic>
      <p:pic>
        <p:nvPicPr>
          <p:cNvPr id="11" name="Imagen 10">
            <a:extLst>
              <a:ext uri="{FF2B5EF4-FFF2-40B4-BE49-F238E27FC236}">
                <a16:creationId xmlns:a16="http://schemas.microsoft.com/office/drawing/2014/main" id="{393A249A-885D-47CD-A8E7-8609F31800C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264352" y="2017062"/>
            <a:ext cx="360000" cy="360000"/>
          </a:xfrm>
          <a:prstGeom prst="rect">
            <a:avLst/>
          </a:prstGeom>
        </p:spPr>
      </p:pic>
      <p:pic>
        <p:nvPicPr>
          <p:cNvPr id="12" name="Imagen 11">
            <a:extLst>
              <a:ext uri="{FF2B5EF4-FFF2-40B4-BE49-F238E27FC236}">
                <a16:creationId xmlns:a16="http://schemas.microsoft.com/office/drawing/2014/main" id="{674AD634-A2A7-47AA-B900-63AF7C2AF61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688288" y="5445224"/>
            <a:ext cx="360000" cy="360000"/>
          </a:xfrm>
          <a:prstGeom prst="rect">
            <a:avLst/>
          </a:prstGeom>
        </p:spPr>
      </p:pic>
      <p:pic>
        <p:nvPicPr>
          <p:cNvPr id="13" name="Imagen 12">
            <a:extLst>
              <a:ext uri="{FF2B5EF4-FFF2-40B4-BE49-F238E27FC236}">
                <a16:creationId xmlns:a16="http://schemas.microsoft.com/office/drawing/2014/main" id="{14AE80FF-9359-4633-AD5E-546ADE29305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5" name="1 Título">
            <a:extLst>
              <a:ext uri="{FF2B5EF4-FFF2-40B4-BE49-F238E27FC236}">
                <a16:creationId xmlns:a16="http://schemas.microsoft.com/office/drawing/2014/main" id="{3B0F0CD5-C0E1-43A6-8E7D-CB809C971CD5}"/>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Integración del modelo de terreno</a:t>
            </a:r>
          </a:p>
        </p:txBody>
      </p:sp>
    </p:spTree>
    <p:extLst>
      <p:ext uri="{BB962C8B-B14F-4D97-AF65-F5344CB8AC3E}">
        <p14:creationId xmlns:p14="http://schemas.microsoft.com/office/powerpoint/2010/main" val="66992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367808" y="3105834"/>
            <a:ext cx="3456384"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Actividad 2: Creación del modelo de terreno triangulado TIN</a:t>
            </a:r>
          </a:p>
        </p:txBody>
      </p:sp>
      <p:pic>
        <p:nvPicPr>
          <p:cNvPr id="4" name="Imagen 3">
            <a:extLst>
              <a:ext uri="{FF2B5EF4-FFF2-40B4-BE49-F238E27FC236}">
                <a16:creationId xmlns:a16="http://schemas.microsoft.com/office/drawing/2014/main" id="{90E69EDC-49C0-43FD-B60E-D8750A9F370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9920619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45167" y="620688"/>
            <a:ext cx="5671947" cy="4031873"/>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A partir de la capa integrada TIN_TerrenoNaturalAristas_v3, ejecutar la desde el </a:t>
            </a:r>
            <a:r>
              <a:rPr lang="es-CO" sz="1600" dirty="0" err="1">
                <a:latin typeface="Segoe UI Light" panose="020B0502040204020203" pitchFamily="34" charset="0"/>
                <a:cs typeface="Segoe UI Light" panose="020B0502040204020203" pitchFamily="34" charset="0"/>
              </a:rPr>
              <a:t>ArcToolBox</a:t>
            </a:r>
            <a:r>
              <a:rPr lang="es-CO" sz="1600" dirty="0">
                <a:latin typeface="Segoe UI Light" panose="020B0502040204020203" pitchFamily="34" charset="0"/>
                <a:cs typeface="Segoe UI Light" panose="020B0502040204020203" pitchFamily="34" charset="0"/>
              </a:rPr>
              <a:t> la Herramienta </a:t>
            </a:r>
            <a:r>
              <a:rPr lang="es-CO" sz="1600" i="1" dirty="0">
                <a:latin typeface="Segoe UI Light" panose="020B0502040204020203" pitchFamily="34" charset="0"/>
                <a:cs typeface="Segoe UI Light" panose="020B0502040204020203" pitchFamily="34" charset="0"/>
              </a:rPr>
              <a:t>3D </a:t>
            </a:r>
            <a:r>
              <a:rPr lang="es-CO" sz="1600" i="1" dirty="0" err="1">
                <a:latin typeface="Segoe UI Light" panose="020B0502040204020203" pitchFamily="34" charset="0"/>
                <a:cs typeface="Segoe UI Light" panose="020B0502040204020203" pitchFamily="34" charset="0"/>
              </a:rPr>
              <a:t>Analyst</a:t>
            </a:r>
            <a:r>
              <a:rPr lang="es-CO" sz="1600" i="1" dirty="0">
                <a:latin typeface="Segoe UI Light" panose="020B0502040204020203" pitchFamily="34" charset="0"/>
                <a:cs typeface="Segoe UI Light" panose="020B0502040204020203" pitchFamily="34" charset="0"/>
              </a:rPr>
              <a:t> – Administración de Datos – TIN – Crear TIN</a:t>
            </a:r>
            <a:r>
              <a:rPr lang="es-CO" sz="1600" dirty="0">
                <a:latin typeface="Segoe UI Light" panose="020B0502040204020203" pitchFamily="34" charset="0"/>
                <a:cs typeface="Segoe UI Light" panose="020B0502040204020203" pitchFamily="34" charset="0"/>
              </a:rPr>
              <a:t>. Guardar el TIN con el nombre </a:t>
            </a:r>
            <a:r>
              <a:rPr lang="es-CO" sz="1600" i="1" dirty="0">
                <a:latin typeface="Segoe UI Light" panose="020B0502040204020203" pitchFamily="34" charset="0"/>
                <a:cs typeface="Segoe UI Light" panose="020B0502040204020203" pitchFamily="34" charset="0"/>
              </a:rPr>
              <a:t>TIN_TerrenoNaturalCauceSinuoso_v0</a:t>
            </a:r>
            <a:r>
              <a:rPr lang="es-CO" sz="1600" dirty="0">
                <a:latin typeface="Segoe UI Light" panose="020B0502040204020203" pitchFamily="34" charset="0"/>
                <a:cs typeface="Segoe UI Light" panose="020B0502040204020203" pitchFamily="34" charset="0"/>
              </a:rPr>
              <a:t>.</a:t>
            </a:r>
          </a:p>
          <a:p>
            <a:endParaRPr lang="es-CO" sz="1600" dirty="0">
              <a:latin typeface="Segoe UI Light" panose="020B0502040204020203" pitchFamily="34" charset="0"/>
              <a:cs typeface="Segoe UI Light" panose="020B0502040204020203" pitchFamily="34" charset="0"/>
            </a:endParaRPr>
          </a:p>
          <a:p>
            <a:endParaRPr lang="es-CO" sz="1600" dirty="0">
              <a:latin typeface="Segoe UI Light" panose="020B0502040204020203" pitchFamily="34" charset="0"/>
              <a:cs typeface="Segoe UI Light" panose="020B0502040204020203" pitchFamily="34" charset="0"/>
            </a:endParaRPr>
          </a:p>
          <a:p>
            <a:endParaRPr lang="es-CO" sz="1600" dirty="0">
              <a:latin typeface="Segoe UI Light" panose="020B0502040204020203" pitchFamily="34" charset="0"/>
              <a:cs typeface="Segoe UI Light" panose="020B0502040204020203" pitchFamily="34" charset="0"/>
            </a:endParaRPr>
          </a:p>
          <a:p>
            <a:endParaRPr lang="es-CO" sz="1600" dirty="0">
              <a:latin typeface="Segoe UI Light" panose="020B0502040204020203" pitchFamily="34" charset="0"/>
              <a:cs typeface="Segoe UI Light" panose="020B0502040204020203" pitchFamily="34" charset="0"/>
            </a:endParaRP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Dada la complejidad del modelo natural utilizando las aristas del modelo TIN original (más de 17 millones de nodos), este proceso puede durar aproximadamente 10 minutos. Se recomienda utilizar el TIN que se encuentra disponible en el repositorio de la nube como </a:t>
            </a:r>
            <a:r>
              <a:rPr lang="es-CO" sz="1600" i="1" dirty="0">
                <a:latin typeface="Segoe UI Light" panose="020B0502040204020203" pitchFamily="34" charset="0"/>
                <a:cs typeface="Segoe UI Light" panose="020B0502040204020203" pitchFamily="34" charset="0"/>
              </a:rPr>
              <a:t>tin_terrenonaturalcaucesinuoso_v0.rar </a:t>
            </a:r>
            <a:r>
              <a:rPr lang="es-CO" sz="1600" dirty="0">
                <a:latin typeface="Segoe UI Light" panose="020B0502040204020203" pitchFamily="34" charset="0"/>
                <a:cs typeface="Segoe UI Light" panose="020B0502040204020203" pitchFamily="34" charset="0"/>
              </a:rPr>
              <a:t>(722mb) o realizar la creación a partir de las curvas de nivel.</a:t>
            </a:r>
          </a:p>
        </p:txBody>
      </p:sp>
      <p:pic>
        <p:nvPicPr>
          <p:cNvPr id="2" name="Imagen 1"/>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6204520" y="620688"/>
            <a:ext cx="5508104" cy="5967112"/>
          </a:xfrm>
          <a:prstGeom prst="rect">
            <a:avLst/>
          </a:prstGeom>
        </p:spPr>
      </p:pic>
      <p:pic>
        <p:nvPicPr>
          <p:cNvPr id="9" name="Imagen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41257" y="2030403"/>
            <a:ext cx="720000" cy="720000"/>
          </a:xfrm>
          <a:prstGeom prst="rect">
            <a:avLst/>
          </a:prstGeom>
        </p:spPr>
      </p:pic>
      <p:sp>
        <p:nvSpPr>
          <p:cNvPr id="6" name="1 Título">
            <a:extLst>
              <a:ext uri="{FF2B5EF4-FFF2-40B4-BE49-F238E27FC236}">
                <a16:creationId xmlns:a16="http://schemas.microsoft.com/office/drawing/2014/main" id="{744FA64E-31A9-4307-B1EC-75F272CD3B9C}"/>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2: Creación del modelo de terreno triangulado TIN</a:t>
            </a:r>
          </a:p>
        </p:txBody>
      </p:sp>
      <p:pic>
        <p:nvPicPr>
          <p:cNvPr id="10" name="Imagen 9">
            <a:extLst>
              <a:ext uri="{FF2B5EF4-FFF2-40B4-BE49-F238E27FC236}">
                <a16:creationId xmlns:a16="http://schemas.microsoft.com/office/drawing/2014/main" id="{21D07F80-7E9C-43B2-B1B1-2AFB2D3017E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611616" y="2060848"/>
            <a:ext cx="360000" cy="360000"/>
          </a:xfrm>
          <a:prstGeom prst="rect">
            <a:avLst/>
          </a:prstGeom>
        </p:spPr>
      </p:pic>
      <p:pic>
        <p:nvPicPr>
          <p:cNvPr id="11" name="Imagen 10">
            <a:extLst>
              <a:ext uri="{FF2B5EF4-FFF2-40B4-BE49-F238E27FC236}">
                <a16:creationId xmlns:a16="http://schemas.microsoft.com/office/drawing/2014/main" id="{7EAEDCC1-39BC-4AD8-BA7B-AC5240C5A8B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0584071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839416" y="561477"/>
            <a:ext cx="3816424" cy="338554"/>
          </a:xfrm>
          <a:prstGeom prst="rect">
            <a:avLst/>
          </a:prstGeom>
          <a:noFill/>
        </p:spPr>
        <p:txBody>
          <a:bodyPr wrap="square" rtlCol="0">
            <a:spAutoFit/>
          </a:bodyPr>
          <a:lstStyle/>
          <a:p>
            <a:pPr algn="ctr"/>
            <a:r>
              <a:rPr lang="es-CO" sz="1600" dirty="0">
                <a:latin typeface="Segoe UI Light" panose="020B0502040204020203" pitchFamily="34" charset="0"/>
                <a:cs typeface="Segoe UI Light" panose="020B0502040204020203" pitchFamily="34" charset="0"/>
              </a:rPr>
              <a:t>Visualice el inicio y entrega del canal.</a:t>
            </a:r>
          </a:p>
        </p:txBody>
      </p:sp>
      <p:pic>
        <p:nvPicPr>
          <p:cNvPr id="3" name="Imagen 2"/>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5375920" y="561477"/>
            <a:ext cx="5524799" cy="2992599"/>
          </a:xfrm>
          <a:prstGeom prst="rect">
            <a:avLst/>
          </a:prstGeom>
        </p:spPr>
      </p:pic>
      <p:pic>
        <p:nvPicPr>
          <p:cNvPr id="4" name="Imagen 3"/>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5375921" y="3686542"/>
            <a:ext cx="5524799" cy="2992599"/>
          </a:xfrm>
          <a:prstGeom prst="rect">
            <a:avLst/>
          </a:prstGeom>
        </p:spPr>
      </p:pic>
      <p:pic>
        <p:nvPicPr>
          <p:cNvPr id="10" name="Imagen 9">
            <a:extLst>
              <a:ext uri="{FF2B5EF4-FFF2-40B4-BE49-F238E27FC236}">
                <a16:creationId xmlns:a16="http://schemas.microsoft.com/office/drawing/2014/main" id="{D6E89610-C7F3-4C00-A6CC-8242E0C249C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544272" y="5445224"/>
            <a:ext cx="360000" cy="360000"/>
          </a:xfrm>
          <a:prstGeom prst="rect">
            <a:avLst/>
          </a:prstGeom>
        </p:spPr>
      </p:pic>
      <p:pic>
        <p:nvPicPr>
          <p:cNvPr id="11" name="Imagen 10">
            <a:extLst>
              <a:ext uri="{FF2B5EF4-FFF2-40B4-BE49-F238E27FC236}">
                <a16:creationId xmlns:a16="http://schemas.microsoft.com/office/drawing/2014/main" id="{47A15095-9B2D-4251-A857-8A4F295130C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80376" y="1843271"/>
            <a:ext cx="360000" cy="360000"/>
          </a:xfrm>
          <a:prstGeom prst="rect">
            <a:avLst/>
          </a:prstGeom>
        </p:spPr>
      </p:pic>
      <p:pic>
        <p:nvPicPr>
          <p:cNvPr id="12" name="Imagen 11">
            <a:extLst>
              <a:ext uri="{FF2B5EF4-FFF2-40B4-BE49-F238E27FC236}">
                <a16:creationId xmlns:a16="http://schemas.microsoft.com/office/drawing/2014/main" id="{515F52AB-D1F0-416C-ADCC-03B109E78D7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3" name="1 Título">
            <a:extLst>
              <a:ext uri="{FF2B5EF4-FFF2-40B4-BE49-F238E27FC236}">
                <a16:creationId xmlns:a16="http://schemas.microsoft.com/office/drawing/2014/main" id="{E6E2BA04-F61B-479B-B290-7DE9AEC45F33}"/>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2: Creación del modelo de terreno triangulado TIN</a:t>
            </a:r>
          </a:p>
        </p:txBody>
      </p:sp>
    </p:spTree>
    <p:extLst>
      <p:ext uri="{BB962C8B-B14F-4D97-AF65-F5344CB8AC3E}">
        <p14:creationId xmlns:p14="http://schemas.microsoft.com/office/powerpoint/2010/main" val="3761314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551384" y="670176"/>
            <a:ext cx="5016073" cy="3046988"/>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Sobre el modelo de terreno final TIN, trace esquemáticamente algunas líneas transversales y mediante la barra de herramientas de 3D </a:t>
            </a:r>
            <a:r>
              <a:rPr lang="es-CO" sz="1600" dirty="0" err="1">
                <a:latin typeface="Segoe UI Light" panose="020B0502040204020203" pitchFamily="34" charset="0"/>
                <a:cs typeface="Segoe UI Light" panose="020B0502040204020203" pitchFamily="34" charset="0"/>
              </a:rPr>
              <a:t>Analyst</a:t>
            </a:r>
            <a:r>
              <a:rPr lang="es-CO" sz="1600" dirty="0">
                <a:latin typeface="Segoe UI Light" panose="020B0502040204020203" pitchFamily="34" charset="0"/>
                <a:cs typeface="Segoe UI Light" panose="020B0502040204020203" pitchFamily="34" charset="0"/>
              </a:rPr>
              <a:t> visualice sus perfiles.</a:t>
            </a:r>
          </a:p>
          <a:p>
            <a:endParaRPr lang="en-US" sz="1600" dirty="0">
              <a:latin typeface="Segoe UI Light" panose="020B0502040204020203" pitchFamily="34" charset="0"/>
              <a:cs typeface="Segoe UI Light" panose="020B0502040204020203" pitchFamily="34" charset="0"/>
            </a:endParaRPr>
          </a:p>
          <a:p>
            <a:endParaRPr lang="en-US" sz="1600" dirty="0">
              <a:latin typeface="Segoe UI Light" panose="020B0502040204020203" pitchFamily="34" charset="0"/>
              <a:cs typeface="Segoe UI Light" panose="020B0502040204020203" pitchFamily="34" charset="0"/>
            </a:endParaRPr>
          </a:p>
          <a:p>
            <a:endParaRPr lang="en-US" sz="1600" dirty="0">
              <a:latin typeface="Segoe UI Light" panose="020B0502040204020203" pitchFamily="34" charset="0"/>
              <a:cs typeface="Segoe UI Light" panose="020B0502040204020203" pitchFamily="34" charset="0"/>
            </a:endParaRPr>
          </a:p>
          <a:p>
            <a:r>
              <a:rPr lang="en-US" sz="1600" dirty="0">
                <a:latin typeface="Segoe UI Light" panose="020B0502040204020203" pitchFamily="34" charset="0"/>
                <a:cs typeface="Segoe UI Light" panose="020B0502040204020203" pitchFamily="34" charset="0"/>
              </a:rPr>
              <a:t>P</a:t>
            </a:r>
            <a:r>
              <a:rPr lang="es-CO" sz="1600" dirty="0">
                <a:latin typeface="Segoe UI Light" panose="020B0502040204020203" pitchFamily="34" charset="0"/>
                <a:cs typeface="Segoe UI Light" panose="020B0502040204020203" pitchFamily="34" charset="0"/>
              </a:rPr>
              <a:t>ara finalizar, convierta el modelo triangulado TIN a formato </a:t>
            </a:r>
            <a:r>
              <a:rPr lang="es-CO" sz="1600" dirty="0" err="1">
                <a:latin typeface="Segoe UI Light" panose="020B0502040204020203" pitchFamily="34" charset="0"/>
                <a:cs typeface="Segoe UI Light" panose="020B0502040204020203" pitchFamily="34" charset="0"/>
              </a:rPr>
              <a:t>raster</a:t>
            </a:r>
            <a:r>
              <a:rPr lang="es-CO" sz="1600" dirty="0">
                <a:latin typeface="Segoe UI Light" panose="020B0502040204020203" pitchFamily="34" charset="0"/>
                <a:cs typeface="Segoe UI Light" panose="020B0502040204020203" pitchFamily="34" charset="0"/>
              </a:rPr>
              <a:t> con resolución de 1 metro utilizando la herramienta </a:t>
            </a:r>
            <a:r>
              <a:rPr lang="es-CO" sz="1600" dirty="0" err="1">
                <a:latin typeface="Segoe UI Light" panose="020B0502040204020203" pitchFamily="34" charset="0"/>
                <a:cs typeface="Segoe UI Light" panose="020B0502040204020203" pitchFamily="34" charset="0"/>
              </a:rPr>
              <a:t>ArcToolBox</a:t>
            </a:r>
            <a:r>
              <a:rPr lang="es-CO" sz="1600" dirty="0">
                <a:latin typeface="Segoe UI Light" panose="020B0502040204020203" pitchFamily="34" charset="0"/>
                <a:cs typeface="Segoe UI Light" panose="020B0502040204020203" pitchFamily="34" charset="0"/>
              </a:rPr>
              <a:t> – 3D </a:t>
            </a:r>
            <a:r>
              <a:rPr lang="es-CO" sz="1600" dirty="0" err="1">
                <a:latin typeface="Segoe UI Light" panose="020B0502040204020203" pitchFamily="34" charset="0"/>
                <a:cs typeface="Segoe UI Light" panose="020B0502040204020203" pitchFamily="34" charset="0"/>
              </a:rPr>
              <a:t>Analyst</a:t>
            </a:r>
            <a:r>
              <a:rPr lang="es-CO" sz="1600" dirty="0">
                <a:latin typeface="Segoe UI Light" panose="020B0502040204020203" pitchFamily="34" charset="0"/>
                <a:cs typeface="Segoe UI Light" panose="020B0502040204020203" pitchFamily="34" charset="0"/>
              </a:rPr>
              <a:t> Tools – </a:t>
            </a:r>
            <a:r>
              <a:rPr lang="es-CO" sz="1600" dirty="0" err="1">
                <a:latin typeface="Segoe UI Light" panose="020B0502040204020203" pitchFamily="34" charset="0"/>
                <a:cs typeface="Segoe UI Light" panose="020B0502040204020203" pitchFamily="34" charset="0"/>
              </a:rPr>
              <a:t>Conversion</a:t>
            </a:r>
            <a:r>
              <a:rPr lang="es-CO" sz="1600" dirty="0">
                <a:latin typeface="Segoe UI Light" panose="020B0502040204020203" pitchFamily="34" charset="0"/>
                <a:cs typeface="Segoe UI Light" panose="020B0502040204020203" pitchFamily="34" charset="0"/>
              </a:rPr>
              <a:t> – </a:t>
            </a:r>
            <a:r>
              <a:rPr lang="es-CO" sz="1600" dirty="0" err="1">
                <a:latin typeface="Segoe UI Light" panose="020B0502040204020203" pitchFamily="34" charset="0"/>
                <a:cs typeface="Segoe UI Light" panose="020B0502040204020203" pitchFamily="34" charset="0"/>
              </a:rPr>
              <a:t>From</a:t>
            </a:r>
            <a:r>
              <a:rPr lang="es-CO" sz="1600" dirty="0">
                <a:latin typeface="Segoe UI Light" panose="020B0502040204020203" pitchFamily="34" charset="0"/>
                <a:cs typeface="Segoe UI Light" panose="020B0502040204020203" pitchFamily="34" charset="0"/>
              </a:rPr>
              <a:t> TIN – TIN </a:t>
            </a:r>
            <a:r>
              <a:rPr lang="es-CO" sz="1600" dirty="0" err="1">
                <a:latin typeface="Segoe UI Light" panose="020B0502040204020203" pitchFamily="34" charset="0"/>
                <a:cs typeface="Segoe UI Light" panose="020B0502040204020203" pitchFamily="34" charset="0"/>
              </a:rPr>
              <a:t>To</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Raster</a:t>
            </a:r>
            <a:r>
              <a:rPr lang="es-CO" sz="1600" dirty="0">
                <a:latin typeface="Segoe UI Light" panose="020B0502040204020203" pitchFamily="34" charset="0"/>
                <a:cs typeface="Segoe UI Light" panose="020B0502040204020203" pitchFamily="34" charset="0"/>
              </a:rPr>
              <a:t>, guarde como </a:t>
            </a:r>
            <a:r>
              <a:rPr lang="es-CO" sz="1600" i="1" dirty="0">
                <a:latin typeface="Segoe UI Light" panose="020B0502040204020203" pitchFamily="34" charset="0"/>
                <a:cs typeface="Segoe UI Light" panose="020B0502040204020203" pitchFamily="34" charset="0"/>
              </a:rPr>
              <a:t>TIN_TerrenoNaturalCauceSinuoso_v0.tif</a:t>
            </a:r>
            <a:endParaRPr lang="es-CO" sz="1600" dirty="0">
              <a:latin typeface="Segoe UI Light" panose="020B0502040204020203" pitchFamily="34" charset="0"/>
              <a:cs typeface="Segoe UI Light" panose="020B0502040204020203" pitchFamily="34" charset="0"/>
            </a:endParaRPr>
          </a:p>
        </p:txBody>
      </p:sp>
      <p:pic>
        <p:nvPicPr>
          <p:cNvPr id="7" name="Imagen 6"/>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1055440" y="1837327"/>
            <a:ext cx="3600400" cy="320647"/>
          </a:xfrm>
          <a:prstGeom prst="rect">
            <a:avLst/>
          </a:prstGeom>
        </p:spPr>
      </p:pic>
      <p:pic>
        <p:nvPicPr>
          <p:cNvPr id="2" name="Imagen 1"/>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5916488" y="548680"/>
            <a:ext cx="5508104" cy="5967112"/>
          </a:xfrm>
          <a:prstGeom prst="rect">
            <a:avLst/>
          </a:prstGeom>
        </p:spPr>
      </p:pic>
      <p:pic>
        <p:nvPicPr>
          <p:cNvPr id="3" name="Imagen 2">
            <a:extLst>
              <a:ext uri="{FF2B5EF4-FFF2-40B4-BE49-F238E27FC236}">
                <a16:creationId xmlns:a16="http://schemas.microsoft.com/office/drawing/2014/main" id="{6CAAC5BC-8EDB-410A-8BB5-8FEDDDE37A35}"/>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1143482" y="3950397"/>
            <a:ext cx="3512358" cy="2518581"/>
          </a:xfrm>
          <a:prstGeom prst="rect">
            <a:avLst/>
          </a:prstGeom>
        </p:spPr>
      </p:pic>
      <p:pic>
        <p:nvPicPr>
          <p:cNvPr id="9" name="Imagen 8">
            <a:extLst>
              <a:ext uri="{FF2B5EF4-FFF2-40B4-BE49-F238E27FC236}">
                <a16:creationId xmlns:a16="http://schemas.microsoft.com/office/drawing/2014/main" id="{70A487E5-19B2-40F6-9338-CE1EA14DD8F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647728" y="2070560"/>
            <a:ext cx="360000" cy="360000"/>
          </a:xfrm>
          <a:prstGeom prst="rect">
            <a:avLst/>
          </a:prstGeom>
        </p:spPr>
      </p:pic>
      <p:pic>
        <p:nvPicPr>
          <p:cNvPr id="12" name="Imagen 11">
            <a:extLst>
              <a:ext uri="{FF2B5EF4-FFF2-40B4-BE49-F238E27FC236}">
                <a16:creationId xmlns:a16="http://schemas.microsoft.com/office/drawing/2014/main" id="{BA026230-22AE-4FBF-AFBD-01C5C39B510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115760" y="2070560"/>
            <a:ext cx="360000" cy="360000"/>
          </a:xfrm>
          <a:prstGeom prst="rect">
            <a:avLst/>
          </a:prstGeom>
        </p:spPr>
      </p:pic>
      <p:pic>
        <p:nvPicPr>
          <p:cNvPr id="13" name="Imagen 12">
            <a:extLst>
              <a:ext uri="{FF2B5EF4-FFF2-40B4-BE49-F238E27FC236}">
                <a16:creationId xmlns:a16="http://schemas.microsoft.com/office/drawing/2014/main" id="{42D66975-0A5A-4221-9634-884D7DC6B0A0}"/>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431882" y="3220983"/>
            <a:ext cx="360000" cy="360000"/>
          </a:xfrm>
          <a:prstGeom prst="rect">
            <a:avLst/>
          </a:prstGeom>
        </p:spPr>
      </p:pic>
      <p:pic>
        <p:nvPicPr>
          <p:cNvPr id="14" name="Imagen 13">
            <a:extLst>
              <a:ext uri="{FF2B5EF4-FFF2-40B4-BE49-F238E27FC236}">
                <a16:creationId xmlns:a16="http://schemas.microsoft.com/office/drawing/2014/main" id="{8CDA4161-1ACC-4F4B-873E-14A3B7E76B2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913910" y="4527409"/>
            <a:ext cx="360000" cy="360000"/>
          </a:xfrm>
          <a:prstGeom prst="rect">
            <a:avLst/>
          </a:prstGeom>
        </p:spPr>
      </p:pic>
      <p:pic>
        <p:nvPicPr>
          <p:cNvPr id="15" name="Imagen 14">
            <a:extLst>
              <a:ext uri="{FF2B5EF4-FFF2-40B4-BE49-F238E27FC236}">
                <a16:creationId xmlns:a16="http://schemas.microsoft.com/office/drawing/2014/main" id="{E15E7540-4DB6-468A-B4F2-D53625576CA3}"/>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6" name="1 Título">
            <a:extLst>
              <a:ext uri="{FF2B5EF4-FFF2-40B4-BE49-F238E27FC236}">
                <a16:creationId xmlns:a16="http://schemas.microsoft.com/office/drawing/2014/main" id="{3BDAECD8-76A9-4DA6-9512-654D00310C7F}"/>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2: Creación del modelo de terreno triangulado TIN</a:t>
            </a:r>
          </a:p>
        </p:txBody>
      </p:sp>
    </p:spTree>
    <p:extLst>
      <p:ext uri="{BB962C8B-B14F-4D97-AF65-F5344CB8AC3E}">
        <p14:creationId xmlns:p14="http://schemas.microsoft.com/office/powerpoint/2010/main" val="29720774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079776" y="3105834"/>
            <a:ext cx="4032448"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Actividad 3: Creación modelo topológico en HEC-GeoRAS</a:t>
            </a:r>
          </a:p>
        </p:txBody>
      </p:sp>
      <p:pic>
        <p:nvPicPr>
          <p:cNvPr id="4" name="Imagen 3">
            <a:extLst>
              <a:ext uri="{FF2B5EF4-FFF2-40B4-BE49-F238E27FC236}">
                <a16:creationId xmlns:a16="http://schemas.microsoft.com/office/drawing/2014/main" id="{3E7736F4-3315-45C7-BCEB-AF88FC3D9A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5426594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07368" y="743871"/>
            <a:ext cx="5256584" cy="2554545"/>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1. En la carpeta de proyecto, cree un directorio con el nombre HECGeoRAS_v2.</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2. En </a:t>
            </a:r>
            <a:r>
              <a:rPr lang="es-CO" sz="1600" dirty="0" err="1">
                <a:latin typeface="Segoe UI Light" panose="020B0502040204020203" pitchFamily="34" charset="0"/>
                <a:cs typeface="Segoe UI Light" panose="020B0502040204020203" pitchFamily="34" charset="0"/>
              </a:rPr>
              <a:t>ArcGIS</a:t>
            </a:r>
            <a:r>
              <a:rPr lang="es-CO" sz="1600" dirty="0">
                <a:latin typeface="Segoe UI Light" panose="020B0502040204020203" pitchFamily="34" charset="0"/>
                <a:cs typeface="Segoe UI Light" panose="020B0502040204020203" pitchFamily="34" charset="0"/>
              </a:rPr>
              <a:t>, cree un mapa nuevo y agregue desde la base de datos </a:t>
            </a:r>
            <a:r>
              <a:rPr lang="es-CO" sz="1600" dirty="0" err="1">
                <a:latin typeface="Segoe UI Light" panose="020B0502040204020203" pitchFamily="34" charset="0"/>
                <a:cs typeface="Segoe UI Light" panose="020B0502040204020203" pitchFamily="34" charset="0"/>
              </a:rPr>
              <a:t>GEODATABASE.gdb</a:t>
            </a:r>
            <a:r>
              <a:rPr lang="es-CO" sz="1600" dirty="0">
                <a:latin typeface="Segoe UI Light" panose="020B0502040204020203" pitchFamily="34" charset="0"/>
                <a:cs typeface="Segoe UI Light" panose="020B0502040204020203" pitchFamily="34" charset="0"/>
              </a:rPr>
              <a:t>, la capa de drenajes naturales. Guarde el mapa en el directorio creado como HEC-GeoRAS_v2.mxd</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3. Agregue el modelo de terreno integrado TIN: TIN_TerrenoNaturalCauceSinuoso_v0</a:t>
            </a:r>
          </a:p>
        </p:txBody>
      </p:sp>
      <p:pic>
        <p:nvPicPr>
          <p:cNvPr id="3" name="Imagen 2"/>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983432" y="3547009"/>
            <a:ext cx="4011289" cy="2901153"/>
          </a:xfrm>
          <a:prstGeom prst="rect">
            <a:avLst/>
          </a:prstGeom>
        </p:spPr>
      </p:pic>
      <p:pic>
        <p:nvPicPr>
          <p:cNvPr id="4" name="Imagen 3"/>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5988496" y="620688"/>
            <a:ext cx="5508104" cy="5967591"/>
          </a:xfrm>
          <a:prstGeom prst="rect">
            <a:avLst/>
          </a:prstGeom>
        </p:spPr>
      </p:pic>
      <p:sp>
        <p:nvSpPr>
          <p:cNvPr id="6" name="1 Título">
            <a:extLst>
              <a:ext uri="{FF2B5EF4-FFF2-40B4-BE49-F238E27FC236}">
                <a16:creationId xmlns:a16="http://schemas.microsoft.com/office/drawing/2014/main" id="{FA64C329-2416-4015-BA61-D14464E29703}"/>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3: Creación modelo topológico en HEC-GeoRAS</a:t>
            </a:r>
          </a:p>
        </p:txBody>
      </p:sp>
      <p:pic>
        <p:nvPicPr>
          <p:cNvPr id="9" name="Imagen 8">
            <a:extLst>
              <a:ext uri="{FF2B5EF4-FFF2-40B4-BE49-F238E27FC236}">
                <a16:creationId xmlns:a16="http://schemas.microsoft.com/office/drawing/2014/main" id="{F3FA23E9-A82C-431B-A5FE-7378CF123AB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29853" y="4997585"/>
            <a:ext cx="360000" cy="360000"/>
          </a:xfrm>
          <a:prstGeom prst="rect">
            <a:avLst/>
          </a:prstGeom>
        </p:spPr>
      </p:pic>
      <p:pic>
        <p:nvPicPr>
          <p:cNvPr id="10" name="Imagen 9">
            <a:extLst>
              <a:ext uri="{FF2B5EF4-FFF2-40B4-BE49-F238E27FC236}">
                <a16:creationId xmlns:a16="http://schemas.microsoft.com/office/drawing/2014/main" id="{0D774831-DE09-4B5D-96AC-9C56F79FD6F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72872" y="5660502"/>
            <a:ext cx="360000" cy="360000"/>
          </a:xfrm>
          <a:prstGeom prst="rect">
            <a:avLst/>
          </a:prstGeom>
        </p:spPr>
      </p:pic>
      <p:pic>
        <p:nvPicPr>
          <p:cNvPr id="11" name="Imagen 10">
            <a:extLst>
              <a:ext uri="{FF2B5EF4-FFF2-40B4-BE49-F238E27FC236}">
                <a16:creationId xmlns:a16="http://schemas.microsoft.com/office/drawing/2014/main" id="{C9526B9B-A5DB-40F9-8091-ADF6537E959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866358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79376" y="647266"/>
            <a:ext cx="5400600" cy="2339102"/>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4. Desde el menú Personalizar -  Barra de Herramientas, active la barra de HEC-GeoRAS.</a:t>
            </a:r>
          </a:p>
          <a:p>
            <a:endParaRPr lang="es-CO" sz="1600" dirty="0">
              <a:latin typeface="Segoe UI Light" panose="020B0502040204020203" pitchFamily="34" charset="0"/>
              <a:cs typeface="Segoe UI Light" panose="020B0502040204020203" pitchFamily="34" charset="0"/>
            </a:endParaRPr>
          </a:p>
          <a:p>
            <a:endParaRPr lang="es-CO" sz="1600" dirty="0">
              <a:latin typeface="Segoe UI Light" panose="020B0502040204020203" pitchFamily="34" charset="0"/>
              <a:cs typeface="Segoe UI Light" panose="020B0502040204020203" pitchFamily="34" charset="0"/>
            </a:endParaRP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5. Ejecute desde el menú RAS </a:t>
            </a:r>
            <a:r>
              <a:rPr lang="es-CO" sz="1600" dirty="0" err="1">
                <a:latin typeface="Segoe UI Light" panose="020B0502040204020203" pitchFamily="34" charset="0"/>
                <a:cs typeface="Segoe UI Light" panose="020B0502040204020203" pitchFamily="34" charset="0"/>
              </a:rPr>
              <a:t>Geometry</a:t>
            </a:r>
            <a:r>
              <a:rPr lang="es-CO" sz="1600" dirty="0">
                <a:latin typeface="Segoe UI Light" panose="020B0502040204020203" pitchFamily="34" charset="0"/>
                <a:cs typeface="Segoe UI Light" panose="020B0502040204020203" pitchFamily="34" charset="0"/>
              </a:rPr>
              <a:t> – </a:t>
            </a:r>
            <a:r>
              <a:rPr lang="es-CO" sz="1600" dirty="0" err="1">
                <a:latin typeface="Segoe UI Light" panose="020B0502040204020203" pitchFamily="34" charset="0"/>
                <a:cs typeface="Segoe UI Light" panose="020B0502040204020203" pitchFamily="34" charset="0"/>
              </a:rPr>
              <a:t>Create</a:t>
            </a:r>
            <a:r>
              <a:rPr lang="es-CO" sz="1600" dirty="0">
                <a:latin typeface="Segoe UI Light" panose="020B0502040204020203" pitchFamily="34" charset="0"/>
                <a:cs typeface="Segoe UI Light" panose="020B0502040204020203" pitchFamily="34" charset="0"/>
              </a:rPr>
              <a:t> RAS </a:t>
            </a:r>
            <a:r>
              <a:rPr lang="es-CO" sz="1600" dirty="0" err="1">
                <a:latin typeface="Segoe UI Light" panose="020B0502040204020203" pitchFamily="34" charset="0"/>
                <a:cs typeface="Segoe UI Light" panose="020B0502040204020203" pitchFamily="34" charset="0"/>
              </a:rPr>
              <a:t>Layers</a:t>
            </a:r>
            <a:r>
              <a:rPr lang="es-CO" sz="1600" dirty="0">
                <a:latin typeface="Segoe UI Light" panose="020B0502040204020203" pitchFamily="34" charset="0"/>
                <a:cs typeface="Segoe UI Light" panose="020B0502040204020203" pitchFamily="34" charset="0"/>
              </a:rPr>
              <a:t> – </a:t>
            </a:r>
            <a:r>
              <a:rPr lang="es-CO" sz="1600" dirty="0" err="1">
                <a:latin typeface="Segoe UI Light" panose="020B0502040204020203" pitchFamily="34" charset="0"/>
                <a:cs typeface="Segoe UI Light" panose="020B0502040204020203" pitchFamily="34" charset="0"/>
              </a:rPr>
              <a:t>All</a:t>
            </a:r>
            <a:r>
              <a:rPr lang="es-CO" sz="1600" dirty="0">
                <a:latin typeface="Segoe UI Light" panose="020B0502040204020203" pitchFamily="34" charset="0"/>
                <a:cs typeface="Segoe UI Light" panose="020B0502040204020203" pitchFamily="34" charset="0"/>
              </a:rPr>
              <a:t>. Automáticamente en el directorio de trabajo se creará la base de datos para almacenar todas las entidades y atributos del modelo geográfico HEC.</a:t>
            </a:r>
          </a:p>
        </p:txBody>
      </p:sp>
      <p:pic>
        <p:nvPicPr>
          <p:cNvPr id="2" name="Imagen 1"/>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983432" y="1340351"/>
            <a:ext cx="4456267" cy="432048"/>
          </a:xfrm>
          <a:prstGeom prst="rect">
            <a:avLst/>
          </a:prstGeom>
        </p:spPr>
      </p:pic>
      <p:pic>
        <p:nvPicPr>
          <p:cNvPr id="5" name="Imagen 4"/>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1775520" y="3122576"/>
            <a:ext cx="2520280" cy="3468678"/>
          </a:xfrm>
          <a:prstGeom prst="rect">
            <a:avLst/>
          </a:prstGeom>
        </p:spPr>
      </p:pic>
      <p:pic>
        <p:nvPicPr>
          <p:cNvPr id="6" name="Imagen 5"/>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6142352" y="620688"/>
            <a:ext cx="5498264" cy="5956930"/>
          </a:xfrm>
          <a:prstGeom prst="rect">
            <a:avLst/>
          </a:prstGeom>
        </p:spPr>
      </p:pic>
      <p:pic>
        <p:nvPicPr>
          <p:cNvPr id="7" name="Imagen 6"/>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Lst>
          </a:blip>
          <a:stretch>
            <a:fillRect/>
          </a:stretch>
        </p:blipFill>
        <p:spPr>
          <a:xfrm>
            <a:off x="7430233" y="4561395"/>
            <a:ext cx="3661395" cy="1594261"/>
          </a:xfrm>
          <a:prstGeom prst="rect">
            <a:avLst/>
          </a:prstGeom>
        </p:spPr>
      </p:pic>
      <p:pic>
        <p:nvPicPr>
          <p:cNvPr id="9" name="Imagen 8">
            <a:extLst>
              <a:ext uri="{FF2B5EF4-FFF2-40B4-BE49-F238E27FC236}">
                <a16:creationId xmlns:a16="http://schemas.microsoft.com/office/drawing/2014/main" id="{C6F0664D-3023-4108-B0D9-F356C042E598}"/>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775520" y="1592399"/>
            <a:ext cx="360000" cy="360000"/>
          </a:xfrm>
          <a:prstGeom prst="rect">
            <a:avLst/>
          </a:prstGeom>
        </p:spPr>
      </p:pic>
      <p:pic>
        <p:nvPicPr>
          <p:cNvPr id="12" name="Imagen 11">
            <a:extLst>
              <a:ext uri="{FF2B5EF4-FFF2-40B4-BE49-F238E27FC236}">
                <a16:creationId xmlns:a16="http://schemas.microsoft.com/office/drawing/2014/main" id="{BD1421C4-A705-4A89-9AEF-79CB8D1F97E7}"/>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495600" y="6367462"/>
            <a:ext cx="360000" cy="360000"/>
          </a:xfrm>
          <a:prstGeom prst="rect">
            <a:avLst/>
          </a:prstGeom>
        </p:spPr>
      </p:pic>
      <p:pic>
        <p:nvPicPr>
          <p:cNvPr id="13" name="Imagen 12">
            <a:extLst>
              <a:ext uri="{FF2B5EF4-FFF2-40B4-BE49-F238E27FC236}">
                <a16:creationId xmlns:a16="http://schemas.microsoft.com/office/drawing/2014/main" id="{90EFCE35-61F3-4C5A-8CEB-C83F434E332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0174800" y="5358525"/>
            <a:ext cx="360000" cy="360000"/>
          </a:xfrm>
          <a:prstGeom prst="rect">
            <a:avLst/>
          </a:prstGeom>
        </p:spPr>
      </p:pic>
      <p:pic>
        <p:nvPicPr>
          <p:cNvPr id="14" name="Imagen 13">
            <a:extLst>
              <a:ext uri="{FF2B5EF4-FFF2-40B4-BE49-F238E27FC236}">
                <a16:creationId xmlns:a16="http://schemas.microsoft.com/office/drawing/2014/main" id="{AB0EE895-9F5A-4085-88C6-7CA8B4F52BF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5" name="1 Título">
            <a:extLst>
              <a:ext uri="{FF2B5EF4-FFF2-40B4-BE49-F238E27FC236}">
                <a16:creationId xmlns:a16="http://schemas.microsoft.com/office/drawing/2014/main" id="{3281DD3D-B9C2-470E-B855-BBCD500AA6FD}"/>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3: Creación modelo topológico en HEC-GeoRAS</a:t>
            </a:r>
          </a:p>
        </p:txBody>
      </p:sp>
    </p:spTree>
    <p:extLst>
      <p:ext uri="{BB962C8B-B14F-4D97-AF65-F5344CB8AC3E}">
        <p14:creationId xmlns:p14="http://schemas.microsoft.com/office/powerpoint/2010/main" val="21535820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79376" y="620688"/>
            <a:ext cx="5492192" cy="2800767"/>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6. Del modelo topográfico HEC de estado natural creado en el Tema 1 (HECGEORAS_v0.rar), agregue las capas: </a:t>
            </a:r>
            <a:r>
              <a:rPr lang="es-CO" sz="1600" dirty="0" err="1">
                <a:latin typeface="Segoe UI Light" panose="020B0502040204020203" pitchFamily="34" charset="0"/>
                <a:cs typeface="Segoe UI Light" panose="020B0502040204020203" pitchFamily="34" charset="0"/>
              </a:rPr>
              <a:t>River</a:t>
            </a:r>
            <a:r>
              <a:rPr lang="es-CO" sz="1600" dirty="0">
                <a:latin typeface="Segoe UI Light" panose="020B0502040204020203" pitchFamily="34" charset="0"/>
                <a:cs typeface="Segoe UI Light" panose="020B0502040204020203" pitchFamily="34" charset="0"/>
              </a:rPr>
              <a:t> y Banks.</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Renombre los archivos del modelo natural como Banks Modelo Natural y </a:t>
            </a:r>
            <a:r>
              <a:rPr lang="es-CO" sz="1600" dirty="0" err="1">
                <a:latin typeface="Segoe UI Light" panose="020B0502040204020203" pitchFamily="34" charset="0"/>
                <a:cs typeface="Segoe UI Light" panose="020B0502040204020203" pitchFamily="34" charset="0"/>
              </a:rPr>
              <a:t>River</a:t>
            </a:r>
            <a:r>
              <a:rPr lang="es-CO" sz="1600" dirty="0">
                <a:latin typeface="Segoe UI Light" panose="020B0502040204020203" pitchFamily="34" charset="0"/>
                <a:cs typeface="Segoe UI Light" panose="020B0502040204020203" pitchFamily="34" charset="0"/>
              </a:rPr>
              <a:t> Modelo Natural. Agrúpelos como </a:t>
            </a:r>
            <a:r>
              <a:rPr lang="es-CO" sz="1600" i="1" dirty="0">
                <a:latin typeface="Segoe UI Light" panose="020B0502040204020203" pitchFamily="34" charset="0"/>
                <a:cs typeface="Segoe UI Light" panose="020B0502040204020203" pitchFamily="34" charset="0"/>
              </a:rPr>
              <a:t>Modelo Natural...</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7. Agregue el archivo CAD CIVIL3D_Ejes_v0.dwg de ejes creado en Autodesk Civil 3D. Mueva el archivo al grupo Modelo Natural...</a:t>
            </a:r>
          </a:p>
        </p:txBody>
      </p:sp>
      <p:pic>
        <p:nvPicPr>
          <p:cNvPr id="3" name="Imagen 2"/>
          <p:cNvPicPr>
            <a:picLocks noChangeAspect="1"/>
          </p:cNvPicPr>
          <p:nvPr/>
        </p:nvPicPr>
        <p:blipFill>
          <a:blip r:embed="rId2"/>
          <a:stretch>
            <a:fillRect/>
          </a:stretch>
        </p:blipFill>
        <p:spPr>
          <a:xfrm>
            <a:off x="6076415" y="620688"/>
            <a:ext cx="5492193" cy="5950352"/>
          </a:xfrm>
          <a:prstGeom prst="rect">
            <a:avLst/>
          </a:prstGeom>
        </p:spPr>
      </p:pic>
      <p:pic>
        <p:nvPicPr>
          <p:cNvPr id="9" name="Imagen 8">
            <a:extLst>
              <a:ext uri="{FF2B5EF4-FFF2-40B4-BE49-F238E27FC236}">
                <a16:creationId xmlns:a16="http://schemas.microsoft.com/office/drawing/2014/main" id="{AF74F69F-F2DC-4030-8F68-C00C9F0E2CF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12519" y="1514728"/>
            <a:ext cx="360000" cy="360000"/>
          </a:xfrm>
          <a:prstGeom prst="rect">
            <a:avLst/>
          </a:prstGeom>
        </p:spPr>
      </p:pic>
      <p:pic>
        <p:nvPicPr>
          <p:cNvPr id="10" name="Imagen 9">
            <a:extLst>
              <a:ext uri="{FF2B5EF4-FFF2-40B4-BE49-F238E27FC236}">
                <a16:creationId xmlns:a16="http://schemas.microsoft.com/office/drawing/2014/main" id="{FFB76A22-27A2-4659-B0EB-DB991EF3E0A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1589C9AA-1B42-4836-9E81-9DA85EDDA24B}"/>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3: Creación modelo topológico en HEC-GeoRAS</a:t>
            </a:r>
          </a:p>
        </p:txBody>
      </p:sp>
    </p:spTree>
    <p:extLst>
      <p:ext uri="{BB962C8B-B14F-4D97-AF65-F5344CB8AC3E}">
        <p14:creationId xmlns:p14="http://schemas.microsoft.com/office/powerpoint/2010/main" val="7211998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79376" y="794420"/>
            <a:ext cx="5184576" cy="3293209"/>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8. Exporte todas las líneas del archivo CAD de ejes a un archivo de formas </a:t>
            </a:r>
            <a:r>
              <a:rPr lang="es-CO" sz="1600" dirty="0" err="1">
                <a:latin typeface="Segoe UI Light" panose="020B0502040204020203" pitchFamily="34" charset="0"/>
                <a:cs typeface="Segoe UI Light" panose="020B0502040204020203" pitchFamily="34" charset="0"/>
              </a:rPr>
              <a:t>shapefile</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shp</a:t>
            </a:r>
            <a:r>
              <a:rPr lang="es-CO" sz="1600" dirty="0">
                <a:latin typeface="Segoe UI Light" panose="020B0502040204020203" pitchFamily="34" charset="0"/>
                <a:cs typeface="Segoe UI Light" panose="020B0502040204020203" pitchFamily="34" charset="0"/>
              </a:rPr>
              <a:t>) con el nombre CIVIL3D_Ejes_v0.shp y agréguelo al mapa actual.</a:t>
            </a:r>
          </a:p>
          <a:p>
            <a:endParaRPr lang="es-CO" sz="1600" dirty="0">
              <a:latin typeface="Segoe UI Light" panose="020B0502040204020203" pitchFamily="34" charset="0"/>
              <a:cs typeface="Segoe UI Light" panose="020B0502040204020203" pitchFamily="34" charset="0"/>
            </a:endParaRPr>
          </a:p>
          <a:p>
            <a:endParaRPr lang="es-CO" sz="1600" dirty="0">
              <a:latin typeface="Segoe UI Light" panose="020B0502040204020203" pitchFamily="34" charset="0"/>
              <a:cs typeface="Segoe UI Light" panose="020B0502040204020203" pitchFamily="34" charset="0"/>
            </a:endParaRPr>
          </a:p>
          <a:p>
            <a:endParaRPr lang="es-CO" sz="1600" dirty="0">
              <a:latin typeface="Segoe UI Light" panose="020B0502040204020203" pitchFamily="34" charset="0"/>
              <a:cs typeface="Segoe UI Light" panose="020B0502040204020203" pitchFamily="34" charset="0"/>
            </a:endParaRP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Exportar el archivo CAD a formato de formas geográficas .</a:t>
            </a:r>
            <a:r>
              <a:rPr lang="es-CO" sz="1600" dirty="0" err="1">
                <a:latin typeface="Segoe UI Light" panose="020B0502040204020203" pitchFamily="34" charset="0"/>
                <a:cs typeface="Segoe UI Light" panose="020B0502040204020203" pitchFamily="34" charset="0"/>
              </a:rPr>
              <a:t>shp</a:t>
            </a:r>
            <a:r>
              <a:rPr lang="es-CO" sz="1600" dirty="0">
                <a:latin typeface="Segoe UI Light" panose="020B0502040204020203" pitchFamily="34" charset="0"/>
                <a:cs typeface="Segoe UI Light" panose="020B0502040204020203" pitchFamily="34" charset="0"/>
              </a:rPr>
              <a:t> convierte las líneas de arcos en </a:t>
            </a:r>
            <a:r>
              <a:rPr lang="es-CO" sz="1600" dirty="0" err="1">
                <a:latin typeface="Segoe UI Light" panose="020B0502040204020203" pitchFamily="34" charset="0"/>
                <a:cs typeface="Segoe UI Light" panose="020B0502040204020203" pitchFamily="34" charset="0"/>
              </a:rPr>
              <a:t>poli-lineas</a:t>
            </a:r>
            <a:r>
              <a:rPr lang="es-CO" sz="1600" dirty="0">
                <a:latin typeface="Segoe UI Light" panose="020B0502040204020203" pitchFamily="34" charset="0"/>
                <a:cs typeface="Segoe UI Light" panose="020B0502040204020203" pitchFamily="34" charset="0"/>
              </a:rPr>
              <a:t> de nodos. Este es el formato requerido para la topología geográfica de HEC-</a:t>
            </a:r>
            <a:r>
              <a:rPr lang="es-CO" sz="1600" dirty="0" err="1">
                <a:latin typeface="Segoe UI Light" panose="020B0502040204020203" pitchFamily="34" charset="0"/>
                <a:cs typeface="Segoe UI Light" panose="020B0502040204020203" pitchFamily="34" charset="0"/>
              </a:rPr>
              <a:t>GeoRAS</a:t>
            </a:r>
            <a:r>
              <a:rPr lang="es-CO" sz="1600" dirty="0">
                <a:latin typeface="Segoe UI Light" panose="020B0502040204020203" pitchFamily="34" charset="0"/>
                <a:cs typeface="Segoe UI Light" panose="020B0502040204020203" pitchFamily="34" charset="0"/>
              </a:rPr>
              <a:t>. Para verificar la utilización de segmentos, activar el editor de </a:t>
            </a:r>
            <a:r>
              <a:rPr lang="es-CO" sz="1600" dirty="0" err="1">
                <a:latin typeface="Segoe UI Light" panose="020B0502040204020203" pitchFamily="34" charset="0"/>
                <a:cs typeface="Segoe UI Light" panose="020B0502040204020203" pitchFamily="34" charset="0"/>
              </a:rPr>
              <a:t>ArcGIS</a:t>
            </a:r>
            <a:r>
              <a:rPr lang="es-CO" sz="1600" dirty="0">
                <a:latin typeface="Segoe UI Light" panose="020B0502040204020203" pitchFamily="34" charset="0"/>
                <a:cs typeface="Segoe UI Light" panose="020B0502040204020203" pitchFamily="34" charset="0"/>
              </a:rPr>
              <a:t> y dar doble clic sobre cualquiera de las curvas. </a:t>
            </a:r>
          </a:p>
        </p:txBody>
      </p:sp>
      <p:pic>
        <p:nvPicPr>
          <p:cNvPr id="2" name="Imagen 1"/>
          <p:cNvPicPr>
            <a:picLocks noChangeAspect="1"/>
          </p:cNvPicPr>
          <p:nvPr/>
        </p:nvPicPr>
        <p:blipFill>
          <a:blip r:embed="rId2"/>
          <a:stretch>
            <a:fillRect/>
          </a:stretch>
        </p:blipFill>
        <p:spPr>
          <a:xfrm>
            <a:off x="6070344" y="548680"/>
            <a:ext cx="5498264" cy="5956930"/>
          </a:xfrm>
          <a:prstGeom prst="rect">
            <a:avLst/>
          </a:prstGeom>
        </p:spPr>
      </p:pic>
      <p:pic>
        <p:nvPicPr>
          <p:cNvPr id="6" name="Imagen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10329" y="1736413"/>
            <a:ext cx="720000" cy="720000"/>
          </a:xfrm>
          <a:prstGeom prst="rect">
            <a:avLst/>
          </a:prstGeom>
        </p:spPr>
      </p:pic>
      <p:pic>
        <p:nvPicPr>
          <p:cNvPr id="4" name="Imagen 3"/>
          <p:cNvPicPr>
            <a:picLocks noChangeAspect="1"/>
          </p:cNvPicPr>
          <p:nvPr/>
        </p:nvPicPr>
        <p:blipFill>
          <a:blip r:embed="rId4">
            <a:clrChange>
              <a:clrFrom>
                <a:srgbClr val="FEFFFF"/>
              </a:clrFrom>
              <a:clrTo>
                <a:srgbClr val="FEFFFF">
                  <a:alpha val="0"/>
                </a:srgbClr>
              </a:clrTo>
            </a:clrChange>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1293497" y="4118407"/>
            <a:ext cx="3153663" cy="2284109"/>
          </a:xfrm>
          <a:prstGeom prst="rect">
            <a:avLst/>
          </a:prstGeom>
        </p:spPr>
      </p:pic>
      <p:pic>
        <p:nvPicPr>
          <p:cNvPr id="11" name="Imagen 10">
            <a:extLst>
              <a:ext uri="{FF2B5EF4-FFF2-40B4-BE49-F238E27FC236}">
                <a16:creationId xmlns:a16="http://schemas.microsoft.com/office/drawing/2014/main" id="{617A6CDD-D214-47F8-8055-B449E85CE76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509769" y="5589240"/>
            <a:ext cx="360000" cy="360000"/>
          </a:xfrm>
          <a:prstGeom prst="rect">
            <a:avLst/>
          </a:prstGeom>
        </p:spPr>
      </p:pic>
      <p:pic>
        <p:nvPicPr>
          <p:cNvPr id="12" name="Imagen 11">
            <a:extLst>
              <a:ext uri="{FF2B5EF4-FFF2-40B4-BE49-F238E27FC236}">
                <a16:creationId xmlns:a16="http://schemas.microsoft.com/office/drawing/2014/main" id="{68633D32-2532-4F0F-9345-E4D4D03C672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56A8B2B5-7F21-4301-AA5C-7AF5E7E4F347}"/>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3: Creación modelo topológico en HEC-GeoRAS</a:t>
            </a:r>
          </a:p>
        </p:txBody>
      </p:sp>
    </p:spTree>
    <p:extLst>
      <p:ext uri="{BB962C8B-B14F-4D97-AF65-F5344CB8AC3E}">
        <p14:creationId xmlns:p14="http://schemas.microsoft.com/office/powerpoint/2010/main" val="16377433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79376" y="567358"/>
            <a:ext cx="5256826" cy="2800767"/>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9. Active el modo de edición de ArcMap seleccionando el espacio de trabajo de la base de datos geográfica HEC-GeoRAS_v2.mdb.</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10. Seleccione desde la capa CIVIL3D_Ejes_v0.shp el eje del Río sinuoso, cópielo y péguelo en la capa </a:t>
            </a:r>
            <a:r>
              <a:rPr lang="es-CO" sz="1600" dirty="0" err="1">
                <a:latin typeface="Segoe UI Light" panose="020B0502040204020203" pitchFamily="34" charset="0"/>
                <a:cs typeface="Segoe UI Light" panose="020B0502040204020203" pitchFamily="34" charset="0"/>
              </a:rPr>
              <a:t>River</a:t>
            </a:r>
            <a:r>
              <a:rPr lang="es-CO" sz="1600" dirty="0">
                <a:latin typeface="Segoe UI Light" panose="020B0502040204020203" pitchFamily="34" charset="0"/>
                <a:cs typeface="Segoe UI Light" panose="020B0502040204020203" pitchFamily="34" charset="0"/>
              </a:rPr>
              <a:t> de la base de datos.</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11. Desde la capa </a:t>
            </a:r>
            <a:r>
              <a:rPr lang="es-CO" sz="1600" dirty="0" err="1">
                <a:latin typeface="Segoe UI Light" panose="020B0502040204020203" pitchFamily="34" charset="0"/>
                <a:cs typeface="Segoe UI Light" panose="020B0502040204020203" pitchFamily="34" charset="0"/>
              </a:rPr>
              <a:t>River</a:t>
            </a:r>
            <a:r>
              <a:rPr lang="es-CO" sz="1600" dirty="0">
                <a:latin typeface="Segoe UI Light" panose="020B0502040204020203" pitchFamily="34" charset="0"/>
                <a:cs typeface="Segoe UI Light" panose="020B0502040204020203" pitchFamily="34" charset="0"/>
              </a:rPr>
              <a:t> Modelo Natural, copie en la capa </a:t>
            </a:r>
            <a:r>
              <a:rPr lang="es-CO" sz="1600" dirty="0" err="1">
                <a:latin typeface="Segoe UI Light" panose="020B0502040204020203" pitchFamily="34" charset="0"/>
                <a:cs typeface="Segoe UI Light" panose="020B0502040204020203" pitchFamily="34" charset="0"/>
              </a:rPr>
              <a:t>River</a:t>
            </a:r>
            <a:r>
              <a:rPr lang="es-CO" sz="1600" dirty="0">
                <a:latin typeface="Segoe UI Light" panose="020B0502040204020203" pitchFamily="34" charset="0"/>
                <a:cs typeface="Segoe UI Light" panose="020B0502040204020203" pitchFamily="34" charset="0"/>
              </a:rPr>
              <a:t> los tramos de río natural que se encuentran antes y después del cauce sinuoso y el cauce lateral.</a:t>
            </a:r>
          </a:p>
        </p:txBody>
      </p:sp>
      <p:pic>
        <p:nvPicPr>
          <p:cNvPr id="3" name="Imagen 2"/>
          <p:cNvPicPr>
            <a:picLocks noChangeAspect="1"/>
          </p:cNvPicPr>
          <p:nvPr/>
        </p:nvPicPr>
        <p:blipFill>
          <a:blip r:embed="rId2"/>
          <a:stretch>
            <a:fillRect/>
          </a:stretch>
        </p:blipFill>
        <p:spPr>
          <a:xfrm>
            <a:off x="6069370" y="567358"/>
            <a:ext cx="5499238" cy="5957986"/>
          </a:xfrm>
          <a:prstGeom prst="rect">
            <a:avLst/>
          </a:prstGeom>
        </p:spPr>
      </p:pic>
      <p:pic>
        <p:nvPicPr>
          <p:cNvPr id="9" name="Imagen 8">
            <a:extLst>
              <a:ext uri="{FF2B5EF4-FFF2-40B4-BE49-F238E27FC236}">
                <a16:creationId xmlns:a16="http://schemas.microsoft.com/office/drawing/2014/main" id="{320B9957-D9FB-4399-86DE-6AB35D2DBC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88288" y="1041443"/>
            <a:ext cx="360000" cy="360000"/>
          </a:xfrm>
          <a:prstGeom prst="rect">
            <a:avLst/>
          </a:prstGeom>
        </p:spPr>
      </p:pic>
      <p:pic>
        <p:nvPicPr>
          <p:cNvPr id="10" name="Imagen 9">
            <a:extLst>
              <a:ext uri="{FF2B5EF4-FFF2-40B4-BE49-F238E27FC236}">
                <a16:creationId xmlns:a16="http://schemas.microsoft.com/office/drawing/2014/main" id="{9BDF7397-C649-424C-9ED7-8DECBCEE0E1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B01B1BB3-5532-4AB5-87BA-2E49154885D3}"/>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3: Creación modelo topológico en HEC-GeoRAS</a:t>
            </a:r>
          </a:p>
        </p:txBody>
      </p:sp>
    </p:spTree>
    <p:extLst>
      <p:ext uri="{BB962C8B-B14F-4D97-AF65-F5344CB8AC3E}">
        <p14:creationId xmlns:p14="http://schemas.microsoft.com/office/powerpoint/2010/main" val="23051454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35360" y="501187"/>
            <a:ext cx="5453063" cy="3785652"/>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12. Edite las líneas de la capa </a:t>
            </a:r>
            <a:r>
              <a:rPr lang="es-CO" sz="1600" dirty="0" err="1">
                <a:latin typeface="Segoe UI Light" panose="020B0502040204020203" pitchFamily="34" charset="0"/>
                <a:cs typeface="Segoe UI Light" panose="020B0502040204020203" pitchFamily="34" charset="0"/>
              </a:rPr>
              <a:t>River</a:t>
            </a:r>
            <a:r>
              <a:rPr lang="es-CO" sz="1600" dirty="0">
                <a:latin typeface="Segoe UI Light" panose="020B0502040204020203" pitchFamily="34" charset="0"/>
                <a:cs typeface="Segoe UI Light" panose="020B0502040204020203" pitchFamily="34" charset="0"/>
              </a:rPr>
              <a:t> verificando que todos los tramos sean continuos y que el cauce lateral esté conectado al eje sinuoso.</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Utilice la función Fusionar del Editor para definir un eje continuo.</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El modelo final de ríos tendrá 3 tramos:</a:t>
            </a:r>
          </a:p>
          <a:p>
            <a:endParaRPr lang="es-CO"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El Zorro Arriba de Lateral 1</a:t>
            </a:r>
          </a:p>
          <a:p>
            <a:pPr marL="285750" indent="-285750">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El Zorro Abajo de Lateral 1</a:t>
            </a:r>
          </a:p>
          <a:p>
            <a:pPr marL="285750" indent="-285750">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Lateral 1</a:t>
            </a:r>
          </a:p>
          <a:p>
            <a:pPr marL="285750" indent="-285750">
              <a:buFont typeface="Wingdings" panose="05000000000000000000" pitchFamily="2" charset="2"/>
              <a:buChar char="ü"/>
            </a:pPr>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13. Desde la barra HEC-GeoRAS, asigne los nombres a cada tramo</a:t>
            </a:r>
          </a:p>
        </p:txBody>
      </p:sp>
      <p:pic>
        <p:nvPicPr>
          <p:cNvPr id="2" name="Imagen 1"/>
          <p:cNvPicPr>
            <a:picLocks noChangeAspect="1"/>
          </p:cNvPicPr>
          <p:nvPr/>
        </p:nvPicPr>
        <p:blipFill>
          <a:blip r:embed="rId2"/>
          <a:stretch>
            <a:fillRect/>
          </a:stretch>
        </p:blipFill>
        <p:spPr>
          <a:xfrm>
            <a:off x="6187552" y="548680"/>
            <a:ext cx="5453064" cy="2953743"/>
          </a:xfrm>
          <a:prstGeom prst="rect">
            <a:avLst/>
          </a:prstGeom>
        </p:spPr>
      </p:pic>
      <p:pic>
        <p:nvPicPr>
          <p:cNvPr id="6" name="Imagen 5"/>
          <p:cNvPicPr>
            <a:picLocks noChangeAspect="1"/>
          </p:cNvPicPr>
          <p:nvPr/>
        </p:nvPicPr>
        <p:blipFill>
          <a:blip r:embed="rId3"/>
          <a:stretch>
            <a:fillRect/>
          </a:stretch>
        </p:blipFill>
        <p:spPr>
          <a:xfrm>
            <a:off x="998754" y="4375056"/>
            <a:ext cx="3438525" cy="342900"/>
          </a:xfrm>
          <a:prstGeom prst="rect">
            <a:avLst/>
          </a:prstGeom>
        </p:spPr>
      </p:pic>
      <p:pic>
        <p:nvPicPr>
          <p:cNvPr id="7" name="Imagen 6"/>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1068227" y="4869160"/>
            <a:ext cx="3299581" cy="1449527"/>
          </a:xfrm>
          <a:prstGeom prst="rect">
            <a:avLst/>
          </a:prstGeom>
        </p:spPr>
      </p:pic>
      <p:pic>
        <p:nvPicPr>
          <p:cNvPr id="5" name="Imagen 4"/>
          <p:cNvPicPr>
            <a:picLocks noChangeAspect="1"/>
          </p:cNvPicPr>
          <p:nvPr/>
        </p:nvPicPr>
        <p:blipFill>
          <a:blip r:embed="rId6"/>
          <a:stretch>
            <a:fillRect/>
          </a:stretch>
        </p:blipFill>
        <p:spPr>
          <a:xfrm>
            <a:off x="6187553" y="3643610"/>
            <a:ext cx="5453063" cy="2953742"/>
          </a:xfrm>
          <a:prstGeom prst="rect">
            <a:avLst/>
          </a:prstGeom>
        </p:spPr>
      </p:pic>
      <p:pic>
        <p:nvPicPr>
          <p:cNvPr id="9" name="Imagen 8">
            <a:extLst>
              <a:ext uri="{FF2B5EF4-FFF2-40B4-BE49-F238E27FC236}">
                <a16:creationId xmlns:a16="http://schemas.microsoft.com/office/drawing/2014/main" id="{66C5D902-EF38-432D-93EA-A214E6C42D8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440684" y="4606326"/>
            <a:ext cx="360000" cy="360000"/>
          </a:xfrm>
          <a:prstGeom prst="rect">
            <a:avLst/>
          </a:prstGeom>
        </p:spPr>
      </p:pic>
      <p:pic>
        <p:nvPicPr>
          <p:cNvPr id="12" name="Imagen 11">
            <a:extLst>
              <a:ext uri="{FF2B5EF4-FFF2-40B4-BE49-F238E27FC236}">
                <a16:creationId xmlns:a16="http://schemas.microsoft.com/office/drawing/2014/main" id="{80B140DB-045F-4EC2-ACBA-A55C267DA4D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FDEE71C3-6FEE-4416-964A-EB2CDD9FA1C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3: Creación modelo topológico en HEC-GeoRAS</a:t>
            </a:r>
          </a:p>
        </p:txBody>
      </p:sp>
    </p:spTree>
    <p:extLst>
      <p:ext uri="{BB962C8B-B14F-4D97-AF65-F5344CB8AC3E}">
        <p14:creationId xmlns:p14="http://schemas.microsoft.com/office/powerpoint/2010/main" val="1506909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872650" y="620688"/>
            <a:ext cx="4104456" cy="1077218"/>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14. Desde la capa Banks Modelo Natural, copie y pegue en Banks las líneas de los cauces naturales de inicio - entrega y del cauce lateral</a:t>
            </a:r>
          </a:p>
        </p:txBody>
      </p:sp>
      <p:pic>
        <p:nvPicPr>
          <p:cNvPr id="9" name="Imagen 8"/>
          <p:cNvPicPr>
            <a:picLocks noChangeAspect="1"/>
          </p:cNvPicPr>
          <p:nvPr/>
        </p:nvPicPr>
        <p:blipFill>
          <a:blip r:embed="rId2"/>
          <a:stretch>
            <a:fillRect/>
          </a:stretch>
        </p:blipFill>
        <p:spPr>
          <a:xfrm>
            <a:off x="5807968" y="620688"/>
            <a:ext cx="5511382" cy="5970663"/>
          </a:xfrm>
          <a:prstGeom prst="rect">
            <a:avLst/>
          </a:prstGeom>
        </p:spPr>
      </p:pic>
      <p:pic>
        <p:nvPicPr>
          <p:cNvPr id="10" name="Imagen 9">
            <a:extLst>
              <a:ext uri="{FF2B5EF4-FFF2-40B4-BE49-F238E27FC236}">
                <a16:creationId xmlns:a16="http://schemas.microsoft.com/office/drawing/2014/main" id="{7C04CB98-0572-4E2D-B7DF-A97349A4F5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32304" y="4725144"/>
            <a:ext cx="360000" cy="360000"/>
          </a:xfrm>
          <a:prstGeom prst="rect">
            <a:avLst/>
          </a:prstGeom>
        </p:spPr>
      </p:pic>
      <p:pic>
        <p:nvPicPr>
          <p:cNvPr id="11" name="Imagen 10">
            <a:extLst>
              <a:ext uri="{FF2B5EF4-FFF2-40B4-BE49-F238E27FC236}">
                <a16:creationId xmlns:a16="http://schemas.microsoft.com/office/drawing/2014/main" id="{02CFA7A9-003C-4AD6-8481-9290B620284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68CF0900-A0C7-4A23-AAF4-58A77CE94960}"/>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3: Creación modelo topológico en HEC-GeoRAS</a:t>
            </a:r>
          </a:p>
        </p:txBody>
      </p:sp>
    </p:spTree>
    <p:extLst>
      <p:ext uri="{BB962C8B-B14F-4D97-AF65-F5344CB8AC3E}">
        <p14:creationId xmlns:p14="http://schemas.microsoft.com/office/powerpoint/2010/main" val="28862570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a:blip r:embed="rId2">
            <a:clrChange>
              <a:clrFrom>
                <a:srgbClr val="FEFFFF"/>
              </a:clrFrom>
              <a:clrTo>
                <a:srgbClr val="FEFFFF">
                  <a:alpha val="0"/>
                </a:srgbClr>
              </a:clrTo>
            </a:clrChange>
          </a:blip>
          <a:stretch>
            <a:fillRect/>
          </a:stretch>
        </p:blipFill>
        <p:spPr>
          <a:xfrm>
            <a:off x="2567608" y="4727935"/>
            <a:ext cx="2505910" cy="1828637"/>
          </a:xfrm>
          <a:prstGeom prst="rect">
            <a:avLst/>
          </a:prstGeom>
        </p:spPr>
      </p:pic>
      <p:sp>
        <p:nvSpPr>
          <p:cNvPr id="8" name="7 CuadroTexto"/>
          <p:cNvSpPr txBox="1"/>
          <p:nvPr/>
        </p:nvSpPr>
        <p:spPr>
          <a:xfrm>
            <a:off x="534702" y="476672"/>
            <a:ext cx="5345274" cy="2308324"/>
          </a:xfrm>
          <a:prstGeom prst="rect">
            <a:avLst/>
          </a:prstGeom>
          <a:noFill/>
        </p:spPr>
        <p:txBody>
          <a:bodyPr wrap="square" rtlCol="0">
            <a:spAutoFit/>
          </a:bodyPr>
          <a:lstStyle/>
          <a:p>
            <a:r>
              <a:rPr lang="es-CO" sz="1600">
                <a:latin typeface="Segoe UI Light" panose="020B0502040204020203" pitchFamily="34" charset="0"/>
                <a:cs typeface="Segoe UI Light" panose="020B0502040204020203" pitchFamily="34" charset="0"/>
              </a:rPr>
              <a:t>15</a:t>
            </a:r>
            <a:r>
              <a:rPr lang="es-CO" sz="1600" dirty="0">
                <a:latin typeface="Segoe UI Light" panose="020B0502040204020203" pitchFamily="34" charset="0"/>
                <a:cs typeface="Segoe UI Light" panose="020B0502040204020203" pitchFamily="34" charset="0"/>
              </a:rPr>
              <a:t>. Desde la capa CIVIL3D_Ejes_v0, copie las líneas correspondientes a la corona de los taludes del cauce dominante sinuoso y péguelas en la capa Banks.</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16. Edite las líneas de banca para que sean continuas con las de las zonas de cauces naturales.</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17. Verifique la dirección vectorial de las líneas de banca y río.</a:t>
            </a:r>
          </a:p>
        </p:txBody>
      </p:sp>
      <p:pic>
        <p:nvPicPr>
          <p:cNvPr id="2" name="Imagen 1"/>
          <p:cNvPicPr>
            <a:picLocks noChangeAspect="1"/>
          </p:cNvPicPr>
          <p:nvPr/>
        </p:nvPicPr>
        <p:blipFill>
          <a:blip r:embed="rId3"/>
          <a:stretch>
            <a:fillRect/>
          </a:stretch>
        </p:blipFill>
        <p:spPr>
          <a:xfrm>
            <a:off x="6204520" y="476672"/>
            <a:ext cx="5508104" cy="2983556"/>
          </a:xfrm>
          <a:prstGeom prst="rect">
            <a:avLst/>
          </a:prstGeom>
        </p:spPr>
      </p:pic>
      <p:pic>
        <p:nvPicPr>
          <p:cNvPr id="4" name="Imagen 3"/>
          <p:cNvPicPr>
            <a:picLocks noChangeAspect="1"/>
          </p:cNvPicPr>
          <p:nvPr/>
        </p:nvPicPr>
        <p:blipFill>
          <a:blip r:embed="rId4"/>
          <a:stretch>
            <a:fillRect/>
          </a:stretch>
        </p:blipFill>
        <p:spPr>
          <a:xfrm>
            <a:off x="6204519" y="3573016"/>
            <a:ext cx="5508104" cy="2983556"/>
          </a:xfrm>
          <a:prstGeom prst="rect">
            <a:avLst/>
          </a:prstGeom>
        </p:spPr>
      </p:pic>
      <p:pic>
        <p:nvPicPr>
          <p:cNvPr id="5" name="Imagen 4"/>
          <p:cNvPicPr>
            <a:picLocks noChangeAspect="1"/>
          </p:cNvPicPr>
          <p:nvPr/>
        </p:nvPicPr>
        <p:blipFill rotWithShape="1">
          <a:blip r:embed="rId5">
            <a:clrChange>
              <a:clrFrom>
                <a:srgbClr val="FEFFFF"/>
              </a:clrFrom>
              <a:clrTo>
                <a:srgbClr val="FEFFFF">
                  <a:alpha val="0"/>
                </a:srgbClr>
              </a:clrTo>
            </a:clrChange>
          </a:blip>
          <a:srcRect l="23077" t="9481"/>
          <a:stretch/>
        </p:blipFill>
        <p:spPr>
          <a:xfrm>
            <a:off x="1055440" y="2931783"/>
            <a:ext cx="2300257" cy="1900644"/>
          </a:xfrm>
          <a:prstGeom prst="rect">
            <a:avLst/>
          </a:prstGeom>
        </p:spPr>
      </p:pic>
      <p:pic>
        <p:nvPicPr>
          <p:cNvPr id="9" name="Imagen 8">
            <a:extLst>
              <a:ext uri="{FF2B5EF4-FFF2-40B4-BE49-F238E27FC236}">
                <a16:creationId xmlns:a16="http://schemas.microsoft.com/office/drawing/2014/main" id="{19F7D653-D59D-42D2-BA17-AF8D3AAD482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696400" y="2060848"/>
            <a:ext cx="360000" cy="360000"/>
          </a:xfrm>
          <a:prstGeom prst="rect">
            <a:avLst/>
          </a:prstGeom>
        </p:spPr>
      </p:pic>
      <p:pic>
        <p:nvPicPr>
          <p:cNvPr id="12" name="Imagen 11">
            <a:extLst>
              <a:ext uri="{FF2B5EF4-FFF2-40B4-BE49-F238E27FC236}">
                <a16:creationId xmlns:a16="http://schemas.microsoft.com/office/drawing/2014/main" id="{C4323C00-8D53-4849-8DE1-7934C6053DE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30461" y="5282253"/>
            <a:ext cx="360000" cy="360000"/>
          </a:xfrm>
          <a:prstGeom prst="rect">
            <a:avLst/>
          </a:prstGeom>
        </p:spPr>
      </p:pic>
      <p:pic>
        <p:nvPicPr>
          <p:cNvPr id="13" name="Imagen 12">
            <a:extLst>
              <a:ext uri="{FF2B5EF4-FFF2-40B4-BE49-F238E27FC236}">
                <a16:creationId xmlns:a16="http://schemas.microsoft.com/office/drawing/2014/main" id="{DF1B0314-B339-4F39-B8E7-CA33BF2F2AC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4" name="1 Título">
            <a:extLst>
              <a:ext uri="{FF2B5EF4-FFF2-40B4-BE49-F238E27FC236}">
                <a16:creationId xmlns:a16="http://schemas.microsoft.com/office/drawing/2014/main" id="{7A515B01-A140-4DA0-BD41-A94E42C299B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3: Creación modelo topológico en HEC-GeoRAS</a:t>
            </a:r>
          </a:p>
        </p:txBody>
      </p:sp>
    </p:spTree>
    <p:extLst>
      <p:ext uri="{BB962C8B-B14F-4D97-AF65-F5344CB8AC3E}">
        <p14:creationId xmlns:p14="http://schemas.microsoft.com/office/powerpoint/2010/main" val="29414779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93551" y="566718"/>
            <a:ext cx="5256584" cy="5509200"/>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18. Cargue las secciones transversales trazadas en el modelo topológico de estado natural y copie en </a:t>
            </a:r>
            <a:r>
              <a:rPr lang="es-CO" sz="1600" dirty="0" err="1">
                <a:latin typeface="Segoe UI Light" panose="020B0502040204020203" pitchFamily="34" charset="0"/>
                <a:cs typeface="Segoe UI Light" panose="020B0502040204020203" pitchFamily="34" charset="0"/>
              </a:rPr>
              <a:t>XSCutlines</a:t>
            </a:r>
            <a:r>
              <a:rPr lang="es-CO" sz="1600" dirty="0">
                <a:latin typeface="Segoe UI Light" panose="020B0502040204020203" pitchFamily="34" charset="0"/>
                <a:cs typeface="Segoe UI Light" panose="020B0502040204020203" pitchFamily="34" charset="0"/>
              </a:rPr>
              <a:t> las secciones localizadas arriba del inicio, debajo de la entrega y sobre el cauce lateral.</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Verifique la dirección vectorial de las secciones transversales y dibuje las secciones transversales requeridas en la zona del cauce sinuoso diseñado siguiendo los siguientes criterios:</a:t>
            </a:r>
          </a:p>
          <a:p>
            <a:endParaRPr lang="es-CO"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Dirección vectorial de izquierda a derecha y de arriba hacia abajo en el sentido del flujo.</a:t>
            </a:r>
          </a:p>
          <a:p>
            <a:pPr marL="285750" indent="-285750">
              <a:buFont typeface="Wingdings" panose="05000000000000000000" pitchFamily="2" charset="2"/>
              <a:buChar char="ü"/>
            </a:pPr>
            <a:endParaRPr lang="es-CO"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Sección en la mitad de curva y en la mitad de cada línea de aproximación de curva</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Nota: Para simplificar este proceso, utilice las secciones contenidas dentro del archivo </a:t>
            </a:r>
            <a:r>
              <a:rPr lang="es-CO" sz="1600" i="1" dirty="0">
                <a:latin typeface="Segoe UI Light" panose="020B0502040204020203" pitchFamily="34" charset="0"/>
                <a:cs typeface="Segoe UI Light" panose="020B0502040204020203" pitchFamily="34" charset="0"/>
              </a:rPr>
              <a:t>SHP_RAS.zip</a:t>
            </a:r>
            <a:r>
              <a:rPr lang="es-CO" sz="1600" dirty="0">
                <a:latin typeface="Segoe UI Light" panose="020B0502040204020203" pitchFamily="34" charset="0"/>
                <a:cs typeface="Segoe UI Light" panose="020B0502040204020203" pitchFamily="34" charset="0"/>
              </a:rPr>
              <a:t> disponible en el repositorio de datos del Tema 3. Se recomienda eliminar todos los atributos antes de realizar el copiado y pegado espacial para prevenir </a:t>
            </a:r>
            <a:r>
              <a:rPr lang="es-CO" sz="1600" dirty="0" err="1">
                <a:latin typeface="Segoe UI Light" panose="020B0502040204020203" pitchFamily="34" charset="0"/>
                <a:cs typeface="Segoe UI Light" panose="020B0502040204020203" pitchFamily="34" charset="0"/>
              </a:rPr>
              <a:t>HydroID’s</a:t>
            </a:r>
            <a:r>
              <a:rPr lang="es-CO" sz="1600" dirty="0">
                <a:latin typeface="Segoe UI Light" panose="020B0502040204020203" pitchFamily="34" charset="0"/>
                <a:cs typeface="Segoe UI Light" panose="020B0502040204020203" pitchFamily="34" charset="0"/>
              </a:rPr>
              <a:t> repetidos en el modelo geográfico.</a:t>
            </a:r>
          </a:p>
        </p:txBody>
      </p:sp>
      <p:pic>
        <p:nvPicPr>
          <p:cNvPr id="3" name="Imagen 2"/>
          <p:cNvPicPr>
            <a:picLocks noChangeAspect="1"/>
          </p:cNvPicPr>
          <p:nvPr/>
        </p:nvPicPr>
        <p:blipFill>
          <a:blip r:embed="rId2"/>
          <a:stretch>
            <a:fillRect/>
          </a:stretch>
        </p:blipFill>
        <p:spPr>
          <a:xfrm>
            <a:off x="5988140" y="566718"/>
            <a:ext cx="5580112" cy="3022561"/>
          </a:xfrm>
          <a:prstGeom prst="rect">
            <a:avLst/>
          </a:prstGeom>
        </p:spPr>
      </p:pic>
      <p:pic>
        <p:nvPicPr>
          <p:cNvPr id="7" name="Imagen 6"/>
          <p:cNvPicPr>
            <a:picLocks noChangeAspect="1"/>
          </p:cNvPicPr>
          <p:nvPr/>
        </p:nvPicPr>
        <p:blipFill>
          <a:blip r:embed="rId3"/>
          <a:stretch>
            <a:fillRect/>
          </a:stretch>
        </p:blipFill>
        <p:spPr>
          <a:xfrm>
            <a:off x="5968406" y="3501008"/>
            <a:ext cx="5600202" cy="3033442"/>
          </a:xfrm>
          <a:prstGeom prst="rect">
            <a:avLst/>
          </a:prstGeom>
        </p:spPr>
      </p:pic>
      <p:pic>
        <p:nvPicPr>
          <p:cNvPr id="9" name="Imagen 8"/>
          <p:cNvPicPr>
            <a:picLocks noChangeAspect="1"/>
          </p:cNvPicPr>
          <p:nvPr/>
        </p:nvPicPr>
        <p:blipFill>
          <a:blip r:embed="rId4"/>
          <a:stretch>
            <a:fillRect/>
          </a:stretch>
        </p:blipFill>
        <p:spPr>
          <a:xfrm>
            <a:off x="6486822" y="2525383"/>
            <a:ext cx="3404466" cy="2127791"/>
          </a:xfrm>
          <a:prstGeom prst="rect">
            <a:avLst/>
          </a:prstGeom>
        </p:spPr>
      </p:pic>
      <p:pic>
        <p:nvPicPr>
          <p:cNvPr id="10" name="Imagen 9">
            <a:extLst>
              <a:ext uri="{FF2B5EF4-FFF2-40B4-BE49-F238E27FC236}">
                <a16:creationId xmlns:a16="http://schemas.microsoft.com/office/drawing/2014/main" id="{41B597B6-AB2E-46CB-B8BA-3021BDBBDA5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023120" y="2653196"/>
            <a:ext cx="360000" cy="360000"/>
          </a:xfrm>
          <a:prstGeom prst="rect">
            <a:avLst/>
          </a:prstGeom>
        </p:spPr>
      </p:pic>
      <p:pic>
        <p:nvPicPr>
          <p:cNvPr id="13" name="Imagen 12">
            <a:extLst>
              <a:ext uri="{FF2B5EF4-FFF2-40B4-BE49-F238E27FC236}">
                <a16:creationId xmlns:a16="http://schemas.microsoft.com/office/drawing/2014/main" id="{FE8B5F84-DCB3-4D0A-B4E4-851EB8370D0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663120" y="1673863"/>
            <a:ext cx="360000" cy="360000"/>
          </a:xfrm>
          <a:prstGeom prst="rect">
            <a:avLst/>
          </a:prstGeom>
        </p:spPr>
      </p:pic>
      <p:pic>
        <p:nvPicPr>
          <p:cNvPr id="14" name="Imagen 13">
            <a:extLst>
              <a:ext uri="{FF2B5EF4-FFF2-40B4-BE49-F238E27FC236}">
                <a16:creationId xmlns:a16="http://schemas.microsoft.com/office/drawing/2014/main" id="{DA33FA32-5C7B-4B80-9277-C4C6B71846A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09055" y="2033863"/>
            <a:ext cx="360000" cy="360000"/>
          </a:xfrm>
          <a:prstGeom prst="rect">
            <a:avLst/>
          </a:prstGeom>
        </p:spPr>
      </p:pic>
      <p:pic>
        <p:nvPicPr>
          <p:cNvPr id="15" name="Imagen 14">
            <a:extLst>
              <a:ext uri="{FF2B5EF4-FFF2-40B4-BE49-F238E27FC236}">
                <a16:creationId xmlns:a16="http://schemas.microsoft.com/office/drawing/2014/main" id="{95799C31-3C48-4801-B17A-4FEE4EAF9EE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F38E69AC-F15F-4CEA-A60E-3C13CA197502}"/>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3: Creación modelo topológico en HEC-GeoRAS</a:t>
            </a:r>
          </a:p>
        </p:txBody>
      </p:sp>
    </p:spTree>
    <p:extLst>
      <p:ext uri="{BB962C8B-B14F-4D97-AF65-F5344CB8AC3E}">
        <p14:creationId xmlns:p14="http://schemas.microsoft.com/office/powerpoint/2010/main" val="7942632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767408" y="620688"/>
            <a:ext cx="4104456" cy="584775"/>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Secciones transversales del cauce sinuoso con verificación de direcciones vectoriales.</a:t>
            </a:r>
          </a:p>
        </p:txBody>
      </p:sp>
      <p:pic>
        <p:nvPicPr>
          <p:cNvPr id="2" name="Imagen 1"/>
          <p:cNvPicPr>
            <a:picLocks noChangeAspect="1"/>
          </p:cNvPicPr>
          <p:nvPr/>
        </p:nvPicPr>
        <p:blipFill>
          <a:blip r:embed="rId2"/>
          <a:stretch>
            <a:fillRect/>
          </a:stretch>
        </p:blipFill>
        <p:spPr>
          <a:xfrm>
            <a:off x="5663952" y="620688"/>
            <a:ext cx="5554093" cy="5959080"/>
          </a:xfrm>
          <a:prstGeom prst="rect">
            <a:avLst/>
          </a:prstGeom>
        </p:spPr>
      </p:pic>
      <p:pic>
        <p:nvPicPr>
          <p:cNvPr id="9" name="Imagen 8">
            <a:extLst>
              <a:ext uri="{FF2B5EF4-FFF2-40B4-BE49-F238E27FC236}">
                <a16:creationId xmlns:a16="http://schemas.microsoft.com/office/drawing/2014/main" id="{E562FA5D-1665-4FF2-B9AE-A8D325B803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6" name="1 Título">
            <a:extLst>
              <a:ext uri="{FF2B5EF4-FFF2-40B4-BE49-F238E27FC236}">
                <a16:creationId xmlns:a16="http://schemas.microsoft.com/office/drawing/2014/main" id="{126A88E7-ED59-4AB0-A703-CD9DB347902C}"/>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3: Creación modelo topológico en HEC-GeoRAS</a:t>
            </a:r>
          </a:p>
        </p:txBody>
      </p:sp>
    </p:spTree>
    <p:extLst>
      <p:ext uri="{BB962C8B-B14F-4D97-AF65-F5344CB8AC3E}">
        <p14:creationId xmlns:p14="http://schemas.microsoft.com/office/powerpoint/2010/main" val="33404731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623432" y="476672"/>
            <a:ext cx="4464496" cy="2554545"/>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19. Diques: Para garantizar que el tránsito de la creciente se realice dentro de la zona del valle diseñado, es necesario agregar las líneas que de corona de dique que permiten confinar el flujo hacia la zona interna.</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Desde la capa CIVIL3D_Ejes_v0, copie y pegue las líneas de corona de dique trazadas en Autodesk CIVIL3D en la capa </a:t>
            </a:r>
            <a:r>
              <a:rPr lang="es-CO" sz="1600" dirty="0" err="1">
                <a:latin typeface="Segoe UI Light" panose="020B0502040204020203" pitchFamily="34" charset="0"/>
                <a:cs typeface="Segoe UI Light" panose="020B0502040204020203" pitchFamily="34" charset="0"/>
              </a:rPr>
              <a:t>Leeves</a:t>
            </a:r>
            <a:r>
              <a:rPr lang="es-CO" sz="1600" dirty="0">
                <a:latin typeface="Segoe UI Light" panose="020B0502040204020203" pitchFamily="34" charset="0"/>
                <a:cs typeface="Segoe UI Light" panose="020B0502040204020203" pitchFamily="34" charset="0"/>
              </a:rPr>
              <a:t> del modelo HEC-GeoRAS.</a:t>
            </a:r>
          </a:p>
        </p:txBody>
      </p:sp>
      <p:pic>
        <p:nvPicPr>
          <p:cNvPr id="3" name="Imagen 2"/>
          <p:cNvPicPr>
            <a:picLocks noChangeAspect="1"/>
          </p:cNvPicPr>
          <p:nvPr/>
        </p:nvPicPr>
        <p:blipFill>
          <a:blip r:embed="rId2"/>
          <a:stretch>
            <a:fillRect/>
          </a:stretch>
        </p:blipFill>
        <p:spPr>
          <a:xfrm>
            <a:off x="5548373" y="476672"/>
            <a:ext cx="5588187" cy="2997829"/>
          </a:xfrm>
          <a:prstGeom prst="rect">
            <a:avLst/>
          </a:prstGeom>
        </p:spPr>
      </p:pic>
      <p:pic>
        <p:nvPicPr>
          <p:cNvPr id="4" name="Imagen 3"/>
          <p:cNvPicPr>
            <a:picLocks noChangeAspect="1"/>
          </p:cNvPicPr>
          <p:nvPr/>
        </p:nvPicPr>
        <p:blipFill>
          <a:blip r:embed="rId3"/>
          <a:stretch>
            <a:fillRect/>
          </a:stretch>
        </p:blipFill>
        <p:spPr>
          <a:xfrm>
            <a:off x="5556449" y="3645024"/>
            <a:ext cx="5580111" cy="2993497"/>
          </a:xfrm>
          <a:prstGeom prst="rect">
            <a:avLst/>
          </a:prstGeom>
        </p:spPr>
      </p:pic>
      <p:pic>
        <p:nvPicPr>
          <p:cNvPr id="10" name="Imagen 9">
            <a:extLst>
              <a:ext uri="{FF2B5EF4-FFF2-40B4-BE49-F238E27FC236}">
                <a16:creationId xmlns:a16="http://schemas.microsoft.com/office/drawing/2014/main" id="{78D72414-4D3B-4977-8C42-E6A3617722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976320" y="1618160"/>
            <a:ext cx="360000" cy="360000"/>
          </a:xfrm>
          <a:prstGeom prst="rect">
            <a:avLst/>
          </a:prstGeom>
        </p:spPr>
      </p:pic>
      <p:pic>
        <p:nvPicPr>
          <p:cNvPr id="11" name="Imagen 10">
            <a:extLst>
              <a:ext uri="{FF2B5EF4-FFF2-40B4-BE49-F238E27FC236}">
                <a16:creationId xmlns:a16="http://schemas.microsoft.com/office/drawing/2014/main" id="{60C4A5C4-7BD9-4C83-AC87-05B12D516B8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09654" y="2640553"/>
            <a:ext cx="360000" cy="360000"/>
          </a:xfrm>
          <a:prstGeom prst="rect">
            <a:avLst/>
          </a:prstGeom>
        </p:spPr>
      </p:pic>
      <p:pic>
        <p:nvPicPr>
          <p:cNvPr id="12" name="Imagen 11">
            <a:extLst>
              <a:ext uri="{FF2B5EF4-FFF2-40B4-BE49-F238E27FC236}">
                <a16:creationId xmlns:a16="http://schemas.microsoft.com/office/drawing/2014/main" id="{07303B9B-6937-4FCB-9E86-4FDFACF0A81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3" name="1 Título">
            <a:extLst>
              <a:ext uri="{FF2B5EF4-FFF2-40B4-BE49-F238E27FC236}">
                <a16:creationId xmlns:a16="http://schemas.microsoft.com/office/drawing/2014/main" id="{6A1488FA-2CF0-4B77-A059-3A0433C3246C}"/>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3: Creación modelo topológico en HEC-GeoRAS</a:t>
            </a:r>
          </a:p>
        </p:txBody>
      </p:sp>
    </p:spTree>
    <p:extLst>
      <p:ext uri="{BB962C8B-B14F-4D97-AF65-F5344CB8AC3E}">
        <p14:creationId xmlns:p14="http://schemas.microsoft.com/office/powerpoint/2010/main" val="11770152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07368" y="560398"/>
            <a:ext cx="5328592" cy="4770537"/>
          </a:xfrm>
          <a:prstGeom prst="rect">
            <a:avLst/>
          </a:prstGeom>
          <a:noFill/>
        </p:spPr>
        <p:txBody>
          <a:bodyPr wrap="square" rtlCol="0">
            <a:spAutoFit/>
          </a:bodyPr>
          <a:lstStyle/>
          <a:p>
            <a:r>
              <a:rPr lang="es-CO" sz="1600">
                <a:latin typeface="Segoe UI Light" panose="020B0502040204020203" pitchFamily="34" charset="0"/>
                <a:cs typeface="Segoe UI Light" panose="020B0502040204020203" pitchFamily="34" charset="0"/>
              </a:rPr>
              <a:t>20</a:t>
            </a:r>
            <a:r>
              <a:rPr lang="es-CO" sz="1600" dirty="0">
                <a:latin typeface="Segoe UI Light" panose="020B0502040204020203" pitchFamily="34" charset="0"/>
                <a:cs typeface="Segoe UI Light" panose="020B0502040204020203" pitchFamily="34" charset="0"/>
              </a:rPr>
              <a:t>. Puente</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Desde la base de datos geográfica </a:t>
            </a:r>
            <a:r>
              <a:rPr lang="es-CO" sz="1600" dirty="0" err="1">
                <a:latin typeface="Segoe UI Light" panose="020B0502040204020203" pitchFamily="34" charset="0"/>
                <a:cs typeface="Segoe UI Light" panose="020B0502040204020203" pitchFamily="34" charset="0"/>
              </a:rPr>
              <a:t>GEODATABASE.gdb</a:t>
            </a:r>
            <a:r>
              <a:rPr lang="es-CO" sz="1600" dirty="0">
                <a:latin typeface="Segoe UI Light" panose="020B0502040204020203" pitchFamily="34" charset="0"/>
                <a:cs typeface="Segoe UI Light" panose="020B0502040204020203" pitchFamily="34" charset="0"/>
              </a:rPr>
              <a:t>, agregue la capa CGG_Vial_v0 e identifique la zona donde se localizará el paso de vía.</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Para la localización de la línea de paso de vía tener en cuenta:</a:t>
            </a:r>
          </a:p>
          <a:p>
            <a:endParaRPr lang="es-CO"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La curvatura del eje de valle.</a:t>
            </a:r>
          </a:p>
          <a:p>
            <a:pPr marL="285750" indent="-285750">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La onda sinuosa trazada.</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Se recomienda que la onda sinuosa seleccionada para el paso de vía sea opuesta a la curva de valle para prevenir los problemas de socavación producidos por las fuerzas inerciales externas del flujo.</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En la capa Bridges, trace una línea desde el dique izquierdo hasta </a:t>
            </a:r>
            <a:r>
              <a:rPr lang="es-CO" sz="1600">
                <a:latin typeface="Segoe UI Light" panose="020B0502040204020203" pitchFamily="34" charset="0"/>
                <a:cs typeface="Segoe UI Light" panose="020B0502040204020203" pitchFamily="34" charset="0"/>
              </a:rPr>
              <a:t>el derecho.</a:t>
            </a:r>
            <a:endParaRPr lang="es-CO" sz="1600" dirty="0">
              <a:latin typeface="Segoe UI Light" panose="020B0502040204020203" pitchFamily="34" charset="0"/>
              <a:cs typeface="Segoe UI Light" panose="020B0502040204020203" pitchFamily="34" charset="0"/>
            </a:endParaRPr>
          </a:p>
        </p:txBody>
      </p:sp>
      <p:pic>
        <p:nvPicPr>
          <p:cNvPr id="5" name="Imagen 4"/>
          <p:cNvPicPr>
            <a:picLocks noChangeAspect="1"/>
          </p:cNvPicPr>
          <p:nvPr/>
        </p:nvPicPr>
        <p:blipFill>
          <a:blip r:embed="rId2"/>
          <a:stretch>
            <a:fillRect/>
          </a:stretch>
        </p:blipFill>
        <p:spPr>
          <a:xfrm>
            <a:off x="6060504" y="560398"/>
            <a:ext cx="5580112" cy="5986996"/>
          </a:xfrm>
          <a:prstGeom prst="rect">
            <a:avLst/>
          </a:prstGeom>
        </p:spPr>
      </p:pic>
      <p:pic>
        <p:nvPicPr>
          <p:cNvPr id="6" name="Imagen 5">
            <a:extLst>
              <a:ext uri="{FF2B5EF4-FFF2-40B4-BE49-F238E27FC236}">
                <a16:creationId xmlns:a16="http://schemas.microsoft.com/office/drawing/2014/main" id="{F03CEA57-5894-42AE-BFB0-617C13367CC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36968" y="3193895"/>
            <a:ext cx="360000" cy="360000"/>
          </a:xfrm>
          <a:prstGeom prst="rect">
            <a:avLst/>
          </a:prstGeom>
        </p:spPr>
      </p:pic>
      <p:pic>
        <p:nvPicPr>
          <p:cNvPr id="10" name="Imagen 9">
            <a:extLst>
              <a:ext uri="{FF2B5EF4-FFF2-40B4-BE49-F238E27FC236}">
                <a16:creationId xmlns:a16="http://schemas.microsoft.com/office/drawing/2014/main" id="{20392474-3056-4791-AC98-40AFD34CC0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7" name="1 Título">
            <a:extLst>
              <a:ext uri="{FF2B5EF4-FFF2-40B4-BE49-F238E27FC236}">
                <a16:creationId xmlns:a16="http://schemas.microsoft.com/office/drawing/2014/main" id="{5B8AEF72-418C-439C-8841-D0605D924834}"/>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3: Creación modelo topológico en HEC-GeoRAS</a:t>
            </a:r>
          </a:p>
        </p:txBody>
      </p:sp>
    </p:spTree>
    <p:extLst>
      <p:ext uri="{BB962C8B-B14F-4D97-AF65-F5344CB8AC3E}">
        <p14:creationId xmlns:p14="http://schemas.microsoft.com/office/powerpoint/2010/main" val="39125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639420" y="548680"/>
            <a:ext cx="4896544" cy="2062103"/>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21. Líneas de Flujo.</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Seleccione las líneas de banca (Banks) y ejes de ríos (</a:t>
            </a:r>
            <a:r>
              <a:rPr lang="es-CO" sz="1600" dirty="0" err="1">
                <a:latin typeface="Segoe UI Light" panose="020B0502040204020203" pitchFamily="34" charset="0"/>
                <a:cs typeface="Segoe UI Light" panose="020B0502040204020203" pitchFamily="34" charset="0"/>
              </a:rPr>
              <a:t>River</a:t>
            </a:r>
            <a:r>
              <a:rPr lang="es-CO" sz="1600" dirty="0">
                <a:latin typeface="Segoe UI Light" panose="020B0502040204020203" pitchFamily="34" charset="0"/>
                <a:cs typeface="Segoe UI Light" panose="020B0502040204020203" pitchFamily="34" charset="0"/>
              </a:rPr>
              <a:t>), copie y pegue en la capa </a:t>
            </a:r>
            <a:r>
              <a:rPr lang="es-CO" sz="1600" dirty="0" err="1">
                <a:latin typeface="Segoe UI Light" panose="020B0502040204020203" pitchFamily="34" charset="0"/>
                <a:cs typeface="Segoe UI Light" panose="020B0502040204020203" pitchFamily="34" charset="0"/>
              </a:rPr>
              <a:t>Flowpaths</a:t>
            </a:r>
            <a:r>
              <a:rPr lang="es-CO" sz="1600" dirty="0">
                <a:latin typeface="Segoe UI Light" panose="020B0502040204020203" pitchFamily="34" charset="0"/>
                <a:cs typeface="Segoe UI Light" panose="020B0502040204020203" pitchFamily="34" charset="0"/>
              </a:rPr>
              <a:t>.</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Utilizando la herramienta Tipo de Línea de la barra HEC-GeoRAS, identifique las líneas de margen izquierda, margen derecha y eje.</a:t>
            </a:r>
          </a:p>
        </p:txBody>
      </p:sp>
      <p:pic>
        <p:nvPicPr>
          <p:cNvPr id="2" name="Imagen 1"/>
          <p:cNvPicPr>
            <a:picLocks noChangeAspect="1"/>
          </p:cNvPicPr>
          <p:nvPr/>
        </p:nvPicPr>
        <p:blipFill>
          <a:blip r:embed="rId2"/>
          <a:stretch>
            <a:fillRect/>
          </a:stretch>
        </p:blipFill>
        <p:spPr>
          <a:xfrm>
            <a:off x="911424" y="3239045"/>
            <a:ext cx="3670060" cy="379909"/>
          </a:xfrm>
          <a:prstGeom prst="rect">
            <a:avLst/>
          </a:prstGeom>
        </p:spPr>
      </p:pic>
      <p:pic>
        <p:nvPicPr>
          <p:cNvPr id="4" name="Imagen 3"/>
          <p:cNvPicPr>
            <a:picLocks noChangeAspect="1"/>
          </p:cNvPicPr>
          <p:nvPr/>
        </p:nvPicPr>
        <p:blipFill>
          <a:blip r:embed="rId3"/>
          <a:stretch>
            <a:fillRect/>
          </a:stretch>
        </p:blipFill>
        <p:spPr>
          <a:xfrm>
            <a:off x="5988497" y="548680"/>
            <a:ext cx="5580111" cy="5986995"/>
          </a:xfrm>
          <a:prstGeom prst="rect">
            <a:avLst/>
          </a:prstGeom>
        </p:spPr>
      </p:pic>
      <p:pic>
        <p:nvPicPr>
          <p:cNvPr id="10" name="Imagen 9">
            <a:extLst>
              <a:ext uri="{FF2B5EF4-FFF2-40B4-BE49-F238E27FC236}">
                <a16:creationId xmlns:a16="http://schemas.microsoft.com/office/drawing/2014/main" id="{0AA61EB7-916C-474B-88AE-68E041909A3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62988" y="3542230"/>
            <a:ext cx="360000" cy="360000"/>
          </a:xfrm>
          <a:prstGeom prst="rect">
            <a:avLst/>
          </a:prstGeom>
        </p:spPr>
      </p:pic>
      <p:pic>
        <p:nvPicPr>
          <p:cNvPr id="11" name="Imagen 10">
            <a:extLst>
              <a:ext uri="{FF2B5EF4-FFF2-40B4-BE49-F238E27FC236}">
                <a16:creationId xmlns:a16="http://schemas.microsoft.com/office/drawing/2014/main" id="{4FC337E2-AFC8-49E7-8080-6B1B321E41C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99940B74-2368-4B0B-AA03-705B99563FE2}"/>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3: Creación modelo topológico en HEC-GeoRAS</a:t>
            </a:r>
          </a:p>
        </p:txBody>
      </p:sp>
      <p:sp>
        <p:nvSpPr>
          <p:cNvPr id="3" name="7 CuadroTexto">
            <a:extLst>
              <a:ext uri="{FF2B5EF4-FFF2-40B4-BE49-F238E27FC236}">
                <a16:creationId xmlns:a16="http://schemas.microsoft.com/office/drawing/2014/main" id="{1AE4CC10-C2C8-B548-FDA6-7B10308BCE27}"/>
              </a:ext>
            </a:extLst>
          </p:cNvPr>
          <p:cNvSpPr txBox="1"/>
          <p:nvPr/>
        </p:nvSpPr>
        <p:spPr>
          <a:xfrm>
            <a:off x="594716" y="4205415"/>
            <a:ext cx="4896544" cy="1323439"/>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Nota: para simplificar el proceso de creación de todos los vectores requeridos para la construcción del modelo HEC-</a:t>
            </a:r>
            <a:r>
              <a:rPr lang="es-CO" sz="1600" dirty="0" err="1">
                <a:latin typeface="Segoe UI Light" panose="020B0502040204020203" pitchFamily="34" charset="0"/>
                <a:cs typeface="Segoe UI Light" panose="020B0502040204020203" pitchFamily="34" charset="0"/>
              </a:rPr>
              <a:t>GeoRAS</a:t>
            </a:r>
            <a:r>
              <a:rPr lang="es-CO" sz="1600" dirty="0">
                <a:latin typeface="Segoe UI Light" panose="020B0502040204020203" pitchFamily="34" charset="0"/>
                <a:cs typeface="Segoe UI Light" panose="020B0502040204020203" pitchFamily="34" charset="0"/>
              </a:rPr>
              <a:t>, utilice los vectores contenidos dentro del archivo </a:t>
            </a:r>
            <a:r>
              <a:rPr lang="es-CO" sz="1600" i="1" dirty="0">
                <a:latin typeface="Segoe UI Light" panose="020B0502040204020203" pitchFamily="34" charset="0"/>
                <a:cs typeface="Segoe UI Light" panose="020B0502040204020203" pitchFamily="34" charset="0"/>
              </a:rPr>
              <a:t>SHP_RAS.zip</a:t>
            </a:r>
            <a:r>
              <a:rPr lang="es-CO" sz="1600" dirty="0">
                <a:latin typeface="Segoe UI Light" panose="020B0502040204020203" pitchFamily="34" charset="0"/>
                <a:cs typeface="Segoe UI Light" panose="020B0502040204020203" pitchFamily="34" charset="0"/>
              </a:rPr>
              <a:t> disponible en el repositorio de datos del Tema 3.</a:t>
            </a:r>
          </a:p>
        </p:txBody>
      </p:sp>
    </p:spTree>
    <p:extLst>
      <p:ext uri="{BB962C8B-B14F-4D97-AF65-F5344CB8AC3E}">
        <p14:creationId xmlns:p14="http://schemas.microsoft.com/office/powerpoint/2010/main" val="1308234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187788" y="3105834"/>
            <a:ext cx="3816424"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Actividad 4: Validación del modelo topológico en HEC-GeoRAS</a:t>
            </a:r>
          </a:p>
        </p:txBody>
      </p:sp>
      <p:pic>
        <p:nvPicPr>
          <p:cNvPr id="4" name="Imagen 3">
            <a:extLst>
              <a:ext uri="{FF2B5EF4-FFF2-40B4-BE49-F238E27FC236}">
                <a16:creationId xmlns:a16="http://schemas.microsoft.com/office/drawing/2014/main" id="{D2211B23-7F15-4F08-B911-0DAC0D68754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5188683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343472" y="749135"/>
            <a:ext cx="4248472" cy="1569660"/>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1. Configuración general: En el menú RAS </a:t>
            </a:r>
            <a:r>
              <a:rPr lang="es-CO" sz="1600" dirty="0" err="1">
                <a:latin typeface="Segoe UI Light" panose="020B0502040204020203" pitchFamily="34" charset="0"/>
                <a:cs typeface="Segoe UI Light" panose="020B0502040204020203" pitchFamily="34" charset="0"/>
              </a:rPr>
              <a:t>Geometry</a:t>
            </a:r>
            <a:r>
              <a:rPr lang="es-CO" sz="1600" dirty="0">
                <a:latin typeface="Segoe UI Light" panose="020B0502040204020203" pitchFamily="34" charset="0"/>
                <a:cs typeface="Segoe UI Light" panose="020B0502040204020203" pitchFamily="34" charset="0"/>
              </a:rPr>
              <a:t> de la barra HEC-GeoRAS, ingrese a </a:t>
            </a:r>
            <a:r>
              <a:rPr lang="es-CO" sz="1600" dirty="0" err="1">
                <a:latin typeface="Segoe UI Light" panose="020B0502040204020203" pitchFamily="34" charset="0"/>
                <a:cs typeface="Segoe UI Light" panose="020B0502040204020203" pitchFamily="34" charset="0"/>
              </a:rPr>
              <a:t>Layer</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Setup</a:t>
            </a:r>
            <a:r>
              <a:rPr lang="es-CO" sz="1600" dirty="0">
                <a:latin typeface="Segoe UI Light" panose="020B0502040204020203" pitchFamily="34" charset="0"/>
                <a:cs typeface="Segoe UI Light" panose="020B0502040204020203" pitchFamily="34" charset="0"/>
              </a:rPr>
              <a:t> y verifique la configuración de las capas requeridas y el modelo de terreno a utilizar en la generación de las secciones transversales.</a:t>
            </a:r>
          </a:p>
        </p:txBody>
      </p:sp>
      <p:pic>
        <p:nvPicPr>
          <p:cNvPr id="3" name="Imagen 2"/>
          <p:cNvPicPr>
            <a:picLocks noChangeAspect="1"/>
          </p:cNvPicPr>
          <p:nvPr/>
        </p:nvPicPr>
        <p:blipFill>
          <a:blip r:embed="rId2"/>
          <a:stretch>
            <a:fillRect/>
          </a:stretch>
        </p:blipFill>
        <p:spPr>
          <a:xfrm>
            <a:off x="6456040" y="744016"/>
            <a:ext cx="4233444" cy="2763146"/>
          </a:xfrm>
          <a:prstGeom prst="rect">
            <a:avLst/>
          </a:prstGeom>
        </p:spPr>
      </p:pic>
      <p:pic>
        <p:nvPicPr>
          <p:cNvPr id="5" name="Imagen 4"/>
          <p:cNvPicPr>
            <a:picLocks noChangeAspect="1"/>
          </p:cNvPicPr>
          <p:nvPr/>
        </p:nvPicPr>
        <p:blipFill>
          <a:blip r:embed="rId3"/>
          <a:stretch>
            <a:fillRect/>
          </a:stretch>
        </p:blipFill>
        <p:spPr>
          <a:xfrm>
            <a:off x="415434" y="3656386"/>
            <a:ext cx="3782720" cy="2468961"/>
          </a:xfrm>
          <a:prstGeom prst="rect">
            <a:avLst/>
          </a:prstGeom>
        </p:spPr>
      </p:pic>
      <p:pic>
        <p:nvPicPr>
          <p:cNvPr id="6" name="Imagen 5"/>
          <p:cNvPicPr>
            <a:picLocks noChangeAspect="1"/>
          </p:cNvPicPr>
          <p:nvPr/>
        </p:nvPicPr>
        <p:blipFill>
          <a:blip r:embed="rId4"/>
          <a:stretch>
            <a:fillRect/>
          </a:stretch>
        </p:blipFill>
        <p:spPr>
          <a:xfrm>
            <a:off x="4281141" y="3656385"/>
            <a:ext cx="3782720" cy="2468961"/>
          </a:xfrm>
          <a:prstGeom prst="rect">
            <a:avLst/>
          </a:prstGeom>
        </p:spPr>
      </p:pic>
      <p:pic>
        <p:nvPicPr>
          <p:cNvPr id="7" name="Imagen 6"/>
          <p:cNvPicPr>
            <a:picLocks noChangeAspect="1"/>
          </p:cNvPicPr>
          <p:nvPr/>
        </p:nvPicPr>
        <p:blipFill>
          <a:blip r:embed="rId5"/>
          <a:stretch>
            <a:fillRect/>
          </a:stretch>
        </p:blipFill>
        <p:spPr>
          <a:xfrm>
            <a:off x="8145929" y="3656384"/>
            <a:ext cx="3782719" cy="2468961"/>
          </a:xfrm>
          <a:prstGeom prst="rect">
            <a:avLst/>
          </a:prstGeom>
        </p:spPr>
      </p:pic>
      <p:sp>
        <p:nvSpPr>
          <p:cNvPr id="9" name="1 Título">
            <a:extLst>
              <a:ext uri="{FF2B5EF4-FFF2-40B4-BE49-F238E27FC236}">
                <a16:creationId xmlns:a16="http://schemas.microsoft.com/office/drawing/2014/main" id="{D990EE8B-F8CA-4D87-9496-DEB7353DA8B2}"/>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4: Validación del modelo topológico en HEC-GeoRAS</a:t>
            </a:r>
          </a:p>
        </p:txBody>
      </p:sp>
      <p:pic>
        <p:nvPicPr>
          <p:cNvPr id="11" name="Imagen 10">
            <a:extLst>
              <a:ext uri="{FF2B5EF4-FFF2-40B4-BE49-F238E27FC236}">
                <a16:creationId xmlns:a16="http://schemas.microsoft.com/office/drawing/2014/main" id="{3E01DD4D-A065-4C9D-823C-8445A0AB6D5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7781026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055440" y="548680"/>
            <a:ext cx="3888432" cy="830997"/>
          </a:xfrm>
          <a:prstGeom prst="rect">
            <a:avLst/>
          </a:prstGeom>
          <a:noFill/>
        </p:spPr>
        <p:txBody>
          <a:bodyPr wrap="square" rtlCol="0">
            <a:spAutoFit/>
          </a:bodyPr>
          <a:lstStyle/>
          <a:p>
            <a:pPr algn="ctr"/>
            <a:r>
              <a:rPr lang="es-CO" sz="1600">
                <a:latin typeface="Segoe UI Light" panose="020B0502040204020203" pitchFamily="34" charset="0"/>
                <a:cs typeface="Segoe UI Light" panose="020B0502040204020203" pitchFamily="34" charset="0"/>
              </a:rPr>
              <a:t>2</a:t>
            </a:r>
            <a:r>
              <a:rPr lang="es-CO" sz="1600" dirty="0">
                <a:latin typeface="Segoe UI Light" panose="020B0502040204020203" pitchFamily="34" charset="0"/>
                <a:cs typeface="Segoe UI Light" panose="020B0502040204020203" pitchFamily="34" charset="0"/>
              </a:rPr>
              <a:t>. En RAS </a:t>
            </a:r>
            <a:r>
              <a:rPr lang="es-CO" sz="1600" dirty="0" err="1">
                <a:latin typeface="Segoe UI Light" panose="020B0502040204020203" pitchFamily="34" charset="0"/>
                <a:cs typeface="Segoe UI Light" panose="020B0502040204020203" pitchFamily="34" charset="0"/>
              </a:rPr>
              <a:t>Geometry</a:t>
            </a:r>
            <a:r>
              <a:rPr lang="es-CO" sz="1600" dirty="0">
                <a:latin typeface="Segoe UI Light" panose="020B0502040204020203" pitchFamily="34" charset="0"/>
                <a:cs typeface="Segoe UI Light" panose="020B0502040204020203" pitchFamily="34" charset="0"/>
              </a:rPr>
              <a:t>, ejecute la validación de los ejes de ríos con la opción </a:t>
            </a:r>
            <a:r>
              <a:rPr lang="es-CO" sz="1600" dirty="0" err="1">
                <a:latin typeface="Segoe UI Light" panose="020B0502040204020203" pitchFamily="34" charset="0"/>
                <a:cs typeface="Segoe UI Light" panose="020B0502040204020203" pitchFamily="34" charset="0"/>
              </a:rPr>
              <a:t>Stream</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Centerline</a:t>
            </a:r>
            <a:r>
              <a:rPr lang="es-CO" sz="1600" dirty="0">
                <a:latin typeface="Segoe UI Light" panose="020B0502040204020203" pitchFamily="34" charset="0"/>
                <a:cs typeface="Segoe UI Light" panose="020B0502040204020203" pitchFamily="34" charset="0"/>
              </a:rPr>
              <a:t> Atributes</a:t>
            </a:r>
            <a:r>
              <a:rPr lang="es-CO" sz="1600">
                <a:latin typeface="Segoe UI Light" panose="020B0502040204020203" pitchFamily="34" charset="0"/>
                <a:cs typeface="Segoe UI Light" panose="020B0502040204020203" pitchFamily="34" charset="0"/>
              </a:rPr>
              <a:t>. </a:t>
            </a:r>
            <a:endParaRPr lang="es-CO" sz="1600" dirty="0">
              <a:latin typeface="Segoe UI Light" panose="020B0502040204020203" pitchFamily="34" charset="0"/>
              <a:cs typeface="Segoe UI Light" panose="020B0502040204020203" pitchFamily="34" charset="0"/>
            </a:endParaRPr>
          </a:p>
        </p:txBody>
      </p:sp>
      <p:pic>
        <p:nvPicPr>
          <p:cNvPr id="2" name="Imagen 1"/>
          <p:cNvPicPr>
            <a:picLocks noChangeAspect="1"/>
          </p:cNvPicPr>
          <p:nvPr/>
        </p:nvPicPr>
        <p:blipFill rotWithShape="1">
          <a:blip r:embed="rId2"/>
          <a:srcRect l="50000" b="5201"/>
          <a:stretch/>
        </p:blipFill>
        <p:spPr>
          <a:xfrm>
            <a:off x="5608296" y="548680"/>
            <a:ext cx="5589379" cy="5961034"/>
          </a:xfrm>
          <a:prstGeom prst="rect">
            <a:avLst/>
          </a:prstGeom>
        </p:spPr>
      </p:pic>
      <p:pic>
        <p:nvPicPr>
          <p:cNvPr id="9" name="Imagen 8"/>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1345168" y="1539978"/>
            <a:ext cx="3156443" cy="1910007"/>
          </a:xfrm>
          <a:prstGeom prst="rect">
            <a:avLst/>
          </a:prstGeom>
        </p:spPr>
      </p:pic>
      <p:pic>
        <p:nvPicPr>
          <p:cNvPr id="10" name="Imagen 9"/>
          <p:cNvPicPr>
            <a:picLocks noChangeAspect="1"/>
          </p:cNvPicPr>
          <p:nvPr/>
        </p:nvPicPr>
        <p:blipFill>
          <a:blip r:embed="rId5"/>
          <a:stretch>
            <a:fillRect/>
          </a:stretch>
        </p:blipFill>
        <p:spPr>
          <a:xfrm>
            <a:off x="1569026" y="3610286"/>
            <a:ext cx="2708726" cy="1224136"/>
          </a:xfrm>
          <a:prstGeom prst="rect">
            <a:avLst/>
          </a:prstGeom>
        </p:spPr>
      </p:pic>
      <p:pic>
        <p:nvPicPr>
          <p:cNvPr id="13" name="Imagen 12">
            <a:extLst>
              <a:ext uri="{FF2B5EF4-FFF2-40B4-BE49-F238E27FC236}">
                <a16:creationId xmlns:a16="http://schemas.microsoft.com/office/drawing/2014/main" id="{A5685E02-B2D2-4A1E-83A2-A3F1F38A2A1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581662" y="2602728"/>
            <a:ext cx="360000" cy="360000"/>
          </a:xfrm>
          <a:prstGeom prst="rect">
            <a:avLst/>
          </a:prstGeom>
        </p:spPr>
      </p:pic>
      <p:pic>
        <p:nvPicPr>
          <p:cNvPr id="14" name="Imagen 13">
            <a:extLst>
              <a:ext uri="{FF2B5EF4-FFF2-40B4-BE49-F238E27FC236}">
                <a16:creationId xmlns:a16="http://schemas.microsoft.com/office/drawing/2014/main" id="{FD9C2991-B8C2-4AE3-9F88-C5639FF1A71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06F437FB-9A83-4023-9264-7E58470A797B}"/>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4: Validación del modelo topológico en HEC-GeoRAS</a:t>
            </a:r>
          </a:p>
        </p:txBody>
      </p:sp>
    </p:spTree>
    <p:extLst>
      <p:ext uri="{BB962C8B-B14F-4D97-AF65-F5344CB8AC3E}">
        <p14:creationId xmlns:p14="http://schemas.microsoft.com/office/powerpoint/2010/main" val="697593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199456" y="557048"/>
            <a:ext cx="3600400" cy="1077218"/>
          </a:xfrm>
          <a:prstGeom prst="rect">
            <a:avLst/>
          </a:prstGeom>
          <a:noFill/>
        </p:spPr>
        <p:txBody>
          <a:bodyPr wrap="square" rtlCol="0">
            <a:spAutoFit/>
          </a:bodyPr>
          <a:lstStyle/>
          <a:p>
            <a:pPr algn="ctr"/>
            <a:r>
              <a:rPr lang="es-CO" sz="1600">
                <a:latin typeface="Segoe UI Light" panose="020B0502040204020203" pitchFamily="34" charset="0"/>
                <a:cs typeface="Segoe UI Light" panose="020B0502040204020203" pitchFamily="34" charset="0"/>
              </a:rPr>
              <a:t>3. </a:t>
            </a:r>
            <a:r>
              <a:rPr lang="es-CO" sz="1600" dirty="0">
                <a:latin typeface="Segoe UI Light" panose="020B0502040204020203" pitchFamily="34" charset="0"/>
                <a:cs typeface="Segoe UI Light" panose="020B0502040204020203" pitchFamily="34" charset="0"/>
              </a:rPr>
              <a:t>En RAS </a:t>
            </a:r>
            <a:r>
              <a:rPr lang="es-CO" sz="1600" dirty="0" err="1">
                <a:latin typeface="Segoe UI Light" panose="020B0502040204020203" pitchFamily="34" charset="0"/>
                <a:cs typeface="Segoe UI Light" panose="020B0502040204020203" pitchFamily="34" charset="0"/>
              </a:rPr>
              <a:t>Geometry</a:t>
            </a:r>
            <a:r>
              <a:rPr lang="es-CO" sz="1600" dirty="0">
                <a:latin typeface="Segoe UI Light" panose="020B0502040204020203" pitchFamily="34" charset="0"/>
                <a:cs typeface="Segoe UI Light" panose="020B0502040204020203" pitchFamily="34" charset="0"/>
              </a:rPr>
              <a:t>, ejecute la validación de los atributos de las secciones transversales mediante la opción XS </a:t>
            </a:r>
            <a:r>
              <a:rPr lang="es-CO" sz="1600" dirty="0" err="1">
                <a:latin typeface="Segoe UI Light" panose="020B0502040204020203" pitchFamily="34" charset="0"/>
                <a:cs typeface="Segoe UI Light" panose="020B0502040204020203" pitchFamily="34" charset="0"/>
              </a:rPr>
              <a:t>Cut</a:t>
            </a:r>
            <a:r>
              <a:rPr lang="es-CO" sz="1600" dirty="0">
                <a:latin typeface="Segoe UI Light" panose="020B0502040204020203" pitchFamily="34" charset="0"/>
                <a:cs typeface="Segoe UI Light" panose="020B0502040204020203" pitchFamily="34" charset="0"/>
              </a:rPr>
              <a:t> </a:t>
            </a:r>
            <a:r>
              <a:rPr lang="es-CO" sz="1600">
                <a:latin typeface="Segoe UI Light" panose="020B0502040204020203" pitchFamily="34" charset="0"/>
                <a:cs typeface="Segoe UI Light" panose="020B0502040204020203" pitchFamily="34" charset="0"/>
              </a:rPr>
              <a:t>Line Atributes</a:t>
            </a:r>
            <a:endParaRPr lang="es-CO" sz="1600" dirty="0">
              <a:latin typeface="Segoe UI Light" panose="020B0502040204020203" pitchFamily="34" charset="0"/>
              <a:cs typeface="Segoe UI Light" panose="020B0502040204020203" pitchFamily="34" charset="0"/>
            </a:endParaRPr>
          </a:p>
        </p:txBody>
      </p:sp>
      <p:pic>
        <p:nvPicPr>
          <p:cNvPr id="3" name="Imagen 2"/>
          <p:cNvPicPr>
            <a:picLocks noChangeAspect="1"/>
          </p:cNvPicPr>
          <p:nvPr/>
        </p:nvPicPr>
        <p:blipFill rotWithShape="1">
          <a:blip r:embed="rId2"/>
          <a:srcRect l="50399" b="4801"/>
          <a:stretch/>
        </p:blipFill>
        <p:spPr>
          <a:xfrm>
            <a:off x="5807968" y="557048"/>
            <a:ext cx="5521485" cy="5961034"/>
          </a:xfrm>
          <a:prstGeom prst="rect">
            <a:avLst/>
          </a:prstGeom>
        </p:spPr>
      </p:pic>
      <p:pic>
        <p:nvPicPr>
          <p:cNvPr id="4" name="Imagen 3"/>
          <p:cNvPicPr>
            <a:picLocks noChangeAspect="1"/>
          </p:cNvPicPr>
          <p:nvPr/>
        </p:nvPicPr>
        <p:blipFill>
          <a:blip r:embed="rId3"/>
          <a:stretch>
            <a:fillRect/>
          </a:stretch>
        </p:blipFill>
        <p:spPr>
          <a:xfrm>
            <a:off x="1593226" y="1677278"/>
            <a:ext cx="2956875" cy="2545265"/>
          </a:xfrm>
          <a:prstGeom prst="rect">
            <a:avLst/>
          </a:prstGeom>
        </p:spPr>
      </p:pic>
      <p:pic>
        <p:nvPicPr>
          <p:cNvPr id="5" name="Imagen 4"/>
          <p:cNvPicPr>
            <a:picLocks noChangeAspect="1"/>
          </p:cNvPicPr>
          <p:nvPr/>
        </p:nvPicPr>
        <p:blipFill>
          <a:blip r:embed="rId4"/>
          <a:stretch>
            <a:fillRect/>
          </a:stretch>
        </p:blipFill>
        <p:spPr>
          <a:xfrm>
            <a:off x="1593225" y="4373127"/>
            <a:ext cx="2956875" cy="1208462"/>
          </a:xfrm>
          <a:prstGeom prst="rect">
            <a:avLst/>
          </a:prstGeom>
        </p:spPr>
      </p:pic>
      <p:pic>
        <p:nvPicPr>
          <p:cNvPr id="11" name="Imagen 10">
            <a:extLst>
              <a:ext uri="{FF2B5EF4-FFF2-40B4-BE49-F238E27FC236}">
                <a16:creationId xmlns:a16="http://schemas.microsoft.com/office/drawing/2014/main" id="{764A306C-1AFC-468D-9544-D00D3F3E13A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696400" y="3047199"/>
            <a:ext cx="360000" cy="360000"/>
          </a:xfrm>
          <a:prstGeom prst="rect">
            <a:avLst/>
          </a:prstGeom>
        </p:spPr>
      </p:pic>
      <p:pic>
        <p:nvPicPr>
          <p:cNvPr id="12" name="Imagen 11">
            <a:extLst>
              <a:ext uri="{FF2B5EF4-FFF2-40B4-BE49-F238E27FC236}">
                <a16:creationId xmlns:a16="http://schemas.microsoft.com/office/drawing/2014/main" id="{116067BA-4AAC-418B-A343-B5AA96F0B7B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1881C4AF-AE70-4257-84F7-7EB64B55F7B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4: Validación del modelo topológico en HEC-GeoRAS</a:t>
            </a:r>
          </a:p>
        </p:txBody>
      </p:sp>
    </p:spTree>
    <p:extLst>
      <p:ext uri="{BB962C8B-B14F-4D97-AF65-F5344CB8AC3E}">
        <p14:creationId xmlns:p14="http://schemas.microsoft.com/office/powerpoint/2010/main" val="578088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199456" y="577521"/>
            <a:ext cx="3456384" cy="830997"/>
          </a:xfrm>
          <a:prstGeom prst="rect">
            <a:avLst/>
          </a:prstGeom>
          <a:noFill/>
        </p:spPr>
        <p:txBody>
          <a:bodyPr wrap="square" rtlCol="0">
            <a:spAutoFit/>
          </a:bodyPr>
          <a:lstStyle/>
          <a:p>
            <a:pPr algn="ctr"/>
            <a:r>
              <a:rPr lang="es-CO" sz="1600" dirty="0">
                <a:latin typeface="Segoe UI Light" panose="020B0502040204020203" pitchFamily="34" charset="0"/>
                <a:cs typeface="Segoe UI Light" panose="020B0502040204020203" pitchFamily="34" charset="0"/>
              </a:rPr>
              <a:t>4. En RAS </a:t>
            </a:r>
            <a:r>
              <a:rPr lang="es-CO" sz="1600" dirty="0" err="1">
                <a:latin typeface="Segoe UI Light" panose="020B0502040204020203" pitchFamily="34" charset="0"/>
                <a:cs typeface="Segoe UI Light" panose="020B0502040204020203" pitchFamily="34" charset="0"/>
              </a:rPr>
              <a:t>Geometry</a:t>
            </a:r>
            <a:r>
              <a:rPr lang="es-CO" sz="1600" dirty="0">
                <a:latin typeface="Segoe UI Light" panose="020B0502040204020203" pitchFamily="34" charset="0"/>
                <a:cs typeface="Segoe UI Light" panose="020B0502040204020203" pitchFamily="34" charset="0"/>
              </a:rPr>
              <a:t>, ejecute la validación de la localización de los diques mediante la opción </a:t>
            </a:r>
            <a:r>
              <a:rPr lang="es-CO" sz="1600" dirty="0" err="1">
                <a:latin typeface="Segoe UI Light" panose="020B0502040204020203" pitchFamily="34" charset="0"/>
                <a:cs typeface="Segoe UI Light" panose="020B0502040204020203" pitchFamily="34" charset="0"/>
              </a:rPr>
              <a:t>Levees</a:t>
            </a:r>
            <a:r>
              <a:rPr lang="es-CO" sz="1600" dirty="0">
                <a:latin typeface="Segoe UI Light" panose="020B0502040204020203" pitchFamily="34" charset="0"/>
                <a:cs typeface="Segoe UI Light" panose="020B0502040204020203" pitchFamily="34" charset="0"/>
              </a:rPr>
              <a:t>.</a:t>
            </a:r>
          </a:p>
        </p:txBody>
      </p:sp>
      <p:pic>
        <p:nvPicPr>
          <p:cNvPr id="2" name="Imagen 1"/>
          <p:cNvPicPr>
            <a:picLocks noChangeAspect="1"/>
          </p:cNvPicPr>
          <p:nvPr/>
        </p:nvPicPr>
        <p:blipFill rotWithShape="1">
          <a:blip r:embed="rId2"/>
          <a:srcRect l="50000" b="5201"/>
          <a:stretch/>
        </p:blipFill>
        <p:spPr>
          <a:xfrm>
            <a:off x="5663952" y="577521"/>
            <a:ext cx="5604035" cy="5976664"/>
          </a:xfrm>
          <a:prstGeom prst="rect">
            <a:avLst/>
          </a:prstGeom>
        </p:spPr>
      </p:pic>
      <p:pic>
        <p:nvPicPr>
          <p:cNvPr id="6" name="Imagen 5"/>
          <p:cNvPicPr>
            <a:picLocks noChangeAspect="1"/>
          </p:cNvPicPr>
          <p:nvPr/>
        </p:nvPicPr>
        <p:blipFill>
          <a:blip r:embed="rId3"/>
          <a:stretch>
            <a:fillRect/>
          </a:stretch>
        </p:blipFill>
        <p:spPr>
          <a:xfrm>
            <a:off x="1553709" y="1460201"/>
            <a:ext cx="2808312" cy="3047657"/>
          </a:xfrm>
          <a:prstGeom prst="rect">
            <a:avLst/>
          </a:prstGeom>
        </p:spPr>
      </p:pic>
      <p:pic>
        <p:nvPicPr>
          <p:cNvPr id="7" name="Imagen 6"/>
          <p:cNvPicPr>
            <a:picLocks noChangeAspect="1"/>
          </p:cNvPicPr>
          <p:nvPr/>
        </p:nvPicPr>
        <p:blipFill>
          <a:blip r:embed="rId4"/>
          <a:stretch>
            <a:fillRect/>
          </a:stretch>
        </p:blipFill>
        <p:spPr>
          <a:xfrm>
            <a:off x="1553708" y="4609969"/>
            <a:ext cx="2840485" cy="1296144"/>
          </a:xfrm>
          <a:prstGeom prst="rect">
            <a:avLst/>
          </a:prstGeom>
        </p:spPr>
      </p:pic>
      <p:pic>
        <p:nvPicPr>
          <p:cNvPr id="9" name="Imagen 8">
            <a:extLst>
              <a:ext uri="{FF2B5EF4-FFF2-40B4-BE49-F238E27FC236}">
                <a16:creationId xmlns:a16="http://schemas.microsoft.com/office/drawing/2014/main" id="{E458ABD9-54FF-4D47-957E-8E43FAD2353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696400" y="2924944"/>
            <a:ext cx="360000" cy="360000"/>
          </a:xfrm>
          <a:prstGeom prst="rect">
            <a:avLst/>
          </a:prstGeom>
        </p:spPr>
      </p:pic>
      <p:pic>
        <p:nvPicPr>
          <p:cNvPr id="12" name="Imagen 11">
            <a:extLst>
              <a:ext uri="{FF2B5EF4-FFF2-40B4-BE49-F238E27FC236}">
                <a16:creationId xmlns:a16="http://schemas.microsoft.com/office/drawing/2014/main" id="{51CADA06-763E-466B-BAB7-D943ED09898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56855CF1-27A3-446D-B2F3-1560A8F0447F}"/>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4: Validación del modelo topológico en HEC-GeoRAS</a:t>
            </a:r>
          </a:p>
        </p:txBody>
      </p:sp>
    </p:spTree>
    <p:extLst>
      <p:ext uri="{BB962C8B-B14F-4D97-AF65-F5344CB8AC3E}">
        <p14:creationId xmlns:p14="http://schemas.microsoft.com/office/powerpoint/2010/main" val="13058088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199456" y="548680"/>
            <a:ext cx="3456384" cy="1077218"/>
          </a:xfrm>
          <a:prstGeom prst="rect">
            <a:avLst/>
          </a:prstGeom>
          <a:noFill/>
        </p:spPr>
        <p:txBody>
          <a:bodyPr wrap="square" rtlCol="0">
            <a:spAutoFit/>
          </a:bodyPr>
          <a:lstStyle/>
          <a:p>
            <a:pPr algn="ctr"/>
            <a:r>
              <a:rPr lang="es-CO" sz="1600">
                <a:latin typeface="Segoe UI Light" panose="020B0502040204020203" pitchFamily="34" charset="0"/>
                <a:cs typeface="Segoe UI Light" panose="020B0502040204020203" pitchFamily="34" charset="0"/>
              </a:rPr>
              <a:t>5</a:t>
            </a:r>
            <a:r>
              <a:rPr lang="es-CO" sz="1600" dirty="0">
                <a:latin typeface="Segoe UI Light" panose="020B0502040204020203" pitchFamily="34" charset="0"/>
                <a:cs typeface="Segoe UI Light" panose="020B0502040204020203" pitchFamily="34" charset="0"/>
              </a:rPr>
              <a:t>. En RAS </a:t>
            </a:r>
            <a:r>
              <a:rPr lang="es-CO" sz="1600" dirty="0" err="1">
                <a:latin typeface="Segoe UI Light" panose="020B0502040204020203" pitchFamily="34" charset="0"/>
                <a:cs typeface="Segoe UI Light" panose="020B0502040204020203" pitchFamily="34" charset="0"/>
              </a:rPr>
              <a:t>Geometry</a:t>
            </a:r>
            <a:r>
              <a:rPr lang="es-CO" sz="1600" dirty="0">
                <a:latin typeface="Segoe UI Light" panose="020B0502040204020203" pitchFamily="34" charset="0"/>
                <a:cs typeface="Segoe UI Light" panose="020B0502040204020203" pitchFamily="34" charset="0"/>
              </a:rPr>
              <a:t>, ejecute la validación de la localización de los puentes o pasos de vía mediante la opción Bridges/</a:t>
            </a:r>
            <a:r>
              <a:rPr lang="es-CO" sz="1600" dirty="0" err="1">
                <a:latin typeface="Segoe UI Light" panose="020B0502040204020203" pitchFamily="34" charset="0"/>
                <a:cs typeface="Segoe UI Light" panose="020B0502040204020203" pitchFamily="34" charset="0"/>
              </a:rPr>
              <a:t>Culverts</a:t>
            </a:r>
            <a:endParaRPr lang="es-CO" sz="1600" dirty="0">
              <a:latin typeface="Segoe UI Light" panose="020B0502040204020203" pitchFamily="34" charset="0"/>
              <a:cs typeface="Segoe UI Light" panose="020B0502040204020203" pitchFamily="34" charset="0"/>
            </a:endParaRPr>
          </a:p>
        </p:txBody>
      </p:sp>
      <p:pic>
        <p:nvPicPr>
          <p:cNvPr id="3" name="Imagen 2"/>
          <p:cNvPicPr>
            <a:picLocks noChangeAspect="1"/>
          </p:cNvPicPr>
          <p:nvPr/>
        </p:nvPicPr>
        <p:blipFill rotWithShape="1">
          <a:blip r:embed="rId2"/>
          <a:srcRect l="50000" b="5201"/>
          <a:stretch/>
        </p:blipFill>
        <p:spPr>
          <a:xfrm>
            <a:off x="5896003" y="548680"/>
            <a:ext cx="5596707" cy="5968849"/>
          </a:xfrm>
          <a:prstGeom prst="rect">
            <a:avLst/>
          </a:prstGeom>
        </p:spPr>
      </p:pic>
      <p:pic>
        <p:nvPicPr>
          <p:cNvPr id="4" name="Imagen 3"/>
          <p:cNvPicPr>
            <a:picLocks noChangeAspect="1"/>
          </p:cNvPicPr>
          <p:nvPr/>
        </p:nvPicPr>
        <p:blipFill>
          <a:blip r:embed="rId3"/>
          <a:stretch>
            <a:fillRect/>
          </a:stretch>
        </p:blipFill>
        <p:spPr>
          <a:xfrm>
            <a:off x="1343472" y="1700808"/>
            <a:ext cx="3168352" cy="2041639"/>
          </a:xfrm>
          <a:prstGeom prst="rect">
            <a:avLst/>
          </a:prstGeom>
        </p:spPr>
      </p:pic>
      <p:pic>
        <p:nvPicPr>
          <p:cNvPr id="5" name="Imagen 4"/>
          <p:cNvPicPr>
            <a:picLocks noChangeAspect="1"/>
          </p:cNvPicPr>
          <p:nvPr/>
        </p:nvPicPr>
        <p:blipFill>
          <a:blip r:embed="rId4"/>
          <a:stretch>
            <a:fillRect/>
          </a:stretch>
        </p:blipFill>
        <p:spPr>
          <a:xfrm>
            <a:off x="1346811" y="3855875"/>
            <a:ext cx="3175440" cy="1264794"/>
          </a:xfrm>
          <a:prstGeom prst="rect">
            <a:avLst/>
          </a:prstGeom>
        </p:spPr>
      </p:pic>
      <p:pic>
        <p:nvPicPr>
          <p:cNvPr id="11" name="Imagen 10">
            <a:extLst>
              <a:ext uri="{FF2B5EF4-FFF2-40B4-BE49-F238E27FC236}">
                <a16:creationId xmlns:a16="http://schemas.microsoft.com/office/drawing/2014/main" id="{DD1F4D5F-72A9-4F94-91D7-9E91BC22151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840416" y="3533104"/>
            <a:ext cx="360000" cy="360000"/>
          </a:xfrm>
          <a:prstGeom prst="rect">
            <a:avLst/>
          </a:prstGeom>
        </p:spPr>
      </p:pic>
      <p:pic>
        <p:nvPicPr>
          <p:cNvPr id="12" name="Imagen 11">
            <a:extLst>
              <a:ext uri="{FF2B5EF4-FFF2-40B4-BE49-F238E27FC236}">
                <a16:creationId xmlns:a16="http://schemas.microsoft.com/office/drawing/2014/main" id="{7312BDD1-3C4F-496B-B55B-3362E743879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3" name="1 Título">
            <a:extLst>
              <a:ext uri="{FF2B5EF4-FFF2-40B4-BE49-F238E27FC236}">
                <a16:creationId xmlns:a16="http://schemas.microsoft.com/office/drawing/2014/main" id="{9FCA7258-CD92-4E1B-B1C4-C34E0A2115C3}"/>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4: Validación del modelo topológico en HEC-GeoRAS</a:t>
            </a:r>
          </a:p>
        </p:txBody>
      </p:sp>
    </p:spTree>
    <p:extLst>
      <p:ext uri="{BB962C8B-B14F-4D97-AF65-F5344CB8AC3E}">
        <p14:creationId xmlns:p14="http://schemas.microsoft.com/office/powerpoint/2010/main" val="13344871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493822" y="3105834"/>
            <a:ext cx="3204356"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Actividad 5: Exportación de la geometría para HEC-RAS</a:t>
            </a:r>
          </a:p>
        </p:txBody>
      </p:sp>
      <p:pic>
        <p:nvPicPr>
          <p:cNvPr id="4" name="Imagen 3">
            <a:extLst>
              <a:ext uri="{FF2B5EF4-FFF2-40B4-BE49-F238E27FC236}">
                <a16:creationId xmlns:a16="http://schemas.microsoft.com/office/drawing/2014/main" id="{43C15C49-9BE3-4BF5-9A9B-7FDBB42723D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3807456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983432" y="620688"/>
            <a:ext cx="4032448" cy="1323439"/>
          </a:xfrm>
          <a:prstGeom prst="rect">
            <a:avLst/>
          </a:prstGeom>
          <a:noFill/>
        </p:spPr>
        <p:txBody>
          <a:bodyPr wrap="square" rtlCol="0">
            <a:spAutoFit/>
          </a:bodyPr>
          <a:lstStyle/>
          <a:p>
            <a:pPr algn="ctr"/>
            <a:r>
              <a:rPr lang="es-CO" sz="1600" dirty="0">
                <a:latin typeface="Segoe UI Light" panose="020B0502040204020203" pitchFamily="34" charset="0"/>
                <a:cs typeface="Segoe UI Light" panose="020B0502040204020203" pitchFamily="34" charset="0"/>
              </a:rPr>
              <a:t>En RAS </a:t>
            </a:r>
            <a:r>
              <a:rPr lang="es-CO" sz="1600" dirty="0" err="1">
                <a:latin typeface="Segoe UI Light" panose="020B0502040204020203" pitchFamily="34" charset="0"/>
                <a:cs typeface="Segoe UI Light" panose="020B0502040204020203" pitchFamily="34" charset="0"/>
              </a:rPr>
              <a:t>Geometry</a:t>
            </a:r>
            <a:r>
              <a:rPr lang="es-CO" sz="1600" dirty="0">
                <a:latin typeface="Segoe UI Light" panose="020B0502040204020203" pitchFamily="34" charset="0"/>
                <a:cs typeface="Segoe UI Light" panose="020B0502040204020203" pitchFamily="34" charset="0"/>
              </a:rPr>
              <a:t>, ejecute la opción de exportación </a:t>
            </a:r>
            <a:r>
              <a:rPr lang="es-CO" sz="1600" dirty="0" err="1">
                <a:latin typeface="Segoe UI Light" panose="020B0502040204020203" pitchFamily="34" charset="0"/>
                <a:cs typeface="Segoe UI Light" panose="020B0502040204020203" pitchFamily="34" charset="0"/>
              </a:rPr>
              <a:t>Export</a:t>
            </a:r>
            <a:r>
              <a:rPr lang="es-CO" sz="1600" dirty="0">
                <a:latin typeface="Segoe UI Light" panose="020B0502040204020203" pitchFamily="34" charset="0"/>
                <a:cs typeface="Segoe UI Light" panose="020B0502040204020203" pitchFamily="34" charset="0"/>
              </a:rPr>
              <a:t> RAS Data.</a:t>
            </a:r>
          </a:p>
          <a:p>
            <a:pPr algn="ctr"/>
            <a:endParaRPr lang="es-CO" sz="1600" dirty="0">
              <a:latin typeface="Segoe UI Light" panose="020B0502040204020203" pitchFamily="34" charset="0"/>
              <a:cs typeface="Segoe UI Light" panose="020B0502040204020203" pitchFamily="34" charset="0"/>
            </a:endParaRPr>
          </a:p>
          <a:p>
            <a:pPr algn="ctr"/>
            <a:r>
              <a:rPr lang="es-CO" sz="1600" dirty="0">
                <a:latin typeface="Segoe UI Light" panose="020B0502040204020203" pitchFamily="34" charset="0"/>
                <a:cs typeface="Segoe UI Light" panose="020B0502040204020203" pitchFamily="34" charset="0"/>
              </a:rPr>
              <a:t>El archivo exportado se denominará GIS2RAS.RASImport.sdf</a:t>
            </a:r>
          </a:p>
        </p:txBody>
      </p:sp>
      <p:pic>
        <p:nvPicPr>
          <p:cNvPr id="6" name="Imagen 5"/>
          <p:cNvPicPr>
            <a:picLocks noChangeAspect="1"/>
          </p:cNvPicPr>
          <p:nvPr/>
        </p:nvPicPr>
        <p:blipFill>
          <a:blip r:embed="rId2"/>
          <a:stretch>
            <a:fillRect/>
          </a:stretch>
        </p:blipFill>
        <p:spPr>
          <a:xfrm>
            <a:off x="5879976" y="620688"/>
            <a:ext cx="5063482" cy="3467794"/>
          </a:xfrm>
          <a:prstGeom prst="rect">
            <a:avLst/>
          </a:prstGeom>
        </p:spPr>
      </p:pic>
      <p:pic>
        <p:nvPicPr>
          <p:cNvPr id="7" name="Imagen 6"/>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5918455" y="4146151"/>
            <a:ext cx="5017188" cy="2298845"/>
          </a:xfrm>
          <a:prstGeom prst="rect">
            <a:avLst/>
          </a:prstGeom>
        </p:spPr>
      </p:pic>
      <p:sp>
        <p:nvSpPr>
          <p:cNvPr id="9" name="1 Título">
            <a:extLst>
              <a:ext uri="{FF2B5EF4-FFF2-40B4-BE49-F238E27FC236}">
                <a16:creationId xmlns:a16="http://schemas.microsoft.com/office/drawing/2014/main" id="{0B1A7AB9-2E7A-49B2-93D3-5A960356AC4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5: Exportación de la geometría para HEC-RAS</a:t>
            </a:r>
          </a:p>
        </p:txBody>
      </p:sp>
      <p:pic>
        <p:nvPicPr>
          <p:cNvPr id="11" name="Imagen 10">
            <a:extLst>
              <a:ext uri="{FF2B5EF4-FFF2-40B4-BE49-F238E27FC236}">
                <a16:creationId xmlns:a16="http://schemas.microsoft.com/office/drawing/2014/main" id="{869E3A03-B3C5-42E9-9FCC-068E5734028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984432" y="980728"/>
            <a:ext cx="360000" cy="360000"/>
          </a:xfrm>
          <a:prstGeom prst="rect">
            <a:avLst/>
          </a:prstGeom>
        </p:spPr>
      </p:pic>
      <p:pic>
        <p:nvPicPr>
          <p:cNvPr id="12" name="Imagen 11">
            <a:extLst>
              <a:ext uri="{FF2B5EF4-FFF2-40B4-BE49-F238E27FC236}">
                <a16:creationId xmlns:a16="http://schemas.microsoft.com/office/drawing/2014/main" id="{642FBEE5-42D5-45AC-AC48-2D1D2C0C58B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976320" y="5013176"/>
            <a:ext cx="360000" cy="360000"/>
          </a:xfrm>
          <a:prstGeom prst="rect">
            <a:avLst/>
          </a:prstGeom>
        </p:spPr>
      </p:pic>
      <p:pic>
        <p:nvPicPr>
          <p:cNvPr id="13" name="Imagen 12">
            <a:extLst>
              <a:ext uri="{FF2B5EF4-FFF2-40B4-BE49-F238E27FC236}">
                <a16:creationId xmlns:a16="http://schemas.microsoft.com/office/drawing/2014/main" id="{B8A3B202-2752-42A0-8201-477026974C9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3652445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891644" y="1982450"/>
            <a:ext cx="6408712" cy="2893100"/>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Referencias</a:t>
            </a:r>
          </a:p>
          <a:p>
            <a:r>
              <a:rPr lang="es-CO" dirty="0">
                <a:latin typeface="Segoe UI Light" panose="020B0502040204020203" pitchFamily="34" charset="0"/>
                <a:cs typeface="Segoe UI Light" panose="020B0502040204020203" pitchFamily="34" charset="0"/>
              </a:rPr>
              <a:t> </a:t>
            </a:r>
          </a:p>
          <a:p>
            <a:pPr marL="285750" indent="-285750">
              <a:buFont typeface="Wingdings" panose="05000000000000000000" pitchFamily="2" charset="2"/>
              <a:buChar char="ü"/>
            </a:pPr>
            <a:r>
              <a:rPr lang="es-419" sz="1600" dirty="0">
                <a:latin typeface="Segoe UI Light" panose="020B0502040204020203" pitchFamily="34" charset="0"/>
                <a:cs typeface="Segoe UI Light" panose="020B0502040204020203" pitchFamily="34" charset="0"/>
              </a:rPr>
              <a:t>US </a:t>
            </a:r>
            <a:r>
              <a:rPr lang="es-419" sz="1600" dirty="0" err="1">
                <a:latin typeface="Segoe UI Light" panose="020B0502040204020203" pitchFamily="34" charset="0"/>
                <a:cs typeface="Segoe UI Light" panose="020B0502040204020203" pitchFamily="34" charset="0"/>
              </a:rPr>
              <a:t>Army</a:t>
            </a:r>
            <a:r>
              <a:rPr lang="es-419" sz="1600" dirty="0">
                <a:latin typeface="Segoe UI Light" panose="020B0502040204020203" pitchFamily="34" charset="0"/>
                <a:cs typeface="Segoe UI Light" panose="020B0502040204020203" pitchFamily="34" charset="0"/>
              </a:rPr>
              <a:t> Corps of </a:t>
            </a:r>
            <a:r>
              <a:rPr lang="es-419" sz="1600" dirty="0" err="1">
                <a:latin typeface="Segoe UI Light" panose="020B0502040204020203" pitchFamily="34" charset="0"/>
                <a:cs typeface="Segoe UI Light" panose="020B0502040204020203" pitchFamily="34" charset="0"/>
              </a:rPr>
              <a:t>Engineers</a:t>
            </a:r>
            <a:r>
              <a:rPr lang="es-419" sz="1600" dirty="0">
                <a:latin typeface="Segoe UI Light" panose="020B0502040204020203" pitchFamily="34" charset="0"/>
                <a:cs typeface="Segoe UI Light" panose="020B0502040204020203" pitchFamily="34" charset="0"/>
              </a:rPr>
              <a:t>. HEC-RAS </a:t>
            </a:r>
            <a:r>
              <a:rPr lang="es-419" sz="1600" dirty="0" err="1">
                <a:latin typeface="Segoe UI Light" panose="020B0502040204020203" pitchFamily="34" charset="0"/>
                <a:cs typeface="Segoe UI Light" panose="020B0502040204020203" pitchFamily="34" charset="0"/>
              </a:rPr>
              <a:t>River</a:t>
            </a:r>
            <a:r>
              <a:rPr lang="es-419" sz="1600" dirty="0">
                <a:latin typeface="Segoe UI Light" panose="020B0502040204020203" pitchFamily="34" charset="0"/>
                <a:cs typeface="Segoe UI Light" panose="020B0502040204020203" pitchFamily="34" charset="0"/>
              </a:rPr>
              <a:t> </a:t>
            </a:r>
            <a:r>
              <a:rPr lang="es-419" sz="1600" dirty="0" err="1">
                <a:latin typeface="Segoe UI Light" panose="020B0502040204020203" pitchFamily="34" charset="0"/>
                <a:cs typeface="Segoe UI Light" panose="020B0502040204020203" pitchFamily="34" charset="0"/>
              </a:rPr>
              <a:t>Analysis</a:t>
            </a:r>
            <a:r>
              <a:rPr lang="es-419" sz="1600" dirty="0">
                <a:latin typeface="Segoe UI Light" panose="020B0502040204020203" pitchFamily="34" charset="0"/>
                <a:cs typeface="Segoe UI Light" panose="020B0502040204020203" pitchFamily="34" charset="0"/>
              </a:rPr>
              <a:t> </a:t>
            </a:r>
            <a:r>
              <a:rPr lang="es-419" sz="1600" dirty="0" err="1">
                <a:latin typeface="Segoe UI Light" panose="020B0502040204020203" pitchFamily="34" charset="0"/>
                <a:cs typeface="Segoe UI Light" panose="020B0502040204020203" pitchFamily="34" charset="0"/>
              </a:rPr>
              <a:t>System</a:t>
            </a:r>
            <a:r>
              <a:rPr lang="es-419" sz="1600" dirty="0">
                <a:latin typeface="Segoe UI Light" panose="020B0502040204020203" pitchFamily="34" charset="0"/>
                <a:cs typeface="Segoe UI Light" panose="020B0502040204020203" pitchFamily="34" charset="0"/>
              </a:rPr>
              <a:t>, </a:t>
            </a:r>
            <a:r>
              <a:rPr lang="es-419" sz="1600" dirty="0" err="1">
                <a:latin typeface="Segoe UI Light" panose="020B0502040204020203" pitchFamily="34" charset="0"/>
                <a:cs typeface="Segoe UI Light" panose="020B0502040204020203" pitchFamily="34" charset="0"/>
              </a:rPr>
              <a:t>Hydraulic</a:t>
            </a:r>
            <a:r>
              <a:rPr lang="es-419" sz="1600" dirty="0">
                <a:latin typeface="Segoe UI Light" panose="020B0502040204020203" pitchFamily="34" charset="0"/>
                <a:cs typeface="Segoe UI Light" panose="020B0502040204020203" pitchFamily="34" charset="0"/>
              </a:rPr>
              <a:t> Reference Manual, Versión 5.0. CPD-69. 2016.</a:t>
            </a:r>
          </a:p>
          <a:p>
            <a:pPr marL="285750" indent="-285750">
              <a:buFont typeface="Wingdings" panose="05000000000000000000" pitchFamily="2" charset="2"/>
              <a:buChar char="ü"/>
            </a:pPr>
            <a:endParaRPr lang="es-419"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419" sz="1600" dirty="0">
                <a:latin typeface="Segoe UI Light" panose="020B0502040204020203" pitchFamily="34" charset="0"/>
                <a:cs typeface="Segoe UI Light" panose="020B0502040204020203" pitchFamily="34" charset="0"/>
              </a:rPr>
              <a:t>US </a:t>
            </a:r>
            <a:r>
              <a:rPr lang="es-419" sz="1600" dirty="0" err="1">
                <a:latin typeface="Segoe UI Light" panose="020B0502040204020203" pitchFamily="34" charset="0"/>
                <a:cs typeface="Segoe UI Light" panose="020B0502040204020203" pitchFamily="34" charset="0"/>
              </a:rPr>
              <a:t>Army</a:t>
            </a:r>
            <a:r>
              <a:rPr lang="es-419" sz="1600" dirty="0">
                <a:latin typeface="Segoe UI Light" panose="020B0502040204020203" pitchFamily="34" charset="0"/>
                <a:cs typeface="Segoe UI Light" panose="020B0502040204020203" pitchFamily="34" charset="0"/>
              </a:rPr>
              <a:t> Corps of </a:t>
            </a:r>
            <a:r>
              <a:rPr lang="es-419" sz="1600" dirty="0" err="1">
                <a:latin typeface="Segoe UI Light" panose="020B0502040204020203" pitchFamily="34" charset="0"/>
                <a:cs typeface="Segoe UI Light" panose="020B0502040204020203" pitchFamily="34" charset="0"/>
              </a:rPr>
              <a:t>Engineers</a:t>
            </a:r>
            <a:r>
              <a:rPr lang="es-419" sz="1600" dirty="0">
                <a:latin typeface="Segoe UI Light" panose="020B0502040204020203" pitchFamily="34" charset="0"/>
                <a:cs typeface="Segoe UI Light" panose="020B0502040204020203" pitchFamily="34" charset="0"/>
              </a:rPr>
              <a:t>. HEC-RAS </a:t>
            </a:r>
            <a:r>
              <a:rPr lang="es-419" sz="1600" dirty="0" err="1">
                <a:latin typeface="Segoe UI Light" panose="020B0502040204020203" pitchFamily="34" charset="0"/>
                <a:cs typeface="Segoe UI Light" panose="020B0502040204020203" pitchFamily="34" charset="0"/>
              </a:rPr>
              <a:t>River</a:t>
            </a:r>
            <a:r>
              <a:rPr lang="es-419" sz="1600" dirty="0">
                <a:latin typeface="Segoe UI Light" panose="020B0502040204020203" pitchFamily="34" charset="0"/>
                <a:cs typeface="Segoe UI Light" panose="020B0502040204020203" pitchFamily="34" charset="0"/>
              </a:rPr>
              <a:t> </a:t>
            </a:r>
            <a:r>
              <a:rPr lang="es-419" sz="1600" dirty="0" err="1">
                <a:latin typeface="Segoe UI Light" panose="020B0502040204020203" pitchFamily="34" charset="0"/>
                <a:cs typeface="Segoe UI Light" panose="020B0502040204020203" pitchFamily="34" charset="0"/>
              </a:rPr>
              <a:t>Analysis</a:t>
            </a:r>
            <a:r>
              <a:rPr lang="es-419" sz="1600" dirty="0">
                <a:latin typeface="Segoe UI Light" panose="020B0502040204020203" pitchFamily="34" charset="0"/>
                <a:cs typeface="Segoe UI Light" panose="020B0502040204020203" pitchFamily="34" charset="0"/>
              </a:rPr>
              <a:t> </a:t>
            </a:r>
            <a:r>
              <a:rPr lang="es-419" sz="1600" dirty="0" err="1">
                <a:latin typeface="Segoe UI Light" panose="020B0502040204020203" pitchFamily="34" charset="0"/>
                <a:cs typeface="Segoe UI Light" panose="020B0502040204020203" pitchFamily="34" charset="0"/>
              </a:rPr>
              <a:t>System</a:t>
            </a:r>
            <a:r>
              <a:rPr lang="es-419" sz="1600" dirty="0">
                <a:latin typeface="Segoe UI Light" panose="020B0502040204020203" pitchFamily="34" charset="0"/>
                <a:cs typeface="Segoe UI Light" panose="020B0502040204020203" pitchFamily="34" charset="0"/>
              </a:rPr>
              <a:t>, </a:t>
            </a:r>
            <a:r>
              <a:rPr lang="es-419" sz="1600" dirty="0" err="1">
                <a:latin typeface="Segoe UI Light" panose="020B0502040204020203" pitchFamily="34" charset="0"/>
                <a:cs typeface="Segoe UI Light" panose="020B0502040204020203" pitchFamily="34" charset="0"/>
              </a:rPr>
              <a:t>Applications</a:t>
            </a:r>
            <a:r>
              <a:rPr lang="es-419" sz="1600" dirty="0">
                <a:latin typeface="Segoe UI Light" panose="020B0502040204020203" pitchFamily="34" charset="0"/>
                <a:cs typeface="Segoe UI Light" panose="020B0502040204020203" pitchFamily="34" charset="0"/>
              </a:rPr>
              <a:t> </a:t>
            </a:r>
            <a:r>
              <a:rPr lang="es-419" sz="1600" dirty="0" err="1">
                <a:latin typeface="Segoe UI Light" panose="020B0502040204020203" pitchFamily="34" charset="0"/>
                <a:cs typeface="Segoe UI Light" panose="020B0502040204020203" pitchFamily="34" charset="0"/>
              </a:rPr>
              <a:t>Guide</a:t>
            </a:r>
            <a:r>
              <a:rPr lang="es-419" sz="1600" dirty="0">
                <a:latin typeface="Segoe UI Light" panose="020B0502040204020203" pitchFamily="34" charset="0"/>
                <a:cs typeface="Segoe UI Light" panose="020B0502040204020203" pitchFamily="34" charset="0"/>
              </a:rPr>
              <a:t>. CPD-70. 2015.</a:t>
            </a:r>
          </a:p>
          <a:p>
            <a:pPr marL="285750" indent="-285750">
              <a:buFont typeface="Wingdings" panose="05000000000000000000" pitchFamily="2" charset="2"/>
              <a:buChar char="ü"/>
            </a:pPr>
            <a:endParaRPr lang="es-419"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419" sz="1600" dirty="0">
                <a:latin typeface="Segoe UI Light" panose="020B0502040204020203" pitchFamily="34" charset="0"/>
                <a:cs typeface="Segoe UI Light" panose="020B0502040204020203" pitchFamily="34" charset="0"/>
              </a:rPr>
              <a:t>US </a:t>
            </a:r>
            <a:r>
              <a:rPr lang="es-419" sz="1600" dirty="0" err="1">
                <a:latin typeface="Segoe UI Light" panose="020B0502040204020203" pitchFamily="34" charset="0"/>
                <a:cs typeface="Segoe UI Light" panose="020B0502040204020203" pitchFamily="34" charset="0"/>
              </a:rPr>
              <a:t>Army</a:t>
            </a:r>
            <a:r>
              <a:rPr lang="es-419" sz="1600" dirty="0">
                <a:latin typeface="Segoe UI Light" panose="020B0502040204020203" pitchFamily="34" charset="0"/>
                <a:cs typeface="Segoe UI Light" panose="020B0502040204020203" pitchFamily="34" charset="0"/>
              </a:rPr>
              <a:t> Corps of </a:t>
            </a:r>
            <a:r>
              <a:rPr lang="es-419" sz="1600" dirty="0" err="1">
                <a:latin typeface="Segoe UI Light" panose="020B0502040204020203" pitchFamily="34" charset="0"/>
                <a:cs typeface="Segoe UI Light" panose="020B0502040204020203" pitchFamily="34" charset="0"/>
              </a:rPr>
              <a:t>Engineers</a:t>
            </a:r>
            <a:r>
              <a:rPr lang="es-419" sz="1600" dirty="0">
                <a:latin typeface="Segoe UI Light" panose="020B0502040204020203" pitchFamily="34" charset="0"/>
                <a:cs typeface="Segoe UI Light" panose="020B0502040204020203" pitchFamily="34" charset="0"/>
              </a:rPr>
              <a:t>. HEC-RAS </a:t>
            </a:r>
            <a:r>
              <a:rPr lang="es-419" sz="1600" dirty="0" err="1">
                <a:latin typeface="Segoe UI Light" panose="020B0502040204020203" pitchFamily="34" charset="0"/>
                <a:cs typeface="Segoe UI Light" panose="020B0502040204020203" pitchFamily="34" charset="0"/>
              </a:rPr>
              <a:t>River</a:t>
            </a:r>
            <a:r>
              <a:rPr lang="es-419" sz="1600" dirty="0">
                <a:latin typeface="Segoe UI Light" panose="020B0502040204020203" pitchFamily="34" charset="0"/>
                <a:cs typeface="Segoe UI Light" panose="020B0502040204020203" pitchFamily="34" charset="0"/>
              </a:rPr>
              <a:t> </a:t>
            </a:r>
            <a:r>
              <a:rPr lang="es-419" sz="1600" dirty="0" err="1">
                <a:latin typeface="Segoe UI Light" panose="020B0502040204020203" pitchFamily="34" charset="0"/>
                <a:cs typeface="Segoe UI Light" panose="020B0502040204020203" pitchFamily="34" charset="0"/>
              </a:rPr>
              <a:t>Analysis</a:t>
            </a:r>
            <a:r>
              <a:rPr lang="es-419" sz="1600" dirty="0">
                <a:latin typeface="Segoe UI Light" panose="020B0502040204020203" pitchFamily="34" charset="0"/>
                <a:cs typeface="Segoe UI Light" panose="020B0502040204020203" pitchFamily="34" charset="0"/>
              </a:rPr>
              <a:t> </a:t>
            </a:r>
            <a:r>
              <a:rPr lang="es-419" sz="1600" dirty="0" err="1">
                <a:latin typeface="Segoe UI Light" panose="020B0502040204020203" pitchFamily="34" charset="0"/>
                <a:cs typeface="Segoe UI Light" panose="020B0502040204020203" pitchFamily="34" charset="0"/>
              </a:rPr>
              <a:t>System</a:t>
            </a:r>
            <a:r>
              <a:rPr lang="es-419" sz="1600" dirty="0">
                <a:latin typeface="Segoe UI Light" panose="020B0502040204020203" pitchFamily="34" charset="0"/>
                <a:cs typeface="Segoe UI Light" panose="020B0502040204020203" pitchFamily="34" charset="0"/>
              </a:rPr>
              <a:t>, </a:t>
            </a:r>
            <a:r>
              <a:rPr lang="es-419" sz="1600" dirty="0" err="1">
                <a:latin typeface="Segoe UI Light" panose="020B0502040204020203" pitchFamily="34" charset="0"/>
                <a:cs typeface="Segoe UI Light" panose="020B0502040204020203" pitchFamily="34" charset="0"/>
              </a:rPr>
              <a:t>User’s</a:t>
            </a:r>
            <a:r>
              <a:rPr lang="es-419" sz="1600" dirty="0">
                <a:latin typeface="Segoe UI Light" panose="020B0502040204020203" pitchFamily="34" charset="0"/>
                <a:cs typeface="Segoe UI Light" panose="020B0502040204020203" pitchFamily="34" charset="0"/>
              </a:rPr>
              <a:t> Manual. CPD-68. 2016.</a:t>
            </a:r>
          </a:p>
          <a:p>
            <a:pPr marL="285750" indent="-285750">
              <a:buFont typeface="Wingdings" panose="05000000000000000000" pitchFamily="2" charset="2"/>
              <a:buChar char="ü"/>
            </a:pPr>
            <a:endParaRPr lang="es-ES"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425C479D-EED6-43BD-A345-DBD09F8AFAA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40866163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70EE07A-5BFD-466E-B14A-12C366129646}"/>
              </a:ext>
            </a:extLst>
          </p:cNvPr>
          <p:cNvGrpSpPr/>
          <p:nvPr/>
        </p:nvGrpSpPr>
        <p:grpSpPr>
          <a:xfrm>
            <a:off x="4331804" y="1579664"/>
            <a:ext cx="3528392" cy="3698672"/>
            <a:chOff x="4223792" y="1628800"/>
            <a:chExt cx="3528392" cy="3698672"/>
          </a:xfrm>
        </p:grpSpPr>
        <p:sp>
          <p:nvSpPr>
            <p:cNvPr id="6" name="7 CuadroTexto">
              <a:extLst>
                <a:ext uri="{FF2B5EF4-FFF2-40B4-BE49-F238E27FC236}">
                  <a16:creationId xmlns:a16="http://schemas.microsoft.com/office/drawing/2014/main" id="{3572065F-81C1-454C-8E77-453E36FB65E9}"/>
                </a:ext>
              </a:extLst>
            </p:cNvPr>
            <p:cNvSpPr txBox="1"/>
            <p:nvPr/>
          </p:nvSpPr>
          <p:spPr>
            <a:xfrm>
              <a:off x="4223792" y="1628800"/>
              <a:ext cx="3528392" cy="861774"/>
            </a:xfrm>
            <a:prstGeom prst="rect">
              <a:avLst/>
            </a:prstGeom>
            <a:noFill/>
          </p:spPr>
          <p:txBody>
            <a:bodyPr wrap="square" rtlCol="0">
              <a:spAutoFit/>
            </a:bodyPr>
            <a:lstStyle/>
            <a:p>
              <a:pPr algn="ctr"/>
              <a:r>
                <a:rPr lang="es-ES" sz="1000" dirty="0">
                  <a:latin typeface="Segoe UI Light" panose="020B0502040204020203" pitchFamily="34" charset="0"/>
                  <a:cs typeface="Segoe UI Light" panose="020B0502040204020203" pitchFamily="34" charset="0"/>
                </a:rPr>
                <a:t>Contenido creado por: r.cfdtools@gmail.com</a:t>
              </a:r>
            </a:p>
            <a:p>
              <a:pPr algn="ctr"/>
              <a:r>
                <a:rPr lang="es-ES" sz="1000" dirty="0">
                  <a:latin typeface="Segoe UI Light" panose="020B0502040204020203" pitchFamily="34" charset="0"/>
                  <a:cs typeface="Segoe UI Light" panose="020B0502040204020203" pitchFamily="34" charset="0"/>
                  <a:hlinkClick r:id="rId2"/>
                </a:rPr>
                <a:t>https://github.com/rcfdtools</a:t>
              </a:r>
              <a:endParaRPr lang="es-ES" sz="1000" dirty="0">
                <a:latin typeface="Segoe UI Light" panose="020B0502040204020203" pitchFamily="34" charset="0"/>
                <a:cs typeface="Segoe UI Light" panose="020B0502040204020203" pitchFamily="34" charset="0"/>
              </a:endParaRPr>
            </a:p>
            <a:p>
              <a:pPr algn="ctr"/>
              <a:endParaRPr lang="es-ES" sz="1000" dirty="0">
                <a:latin typeface="Segoe UI Light" panose="020B0502040204020203" pitchFamily="34" charset="0"/>
                <a:cs typeface="Segoe UI Light" panose="020B0502040204020203" pitchFamily="34" charset="0"/>
              </a:endParaRPr>
            </a:p>
            <a:p>
              <a:pPr algn="ctr"/>
              <a:r>
                <a:rPr lang="es-ES" sz="1000" dirty="0">
                  <a:latin typeface="Segoe UI Light" panose="020B0502040204020203" pitchFamily="34" charset="0"/>
                  <a:cs typeface="Segoe UI Light" panose="020B0502040204020203" pitchFamily="34" charset="0"/>
                </a:rPr>
                <a:t>Licencia, cláusulas y condiciones de uso en:</a:t>
              </a:r>
            </a:p>
            <a:p>
              <a:pPr algn="ctr"/>
              <a:r>
                <a:rPr lang="es-ES" sz="1000" dirty="0">
                  <a:latin typeface="Segoe UI Light" panose="020B0502040204020203" pitchFamily="34" charset="0"/>
                  <a:cs typeface="Segoe UI Light" panose="020B0502040204020203" pitchFamily="34" charset="0"/>
                  <a:hlinkClick r:id="rId3"/>
                </a:rPr>
                <a:t>https://github.com/rcfdtools/R.HydroTools/wiki/License</a:t>
              </a:r>
              <a:endParaRPr lang="es-ES" sz="1000" dirty="0">
                <a:latin typeface="Segoe UI Light" panose="020B0502040204020203" pitchFamily="34" charset="0"/>
                <a:cs typeface="Segoe UI Light" panose="020B0502040204020203" pitchFamily="34" charset="0"/>
              </a:endParaRPr>
            </a:p>
          </p:txBody>
        </p:sp>
        <p:pic>
          <p:nvPicPr>
            <p:cNvPr id="7" name="Picture 6" descr="Qr code&#10;&#10;Description automatically generated">
              <a:extLst>
                <a:ext uri="{FF2B5EF4-FFF2-40B4-BE49-F238E27FC236}">
                  <a16:creationId xmlns:a16="http://schemas.microsoft.com/office/drawing/2014/main" id="{90F7619C-3D91-416E-B1F4-909E882E74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7988" y="2627472"/>
              <a:ext cx="2700000" cy="2700000"/>
            </a:xfrm>
            <a:prstGeom prst="rect">
              <a:avLst/>
            </a:prstGeom>
          </p:spPr>
        </p:pic>
      </p:grpSp>
      <p:pic>
        <p:nvPicPr>
          <p:cNvPr id="9" name="Imagen 8">
            <a:extLst>
              <a:ext uri="{FF2B5EF4-FFF2-40B4-BE49-F238E27FC236}">
                <a16:creationId xmlns:a16="http://schemas.microsoft.com/office/drawing/2014/main" id="{D1E24590-5B37-4B8E-8E7F-7CC7FF0BA20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94585993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15485</TotalTime>
  <Words>2942</Words>
  <Application>Microsoft Office PowerPoint</Application>
  <PresentationFormat>Widescreen</PresentationFormat>
  <Paragraphs>232</Paragraphs>
  <Slides>44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Arial</vt:lpstr>
      <vt:lpstr>Calibri</vt:lpstr>
      <vt:lpstr>Orkney Light</vt:lpstr>
      <vt:lpstr>Segoe UI Light</vt:lpstr>
      <vt:lpstr>Wingdings</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HCMC_3_1</dc:title>
  <dc:creator>master</dc:creator>
  <cp:lastModifiedBy>WILLIAM RICARDO AGUILAR PIÑA</cp:lastModifiedBy>
  <cp:revision>879</cp:revision>
  <dcterms:created xsi:type="dcterms:W3CDTF">2010-05-17T13:13:34Z</dcterms:created>
  <dcterms:modified xsi:type="dcterms:W3CDTF">2025-07-31T14:40:53Z</dcterms:modified>
</cp:coreProperties>
</file>