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90" r:id="rId2"/>
    <p:sldId id="301" r:id="rId3"/>
    <p:sldId id="289" r:id="rId4"/>
    <p:sldId id="388" r:id="rId5"/>
    <p:sldId id="333" r:id="rId6"/>
    <p:sldId id="343" r:id="rId7"/>
    <p:sldId id="344" r:id="rId8"/>
    <p:sldId id="389" r:id="rId9"/>
    <p:sldId id="345" r:id="rId10"/>
    <p:sldId id="346" r:id="rId11"/>
    <p:sldId id="347" r:id="rId12"/>
    <p:sldId id="356" r:id="rId13"/>
    <p:sldId id="350" r:id="rId14"/>
    <p:sldId id="351" r:id="rId15"/>
    <p:sldId id="352" r:id="rId16"/>
    <p:sldId id="353" r:id="rId17"/>
    <p:sldId id="354" r:id="rId18"/>
    <p:sldId id="355" r:id="rId19"/>
    <p:sldId id="384" r:id="rId20"/>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53" autoAdjust="0"/>
    <p:restoredTop sz="96416" autoAdjust="0"/>
  </p:normalViewPr>
  <p:slideViewPr>
    <p:cSldViewPr>
      <p:cViewPr varScale="1">
        <p:scale>
          <a:sx n="116" d="100"/>
          <a:sy n="116" d="100"/>
        </p:scale>
        <p:origin x="270" y="102"/>
      </p:cViewPr>
      <p:guideLst>
        <p:guide orient="horz" pos="2160"/>
        <p:guide pos="384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RICARDO AGUILAR PIÑA" userId="25538c52-b196-49fc-9025-2dd86a54f18a" providerId="ADAL" clId="{2E0A9918-9E63-43D6-AA68-FCE3A1350492}"/>
    <pc:docChg chg="custSel modSld">
      <pc:chgData name="WILLIAM RICARDO AGUILAR PIÑA" userId="25538c52-b196-49fc-9025-2dd86a54f18a" providerId="ADAL" clId="{2E0A9918-9E63-43D6-AA68-FCE3A1350492}" dt="2020-10-24T20:00:43.192" v="53" actId="207"/>
      <pc:docMkLst>
        <pc:docMk/>
      </pc:docMkLst>
      <pc:sldChg chg="modSp mod">
        <pc:chgData name="WILLIAM RICARDO AGUILAR PIÑA" userId="25538c52-b196-49fc-9025-2dd86a54f18a" providerId="ADAL" clId="{2E0A9918-9E63-43D6-AA68-FCE3A1350492}" dt="2020-10-24T19:55:54.121" v="1" actId="207"/>
        <pc:sldMkLst>
          <pc:docMk/>
          <pc:sldMk cId="1805327859" sldId="289"/>
        </pc:sldMkLst>
      </pc:sldChg>
      <pc:sldChg chg="modSp mod">
        <pc:chgData name="WILLIAM RICARDO AGUILAR PIÑA" userId="25538c52-b196-49fc-9025-2dd86a54f18a" providerId="ADAL" clId="{2E0A9918-9E63-43D6-AA68-FCE3A1350492}" dt="2020-10-24T19:56:09.270" v="33" actId="20577"/>
        <pc:sldMkLst>
          <pc:docMk/>
          <pc:sldMk cId="2852190545" sldId="301"/>
        </pc:sldMkLst>
      </pc:sldChg>
      <pc:sldChg chg="modSp mod">
        <pc:chgData name="WILLIAM RICARDO AGUILAR PIÑA" userId="25538c52-b196-49fc-9025-2dd86a54f18a" providerId="ADAL" clId="{2E0A9918-9E63-43D6-AA68-FCE3A1350492}" dt="2020-10-24T19:56:23.166" v="34" actId="207"/>
        <pc:sldMkLst>
          <pc:docMk/>
          <pc:sldMk cId="3206536397" sldId="333"/>
        </pc:sldMkLst>
      </pc:sldChg>
      <pc:sldChg chg="modSp mod">
        <pc:chgData name="WILLIAM RICARDO AGUILAR PIÑA" userId="25538c52-b196-49fc-9025-2dd86a54f18a" providerId="ADAL" clId="{2E0A9918-9E63-43D6-AA68-FCE3A1350492}" dt="2020-10-24T19:56:48.730" v="40" actId="207"/>
        <pc:sldMkLst>
          <pc:docMk/>
          <pc:sldMk cId="243950318" sldId="343"/>
        </pc:sldMkLst>
      </pc:sldChg>
      <pc:sldChg chg="modSp mod">
        <pc:chgData name="WILLIAM RICARDO AGUILAR PIÑA" userId="25538c52-b196-49fc-9025-2dd86a54f18a" providerId="ADAL" clId="{2E0A9918-9E63-43D6-AA68-FCE3A1350492}" dt="2020-10-24T19:57:18.629" v="41" actId="207"/>
        <pc:sldMkLst>
          <pc:docMk/>
          <pc:sldMk cId="3933840208" sldId="344"/>
        </pc:sldMkLst>
      </pc:sldChg>
      <pc:sldChg chg="modSp mod">
        <pc:chgData name="WILLIAM RICARDO AGUILAR PIÑA" userId="25538c52-b196-49fc-9025-2dd86a54f18a" providerId="ADAL" clId="{2E0A9918-9E63-43D6-AA68-FCE3A1350492}" dt="2020-10-24T19:57:25.186" v="42" actId="207"/>
        <pc:sldMkLst>
          <pc:docMk/>
          <pc:sldMk cId="4122068586" sldId="345"/>
        </pc:sldMkLst>
      </pc:sldChg>
      <pc:sldChg chg="modSp mod">
        <pc:chgData name="WILLIAM RICARDO AGUILAR PIÑA" userId="25538c52-b196-49fc-9025-2dd86a54f18a" providerId="ADAL" clId="{2E0A9918-9E63-43D6-AA68-FCE3A1350492}" dt="2020-10-24T19:57:47.509" v="43" actId="207"/>
        <pc:sldMkLst>
          <pc:docMk/>
          <pc:sldMk cId="4094133461" sldId="346"/>
        </pc:sldMkLst>
      </pc:sldChg>
      <pc:sldChg chg="modSp mod">
        <pc:chgData name="WILLIAM RICARDO AGUILAR PIÑA" userId="25538c52-b196-49fc-9025-2dd86a54f18a" providerId="ADAL" clId="{2E0A9918-9E63-43D6-AA68-FCE3A1350492}" dt="2020-10-24T19:57:57.466" v="44" actId="207"/>
        <pc:sldMkLst>
          <pc:docMk/>
          <pc:sldMk cId="1067912720" sldId="347"/>
        </pc:sldMkLst>
      </pc:sldChg>
      <pc:sldChg chg="modSp mod">
        <pc:chgData name="WILLIAM RICARDO AGUILAR PIÑA" userId="25538c52-b196-49fc-9025-2dd86a54f18a" providerId="ADAL" clId="{2E0A9918-9E63-43D6-AA68-FCE3A1350492}" dt="2020-10-24T19:59:21.316" v="48" actId="207"/>
        <pc:sldMkLst>
          <pc:docMk/>
          <pc:sldMk cId="2381933594" sldId="350"/>
        </pc:sldMkLst>
      </pc:sldChg>
      <pc:sldChg chg="modSp mod">
        <pc:chgData name="WILLIAM RICARDO AGUILAR PIÑA" userId="25538c52-b196-49fc-9025-2dd86a54f18a" providerId="ADAL" clId="{2E0A9918-9E63-43D6-AA68-FCE3A1350492}" dt="2020-10-24T19:59:54.265" v="49" actId="207"/>
        <pc:sldMkLst>
          <pc:docMk/>
          <pc:sldMk cId="1074976470" sldId="351"/>
        </pc:sldMkLst>
      </pc:sldChg>
      <pc:sldChg chg="modSp mod">
        <pc:chgData name="WILLIAM RICARDO AGUILAR PIÑA" userId="25538c52-b196-49fc-9025-2dd86a54f18a" providerId="ADAL" clId="{2E0A9918-9E63-43D6-AA68-FCE3A1350492}" dt="2020-10-24T20:00:00.633" v="50" actId="207"/>
        <pc:sldMkLst>
          <pc:docMk/>
          <pc:sldMk cId="1929110709" sldId="352"/>
        </pc:sldMkLst>
      </pc:sldChg>
      <pc:sldChg chg="modSp mod">
        <pc:chgData name="WILLIAM RICARDO AGUILAR PIÑA" userId="25538c52-b196-49fc-9025-2dd86a54f18a" providerId="ADAL" clId="{2E0A9918-9E63-43D6-AA68-FCE3A1350492}" dt="2020-10-24T20:00:29.636" v="51" actId="207"/>
        <pc:sldMkLst>
          <pc:docMk/>
          <pc:sldMk cId="102625208" sldId="353"/>
        </pc:sldMkLst>
      </pc:sldChg>
      <pc:sldChg chg="modSp mod">
        <pc:chgData name="WILLIAM RICARDO AGUILAR PIÑA" userId="25538c52-b196-49fc-9025-2dd86a54f18a" providerId="ADAL" clId="{2E0A9918-9E63-43D6-AA68-FCE3A1350492}" dt="2020-10-24T20:00:34.476" v="52" actId="207"/>
        <pc:sldMkLst>
          <pc:docMk/>
          <pc:sldMk cId="3222465231" sldId="354"/>
        </pc:sldMkLst>
      </pc:sldChg>
      <pc:sldChg chg="modSp mod">
        <pc:chgData name="WILLIAM RICARDO AGUILAR PIÑA" userId="25538c52-b196-49fc-9025-2dd86a54f18a" providerId="ADAL" clId="{2E0A9918-9E63-43D6-AA68-FCE3A1350492}" dt="2020-10-24T20:00:43.192" v="53" actId="207"/>
        <pc:sldMkLst>
          <pc:docMk/>
          <pc:sldMk cId="72120041" sldId="355"/>
        </pc:sldMkLst>
      </pc:sldChg>
      <pc:sldChg chg="modSp mod">
        <pc:chgData name="WILLIAM RICARDO AGUILAR PIÑA" userId="25538c52-b196-49fc-9025-2dd86a54f18a" providerId="ADAL" clId="{2E0A9918-9E63-43D6-AA68-FCE3A1350492}" dt="2020-10-24T19:58:30.128" v="47" actId="693"/>
        <pc:sldMkLst>
          <pc:docMk/>
          <pc:sldMk cId="4179003318" sldId="356"/>
        </pc:sldMkLst>
      </pc:sldChg>
      <pc:sldChg chg="modSp mod">
        <pc:chgData name="WILLIAM RICARDO AGUILAR PIÑA" userId="25538c52-b196-49fc-9025-2dd86a54f18a" providerId="ADAL" clId="{2E0A9918-9E63-43D6-AA68-FCE3A1350492}" dt="2020-10-24T19:56:40.262" v="39" actId="207"/>
        <pc:sldMkLst>
          <pc:docMk/>
          <pc:sldMk cId="0" sldId="390"/>
        </pc:sldMkLst>
      </pc:sldChg>
    </pc:docChg>
  </pc:docChgLst>
  <pc:docChgLst>
    <pc:chgData name="WILLIAM RICARDO AGUILAR PIÑA" userId="25538c52-b196-49fc-9025-2dd86a54f18a" providerId="ADAL" clId="{47FD5ED3-56AA-42A1-A85A-B27B53CD4909}"/>
    <pc:docChg chg="modSld">
      <pc:chgData name="WILLIAM RICARDO AGUILAR PIÑA" userId="25538c52-b196-49fc-9025-2dd86a54f18a" providerId="ADAL" clId="{47FD5ED3-56AA-42A1-A85A-B27B53CD4909}" dt="2022-10-25T21:05:46.444" v="29" actId="20577"/>
      <pc:docMkLst>
        <pc:docMk/>
      </pc:docMkLst>
      <pc:sldChg chg="modSp mod">
        <pc:chgData name="WILLIAM RICARDO AGUILAR PIÑA" userId="25538c52-b196-49fc-9025-2dd86a54f18a" providerId="ADAL" clId="{47FD5ED3-56AA-42A1-A85A-B27B53CD4909}" dt="2022-10-25T21:05:32.221" v="24" actId="6549"/>
        <pc:sldMkLst>
          <pc:docMk/>
          <pc:sldMk cId="1805327859" sldId="289"/>
        </pc:sldMkLst>
      </pc:sldChg>
      <pc:sldChg chg="modSp mod">
        <pc:chgData name="WILLIAM RICARDO AGUILAR PIÑA" userId="25538c52-b196-49fc-9025-2dd86a54f18a" providerId="ADAL" clId="{47FD5ED3-56AA-42A1-A85A-B27B53CD4909}" dt="2022-10-25T21:05:46.444" v="29" actId="20577"/>
        <pc:sldMkLst>
          <pc:docMk/>
          <pc:sldMk cId="0" sldId="390"/>
        </pc:sldMkLst>
      </pc:sldChg>
    </pc:docChg>
  </pc:docChgLst>
  <pc:docChgLst>
    <pc:chgData name="WILLIAM RICARDO AGUILAR PIÑA" userId="25538c52-b196-49fc-9025-2dd86a54f18a" providerId="ADAL" clId="{10F4AD76-8726-486C-A6B1-6622804CEF54}"/>
    <pc:docChg chg="undo custSel modSld">
      <pc:chgData name="WILLIAM RICARDO AGUILAR PIÑA" userId="25538c52-b196-49fc-9025-2dd86a54f18a" providerId="ADAL" clId="{10F4AD76-8726-486C-A6B1-6622804CEF54}" dt="2024-11-16T14:19:24.676" v="3" actId="20577"/>
      <pc:docMkLst>
        <pc:docMk/>
      </pc:docMkLst>
      <pc:sldChg chg="addSp modSp mod">
        <pc:chgData name="WILLIAM RICARDO AGUILAR PIÑA" userId="25538c52-b196-49fc-9025-2dd86a54f18a" providerId="ADAL" clId="{10F4AD76-8726-486C-A6B1-6622804CEF54}" dt="2024-11-16T14:19:24.676" v="3" actId="20577"/>
        <pc:sldMkLst>
          <pc:docMk/>
          <pc:sldMk cId="4179003318" sldId="356"/>
        </pc:sldMkLst>
        <pc:spChg chg="add mod">
          <ac:chgData name="WILLIAM RICARDO AGUILAR PIÑA" userId="25538c52-b196-49fc-9025-2dd86a54f18a" providerId="ADAL" clId="{10F4AD76-8726-486C-A6B1-6622804CEF54}" dt="2024-11-16T14:19:24.676" v="3" actId="20577"/>
          <ac:spMkLst>
            <pc:docMk/>
            <pc:sldMk cId="4179003318" sldId="356"/>
            <ac:spMk id="2" creationId="{CA959787-C114-2885-1C46-4BE58DC9C1A7}"/>
          </ac:spMkLst>
        </pc:spChg>
      </pc:sldChg>
    </pc:docChg>
  </pc:docChgLst>
  <pc:docChgLst>
    <pc:chgData name="WILLIAM RICARDO AGUILAR PIÑA" userId="25538c52-b196-49fc-9025-2dd86a54f18a" providerId="ADAL" clId="{EE0B13B2-459E-416C-A2C1-D97D9648A4D5}"/>
    <pc:docChg chg="modSld">
      <pc:chgData name="WILLIAM RICARDO AGUILAR PIÑA" userId="25538c52-b196-49fc-9025-2dd86a54f18a" providerId="ADAL" clId="{EE0B13B2-459E-416C-A2C1-D97D9648A4D5}" dt="2024-11-14T16:07:58.249" v="0" actId="20577"/>
      <pc:docMkLst>
        <pc:docMk/>
      </pc:docMkLst>
      <pc:sldChg chg="modSp mod">
        <pc:chgData name="WILLIAM RICARDO AGUILAR PIÑA" userId="25538c52-b196-49fc-9025-2dd86a54f18a" providerId="ADAL" clId="{EE0B13B2-459E-416C-A2C1-D97D9648A4D5}" dt="2024-11-14T16:07:58.249" v="0" actId="20577"/>
        <pc:sldMkLst>
          <pc:docMk/>
          <pc:sldMk cId="4179003318" sldId="356"/>
        </pc:sldMkLst>
        <pc:spChg chg="mod">
          <ac:chgData name="WILLIAM RICARDO AGUILAR PIÑA" userId="25538c52-b196-49fc-9025-2dd86a54f18a" providerId="ADAL" clId="{EE0B13B2-459E-416C-A2C1-D97D9648A4D5}" dt="2024-11-14T16:07:58.249" v="0" actId="20577"/>
          <ac:spMkLst>
            <pc:docMk/>
            <pc:sldMk cId="4179003318" sldId="356"/>
            <ac:spMk id="8" creationId="{00000000-0000-0000-0000-000000000000}"/>
          </ac:spMkLst>
        </pc:spChg>
      </pc:sldChg>
    </pc:docChg>
  </pc:docChgLst>
  <pc:docChgLst>
    <pc:chgData name="WILLIAM RICARDO AGUILAR PIÑA" userId="25538c52-b196-49fc-9025-2dd86a54f18a" providerId="ADAL" clId="{E62A114D-19B6-45A0-8C8C-320F0B491F40}"/>
    <pc:docChg chg="modSld">
      <pc:chgData name="WILLIAM RICARDO AGUILAR PIÑA" userId="25538c52-b196-49fc-9025-2dd86a54f18a" providerId="ADAL" clId="{E62A114D-19B6-45A0-8C8C-320F0B491F40}" dt="2018-06-29T15:35:42.597" v="16" actId="20577"/>
      <pc:docMkLst>
        <pc:docMk/>
      </pc:docMkLst>
      <pc:sldChg chg="modSp">
        <pc:chgData name="WILLIAM RICARDO AGUILAR PIÑA" userId="25538c52-b196-49fc-9025-2dd86a54f18a" providerId="ADAL" clId="{E62A114D-19B6-45A0-8C8C-320F0B491F40}" dt="2018-06-29T15:35:42.597" v="16" actId="20577"/>
        <pc:sldMkLst>
          <pc:docMk/>
          <pc:sldMk cId="0" sldId="25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1/08/2025</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r>
              <a:rPr lang="es-ES"/>
              <a:t>Recordar que el diseño hidráulico de la sección compuesta se realizó calculando la profundidad normal para las condiciones de flujo uniforme. Por ejemplo en la sección diseñada con profundidad total de 3m se calculo una lámina de agua con profundidad normal de 2.6m (con borde libre de 0.4m aprox) y al realizar la modelación en flujo permanente y no permanente, la altura de la lámina en el tramo diseñado está alrededor de 2.48m aprox (con borde libre de 0.52m). La profundidad crítica obtenida es inferior a la lámina de agua y a su vez la lámina de agua es inferior a la profundidad normal. El canal ha sido diseñado en condiciones de flujo subcrítico (flujo lento) para un perfil tipo M.</a:t>
            </a:r>
          </a:p>
        </p:txBody>
      </p:sp>
      <p:sp>
        <p:nvSpPr>
          <p:cNvPr id="4" name="Marcador de número de diapositiva 3"/>
          <p:cNvSpPr>
            <a:spLocks noGrp="1"/>
          </p:cNvSpPr>
          <p:nvPr>
            <p:ph type="sldNum" sz="quarter" idx="10"/>
          </p:nvPr>
        </p:nvSpPr>
        <p:spPr/>
        <p:txBody>
          <a:bodyPr/>
          <a:lstStyle/>
          <a:p>
            <a:fld id="{70FAC943-C359-4C07-B08A-993C08E8D67C}" type="slidenum">
              <a:rPr lang="es-CO" smtClean="0"/>
              <a:pPr/>
              <a:t>11</a:t>
            </a:fld>
            <a:endParaRPr lang="es-CO"/>
          </a:p>
        </p:txBody>
      </p:sp>
    </p:spTree>
    <p:extLst>
      <p:ext uri="{BB962C8B-B14F-4D97-AF65-F5344CB8AC3E}">
        <p14:creationId xmlns:p14="http://schemas.microsoft.com/office/powerpoint/2010/main" val="1389533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0FAC943-C359-4C07-B08A-993C08E8D67C}" type="slidenum">
              <a:rPr lang="es-CO" smtClean="0"/>
              <a:pPr/>
              <a:t>12</a:t>
            </a:fld>
            <a:endParaRPr lang="es-CO"/>
          </a:p>
        </p:txBody>
      </p:sp>
    </p:spTree>
    <p:extLst>
      <p:ext uri="{BB962C8B-B14F-4D97-AF65-F5344CB8AC3E}">
        <p14:creationId xmlns:p14="http://schemas.microsoft.com/office/powerpoint/2010/main" val="829541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1/08/2025</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07/relationships/hdphoto" Target="../media/hdphoto2.wdp"/><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microsoft.com/office/2007/relationships/hdphoto" Target="../media/hdphoto3.wdp"/><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hyperlink" Target="https://www.fsl.orst.edu/geowater/FX3/help/8_Hydraulic_Reference/Flow_Profiles.htm"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png"/><Relationship Id="rId3" Type="http://schemas.microsoft.com/office/2007/relationships/hdphoto" Target="../media/hdphoto5.wdp"/><Relationship Id="rId7"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cfdtools/R.HydroTools/wiki/License" TargetMode="External"/><Relationship Id="rId2" Type="http://schemas.openxmlformats.org/officeDocument/2006/relationships/hyperlink" Target="https://github.com/rcfdtools" TargetMode="Externa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1 Título">
            <a:extLst>
              <a:ext uri="{FF2B5EF4-FFF2-40B4-BE49-F238E27FC236}">
                <a16:creationId xmlns:a16="http://schemas.microsoft.com/office/drawing/2014/main" id="{3072C985-1B9B-4BDD-9204-91D61E909C9C}"/>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latin typeface="Segoe UI Light" panose="020B0502040204020203" pitchFamily="34" charset="0"/>
                <a:cs typeface="Segoe UI Light" panose="020B0502040204020203" pitchFamily="34" charset="0"/>
              </a:rPr>
              <a:t>v.20221025</a:t>
            </a:r>
            <a:endParaRPr lang="es-CO" sz="800" spc="100" dirty="0">
              <a:latin typeface="Segoe UI Light" panose="020B0502040204020203" pitchFamily="34" charset="0"/>
              <a:cs typeface="Segoe UI Light" panose="020B0502040204020203" pitchFamily="34" charset="0"/>
            </a:endParaRPr>
          </a:p>
        </p:txBody>
      </p:sp>
      <p:sp>
        <p:nvSpPr>
          <p:cNvPr id="10" name="1 Título">
            <a:extLst>
              <a:ext uri="{FF2B5EF4-FFF2-40B4-BE49-F238E27FC236}">
                <a16:creationId xmlns:a16="http://schemas.microsoft.com/office/drawing/2014/main" id="{7F6DDFB0-630E-45A2-B5EE-AB34BE184EC4}"/>
              </a:ext>
            </a:extLst>
          </p:cNvPr>
          <p:cNvSpPr txBox="1">
            <a:spLocks/>
          </p:cNvSpPr>
          <p:nvPr/>
        </p:nvSpPr>
        <p:spPr>
          <a:xfrm>
            <a:off x="0"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r.cfdtools@gmail.com</a:t>
            </a:r>
            <a:endParaRPr lang="es-CO" sz="800" spc="100" dirty="0">
              <a:latin typeface="Segoe UI Light" panose="020B0502040204020203" pitchFamily="34" charset="0"/>
              <a:cs typeface="Segoe UI Light" panose="020B0502040204020203" pitchFamily="34" charset="0"/>
            </a:endParaRPr>
          </a:p>
        </p:txBody>
      </p:sp>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263073"/>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Modelación hidráulica 1D con HEC-GeoRAS y HEC-RAS</a:t>
            </a:r>
          </a:p>
          <a:p>
            <a:r>
              <a:rPr lang="es-CO" sz="1600" dirty="0">
                <a:latin typeface="Segoe UI Light" panose="020B0502040204020203" pitchFamily="34" charset="0"/>
                <a:cs typeface="Segoe UI Light" panose="020B0502040204020203" pitchFamily="34" charset="0"/>
              </a:rPr>
              <a:t>Modelación unidimensional en condiciones de flujo permanente y no permanente</a:t>
            </a:r>
            <a:endParaRPr lang="es-ES" sz="1600" dirty="0">
              <a:latin typeface="Segoe UI Light" panose="020B0502040204020203" pitchFamily="34" charset="0"/>
              <a:cs typeface="Segoe UI Light" panose="020B0502040204020203" pitchFamily="34" charset="0"/>
            </a:endParaRP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pic>
        <p:nvPicPr>
          <p:cNvPr id="4" name="Imagen 3">
            <a:extLst>
              <a:ext uri="{FF2B5EF4-FFF2-40B4-BE49-F238E27FC236}">
                <a16:creationId xmlns:a16="http://schemas.microsoft.com/office/drawing/2014/main" id="{3691E273-C30E-428F-9DFE-60B9AE099E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pic>
        <p:nvPicPr>
          <p:cNvPr id="5" name="Picture 4" descr="Logo&#10;&#10;Description automatically generated">
            <a:extLst>
              <a:ext uri="{FF2B5EF4-FFF2-40B4-BE49-F238E27FC236}">
                <a16:creationId xmlns:a16="http://schemas.microsoft.com/office/drawing/2014/main" id="{C4C2950A-545A-443D-B636-038F4AAF8B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697" y="26672"/>
            <a:ext cx="449679" cy="45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593722" y="2628781"/>
            <a:ext cx="5004556" cy="1600438"/>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Objetivo</a:t>
            </a:r>
          </a:p>
          <a:p>
            <a:r>
              <a:rPr lang="es-CO" sz="1600" dirty="0">
                <a:latin typeface="Segoe UI Light" panose="020B0502040204020203" pitchFamily="34" charset="0"/>
                <a:cs typeface="Segoe UI Light" panose="020B0502040204020203" pitchFamily="34" charset="0"/>
              </a:rPr>
              <a:t> </a:t>
            </a:r>
          </a:p>
          <a:p>
            <a:pPr algn="just"/>
            <a:r>
              <a:rPr lang="es-CO" sz="1600" dirty="0">
                <a:latin typeface="Segoe UI Light" panose="020B0502040204020203" pitchFamily="34" charset="0"/>
                <a:cs typeface="Segoe UI Light" panose="020B0502040204020203" pitchFamily="34" charset="0"/>
              </a:rPr>
              <a:t>A partir del modelo geométrico y de los parámetros y condiciones de frontera establecidos, realizar la modelación o tránsito hidráulico para flujo permanente y no permanente sin pasos de vía.</a:t>
            </a:r>
          </a:p>
        </p:txBody>
      </p:sp>
      <p:pic>
        <p:nvPicPr>
          <p:cNvPr id="4" name="Imagen 3">
            <a:extLst>
              <a:ext uri="{FF2B5EF4-FFF2-40B4-BE49-F238E27FC236}">
                <a16:creationId xmlns:a16="http://schemas.microsoft.com/office/drawing/2014/main" id="{08AABB92-85AD-4219-9551-9EEB45F6D53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852190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207568" y="1120676"/>
            <a:ext cx="7776864" cy="4616648"/>
          </a:xfrm>
          <a:prstGeom prst="rect">
            <a:avLst/>
          </a:prstGeom>
          <a:noFill/>
        </p:spPr>
        <p:txBody>
          <a:bodyPr wrap="square" rtlCol="0">
            <a:spAutoFit/>
          </a:bodyPr>
          <a:lstStyle/>
          <a:p>
            <a:r>
              <a:rPr lang="es-CO" dirty="0">
                <a:latin typeface="Segoe UI Light" panose="020B0502040204020203" pitchFamily="34" charset="0"/>
                <a:cs typeface="Segoe UI Light" panose="020B0502040204020203" pitchFamily="34" charset="0"/>
              </a:rPr>
              <a:t>Herramientas computacionales requeridas</a:t>
            </a:r>
          </a:p>
          <a:p>
            <a:r>
              <a:rPr lang="es-CO"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HEC-RAS versión 5.0.7. http://www.hec.usace.army.mil/software/hec-ras/</a:t>
            </a:r>
          </a:p>
          <a:p>
            <a:endParaRPr lang="es-ES"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ES" sz="1600" dirty="0">
                <a:latin typeface="Segoe UI Light" panose="020B0502040204020203" pitchFamily="34" charset="0"/>
                <a:cs typeface="Segoe UI Light" panose="020B0502040204020203" pitchFamily="34" charset="0"/>
              </a:rPr>
              <a:t>Microsoft Excel 2016®</a:t>
            </a: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endParaRPr lang="es-ES" sz="1600" dirty="0">
              <a:latin typeface="Segoe UI Light" panose="020B0502040204020203" pitchFamily="34" charset="0"/>
              <a:cs typeface="Segoe UI Light" panose="020B0502040204020203" pitchFamily="34" charset="0"/>
            </a:endParaRPr>
          </a:p>
          <a:p>
            <a:r>
              <a:rPr lang="es-CO" dirty="0">
                <a:latin typeface="Segoe UI Light" panose="020B0502040204020203" pitchFamily="34" charset="0"/>
                <a:cs typeface="Segoe UI Light" panose="020B0502040204020203" pitchFamily="34" charset="0"/>
              </a:rPr>
              <a:t>Insumos requeridos</a:t>
            </a:r>
          </a:p>
          <a:p>
            <a:r>
              <a:rPr lang="es-CO" sz="1600" dirty="0">
                <a:latin typeface="Segoe UI Light" panose="020B0502040204020203" pitchFamily="34" charset="0"/>
                <a:cs typeface="Segoe UI Light" panose="020B0502040204020203" pitchFamily="34" charset="0"/>
              </a:rPr>
              <a:t> </a:t>
            </a: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Modelo HECRAS_v1 con geometría importada desde ArcGIS usando HEC-GeoRAS o desde RAS </a:t>
            </a:r>
            <a:r>
              <a:rPr lang="es-CO" sz="1600" dirty="0" err="1">
                <a:latin typeface="Segoe UI Light" panose="020B0502040204020203" pitchFamily="34" charset="0"/>
                <a:cs typeface="Segoe UI Light" panose="020B0502040204020203" pitchFamily="34" charset="0"/>
              </a:rPr>
              <a:t>Mapper</a:t>
            </a:r>
            <a:r>
              <a:rPr lang="es-CO" sz="1600" dirty="0">
                <a:latin typeface="Segoe UI Light" panose="020B0502040204020203" pitchFamily="34" charset="0"/>
                <a:cs typeface="Segoe UI Light" panose="020B0502040204020203" pitchFamily="34" charset="0"/>
              </a:rPr>
              <a:t>, parámetros y condiciones de frontera.</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Hoja global de diseño con parámetros generales, caudales pico e hidrogramas para diferentes periodos de retorno y para diferentes puntos de estudio.</a:t>
            </a:r>
          </a:p>
          <a:p>
            <a:pPr marL="285750" indent="-285750">
              <a:buFont typeface="Wingdings" panose="05000000000000000000" pitchFamily="2" charset="2"/>
              <a:buChar char="ü"/>
            </a:pPr>
            <a:endParaRPr lang="es-CO" sz="1600" dirty="0">
              <a:latin typeface="Segoe UI Light" panose="020B0502040204020203" pitchFamily="34" charset="0"/>
              <a:cs typeface="Segoe UI Light" panose="020B0502040204020203" pitchFamily="34" charset="0"/>
            </a:endParaRPr>
          </a:p>
          <a:p>
            <a:pPr marL="285750" indent="-285750">
              <a:buFont typeface="Wingdings" panose="05000000000000000000" pitchFamily="2" charset="2"/>
              <a:buChar char="ü"/>
            </a:pPr>
            <a:r>
              <a:rPr lang="es-CO" sz="1600" dirty="0">
                <a:latin typeface="Segoe UI Light" panose="020B0502040204020203" pitchFamily="34" charset="0"/>
                <a:cs typeface="Segoe UI Light" panose="020B0502040204020203" pitchFamily="34" charset="0"/>
              </a:rPr>
              <a:t>Modelo hidráulico completo con condiciones de frontera para flujo permanente y no permanente.</a:t>
            </a:r>
          </a:p>
        </p:txBody>
      </p:sp>
      <p:pic>
        <p:nvPicPr>
          <p:cNvPr id="4" name="Imagen 3">
            <a:extLst>
              <a:ext uri="{FF2B5EF4-FFF2-40B4-BE49-F238E27FC236}">
                <a16:creationId xmlns:a16="http://schemas.microsoft.com/office/drawing/2014/main" id="{D05696B4-87CC-4FEF-BDED-0EC619C3167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0212" y="3105834"/>
            <a:ext cx="4051575"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Modelación unidimensional en condiciones de flujo permanente</a:t>
            </a:r>
          </a:p>
        </p:txBody>
      </p:sp>
      <p:pic>
        <p:nvPicPr>
          <p:cNvPr id="4" name="Imagen 3">
            <a:extLst>
              <a:ext uri="{FF2B5EF4-FFF2-40B4-BE49-F238E27FC236}">
                <a16:creationId xmlns:a16="http://schemas.microsoft.com/office/drawing/2014/main" id="{708578BA-9AAF-4C2A-8ADB-442F221A5A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721438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23392" y="838925"/>
            <a:ext cx="4400690"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En HEC-RAS, abra el proyecto HECRAS_v1.prj.</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Desde el botón </a:t>
            </a:r>
            <a:r>
              <a:rPr lang="es-CO" sz="1600" dirty="0" err="1">
                <a:latin typeface="Segoe UI Light" panose="020B0502040204020203" pitchFamily="34" charset="0"/>
                <a:cs typeface="Segoe UI Light" panose="020B0502040204020203" pitchFamily="34" charset="0"/>
              </a:rPr>
              <a:t>Steady</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Flow</a:t>
            </a:r>
            <a:r>
              <a:rPr lang="es-CO" sz="1600" dirty="0">
                <a:latin typeface="Segoe UI Light" panose="020B0502040204020203" pitchFamily="34" charset="0"/>
                <a:cs typeface="Segoe UI Light" panose="020B0502040204020203" pitchFamily="34" charset="0"/>
              </a:rPr>
              <a:t> Data, abra los datos ingresados para la modelación en flujo permanente y verifique los datos ingresados.</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Cierre la ventana y vaya a la ventana principal de proyecto.</a:t>
            </a:r>
          </a:p>
        </p:txBody>
      </p:sp>
      <p:pic>
        <p:nvPicPr>
          <p:cNvPr id="2" name="Imagen 1"/>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5447928" y="836713"/>
            <a:ext cx="5912858" cy="1985092"/>
          </a:xfrm>
          <a:prstGeom prst="rect">
            <a:avLst/>
          </a:prstGeom>
        </p:spPr>
      </p:pic>
      <p:pic>
        <p:nvPicPr>
          <p:cNvPr id="4" name="Imagen 3"/>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447928" y="2996952"/>
            <a:ext cx="5927118" cy="3467418"/>
          </a:xfrm>
          <a:prstGeom prst="rect">
            <a:avLst/>
          </a:prstGeom>
        </p:spPr>
      </p:pic>
      <p:sp>
        <p:nvSpPr>
          <p:cNvPr id="6" name="1 Título">
            <a:extLst>
              <a:ext uri="{FF2B5EF4-FFF2-40B4-BE49-F238E27FC236}">
                <a16:creationId xmlns:a16="http://schemas.microsoft.com/office/drawing/2014/main" id="{3034BFDC-53FF-4EE0-83B3-6C37F76B1EF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Modelación unidimensional en condiciones de flujo permanente</a:t>
            </a:r>
          </a:p>
        </p:txBody>
      </p:sp>
      <p:pic>
        <p:nvPicPr>
          <p:cNvPr id="9" name="Imagen 8">
            <a:extLst>
              <a:ext uri="{FF2B5EF4-FFF2-40B4-BE49-F238E27FC236}">
                <a16:creationId xmlns:a16="http://schemas.microsoft.com/office/drawing/2014/main" id="{2F6E8F39-2DD2-4B15-A0B6-EE84F7A500B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72064" y="1602377"/>
            <a:ext cx="360000" cy="360000"/>
          </a:xfrm>
          <a:prstGeom prst="rect">
            <a:avLst/>
          </a:prstGeom>
        </p:spPr>
      </p:pic>
      <p:pic>
        <p:nvPicPr>
          <p:cNvPr id="10" name="Imagen 9">
            <a:extLst>
              <a:ext uri="{FF2B5EF4-FFF2-40B4-BE49-F238E27FC236}">
                <a16:creationId xmlns:a16="http://schemas.microsoft.com/office/drawing/2014/main" id="{E766FE2D-64C0-46F4-BE83-E7E6BC73483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3206536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12175" y="675059"/>
            <a:ext cx="4759952" cy="4278094"/>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En la ventana principal de proyecto de clic en el botón </a:t>
            </a:r>
            <a:r>
              <a:rPr lang="es-CO" sz="1600" dirty="0" err="1">
                <a:latin typeface="Segoe UI Light" panose="020B0502040204020203" pitchFamily="34" charset="0"/>
                <a:cs typeface="Segoe UI Light" panose="020B0502040204020203" pitchFamily="34" charset="0"/>
              </a:rPr>
              <a:t>Perform</a:t>
            </a:r>
            <a:r>
              <a:rPr lang="es-CO" sz="1600" dirty="0">
                <a:latin typeface="Segoe UI Light" panose="020B0502040204020203" pitchFamily="34" charset="0"/>
                <a:cs typeface="Segoe UI Light" panose="020B0502040204020203" pitchFamily="34" charset="0"/>
              </a:rPr>
              <a:t> a </a:t>
            </a:r>
            <a:r>
              <a:rPr lang="es-CO" sz="1600" dirty="0" err="1">
                <a:latin typeface="Segoe UI Light" panose="020B0502040204020203" pitchFamily="34" charset="0"/>
                <a:cs typeface="Segoe UI Light" panose="020B0502040204020203" pitchFamily="34" charset="0"/>
              </a:rPr>
              <a:t>Steady</a:t>
            </a:r>
            <a:r>
              <a:rPr lang="es-CO" sz="1600" dirty="0">
                <a:latin typeface="Segoe UI Light" panose="020B0502040204020203" pitchFamily="34" charset="0"/>
                <a:cs typeface="Segoe UI Light" panose="020B0502040204020203" pitchFamily="34" charset="0"/>
              </a:rPr>
              <a:t> Flow </a:t>
            </a:r>
            <a:r>
              <a:rPr lang="es-CO" sz="1600" dirty="0" err="1">
                <a:latin typeface="Segoe UI Light" panose="020B0502040204020203" pitchFamily="34" charset="0"/>
                <a:cs typeface="Segoe UI Light" panose="020B0502040204020203" pitchFamily="34" charset="0"/>
              </a:rPr>
              <a:t>Simulation</a:t>
            </a:r>
            <a:r>
              <a:rPr lang="es-CO" sz="1600" dirty="0">
                <a:latin typeface="Segoe UI Light" panose="020B0502040204020203" pitchFamily="34" charset="0"/>
                <a:cs typeface="Segoe UI Light" panose="020B0502040204020203" pitchFamily="34" charset="0"/>
              </a:rPr>
              <a:t> o desde el menú Run de clic en la opción </a:t>
            </a:r>
            <a:r>
              <a:rPr lang="es-CO" sz="1600" dirty="0" err="1">
                <a:latin typeface="Segoe UI Light" panose="020B0502040204020203" pitchFamily="34" charset="0"/>
                <a:cs typeface="Segoe UI Light" panose="020B0502040204020203" pitchFamily="34" charset="0"/>
              </a:rPr>
              <a:t>Steady</a:t>
            </a:r>
            <a:r>
              <a:rPr lang="es-CO" sz="1600" dirty="0">
                <a:latin typeface="Segoe UI Light" panose="020B0502040204020203" pitchFamily="34" charset="0"/>
                <a:cs typeface="Segoe UI Light" panose="020B0502040204020203" pitchFamily="34" charset="0"/>
              </a:rPr>
              <a:t> Flow </a:t>
            </a:r>
            <a:r>
              <a:rPr lang="es-CO" sz="1600" dirty="0" err="1">
                <a:latin typeface="Segoe UI Light" panose="020B0502040204020203" pitchFamily="34" charset="0"/>
                <a:cs typeface="Segoe UI Light" panose="020B0502040204020203" pitchFamily="34" charset="0"/>
              </a:rPr>
              <a:t>Analysis</a:t>
            </a:r>
            <a:r>
              <a:rPr lang="es-CO" sz="1600"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En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File, seleccione la geometría HECRAS_v1 y en </a:t>
            </a:r>
            <a:r>
              <a:rPr lang="es-CO" sz="1600" dirty="0" err="1">
                <a:latin typeface="Segoe UI Light" panose="020B0502040204020203" pitchFamily="34" charset="0"/>
                <a:cs typeface="Segoe UI Light" panose="020B0502040204020203" pitchFamily="34" charset="0"/>
              </a:rPr>
              <a:t>Steady</a:t>
            </a:r>
            <a:r>
              <a:rPr lang="es-CO" sz="1600" dirty="0">
                <a:latin typeface="Segoe UI Light" panose="020B0502040204020203" pitchFamily="34" charset="0"/>
                <a:cs typeface="Segoe UI Light" panose="020B0502040204020203" pitchFamily="34" charset="0"/>
              </a:rPr>
              <a:t> Flow File seleccione HECRAS_v1_Permanente.</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el tipo de régimen es indispensable conocer la localización de los posibles controles hidráulicos naturales o controles definidos en el diseño y trazado del valle y cauce sinuoso. Seleccionar régimen Subcrítico debido a los controles naturales de fondo presentes en el cauce natural abajo de la entrega del canal diseñado.</a:t>
            </a:r>
          </a:p>
          <a:p>
            <a:pPr algn="just"/>
            <a:endParaRPr lang="es-CO" sz="1600" dirty="0">
              <a:latin typeface="Segoe UI Light" panose="020B0502040204020203" pitchFamily="34" charset="0"/>
              <a:cs typeface="Segoe UI Light" panose="020B0502040204020203" pitchFamily="34" charset="0"/>
            </a:endParaRPr>
          </a:p>
          <a:p>
            <a:r>
              <a:rPr lang="es-CO" sz="1600" dirty="0">
                <a:latin typeface="Segoe UI Light" panose="020B0502040204020203" pitchFamily="34" charset="0"/>
                <a:cs typeface="Segoe UI Light" panose="020B0502040204020203" pitchFamily="34" charset="0"/>
              </a:rPr>
              <a:t>Guardar el análisis como HECRAS_v1_Permanente.</a:t>
            </a:r>
          </a:p>
        </p:txBody>
      </p:sp>
      <p:pic>
        <p:nvPicPr>
          <p:cNvPr id="3" name="Imagen 2"/>
          <p:cNvPicPr>
            <a:picLocks noChangeAspect="1"/>
          </p:cNvPicPr>
          <p:nvPr/>
        </p:nvPicPr>
        <p:blipFill>
          <a:blip r:embed="rId2">
            <a:grayscl/>
          </a:blip>
          <a:stretch>
            <a:fillRect/>
          </a:stretch>
        </p:blipFill>
        <p:spPr>
          <a:xfrm>
            <a:off x="5375920" y="675059"/>
            <a:ext cx="6352399" cy="1642862"/>
          </a:xfrm>
          <a:prstGeom prst="rect">
            <a:avLst/>
          </a:prstGeom>
        </p:spPr>
      </p:pic>
      <p:pic>
        <p:nvPicPr>
          <p:cNvPr id="6" name="Imagen 5"/>
          <p:cNvPicPr>
            <a:picLocks noChangeAspect="1"/>
          </p:cNvPicPr>
          <p:nvPr/>
        </p:nvPicPr>
        <p:blipFill>
          <a:blip r:embed="rId3">
            <a:grayscl/>
          </a:blip>
          <a:stretch>
            <a:fillRect/>
          </a:stretch>
        </p:blipFill>
        <p:spPr>
          <a:xfrm>
            <a:off x="5839199" y="4283287"/>
            <a:ext cx="5290187" cy="2497493"/>
          </a:xfrm>
          <a:prstGeom prst="rect">
            <a:avLst/>
          </a:prstGeom>
        </p:spPr>
      </p:pic>
      <p:pic>
        <p:nvPicPr>
          <p:cNvPr id="7" name="Imagen 6"/>
          <p:cNvPicPr>
            <a:picLocks noChangeAspect="1"/>
          </p:cNvPicPr>
          <p:nvPr/>
        </p:nvPicPr>
        <p:blipFill>
          <a:blip r:embed="rId4">
            <a:grayscl/>
          </a:blip>
          <a:stretch>
            <a:fillRect/>
          </a:stretch>
        </p:blipFill>
        <p:spPr>
          <a:xfrm>
            <a:off x="6960094" y="2447918"/>
            <a:ext cx="3048395" cy="1773170"/>
          </a:xfrm>
          <a:prstGeom prst="rect">
            <a:avLst/>
          </a:prstGeom>
        </p:spPr>
      </p:pic>
      <p:pic>
        <p:nvPicPr>
          <p:cNvPr id="9" name="Imagen 8">
            <a:extLst>
              <a:ext uri="{FF2B5EF4-FFF2-40B4-BE49-F238E27FC236}">
                <a16:creationId xmlns:a16="http://schemas.microsoft.com/office/drawing/2014/main" id="{92E24E93-D226-4199-B495-C8A15BA3C71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8128" y="1197757"/>
            <a:ext cx="360000" cy="360000"/>
          </a:xfrm>
          <a:prstGeom prst="rect">
            <a:avLst/>
          </a:prstGeom>
        </p:spPr>
      </p:pic>
      <p:pic>
        <p:nvPicPr>
          <p:cNvPr id="11" name="Imagen 10">
            <a:extLst>
              <a:ext uri="{FF2B5EF4-FFF2-40B4-BE49-F238E27FC236}">
                <a16:creationId xmlns:a16="http://schemas.microsoft.com/office/drawing/2014/main" id="{F5729BA6-AC01-4F54-B6F3-7AC53564297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67681" y="3334503"/>
            <a:ext cx="360000" cy="360000"/>
          </a:xfrm>
          <a:prstGeom prst="rect">
            <a:avLst/>
          </a:prstGeom>
        </p:spPr>
      </p:pic>
      <p:pic>
        <p:nvPicPr>
          <p:cNvPr id="13" name="Imagen 12">
            <a:extLst>
              <a:ext uri="{FF2B5EF4-FFF2-40B4-BE49-F238E27FC236}">
                <a16:creationId xmlns:a16="http://schemas.microsoft.com/office/drawing/2014/main" id="{078A1AEB-7E8B-4CE7-BDBE-1A7C64B9C6B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56040" y="6093296"/>
            <a:ext cx="360000" cy="360000"/>
          </a:xfrm>
          <a:prstGeom prst="rect">
            <a:avLst/>
          </a:prstGeom>
        </p:spPr>
      </p:pic>
      <p:pic>
        <p:nvPicPr>
          <p:cNvPr id="14" name="Imagen 13">
            <a:extLst>
              <a:ext uri="{FF2B5EF4-FFF2-40B4-BE49-F238E27FC236}">
                <a16:creationId xmlns:a16="http://schemas.microsoft.com/office/drawing/2014/main" id="{53092B1B-E1C3-4F9C-A4C7-C92F59B815F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6703" y="5769534"/>
            <a:ext cx="360000" cy="360000"/>
          </a:xfrm>
          <a:prstGeom prst="rect">
            <a:avLst/>
          </a:prstGeom>
        </p:spPr>
      </p:pic>
      <p:pic>
        <p:nvPicPr>
          <p:cNvPr id="15" name="Imagen 14">
            <a:extLst>
              <a:ext uri="{FF2B5EF4-FFF2-40B4-BE49-F238E27FC236}">
                <a16:creationId xmlns:a16="http://schemas.microsoft.com/office/drawing/2014/main" id="{D1F13A9E-002D-42BF-A14C-5AB3615223A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749358" y="5182774"/>
            <a:ext cx="360000" cy="360000"/>
          </a:xfrm>
          <a:prstGeom prst="rect">
            <a:avLst/>
          </a:prstGeom>
        </p:spPr>
      </p:pic>
      <p:pic>
        <p:nvPicPr>
          <p:cNvPr id="16" name="Imagen 15">
            <a:extLst>
              <a:ext uri="{FF2B5EF4-FFF2-40B4-BE49-F238E27FC236}">
                <a16:creationId xmlns:a16="http://schemas.microsoft.com/office/drawing/2014/main" id="{4BA00546-D164-4A5F-9510-03FBC48EC4A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7" name="1 Título">
            <a:extLst>
              <a:ext uri="{FF2B5EF4-FFF2-40B4-BE49-F238E27FC236}">
                <a16:creationId xmlns:a16="http://schemas.microsoft.com/office/drawing/2014/main" id="{DB83DF17-BA2B-45E8-B9F7-699C80A3F9B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Modelación unidimensional en condiciones de flujo permanente</a:t>
            </a:r>
          </a:p>
        </p:txBody>
      </p:sp>
    </p:spTree>
    <p:extLst>
      <p:ext uri="{BB962C8B-B14F-4D97-AF65-F5344CB8AC3E}">
        <p14:creationId xmlns:p14="http://schemas.microsoft.com/office/powerpoint/2010/main" val="2439503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92524" y="568646"/>
            <a:ext cx="5326903" cy="1323439"/>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Oprimir </a:t>
            </a:r>
            <a:r>
              <a:rPr lang="es-CO" sz="1600" dirty="0">
                <a:latin typeface="Segoe UI Light" panose="020B0502040204020203" pitchFamily="34" charset="0"/>
                <a:cs typeface="Segoe UI Light" panose="020B0502040204020203" pitchFamily="34" charset="0"/>
              </a:rPr>
              <a:t>en el botón compute y verifique el registro de resultados y en caso de encontrar alertas y/o errores proceda a verificar una a una hasta que el modelo se ejecute correctamente. Consulte el perfil del cauce principal para verificar que existen resultados.</a:t>
            </a:r>
          </a:p>
        </p:txBody>
      </p:sp>
      <p:pic>
        <p:nvPicPr>
          <p:cNvPr id="2" name="Imagen 1"/>
          <p:cNvPicPr>
            <a:picLocks noChangeAspect="1"/>
          </p:cNvPicPr>
          <p:nvPr/>
        </p:nvPicPr>
        <p:blipFill>
          <a:blip r:embed="rId2">
            <a:grayscl/>
          </a:blip>
          <a:stretch>
            <a:fillRect/>
          </a:stretch>
        </p:blipFill>
        <p:spPr>
          <a:xfrm>
            <a:off x="6533490" y="548680"/>
            <a:ext cx="4536503" cy="4293584"/>
          </a:xfrm>
          <a:prstGeom prst="rect">
            <a:avLst/>
          </a:prstGeom>
        </p:spPr>
      </p:pic>
      <p:pic>
        <p:nvPicPr>
          <p:cNvPr id="7" name="Imagen 6"/>
          <p:cNvPicPr>
            <a:picLocks noChangeAspect="1"/>
          </p:cNvPicPr>
          <p:nvPr/>
        </p:nvPicPr>
        <p:blipFill>
          <a:blip r:embed="rId3"/>
          <a:stretch>
            <a:fillRect/>
          </a:stretch>
        </p:blipFill>
        <p:spPr>
          <a:xfrm>
            <a:off x="1174164" y="2337306"/>
            <a:ext cx="4203186" cy="3976952"/>
          </a:xfrm>
          <a:prstGeom prst="rect">
            <a:avLst/>
          </a:prstGeom>
        </p:spPr>
      </p:pic>
      <p:pic>
        <p:nvPicPr>
          <p:cNvPr id="9" name="Imagen 8"/>
          <p:cNvPicPr>
            <a:picLocks noChangeAspect="1"/>
          </p:cNvPicPr>
          <p:nvPr/>
        </p:nvPicPr>
        <p:blipFill>
          <a:blip r:embed="rId4">
            <a:grayscl/>
          </a:blip>
          <a:stretch>
            <a:fillRect/>
          </a:stretch>
        </p:blipFill>
        <p:spPr>
          <a:xfrm>
            <a:off x="5951985" y="5085184"/>
            <a:ext cx="5699515" cy="1474012"/>
          </a:xfrm>
          <a:prstGeom prst="rect">
            <a:avLst/>
          </a:prstGeom>
        </p:spPr>
      </p:pic>
      <p:pic>
        <p:nvPicPr>
          <p:cNvPr id="10" name="Imagen 9">
            <a:extLst>
              <a:ext uri="{FF2B5EF4-FFF2-40B4-BE49-F238E27FC236}">
                <a16:creationId xmlns:a16="http://schemas.microsoft.com/office/drawing/2014/main" id="{8DCC9960-882F-4987-A00C-FF22949F529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76320" y="5520828"/>
            <a:ext cx="360000" cy="360000"/>
          </a:xfrm>
          <a:prstGeom prst="rect">
            <a:avLst/>
          </a:prstGeom>
        </p:spPr>
      </p:pic>
      <p:pic>
        <p:nvPicPr>
          <p:cNvPr id="12" name="Imagen 11">
            <a:extLst>
              <a:ext uri="{FF2B5EF4-FFF2-40B4-BE49-F238E27FC236}">
                <a16:creationId xmlns:a16="http://schemas.microsoft.com/office/drawing/2014/main" id="{C26BAE14-52AD-4D6F-B5C6-F46D0277B74B}"/>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E15837C9-1DD7-4F86-8C62-7F21A20BF72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1: Modelación unidimensional en condiciones de flujo permanente</a:t>
            </a:r>
          </a:p>
        </p:txBody>
      </p:sp>
    </p:spTree>
    <p:extLst>
      <p:ext uri="{BB962C8B-B14F-4D97-AF65-F5344CB8AC3E}">
        <p14:creationId xmlns:p14="http://schemas.microsoft.com/office/powerpoint/2010/main" val="3933840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24644" y="3105834"/>
            <a:ext cx="4142711" cy="646331"/>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2: Modelación unidimensional en condiciones de flujo no permanente </a:t>
            </a:r>
          </a:p>
        </p:txBody>
      </p:sp>
      <p:pic>
        <p:nvPicPr>
          <p:cNvPr id="4" name="Imagen 3">
            <a:extLst>
              <a:ext uri="{FF2B5EF4-FFF2-40B4-BE49-F238E27FC236}">
                <a16:creationId xmlns:a16="http://schemas.microsoft.com/office/drawing/2014/main" id="{06ACDEC5-8AC8-4570-837A-3AFDDC35F94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01715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614878"/>
            <a:ext cx="4464496" cy="3785652"/>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En la ventana principal de proyecto de clic en el botón </a:t>
            </a:r>
            <a:r>
              <a:rPr lang="es-CO" sz="1600" dirty="0" err="1">
                <a:latin typeface="Segoe UI Light" panose="020B0502040204020203" pitchFamily="34" charset="0"/>
                <a:cs typeface="Segoe UI Light" panose="020B0502040204020203" pitchFamily="34" charset="0"/>
              </a:rPr>
              <a:t>Perform</a:t>
            </a:r>
            <a:r>
              <a:rPr lang="es-CO" sz="1600" dirty="0">
                <a:latin typeface="Segoe UI Light" panose="020B0502040204020203" pitchFamily="34" charset="0"/>
                <a:cs typeface="Segoe UI Light" panose="020B0502040204020203" pitchFamily="34" charset="0"/>
              </a:rPr>
              <a:t> a </a:t>
            </a:r>
            <a:r>
              <a:rPr lang="es-CO" sz="1600" dirty="0" err="1">
                <a:latin typeface="Segoe UI Light" panose="020B0502040204020203" pitchFamily="34" charset="0"/>
                <a:cs typeface="Segoe UI Light" panose="020B0502040204020203" pitchFamily="34" charset="0"/>
              </a:rPr>
              <a:t>Unsteady</a:t>
            </a:r>
            <a:r>
              <a:rPr lang="es-CO" sz="1600" dirty="0">
                <a:latin typeface="Segoe UI Light" panose="020B0502040204020203" pitchFamily="34" charset="0"/>
                <a:cs typeface="Segoe UI Light" panose="020B0502040204020203" pitchFamily="34" charset="0"/>
              </a:rPr>
              <a:t> Flow </a:t>
            </a:r>
            <a:r>
              <a:rPr lang="es-CO" sz="1600" dirty="0" err="1">
                <a:latin typeface="Segoe UI Light" panose="020B0502040204020203" pitchFamily="34" charset="0"/>
                <a:cs typeface="Segoe UI Light" panose="020B0502040204020203" pitchFamily="34" charset="0"/>
              </a:rPr>
              <a:t>Simulation</a:t>
            </a:r>
            <a:r>
              <a:rPr lang="es-CO" sz="1600" dirty="0">
                <a:latin typeface="Segoe UI Light" panose="020B0502040204020203" pitchFamily="34" charset="0"/>
                <a:cs typeface="Segoe UI Light" panose="020B0502040204020203" pitchFamily="34" charset="0"/>
              </a:rPr>
              <a:t> o desde el menú Run de clic en la opción </a:t>
            </a:r>
            <a:r>
              <a:rPr lang="es-CO" sz="1600" dirty="0" err="1">
                <a:latin typeface="Segoe UI Light" panose="020B0502040204020203" pitchFamily="34" charset="0"/>
                <a:cs typeface="Segoe UI Light" panose="020B0502040204020203" pitchFamily="34" charset="0"/>
              </a:rPr>
              <a:t>Unsteady</a:t>
            </a:r>
            <a:r>
              <a:rPr lang="es-CO" sz="1600" dirty="0">
                <a:latin typeface="Segoe UI Light" panose="020B0502040204020203" pitchFamily="34" charset="0"/>
                <a:cs typeface="Segoe UI Light" panose="020B0502040204020203" pitchFamily="34" charset="0"/>
              </a:rPr>
              <a:t> Flow </a:t>
            </a:r>
            <a:r>
              <a:rPr lang="es-CO" sz="1600" dirty="0" err="1">
                <a:latin typeface="Segoe UI Light" panose="020B0502040204020203" pitchFamily="34" charset="0"/>
                <a:cs typeface="Segoe UI Light" panose="020B0502040204020203" pitchFamily="34" charset="0"/>
              </a:rPr>
              <a:t>Analysis</a:t>
            </a:r>
            <a:r>
              <a:rPr lang="es-CO" sz="1600"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iniciar, seleccione la geometría HECRAS_v1, y los hidrogramas definidos para el periodo de retorno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denominado Tr2.33yrNoPermanente. Defina los programas a ejecutar, las fechas y horas de modelación y configure los parámetros computacionales requeridos para la modelación.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Guarde el plan como HECRAS_v1_NP2.33</a:t>
            </a:r>
          </a:p>
          <a:p>
            <a:pPr algn="just"/>
            <a:endParaRPr lang="es-CO" sz="1600" dirty="0">
              <a:latin typeface="Segoe UI Light" panose="020B0502040204020203" pitchFamily="34" charset="0"/>
              <a:cs typeface="Segoe UI Light" panose="020B0502040204020203" pitchFamily="34" charset="0"/>
            </a:endParaRPr>
          </a:p>
        </p:txBody>
      </p:sp>
      <p:pic>
        <p:nvPicPr>
          <p:cNvPr id="2" name="Imagen 1"/>
          <p:cNvPicPr>
            <a:picLocks noChangeAspect="1"/>
          </p:cNvPicPr>
          <p:nvPr/>
        </p:nvPicPr>
        <p:blipFill>
          <a:blip r:embed="rId2">
            <a:grayscl/>
          </a:blip>
          <a:stretch>
            <a:fillRect/>
          </a:stretch>
        </p:blipFill>
        <p:spPr>
          <a:xfrm>
            <a:off x="5255904" y="620688"/>
            <a:ext cx="6403913" cy="1656184"/>
          </a:xfrm>
          <a:prstGeom prst="rect">
            <a:avLst/>
          </a:prstGeom>
        </p:spPr>
      </p:pic>
      <p:pic>
        <p:nvPicPr>
          <p:cNvPr id="4" name="Imagen 3"/>
          <p:cNvPicPr>
            <a:picLocks noChangeAspect="1"/>
          </p:cNvPicPr>
          <p:nvPr/>
        </p:nvPicPr>
        <p:blipFill>
          <a:blip r:embed="rId3">
            <a:grayscl/>
          </a:blip>
          <a:stretch>
            <a:fillRect/>
          </a:stretch>
        </p:blipFill>
        <p:spPr>
          <a:xfrm>
            <a:off x="6384032" y="2420888"/>
            <a:ext cx="4138431" cy="4273840"/>
          </a:xfrm>
          <a:prstGeom prst="rect">
            <a:avLst/>
          </a:prstGeom>
        </p:spPr>
      </p:pic>
      <p:sp>
        <p:nvSpPr>
          <p:cNvPr id="6" name="1 Título">
            <a:extLst>
              <a:ext uri="{FF2B5EF4-FFF2-40B4-BE49-F238E27FC236}">
                <a16:creationId xmlns:a16="http://schemas.microsoft.com/office/drawing/2014/main" id="{CFE7F6E9-C7BB-4AC2-93D5-D0B8453E0BC6}"/>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pic>
        <p:nvPicPr>
          <p:cNvPr id="7" name="Imagen 6">
            <a:extLst>
              <a:ext uri="{FF2B5EF4-FFF2-40B4-BE49-F238E27FC236}">
                <a16:creationId xmlns:a16="http://schemas.microsoft.com/office/drawing/2014/main" id="{9217C8D7-42C2-4D0D-8B92-8FCEA677342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1273"/>
          </a:xfrm>
          <a:prstGeom prst="rect">
            <a:avLst/>
          </a:prstGeom>
        </p:spPr>
      </p:pic>
      <p:pic>
        <p:nvPicPr>
          <p:cNvPr id="9" name="Imagen 8">
            <a:extLst>
              <a:ext uri="{FF2B5EF4-FFF2-40B4-BE49-F238E27FC236}">
                <a16:creationId xmlns:a16="http://schemas.microsoft.com/office/drawing/2014/main" id="{09339601-3FBD-4652-AB82-FE8D8E13509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48711" y="1128368"/>
            <a:ext cx="360000" cy="360000"/>
          </a:xfrm>
          <a:prstGeom prst="rect">
            <a:avLst/>
          </a:prstGeom>
        </p:spPr>
      </p:pic>
      <p:pic>
        <p:nvPicPr>
          <p:cNvPr id="10" name="Imagen 9">
            <a:extLst>
              <a:ext uri="{FF2B5EF4-FFF2-40B4-BE49-F238E27FC236}">
                <a16:creationId xmlns:a16="http://schemas.microsoft.com/office/drawing/2014/main" id="{3232CA02-037D-4800-93AA-58DFEA365DE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761272" y="3861048"/>
            <a:ext cx="360000" cy="360000"/>
          </a:xfrm>
          <a:prstGeom prst="rect">
            <a:avLst/>
          </a:prstGeom>
        </p:spPr>
      </p:pic>
      <p:pic>
        <p:nvPicPr>
          <p:cNvPr id="11" name="Imagen 10">
            <a:extLst>
              <a:ext uri="{FF2B5EF4-FFF2-40B4-BE49-F238E27FC236}">
                <a16:creationId xmlns:a16="http://schemas.microsoft.com/office/drawing/2014/main" id="{753664A8-F1D7-4EBE-B3D8-72C1FFF5E4B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4122068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2032009"/>
            <a:ext cx="4752528" cy="2800767"/>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Ejecute </a:t>
            </a:r>
            <a:r>
              <a:rPr lang="es-CO" sz="1600" dirty="0">
                <a:latin typeface="Segoe UI Light" panose="020B0502040204020203" pitchFamily="34" charset="0"/>
                <a:cs typeface="Segoe UI Light" panose="020B0502040204020203" pitchFamily="34" charset="0"/>
              </a:rPr>
              <a:t>la modelación y revise los errores y alertas reportados devueltos por el motor de cálculo.</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Encontrará que para la geometría compuesta por el canal diseñado con las zonas de río natural en el inicio y la entrega, no es posible calcular los perfiles de flujo y resolver las ecuaciones de la modelación. Esto se debe a que existen múltiples profundidades críticas en los múltiples controles hidráulicos de </a:t>
            </a:r>
            <a:r>
              <a:rPr lang="es-CO" sz="1600">
                <a:latin typeface="Segoe UI Light" panose="020B0502040204020203" pitchFamily="34" charset="0"/>
                <a:cs typeface="Segoe UI Light" panose="020B0502040204020203" pitchFamily="34" charset="0"/>
              </a:rPr>
              <a:t>la geometría y algunos tramos con pendiente negativa o en cero.</a:t>
            </a:r>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a:blip r:embed="rId2"/>
          <a:stretch>
            <a:fillRect/>
          </a:stretch>
        </p:blipFill>
        <p:spPr>
          <a:xfrm>
            <a:off x="5879976" y="1107231"/>
            <a:ext cx="5173576" cy="4896544"/>
          </a:xfrm>
          <a:prstGeom prst="rect">
            <a:avLst/>
          </a:prstGeom>
        </p:spPr>
      </p:pic>
      <p:pic>
        <p:nvPicPr>
          <p:cNvPr id="7" name="Imagen 6">
            <a:extLst>
              <a:ext uri="{FF2B5EF4-FFF2-40B4-BE49-F238E27FC236}">
                <a16:creationId xmlns:a16="http://schemas.microsoft.com/office/drawing/2014/main" id="{3428DC4D-898B-474F-8CCD-211555E43B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456040" y="3589758"/>
            <a:ext cx="360000" cy="360000"/>
          </a:xfrm>
          <a:prstGeom prst="rect">
            <a:avLst/>
          </a:prstGeom>
        </p:spPr>
      </p:pic>
      <p:pic>
        <p:nvPicPr>
          <p:cNvPr id="10" name="Imagen 9">
            <a:extLst>
              <a:ext uri="{FF2B5EF4-FFF2-40B4-BE49-F238E27FC236}">
                <a16:creationId xmlns:a16="http://schemas.microsoft.com/office/drawing/2014/main" id="{096673C6-5074-4880-9DDC-C3520387634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396B8F3A-1A7C-4297-94FC-38B4717CB70D}"/>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4094133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4498" y="630579"/>
            <a:ext cx="4896544" cy="280076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Utilizando la modelación en flujo permanente, identifique en el perfil las secciones transversales en las cuales existen controles y se producen profundidades críticas </a:t>
            </a:r>
            <a:r>
              <a:rPr lang="es-CO" sz="1600" dirty="0" err="1">
                <a:latin typeface="Segoe UI Light" panose="020B0502040204020203" pitchFamily="34" charset="0"/>
                <a:cs typeface="Segoe UI Light" panose="020B0502040204020203" pitchFamily="34" charset="0"/>
              </a:rPr>
              <a:t>Yc</a:t>
            </a:r>
            <a:r>
              <a:rPr lang="es-CO" sz="1600" dirty="0">
                <a:latin typeface="Segoe UI Light" panose="020B0502040204020203" pitchFamily="34" charset="0"/>
                <a:cs typeface="Segoe UI Light" panose="020B0502040204020203" pitchFamily="34" charset="0"/>
              </a:rPr>
              <a:t> iguales a la profundidad normal y a la profundidad de la lámina de agua.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Cierre el proyecto HEC-RAS y realice una copia de la carpeta del proyecto.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Abra el editor de geometría y guarde la geometría con el nombre HECRAS_v1a</a:t>
            </a:r>
          </a:p>
        </p:txBody>
      </p:sp>
      <p:pic>
        <p:nvPicPr>
          <p:cNvPr id="2" name="Imagen 1"/>
          <p:cNvPicPr>
            <a:picLocks noChangeAspect="1"/>
          </p:cNvPicPr>
          <p:nvPr/>
        </p:nvPicPr>
        <p:blipFill>
          <a:blip r:embed="rId3"/>
          <a:stretch>
            <a:fillRect/>
          </a:stretch>
        </p:blipFill>
        <p:spPr>
          <a:xfrm>
            <a:off x="5879976" y="630579"/>
            <a:ext cx="5516921" cy="5976664"/>
          </a:xfrm>
          <a:prstGeom prst="rect">
            <a:avLst/>
          </a:prstGeom>
        </p:spPr>
      </p:pic>
      <p:pic>
        <p:nvPicPr>
          <p:cNvPr id="4" name="Imagen 3"/>
          <p:cNvPicPr>
            <a:picLocks noChangeAspect="1"/>
          </p:cNvPicPr>
          <p:nvPr/>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555479" y="3596082"/>
            <a:ext cx="4895563" cy="2425206"/>
          </a:xfrm>
          <a:prstGeom prst="rect">
            <a:avLst/>
          </a:prstGeom>
        </p:spPr>
      </p:pic>
      <p:pic>
        <p:nvPicPr>
          <p:cNvPr id="9" name="Imagen 8">
            <a:extLst>
              <a:ext uri="{FF2B5EF4-FFF2-40B4-BE49-F238E27FC236}">
                <a16:creationId xmlns:a16="http://schemas.microsoft.com/office/drawing/2014/main" id="{8F831DA0-7F40-4CBB-8DF9-3C3A651BB24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787505" y="4429635"/>
            <a:ext cx="360000" cy="360000"/>
          </a:xfrm>
          <a:prstGeom prst="rect">
            <a:avLst/>
          </a:prstGeom>
        </p:spPr>
      </p:pic>
      <p:pic>
        <p:nvPicPr>
          <p:cNvPr id="11" name="Imagen 10">
            <a:extLst>
              <a:ext uri="{FF2B5EF4-FFF2-40B4-BE49-F238E27FC236}">
                <a16:creationId xmlns:a16="http://schemas.microsoft.com/office/drawing/2014/main" id="{9882E427-13EB-4A32-BA9E-E76E42C24D1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B47E6DB1-2328-4CAA-8A0C-E4925A34B987}"/>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1067912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81726" y="1734063"/>
            <a:ext cx="5292588" cy="329320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Recordar que el diseño hidráulico de la sección compuesta se realizó calculando la profundidad normal para las condiciones de flujo uniforme. Por ejemplo, en la sección diseñada con profundidad total de 3m, se calculo una lámina de agua con profundidad normal de 2.6m (con borde libre de 0.4m aprox.) y al realizar la modelación en flujo permanente y no permanente, la altura de la lámina en el tramo diseñado está alrededor de 2.48m aprox. (con borde libre de 0.52m). La profundidad crítica obtenida es inferior a la lámina de agua y a su vez la lámina de agua es inferior a la profundidad normal. El canal ha sido diseñado en condiciones de flujo subcrítico (flujo lento) para un perfil tipo M2.</a:t>
            </a:r>
          </a:p>
        </p:txBody>
      </p:sp>
      <p:pic>
        <p:nvPicPr>
          <p:cNvPr id="1026" name="Picture 2" descr="http://flujogradualmentevariado.blogspot.es/media/cache/resolve/media/files/01/018/349/2015/12/8.jpg">
            <a:extLst>
              <a:ext uri="{FF2B5EF4-FFF2-40B4-BE49-F238E27FC236}">
                <a16:creationId xmlns:a16="http://schemas.microsoft.com/office/drawing/2014/main" id="{1033260C-F649-48CF-B772-C6678C562D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6040" y="360000"/>
            <a:ext cx="4863743" cy="6287556"/>
          </a:xfrm>
          <a:prstGeom prst="rect">
            <a:avLst/>
          </a:prstGeom>
          <a:noFill/>
          <a:extLst>
            <a:ext uri="{909E8E84-426E-40DD-AFC4-6F175D3DCCD1}">
              <a14:hiddenFill xmlns:a14="http://schemas.microsoft.com/office/drawing/2010/main">
                <a:solidFill>
                  <a:srgbClr val="FFFFFF"/>
                </a:solidFill>
              </a14:hiddenFill>
            </a:ext>
          </a:extLst>
        </p:spPr>
      </p:pic>
      <p:sp>
        <p:nvSpPr>
          <p:cNvPr id="3" name="Elipse 2">
            <a:extLst>
              <a:ext uri="{FF2B5EF4-FFF2-40B4-BE49-F238E27FC236}">
                <a16:creationId xmlns:a16="http://schemas.microsoft.com/office/drawing/2014/main" id="{253FF63D-2C21-401B-A4C5-ED0E793DDFCC}"/>
              </a:ext>
            </a:extLst>
          </p:cNvPr>
          <p:cNvSpPr/>
          <p:nvPr/>
        </p:nvSpPr>
        <p:spPr>
          <a:xfrm>
            <a:off x="8436752" y="1656418"/>
            <a:ext cx="1296144" cy="1296144"/>
          </a:xfrm>
          <a:prstGeom prst="ellipse">
            <a:avLst/>
          </a:prstGeom>
          <a:no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solidFill>
                <a:schemeClr val="tx1"/>
              </a:solidFill>
              <a:latin typeface="Segoe UI Light" panose="020B0502040204020203" pitchFamily="34" charset="0"/>
              <a:cs typeface="Segoe UI Light" panose="020B0502040204020203" pitchFamily="34" charset="0"/>
            </a:endParaRPr>
          </a:p>
        </p:txBody>
      </p:sp>
      <p:pic>
        <p:nvPicPr>
          <p:cNvPr id="7" name="Imagen 6">
            <a:extLst>
              <a:ext uri="{FF2B5EF4-FFF2-40B4-BE49-F238E27FC236}">
                <a16:creationId xmlns:a16="http://schemas.microsoft.com/office/drawing/2014/main" id="{5C4EC6BA-3837-4686-869D-6140F010A3B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1273"/>
          </a:xfrm>
          <a:prstGeom prst="rect">
            <a:avLst/>
          </a:prstGeom>
        </p:spPr>
      </p:pic>
      <p:pic>
        <p:nvPicPr>
          <p:cNvPr id="9" name="Imagen 8">
            <a:extLst>
              <a:ext uri="{FF2B5EF4-FFF2-40B4-BE49-F238E27FC236}">
                <a16:creationId xmlns:a16="http://schemas.microsoft.com/office/drawing/2014/main" id="{67D241A2-93F2-4BE9-B748-493C524381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80376" y="2592562"/>
            <a:ext cx="360000" cy="360000"/>
          </a:xfrm>
          <a:prstGeom prst="rect">
            <a:avLst/>
          </a:prstGeom>
        </p:spPr>
      </p:pic>
      <p:pic>
        <p:nvPicPr>
          <p:cNvPr id="11" name="Imagen 10">
            <a:extLst>
              <a:ext uri="{FF2B5EF4-FFF2-40B4-BE49-F238E27FC236}">
                <a16:creationId xmlns:a16="http://schemas.microsoft.com/office/drawing/2014/main" id="{D43CE86B-03D9-4DC0-AB7E-FB3552716A4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5B036B75-9CE4-4E96-A435-4938A740D653}"/>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
        <p:nvSpPr>
          <p:cNvPr id="2" name="TextBox 1">
            <a:extLst>
              <a:ext uri="{FF2B5EF4-FFF2-40B4-BE49-F238E27FC236}">
                <a16:creationId xmlns:a16="http://schemas.microsoft.com/office/drawing/2014/main" id="{CA959787-C114-2885-1C46-4BE58DC9C1A7}"/>
              </a:ext>
            </a:extLst>
          </p:cNvPr>
          <p:cNvSpPr txBox="1"/>
          <p:nvPr/>
        </p:nvSpPr>
        <p:spPr>
          <a:xfrm>
            <a:off x="58554" y="6453336"/>
            <a:ext cx="6096000" cy="276999"/>
          </a:xfrm>
          <a:prstGeom prst="rect">
            <a:avLst/>
          </a:prstGeom>
          <a:noFill/>
        </p:spPr>
        <p:txBody>
          <a:bodyPr wrap="square">
            <a:spAutoFit/>
          </a:bodyPr>
          <a:lstStyle/>
          <a:p>
            <a:r>
              <a:rPr lang="es-CO" sz="1200" dirty="0">
                <a:latin typeface="Segoe UI Light" panose="020B0502040204020203" pitchFamily="34" charset="0"/>
                <a:cs typeface="Segoe UI Light" panose="020B0502040204020203" pitchFamily="34" charset="0"/>
                <a:hlinkClick r:id="rId7"/>
              </a:rPr>
              <a:t>https://www.fsl.orst.edu/geowater/FX3/help/8_Hydraulic_Reference/Flow_Profiles.htm</a:t>
            </a:r>
            <a:r>
              <a:rPr lang="es-CO" sz="1200" dirty="0">
                <a:latin typeface="Segoe UI Light" panose="020B0502040204020203" pitchFamily="34" charset="0"/>
                <a:cs typeface="Segoe UI Light" panose="020B0502040204020203" pitchFamily="34" charset="0"/>
              </a:rPr>
              <a:t> </a:t>
            </a:r>
          </a:p>
        </p:txBody>
      </p:sp>
    </p:spTree>
    <p:extLst>
      <p:ext uri="{BB962C8B-B14F-4D97-AF65-F5344CB8AC3E}">
        <p14:creationId xmlns:p14="http://schemas.microsoft.com/office/powerpoint/2010/main" val="4179003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407368" y="556225"/>
            <a:ext cx="11377264" cy="280076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Para simplificar la ejecución del modelo en condiciones de Flujo No Permanente, desde el editor de geometría modifique HECRAS_v1a y elimine el tramo correspondiente al cauce lateral, luego elimine el Junction1 y por último elimine las secciones del tramo natural aguas abajo hasta la abscisa 3253.451m. </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Observará que geometría final estará compuesta por un solo tramo de río e incluye las secciones naturales del inicio y la primer sección de cauce natural en la entrega del canal diseñado.</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Visualice el perfil longitudinal.</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Como </a:t>
            </a:r>
            <a:r>
              <a:rPr lang="es-CO" sz="1600" dirty="0" err="1">
                <a:latin typeface="Segoe UI Light" panose="020B0502040204020203" pitchFamily="34" charset="0"/>
                <a:cs typeface="Segoe UI Light" panose="020B0502040204020203" pitchFamily="34" charset="0"/>
              </a:rPr>
              <a:t>soluci</a:t>
            </a:r>
            <a:r>
              <a:rPr lang="en-US" sz="1600" dirty="0" err="1">
                <a:latin typeface="Segoe UI Light" panose="020B0502040204020203" pitchFamily="34" charset="0"/>
                <a:cs typeface="Segoe UI Light" panose="020B0502040204020203" pitchFamily="34" charset="0"/>
              </a:rPr>
              <a:t>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alternativa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podrá</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utilizar</a:t>
            </a:r>
            <a:r>
              <a:rPr lang="en-US" sz="1600" dirty="0">
                <a:latin typeface="Segoe UI Light" panose="020B0502040204020203" pitchFamily="34" charset="0"/>
                <a:cs typeface="Segoe UI Light" panose="020B0502040204020203" pitchFamily="34" charset="0"/>
              </a:rPr>
              <a:t> la </a:t>
            </a:r>
            <a:r>
              <a:rPr lang="en-US" sz="1600" dirty="0" err="1">
                <a:latin typeface="Segoe UI Light" panose="020B0502040204020203" pitchFamily="34" charset="0"/>
                <a:cs typeface="Segoe UI Light" panose="020B0502040204020203" pitchFamily="34" charset="0"/>
              </a:rPr>
              <a:t>herramienta</a:t>
            </a:r>
            <a:r>
              <a:rPr lang="en-US" sz="1600" dirty="0">
                <a:latin typeface="Segoe UI Light" panose="020B0502040204020203" pitchFamily="34" charset="0"/>
                <a:cs typeface="Segoe UI Light" panose="020B0502040204020203" pitchFamily="34" charset="0"/>
              </a:rPr>
              <a:t> Pilot Channel para </a:t>
            </a:r>
            <a:r>
              <a:rPr lang="en-US" sz="1600" dirty="0" err="1">
                <a:latin typeface="Segoe UI Light" panose="020B0502040204020203" pitchFamily="34" charset="0"/>
                <a:cs typeface="Segoe UI Light" panose="020B0502040204020203" pitchFamily="34" charset="0"/>
              </a:rPr>
              <a:t>crear</a:t>
            </a:r>
            <a:r>
              <a:rPr lang="en-US" sz="1600" dirty="0">
                <a:latin typeface="Segoe UI Light" panose="020B0502040204020203" pitchFamily="34" charset="0"/>
                <a:cs typeface="Segoe UI Light" panose="020B0502040204020203" pitchFamily="34" charset="0"/>
              </a:rPr>
              <a:t> un </a:t>
            </a:r>
            <a:r>
              <a:rPr lang="en-US" sz="1600" dirty="0" err="1">
                <a:latin typeface="Segoe UI Light" panose="020B0502040204020203" pitchFamily="34" charset="0"/>
                <a:cs typeface="Segoe UI Light" panose="020B0502040204020203" pitchFamily="34" charset="0"/>
              </a:rPr>
              <a:t>pequeño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cono</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la base de </a:t>
            </a:r>
            <a:r>
              <a:rPr lang="en-US" sz="1600" dirty="0" err="1">
                <a:latin typeface="Segoe UI Light" panose="020B0502040204020203" pitchFamily="34" charset="0"/>
                <a:cs typeface="Segoe UI Light" panose="020B0502040204020203" pitchFamily="34" charset="0"/>
              </a:rPr>
              <a:t>cada</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sección</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sobre</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elevada</a:t>
            </a:r>
            <a:r>
              <a:rPr lang="en-US" sz="1600" dirty="0">
                <a:latin typeface="Segoe UI Light" panose="020B0502040204020203" pitchFamily="34" charset="0"/>
                <a:cs typeface="Segoe UI Light" panose="020B0502040204020203" pitchFamily="34" charset="0"/>
              </a:rPr>
              <a:t> con el </a:t>
            </a:r>
            <a:r>
              <a:rPr lang="en-US" sz="1600" dirty="0" err="1">
                <a:latin typeface="Segoe UI Light" panose="020B0502040204020203" pitchFamily="34" charset="0"/>
                <a:cs typeface="Segoe UI Light" panose="020B0502040204020203" pitchFamily="34" charset="0"/>
              </a:rPr>
              <a:t>propósito</a:t>
            </a:r>
            <a:r>
              <a:rPr lang="en-US" sz="1600" dirty="0">
                <a:latin typeface="Segoe UI Light" panose="020B0502040204020203" pitchFamily="34" charset="0"/>
                <a:cs typeface="Segoe UI Light" panose="020B0502040204020203" pitchFamily="34" charset="0"/>
              </a:rPr>
              <a:t> de </a:t>
            </a:r>
            <a:r>
              <a:rPr lang="en-US" sz="1600" dirty="0" err="1">
                <a:latin typeface="Segoe UI Light" panose="020B0502040204020203" pitchFamily="34" charset="0"/>
                <a:cs typeface="Segoe UI Light" panose="020B0502040204020203" pitchFamily="34" charset="0"/>
              </a:rPr>
              <a:t>eliminar</a:t>
            </a:r>
            <a:r>
              <a:rPr lang="en-US" sz="1600" dirty="0">
                <a:latin typeface="Segoe UI Light" panose="020B0502040204020203" pitchFamily="34" charset="0"/>
                <a:cs typeface="Segoe UI Light" panose="020B0502040204020203" pitchFamily="34" charset="0"/>
              </a:rPr>
              <a:t> las </a:t>
            </a:r>
            <a:r>
              <a:rPr lang="en-US" sz="1600" dirty="0" err="1">
                <a:latin typeface="Segoe UI Light" panose="020B0502040204020203" pitchFamily="34" charset="0"/>
                <a:cs typeface="Segoe UI Light" panose="020B0502040204020203" pitchFamily="34" charset="0"/>
              </a:rPr>
              <a:t>pendientes</a:t>
            </a:r>
            <a:r>
              <a:rPr lang="en-US" sz="1600" dirty="0">
                <a:latin typeface="Segoe UI Light" panose="020B0502040204020203" pitchFamily="34" charset="0"/>
                <a:cs typeface="Segoe UI Light" panose="020B0502040204020203" pitchFamily="34" charset="0"/>
              </a:rPr>
              <a:t> </a:t>
            </a:r>
            <a:r>
              <a:rPr lang="en-US" sz="1600" dirty="0" err="1">
                <a:latin typeface="Segoe UI Light" panose="020B0502040204020203" pitchFamily="34" charset="0"/>
                <a:cs typeface="Segoe UI Light" panose="020B0502040204020203" pitchFamily="34" charset="0"/>
              </a:rPr>
              <a:t>negativas</a:t>
            </a:r>
            <a:r>
              <a:rPr lang="en-US" sz="1600" dirty="0">
                <a:latin typeface="Segoe UI Light" panose="020B0502040204020203" pitchFamily="34" charset="0"/>
                <a:cs typeface="Segoe UI Light" panose="020B0502040204020203" pitchFamily="34" charset="0"/>
              </a:rPr>
              <a:t> o </a:t>
            </a:r>
            <a:r>
              <a:rPr lang="en-US" sz="1600" dirty="0" err="1">
                <a:latin typeface="Segoe UI Light" panose="020B0502040204020203" pitchFamily="34" charset="0"/>
                <a:cs typeface="Segoe UI Light" panose="020B0502040204020203" pitchFamily="34" charset="0"/>
              </a:rPr>
              <a:t>en</a:t>
            </a:r>
            <a:r>
              <a:rPr lang="en-US" sz="1600" dirty="0">
                <a:latin typeface="Segoe UI Light" panose="020B0502040204020203" pitchFamily="34" charset="0"/>
                <a:cs typeface="Segoe UI Light" panose="020B0502040204020203" pitchFamily="34" charset="0"/>
              </a:rPr>
              <a:t> cero.</a:t>
            </a:r>
            <a:endParaRPr lang="es-CO" sz="1600" dirty="0">
              <a:latin typeface="Segoe UI Light" panose="020B0502040204020203" pitchFamily="34" charset="0"/>
              <a:cs typeface="Segoe UI Light" panose="020B0502040204020203" pitchFamily="34" charset="0"/>
            </a:endParaRPr>
          </a:p>
        </p:txBody>
      </p:sp>
      <p:pic>
        <p:nvPicPr>
          <p:cNvPr id="3" name="Imagen 2"/>
          <p:cNvPicPr>
            <a:picLocks noChangeAspect="1"/>
          </p:cNvPicPr>
          <p:nvPr/>
        </p:nvPicPr>
        <p:blipFill>
          <a:blip r:embed="rId2"/>
          <a:stretch>
            <a:fillRect/>
          </a:stretch>
        </p:blipFill>
        <p:spPr>
          <a:xfrm>
            <a:off x="407368" y="3650970"/>
            <a:ext cx="5523077" cy="2991667"/>
          </a:xfrm>
          <a:prstGeom prst="rect">
            <a:avLst/>
          </a:prstGeom>
        </p:spPr>
      </p:pic>
      <p:pic>
        <p:nvPicPr>
          <p:cNvPr id="5" name="Imagen 4"/>
          <p:cNvPicPr>
            <a:picLocks noChangeAspect="1"/>
          </p:cNvPicPr>
          <p:nvPr/>
        </p:nvPicPr>
        <p:blipFill>
          <a:blip r:embed="rId3"/>
          <a:stretch>
            <a:fillRect/>
          </a:stretch>
        </p:blipFill>
        <p:spPr>
          <a:xfrm>
            <a:off x="6244121" y="3650970"/>
            <a:ext cx="5540511" cy="3001110"/>
          </a:xfrm>
          <a:prstGeom prst="rect">
            <a:avLst/>
          </a:prstGeom>
        </p:spPr>
      </p:pic>
      <p:pic>
        <p:nvPicPr>
          <p:cNvPr id="9" name="Imagen 8">
            <a:extLst>
              <a:ext uri="{FF2B5EF4-FFF2-40B4-BE49-F238E27FC236}">
                <a16:creationId xmlns:a16="http://schemas.microsoft.com/office/drawing/2014/main" id="{BCA23756-DD63-4BD7-A408-201032D270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BAB4D712-15D5-4187-AA14-9F438956EEF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23819335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943054" y="1977792"/>
            <a:ext cx="4360858" cy="1323439"/>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En </a:t>
            </a:r>
            <a:r>
              <a:rPr lang="es-CO" sz="1600" dirty="0">
                <a:latin typeface="Segoe UI Light" panose="020B0502040204020203" pitchFamily="34" charset="0"/>
                <a:cs typeface="Segoe UI Light" panose="020B0502040204020203" pitchFamily="34" charset="0"/>
              </a:rPr>
              <a:t>las condiciones de flujo y frontera, modifique las condición de salida usando profundidad normal en la sección transversal 3253.451m con la pendiente 0.0008969. Guarde el proyecto y todas las modificaciones realizadas.</a:t>
            </a:r>
          </a:p>
        </p:txBody>
      </p:sp>
      <p:pic>
        <p:nvPicPr>
          <p:cNvPr id="2" name="Imagen 1"/>
          <p:cNvPicPr>
            <a:picLocks noChangeAspect="1"/>
          </p:cNvPicPr>
          <p:nvPr/>
        </p:nvPicPr>
        <p:blipFill>
          <a:blip r:embed="rId2">
            <a:grayscl/>
          </a:blip>
          <a:stretch>
            <a:fillRect/>
          </a:stretch>
        </p:blipFill>
        <p:spPr>
          <a:xfrm>
            <a:off x="1703512" y="3717032"/>
            <a:ext cx="2376264" cy="1214535"/>
          </a:xfrm>
          <a:prstGeom prst="rect">
            <a:avLst/>
          </a:prstGeom>
        </p:spPr>
      </p:pic>
      <p:pic>
        <p:nvPicPr>
          <p:cNvPr id="4" name="Imagen 3"/>
          <p:cNvPicPr>
            <a:picLocks noChangeAspect="1"/>
          </p:cNvPicPr>
          <p:nvPr/>
        </p:nvPicPr>
        <p:blipFill>
          <a:blip r:embed="rId3">
            <a:grayscl/>
          </a:blip>
          <a:stretch>
            <a:fillRect/>
          </a:stretch>
        </p:blipFill>
        <p:spPr>
          <a:xfrm>
            <a:off x="5954656" y="620688"/>
            <a:ext cx="5294290" cy="5984850"/>
          </a:xfrm>
          <a:prstGeom prst="rect">
            <a:avLst/>
          </a:prstGeom>
        </p:spPr>
      </p:pic>
      <p:pic>
        <p:nvPicPr>
          <p:cNvPr id="9" name="Imagen 8">
            <a:extLst>
              <a:ext uri="{FF2B5EF4-FFF2-40B4-BE49-F238E27FC236}">
                <a16:creationId xmlns:a16="http://schemas.microsoft.com/office/drawing/2014/main" id="{4B28353A-EA56-44C4-9684-1AF99ACB066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71201" y="4401987"/>
            <a:ext cx="360000" cy="360000"/>
          </a:xfrm>
          <a:prstGeom prst="rect">
            <a:avLst/>
          </a:prstGeom>
        </p:spPr>
      </p:pic>
      <p:pic>
        <p:nvPicPr>
          <p:cNvPr id="11" name="Imagen 10">
            <a:extLst>
              <a:ext uri="{FF2B5EF4-FFF2-40B4-BE49-F238E27FC236}">
                <a16:creationId xmlns:a16="http://schemas.microsoft.com/office/drawing/2014/main" id="{167A12E9-8CB9-48E0-97CA-A6E3F80DF2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2" name="1 Título">
            <a:extLst>
              <a:ext uri="{FF2B5EF4-FFF2-40B4-BE49-F238E27FC236}">
                <a16:creationId xmlns:a16="http://schemas.microsoft.com/office/drawing/2014/main" id="{52F552FF-8065-4916-9B0B-2C61227D6EE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10749764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767408" y="1585877"/>
            <a:ext cx="4824536" cy="403187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Desde la ventana de Ejecución, ejecute el modelo HECRAS_v1_NP2.33 seleccionando la geometría HECRAS_v1a (Geometría modificada solo con el tramo principal diseñado y secciones naturales de inicio y entrega).</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Para la visualización completa de los resultados será necesario ejecutar los programas </a:t>
            </a:r>
            <a:r>
              <a:rPr lang="es-CO" sz="1600" dirty="0" err="1">
                <a:latin typeface="Segoe UI Light" panose="020B0502040204020203" pitchFamily="34" charset="0"/>
                <a:cs typeface="Segoe UI Light" panose="020B0502040204020203" pitchFamily="34" charset="0"/>
              </a:rPr>
              <a:t>Geometry</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Preprocessor</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Unsteady</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Flow</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Simulation</a:t>
            </a:r>
            <a:r>
              <a:rPr lang="es-CO" sz="1600" dirty="0">
                <a:latin typeface="Segoe UI Light" panose="020B0502040204020203" pitchFamily="34" charset="0"/>
                <a:cs typeface="Segoe UI Light" panose="020B0502040204020203" pitchFamily="34" charset="0"/>
              </a:rPr>
              <a:t>, Post </a:t>
            </a:r>
            <a:r>
              <a:rPr lang="es-CO" sz="1600" dirty="0" err="1">
                <a:latin typeface="Segoe UI Light" panose="020B0502040204020203" pitchFamily="34" charset="0"/>
                <a:cs typeface="Segoe UI Light" panose="020B0502040204020203" pitchFamily="34" charset="0"/>
              </a:rPr>
              <a:t>Processor</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Foodplain</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Mapping</a:t>
            </a:r>
            <a:r>
              <a:rPr lang="es-CO" sz="1600" dirty="0">
                <a:latin typeface="Segoe UI Light" panose="020B0502040204020203" pitchFamily="34" charset="0"/>
                <a:cs typeface="Segoe UI Light" panose="020B0502040204020203" pitchFamily="34" charset="0"/>
              </a:rPr>
              <a:t>.</a:t>
            </a:r>
          </a:p>
          <a:p>
            <a:pPr algn="just"/>
            <a:endParaRPr lang="es-CO" sz="1600" dirty="0">
              <a:latin typeface="Segoe UI Light" panose="020B0502040204020203" pitchFamily="34" charset="0"/>
              <a:cs typeface="Segoe UI Light" panose="020B0502040204020203" pitchFamily="34" charset="0"/>
            </a:endParaRPr>
          </a:p>
          <a:p>
            <a:pPr algn="just"/>
            <a:r>
              <a:rPr lang="es-CO" sz="1600" dirty="0">
                <a:latin typeface="Segoe UI Light" panose="020B0502040204020203" pitchFamily="34" charset="0"/>
                <a:cs typeface="Segoe UI Light" panose="020B0502040204020203" pitchFamily="34" charset="0"/>
              </a:rPr>
              <a:t>En las opciones de calculo será necesario seleccionar la opción </a:t>
            </a:r>
            <a:r>
              <a:rPr lang="es-CO" sz="1600" dirty="0" err="1">
                <a:latin typeface="Segoe UI Light" panose="020B0502040204020203" pitchFamily="34" charset="0"/>
                <a:cs typeface="Segoe UI Light" panose="020B0502040204020203" pitchFamily="34" charset="0"/>
              </a:rPr>
              <a:t>Computation</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Level</a:t>
            </a:r>
            <a:r>
              <a:rPr lang="es-CO" sz="1600" dirty="0">
                <a:latin typeface="Segoe UI Light" panose="020B0502040204020203" pitchFamily="34" charset="0"/>
                <a:cs typeface="Segoe UI Light" panose="020B0502040204020203" pitchFamily="34" charset="0"/>
              </a:rPr>
              <a:t> Output. Opcionalmente podrá ejecutar el modelo en condiciones de flujo mixto (</a:t>
            </a:r>
            <a:r>
              <a:rPr lang="es-CO" sz="1600" dirty="0" err="1">
                <a:latin typeface="Segoe UI Light" panose="020B0502040204020203" pitchFamily="34" charset="0"/>
                <a:cs typeface="Segoe UI Light" panose="020B0502040204020203" pitchFamily="34" charset="0"/>
              </a:rPr>
              <a:t>Subcrítico</a:t>
            </a:r>
            <a:r>
              <a:rPr lang="es-CO" sz="1600" dirty="0">
                <a:latin typeface="Segoe UI Light" panose="020B0502040204020203" pitchFamily="34" charset="0"/>
                <a:cs typeface="Segoe UI Light" panose="020B0502040204020203" pitchFamily="34" charset="0"/>
              </a:rPr>
              <a:t> en la entrega y supercrítico al inicio del canal) </a:t>
            </a:r>
          </a:p>
        </p:txBody>
      </p:sp>
      <p:pic>
        <p:nvPicPr>
          <p:cNvPr id="5" name="Imagen 4"/>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6312024" y="1196752"/>
            <a:ext cx="4657725" cy="4810125"/>
          </a:xfrm>
          <a:prstGeom prst="rect">
            <a:avLst/>
          </a:prstGeom>
        </p:spPr>
      </p:pic>
      <p:pic>
        <p:nvPicPr>
          <p:cNvPr id="6" name="Imagen 5">
            <a:extLst>
              <a:ext uri="{FF2B5EF4-FFF2-40B4-BE49-F238E27FC236}">
                <a16:creationId xmlns:a16="http://schemas.microsoft.com/office/drawing/2014/main" id="{A05C9EFC-DB54-418F-A94D-B85D9C40036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60296" y="1988840"/>
            <a:ext cx="360000" cy="360000"/>
          </a:xfrm>
          <a:prstGeom prst="rect">
            <a:avLst/>
          </a:prstGeom>
        </p:spPr>
      </p:pic>
      <p:pic>
        <p:nvPicPr>
          <p:cNvPr id="9" name="Imagen 8">
            <a:extLst>
              <a:ext uri="{FF2B5EF4-FFF2-40B4-BE49-F238E27FC236}">
                <a16:creationId xmlns:a16="http://schemas.microsoft.com/office/drawing/2014/main" id="{29FA7934-8C6A-4011-9D27-2E5BD76A49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7" name="1 Título">
            <a:extLst>
              <a:ext uri="{FF2B5EF4-FFF2-40B4-BE49-F238E27FC236}">
                <a16:creationId xmlns:a16="http://schemas.microsoft.com/office/drawing/2014/main" id="{41EBE5AE-5087-4F49-AFE0-CBA4B79BA4C5}"/>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1929110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95400" y="2924944"/>
            <a:ext cx="4392104" cy="830997"/>
          </a:xfrm>
          <a:prstGeom prst="rect">
            <a:avLst/>
          </a:prstGeom>
          <a:noFill/>
        </p:spPr>
        <p:txBody>
          <a:bodyPr wrap="square" rtlCol="0">
            <a:spAutoFit/>
          </a:bodyPr>
          <a:lstStyle/>
          <a:p>
            <a:pPr algn="ctr"/>
            <a:r>
              <a:rPr lang="es-CO" sz="1600">
                <a:latin typeface="Segoe UI Light" panose="020B0502040204020203" pitchFamily="34" charset="0"/>
                <a:cs typeface="Segoe UI Light" panose="020B0502040204020203" pitchFamily="34" charset="0"/>
              </a:rPr>
              <a:t>La </a:t>
            </a:r>
            <a:r>
              <a:rPr lang="es-CO" sz="1600" dirty="0">
                <a:latin typeface="Segoe UI Light" panose="020B0502040204020203" pitchFamily="34" charset="0"/>
                <a:cs typeface="Segoe UI Light" panose="020B0502040204020203" pitchFamily="34" charset="0"/>
              </a:rPr>
              <a:t>ventana de ejecución presentará ahora los resultados de la modelación indicando que se pudo ejecutar correctamente el modelo. </a:t>
            </a:r>
          </a:p>
        </p:txBody>
      </p:sp>
      <p:pic>
        <p:nvPicPr>
          <p:cNvPr id="2" name="Imagen 1"/>
          <p:cNvPicPr>
            <a:picLocks noChangeAspect="1"/>
          </p:cNvPicPr>
          <p:nvPr/>
        </p:nvPicPr>
        <p:blipFill>
          <a:blip r:embed="rId2"/>
          <a:stretch>
            <a:fillRect/>
          </a:stretch>
        </p:blipFill>
        <p:spPr>
          <a:xfrm>
            <a:off x="5671995" y="908720"/>
            <a:ext cx="5447799" cy="5156083"/>
          </a:xfrm>
          <a:prstGeom prst="rect">
            <a:avLst/>
          </a:prstGeom>
        </p:spPr>
      </p:pic>
      <p:pic>
        <p:nvPicPr>
          <p:cNvPr id="7" name="Imagen 6">
            <a:extLst>
              <a:ext uri="{FF2B5EF4-FFF2-40B4-BE49-F238E27FC236}">
                <a16:creationId xmlns:a16="http://schemas.microsoft.com/office/drawing/2014/main" id="{701B2405-82EA-40AB-862E-28DF6294A9A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6" name="1 Título">
            <a:extLst>
              <a:ext uri="{FF2B5EF4-FFF2-40B4-BE49-F238E27FC236}">
                <a16:creationId xmlns:a16="http://schemas.microsoft.com/office/drawing/2014/main" id="{FA62FF52-67A9-4403-A9D8-D3EE02A4348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102625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623392" y="1390436"/>
            <a:ext cx="4721248" cy="1815882"/>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Para </a:t>
            </a:r>
            <a:r>
              <a:rPr lang="es-CO" sz="1600" dirty="0">
                <a:latin typeface="Segoe UI Light" panose="020B0502040204020203" pitchFamily="34" charset="0"/>
                <a:cs typeface="Segoe UI Light" panose="020B0502040204020203" pitchFamily="34" charset="0"/>
              </a:rPr>
              <a:t>verificar la correcta ejecución del modelo en condiciones de flujo No Permanente para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=2.33yr, visualice el perfil de flujo para el máximo valor obtenido y alguna de las secciones transversales de la zona del canal diseñado y ejecute la animación visualizando los diferentes instantes de tiempo de ejecución.</a:t>
            </a:r>
          </a:p>
        </p:txBody>
      </p:sp>
      <p:pic>
        <p:nvPicPr>
          <p:cNvPr id="3" name="Imagen 2"/>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1476380" y="3447006"/>
            <a:ext cx="3200400" cy="2276475"/>
          </a:xfrm>
          <a:prstGeom prst="rect">
            <a:avLst/>
          </a:prstGeom>
        </p:spPr>
      </p:pic>
      <p:pic>
        <p:nvPicPr>
          <p:cNvPr id="4" name="Imagen 3"/>
          <p:cNvPicPr>
            <a:picLocks noChangeAspect="1"/>
          </p:cNvPicPr>
          <p:nvPr/>
        </p:nvPicPr>
        <p:blipFill>
          <a:blip r:embed="rId4"/>
          <a:stretch>
            <a:fillRect/>
          </a:stretch>
        </p:blipFill>
        <p:spPr>
          <a:xfrm>
            <a:off x="5807968" y="620688"/>
            <a:ext cx="5504707" cy="2981716"/>
          </a:xfrm>
          <a:prstGeom prst="rect">
            <a:avLst/>
          </a:prstGeom>
        </p:spPr>
      </p:pic>
      <p:pic>
        <p:nvPicPr>
          <p:cNvPr id="5" name="Imagen 4"/>
          <p:cNvPicPr>
            <a:picLocks noChangeAspect="1"/>
          </p:cNvPicPr>
          <p:nvPr/>
        </p:nvPicPr>
        <p:blipFill>
          <a:blip r:embed="rId5"/>
          <a:stretch>
            <a:fillRect/>
          </a:stretch>
        </p:blipFill>
        <p:spPr>
          <a:xfrm>
            <a:off x="5807968" y="3759652"/>
            <a:ext cx="5504707" cy="2981716"/>
          </a:xfrm>
          <a:prstGeom prst="rect">
            <a:avLst/>
          </a:prstGeom>
        </p:spPr>
      </p:pic>
      <p:pic>
        <p:nvPicPr>
          <p:cNvPr id="6" name="Imagen 5"/>
          <p:cNvPicPr>
            <a:picLocks noChangeAspect="1"/>
          </p:cNvPicPr>
          <p:nvPr/>
        </p:nvPicPr>
        <p:blipFill>
          <a:blip r:embed="rId6"/>
          <a:stretch>
            <a:fillRect/>
          </a:stretch>
        </p:blipFill>
        <p:spPr>
          <a:xfrm>
            <a:off x="8112224" y="2564904"/>
            <a:ext cx="2737123" cy="641414"/>
          </a:xfrm>
          <a:prstGeom prst="rect">
            <a:avLst/>
          </a:prstGeom>
        </p:spPr>
      </p:pic>
      <p:pic>
        <p:nvPicPr>
          <p:cNvPr id="9" name="Imagen 8">
            <a:extLst>
              <a:ext uri="{FF2B5EF4-FFF2-40B4-BE49-F238E27FC236}">
                <a16:creationId xmlns:a16="http://schemas.microsoft.com/office/drawing/2014/main" id="{C2EBD488-7B31-449E-BC64-F977749F336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91744" y="4005064"/>
            <a:ext cx="360000" cy="360000"/>
          </a:xfrm>
          <a:prstGeom prst="rect">
            <a:avLst/>
          </a:prstGeom>
        </p:spPr>
      </p:pic>
      <p:pic>
        <p:nvPicPr>
          <p:cNvPr id="11" name="Imagen 10">
            <a:extLst>
              <a:ext uri="{FF2B5EF4-FFF2-40B4-BE49-F238E27FC236}">
                <a16:creationId xmlns:a16="http://schemas.microsoft.com/office/drawing/2014/main" id="{39EC04D6-96D2-47F0-9432-05BF0487ECD9}"/>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0" name="1 Título">
            <a:extLst>
              <a:ext uri="{FF2B5EF4-FFF2-40B4-BE49-F238E27FC236}">
                <a16:creationId xmlns:a16="http://schemas.microsoft.com/office/drawing/2014/main" id="{17A98BCD-D036-47EC-AF69-713CF8139DC4}"/>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3222465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551384" y="2292648"/>
            <a:ext cx="4608512" cy="2554545"/>
          </a:xfrm>
          <a:prstGeom prst="rect">
            <a:avLst/>
          </a:prstGeom>
          <a:noFill/>
        </p:spPr>
        <p:txBody>
          <a:bodyPr wrap="square" rtlCol="0">
            <a:spAutoFit/>
          </a:bodyPr>
          <a:lstStyle/>
          <a:p>
            <a:pPr algn="just"/>
            <a:r>
              <a:rPr lang="es-CO" sz="1600">
                <a:latin typeface="Segoe UI Light" panose="020B0502040204020203" pitchFamily="34" charset="0"/>
                <a:cs typeface="Segoe UI Light" panose="020B0502040204020203" pitchFamily="34" charset="0"/>
              </a:rPr>
              <a:t>Para </a:t>
            </a:r>
            <a:r>
              <a:rPr lang="es-CO" sz="1600" dirty="0">
                <a:latin typeface="Segoe UI Light" panose="020B0502040204020203" pitchFamily="34" charset="0"/>
                <a:cs typeface="Segoe UI Light" panose="020B0502040204020203" pitchFamily="34" charset="0"/>
              </a:rPr>
              <a:t>el periodo de retorno correspondiente a </a:t>
            </a:r>
            <a:r>
              <a:rPr lang="es-CO" sz="1600" dirty="0" err="1">
                <a:latin typeface="Segoe UI Light" panose="020B0502040204020203" pitchFamily="34" charset="0"/>
                <a:cs typeface="Segoe UI Light" panose="020B0502040204020203" pitchFamily="34" charset="0"/>
              </a:rPr>
              <a:t>Tr</a:t>
            </a:r>
            <a:r>
              <a:rPr lang="es-CO" sz="1600" dirty="0">
                <a:latin typeface="Segoe UI Light" panose="020B0502040204020203" pitchFamily="34" charset="0"/>
                <a:cs typeface="Segoe UI Light" panose="020B0502040204020203" pitchFamily="34" charset="0"/>
              </a:rPr>
              <a:t>=100yr, realice las modificaciones necesarias a la configuración de condiciones de flujo y frontera, ejecute el modelo y verifique la correcta ejecución del modelo en condiciones de flujo No Permanente, visualice el perfil de flujo para el máximo valor obtenido y alguna de las secciones transversales de la zona del canal diseñado y ejecute la animación visualizando los diferentes instantes de tiempo de ejecución.</a:t>
            </a:r>
          </a:p>
        </p:txBody>
      </p:sp>
      <p:pic>
        <p:nvPicPr>
          <p:cNvPr id="2" name="Imagen 1"/>
          <p:cNvPicPr>
            <a:picLocks noChangeAspect="1"/>
          </p:cNvPicPr>
          <p:nvPr/>
        </p:nvPicPr>
        <p:blipFill>
          <a:blip r:embed="rId2"/>
          <a:stretch>
            <a:fillRect/>
          </a:stretch>
        </p:blipFill>
        <p:spPr>
          <a:xfrm>
            <a:off x="5759028" y="548680"/>
            <a:ext cx="5521518" cy="2990823"/>
          </a:xfrm>
          <a:prstGeom prst="rect">
            <a:avLst/>
          </a:prstGeom>
        </p:spPr>
      </p:pic>
      <p:pic>
        <p:nvPicPr>
          <p:cNvPr id="7" name="Imagen 6"/>
          <p:cNvPicPr>
            <a:picLocks noChangeAspect="1"/>
          </p:cNvPicPr>
          <p:nvPr/>
        </p:nvPicPr>
        <p:blipFill>
          <a:blip r:embed="rId3"/>
          <a:stretch>
            <a:fillRect/>
          </a:stretch>
        </p:blipFill>
        <p:spPr>
          <a:xfrm>
            <a:off x="5759028" y="3693032"/>
            <a:ext cx="5521548" cy="2990839"/>
          </a:xfrm>
          <a:prstGeom prst="rect">
            <a:avLst/>
          </a:prstGeom>
        </p:spPr>
      </p:pic>
      <p:pic>
        <p:nvPicPr>
          <p:cNvPr id="10" name="Imagen 9"/>
          <p:cNvPicPr>
            <a:picLocks noChangeAspect="1"/>
          </p:cNvPicPr>
          <p:nvPr/>
        </p:nvPicPr>
        <p:blipFill>
          <a:blip r:embed="rId4"/>
          <a:stretch>
            <a:fillRect/>
          </a:stretch>
        </p:blipFill>
        <p:spPr>
          <a:xfrm>
            <a:off x="8364731" y="2476118"/>
            <a:ext cx="2737123" cy="641414"/>
          </a:xfrm>
          <a:prstGeom prst="rect">
            <a:avLst/>
          </a:prstGeom>
        </p:spPr>
      </p:pic>
      <p:pic>
        <p:nvPicPr>
          <p:cNvPr id="9" name="Imagen 8">
            <a:extLst>
              <a:ext uri="{FF2B5EF4-FFF2-40B4-BE49-F238E27FC236}">
                <a16:creationId xmlns:a16="http://schemas.microsoft.com/office/drawing/2014/main" id="{2B84367D-F982-4BFE-9A03-4E26837B37C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11" name="1 Título">
            <a:extLst>
              <a:ext uri="{FF2B5EF4-FFF2-40B4-BE49-F238E27FC236}">
                <a16:creationId xmlns:a16="http://schemas.microsoft.com/office/drawing/2014/main" id="{DA340378-F967-4089-9350-5AD4FA108452}"/>
              </a:ext>
            </a:extLst>
          </p:cNvPr>
          <p:cNvSpPr txBox="1">
            <a:spLocks/>
          </p:cNvSpPr>
          <p:nvPr/>
        </p:nvSpPr>
        <p:spPr>
          <a:xfrm>
            <a:off x="0" y="0"/>
            <a:ext cx="12192000" cy="36000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s-ES" sz="800" dirty="0">
                <a:latin typeface="Segoe UI Light" panose="020B0502040204020203" pitchFamily="34" charset="0"/>
                <a:cs typeface="Segoe UI Light" panose="020B0502040204020203" pitchFamily="34" charset="0"/>
              </a:rPr>
              <a:t>Actividad 2: Modelación unidimensional en condiciones de flujo no permanente </a:t>
            </a:r>
          </a:p>
        </p:txBody>
      </p:sp>
    </p:spTree>
    <p:extLst>
      <p:ext uri="{BB962C8B-B14F-4D97-AF65-F5344CB8AC3E}">
        <p14:creationId xmlns:p14="http://schemas.microsoft.com/office/powerpoint/2010/main" val="72120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70EE07A-5BFD-466E-B14A-12C366129646}"/>
              </a:ext>
            </a:extLst>
          </p:cNvPr>
          <p:cNvGrpSpPr/>
          <p:nvPr/>
        </p:nvGrpSpPr>
        <p:grpSpPr>
          <a:xfrm>
            <a:off x="4331804" y="1579664"/>
            <a:ext cx="3528392" cy="3698672"/>
            <a:chOff x="4223792" y="1628800"/>
            <a:chExt cx="3528392" cy="3698672"/>
          </a:xfrm>
        </p:grpSpPr>
        <p:sp>
          <p:nvSpPr>
            <p:cNvPr id="6" name="7 CuadroTexto">
              <a:extLst>
                <a:ext uri="{FF2B5EF4-FFF2-40B4-BE49-F238E27FC236}">
                  <a16:creationId xmlns:a16="http://schemas.microsoft.com/office/drawing/2014/main" id="{3572065F-81C1-454C-8E77-453E36FB65E9}"/>
                </a:ext>
              </a:extLst>
            </p:cNvPr>
            <p:cNvSpPr txBox="1"/>
            <p:nvPr/>
          </p:nvSpPr>
          <p:spPr>
            <a:xfrm>
              <a:off x="4223792" y="1628800"/>
              <a:ext cx="3528392" cy="861774"/>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r.cfdtools@gmail.com</a:t>
              </a:r>
            </a:p>
            <a:p>
              <a:pPr algn="ctr"/>
              <a:r>
                <a:rPr lang="es-ES" sz="1000" dirty="0">
                  <a:latin typeface="Segoe UI Light" panose="020B0502040204020203" pitchFamily="34" charset="0"/>
                  <a:cs typeface="Segoe UI Light" panose="020B0502040204020203" pitchFamily="34" charset="0"/>
                  <a:hlinkClick r:id="rId2"/>
                </a:rPr>
                <a:t>https://github.com/rcfdtools</a:t>
              </a:r>
              <a:endParaRPr lang="es-ES" sz="1000" dirty="0">
                <a:latin typeface="Segoe UI Light" panose="020B0502040204020203" pitchFamily="34" charset="0"/>
                <a:cs typeface="Segoe UI Light" panose="020B0502040204020203" pitchFamily="34" charset="0"/>
              </a:endParaRPr>
            </a:p>
            <a:p>
              <a:pPr algn="ctr"/>
              <a:endParaRPr lang="es-ES" sz="1000" dirty="0">
                <a:latin typeface="Segoe UI Light" panose="020B0502040204020203" pitchFamily="34" charset="0"/>
                <a:cs typeface="Segoe UI Light" panose="020B0502040204020203" pitchFamily="34" charset="0"/>
              </a:endParaRPr>
            </a:p>
            <a:p>
              <a:pPr algn="ctr"/>
              <a:r>
                <a:rPr lang="es-ES" sz="1000" dirty="0">
                  <a:latin typeface="Segoe UI Light" panose="020B0502040204020203" pitchFamily="34" charset="0"/>
                  <a:cs typeface="Segoe UI Light" panose="020B0502040204020203" pitchFamily="34" charset="0"/>
                </a:rPr>
                <a:t>Licencia, cláusulas y condiciones de uso en:</a:t>
              </a:r>
            </a:p>
            <a:p>
              <a:pPr algn="ctr"/>
              <a:r>
                <a:rPr lang="es-ES" sz="1000" dirty="0">
                  <a:latin typeface="Segoe UI Light" panose="020B0502040204020203" pitchFamily="34" charset="0"/>
                  <a:cs typeface="Segoe UI Light" panose="020B0502040204020203" pitchFamily="34" charset="0"/>
                  <a:hlinkClick r:id="rId3"/>
                </a:rPr>
                <a:t>https://github.com/rcfdtools/R.HydroTools/wiki/License</a:t>
              </a:r>
              <a:endParaRPr lang="es-ES" sz="1000" dirty="0">
                <a:latin typeface="Segoe UI Light" panose="020B0502040204020203" pitchFamily="34" charset="0"/>
                <a:cs typeface="Segoe UI Light" panose="020B0502040204020203" pitchFamily="34" charset="0"/>
              </a:endParaRPr>
            </a:p>
          </p:txBody>
        </p:sp>
        <p:pic>
          <p:nvPicPr>
            <p:cNvPr id="7" name="Picture 6" descr="Qr code&#10;&#10;Description automatically generated">
              <a:extLst>
                <a:ext uri="{FF2B5EF4-FFF2-40B4-BE49-F238E27FC236}">
                  <a16:creationId xmlns:a16="http://schemas.microsoft.com/office/drawing/2014/main" id="{90F7619C-3D91-416E-B1F4-909E882E7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988" y="2627472"/>
              <a:ext cx="2700000" cy="2700000"/>
            </a:xfrm>
            <a:prstGeom prst="rect">
              <a:avLst/>
            </a:prstGeom>
          </p:spPr>
        </p:pic>
      </p:gr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13500</TotalTime>
  <Words>1515</Words>
  <Application>Microsoft Office PowerPoint</Application>
  <PresentationFormat>Widescreen</PresentationFormat>
  <Paragraphs>90</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Segoe UI Light</vt:lpstr>
      <vt:lpstr>Wingdings</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HCMC_3_4</dc:title>
  <dc:creator>master</dc:creator>
  <cp:lastModifiedBy>WILLIAM RICARDO AGUILAR PIÑA</cp:lastModifiedBy>
  <cp:revision>548</cp:revision>
  <dcterms:created xsi:type="dcterms:W3CDTF">2010-05-17T13:13:34Z</dcterms:created>
  <dcterms:modified xsi:type="dcterms:W3CDTF">2025-08-01T15:54:24Z</dcterms:modified>
</cp:coreProperties>
</file>