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434" r:id="rId2"/>
    <p:sldId id="361" r:id="rId3"/>
    <p:sldId id="356" r:id="rId4"/>
    <p:sldId id="362" r:id="rId5"/>
    <p:sldId id="363" r:id="rId6"/>
    <p:sldId id="364" r:id="rId7"/>
    <p:sldId id="365" r:id="rId8"/>
    <p:sldId id="368" r:id="rId9"/>
    <p:sldId id="367" r:id="rId10"/>
    <p:sldId id="366" r:id="rId11"/>
    <p:sldId id="369" r:id="rId12"/>
    <p:sldId id="370" r:id="rId13"/>
    <p:sldId id="371" r:id="rId14"/>
    <p:sldId id="372" r:id="rId15"/>
    <p:sldId id="373" r:id="rId16"/>
    <p:sldId id="374" r:id="rId17"/>
    <p:sldId id="375" r:id="rId18"/>
    <p:sldId id="376" r:id="rId19"/>
    <p:sldId id="377" r:id="rId20"/>
    <p:sldId id="378" r:id="rId21"/>
    <p:sldId id="380" r:id="rId22"/>
    <p:sldId id="379" r:id="rId23"/>
    <p:sldId id="381" r:id="rId24"/>
    <p:sldId id="382" r:id="rId25"/>
    <p:sldId id="383" r:id="rId26"/>
    <p:sldId id="384" r:id="rId27"/>
    <p:sldId id="385" r:id="rId28"/>
    <p:sldId id="386" r:id="rId29"/>
    <p:sldId id="387" r:id="rId30"/>
    <p:sldId id="388" r:id="rId31"/>
    <p:sldId id="389" r:id="rId32"/>
    <p:sldId id="392" r:id="rId33"/>
    <p:sldId id="390" r:id="rId34"/>
    <p:sldId id="391" r:id="rId35"/>
    <p:sldId id="393" r:id="rId36"/>
    <p:sldId id="394" r:id="rId37"/>
    <p:sldId id="395" r:id="rId38"/>
    <p:sldId id="397" r:id="rId39"/>
    <p:sldId id="396" r:id="rId40"/>
    <p:sldId id="398" r:id="rId41"/>
    <p:sldId id="400" r:id="rId42"/>
    <p:sldId id="399" r:id="rId43"/>
    <p:sldId id="401" r:id="rId44"/>
    <p:sldId id="402" r:id="rId45"/>
    <p:sldId id="403" r:id="rId46"/>
    <p:sldId id="404" r:id="rId47"/>
    <p:sldId id="405" r:id="rId48"/>
    <p:sldId id="406" r:id="rId49"/>
    <p:sldId id="407" r:id="rId50"/>
    <p:sldId id="408" r:id="rId51"/>
    <p:sldId id="409" r:id="rId52"/>
    <p:sldId id="410" r:id="rId53"/>
    <p:sldId id="411" r:id="rId54"/>
    <p:sldId id="413" r:id="rId55"/>
    <p:sldId id="412" r:id="rId56"/>
    <p:sldId id="414" r:id="rId57"/>
    <p:sldId id="415" r:id="rId58"/>
    <p:sldId id="416" r:id="rId59"/>
    <p:sldId id="417" r:id="rId60"/>
    <p:sldId id="419" r:id="rId61"/>
    <p:sldId id="420" r:id="rId62"/>
    <p:sldId id="421" r:id="rId63"/>
    <p:sldId id="422" r:id="rId64"/>
    <p:sldId id="423" r:id="rId65"/>
    <p:sldId id="424" r:id="rId66"/>
    <p:sldId id="425" r:id="rId67"/>
    <p:sldId id="426" r:id="rId68"/>
    <p:sldId id="427" r:id="rId69"/>
    <p:sldId id="428" r:id="rId70"/>
    <p:sldId id="429" r:id="rId71"/>
    <p:sldId id="430" r:id="rId72"/>
    <p:sldId id="436" r:id="rId7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4A4A"/>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416" autoAdjust="0"/>
  </p:normalViewPr>
  <p:slideViewPr>
    <p:cSldViewPr>
      <p:cViewPr varScale="1">
        <p:scale>
          <a:sx n="111" d="100"/>
          <a:sy n="111" d="100"/>
        </p:scale>
        <p:origin x="534" y="96"/>
      </p:cViewPr>
      <p:guideLst>
        <p:guide orient="horz" pos="2160"/>
        <p:guide pos="3840"/>
      </p:guideLst>
    </p:cSldViewPr>
  </p:slideViewPr>
  <p:notesTextViewPr>
    <p:cViewPr>
      <p:scale>
        <a:sx n="125" d="100"/>
        <a:sy n="12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51AE2F63-1A27-43EF-B5E3-319C3DEB3A1F}"/>
    <pc:docChg chg="undo custSel addSld delSld modSld sldOrd">
      <pc:chgData name="WILLIAM RICARDO AGUILAR PIÑA" userId="25538c52-b196-49fc-9025-2dd86a54f18a" providerId="ADAL" clId="{51AE2F63-1A27-43EF-B5E3-319C3DEB3A1F}" dt="2018-11-14T15:23:53.489" v="2563" actId="6549"/>
      <pc:docMkLst>
        <pc:docMk/>
      </pc:docMkLst>
      <pc:sldChg chg="modSp">
        <pc:chgData name="WILLIAM RICARDO AGUILAR PIÑA" userId="25538c52-b196-49fc-9025-2dd86a54f18a" providerId="ADAL" clId="{51AE2F63-1A27-43EF-B5E3-319C3DEB3A1F}" dt="2018-11-13T14:12:22.028" v="6" actId="20577"/>
        <pc:sldMkLst>
          <pc:docMk/>
          <pc:sldMk cId="0" sldId="256"/>
        </pc:sldMkLst>
        <pc:spChg chg="mod">
          <ac:chgData name="WILLIAM RICARDO AGUILAR PIÑA" userId="25538c52-b196-49fc-9025-2dd86a54f18a" providerId="ADAL" clId="{51AE2F63-1A27-43EF-B5E3-319C3DEB3A1F}" dt="2018-11-13T14:12:22.028" v="6" actId="20577"/>
          <ac:spMkLst>
            <pc:docMk/>
            <pc:sldMk cId="0" sldId="256"/>
            <ac:spMk id="8" creationId="{00000000-0000-0000-0000-000000000000}"/>
          </ac:spMkLst>
        </pc:spChg>
      </pc:sldChg>
    </pc:docChg>
  </pc:docChgLst>
  <pc:docChgLst>
    <pc:chgData name="WILLIAM RICARDO AGUILAR PIÑA" userId="25538c52-b196-49fc-9025-2dd86a54f18a" providerId="ADAL" clId="{6EA509F5-78FC-4DB8-8705-992E03FD31B3}"/>
    <pc:docChg chg="undo custSel modSld">
      <pc:chgData name="WILLIAM RICARDO AGUILAR PIÑA" userId="25538c52-b196-49fc-9025-2dd86a54f18a" providerId="ADAL" clId="{6EA509F5-78FC-4DB8-8705-992E03FD31B3}" dt="2018-11-21T18:45:49.562" v="204" actId="478"/>
      <pc:docMkLst>
        <pc:docMk/>
      </pc:docMkLst>
      <pc:sldChg chg="addSp delSp modSp">
        <pc:chgData name="WILLIAM RICARDO AGUILAR PIÑA" userId="25538c52-b196-49fc-9025-2dd86a54f18a" providerId="ADAL" clId="{6EA509F5-78FC-4DB8-8705-992E03FD31B3}" dt="2018-11-21T18:45:44.013" v="203" actId="1076"/>
        <pc:sldMkLst>
          <pc:docMk/>
          <pc:sldMk cId="0" sldId="256"/>
        </pc:sldMkLst>
        <pc:spChg chg="del mod">
          <ac:chgData name="WILLIAM RICARDO AGUILAR PIÑA" userId="25538c52-b196-49fc-9025-2dd86a54f18a" providerId="ADAL" clId="{6EA509F5-78FC-4DB8-8705-992E03FD31B3}" dt="2018-11-21T18:30:30.869" v="96" actId="478"/>
          <ac:spMkLst>
            <pc:docMk/>
            <pc:sldMk cId="0" sldId="256"/>
            <ac:spMk id="7" creationId="{00000000-0000-0000-0000-000000000000}"/>
          </ac:spMkLst>
        </pc:spChg>
        <pc:spChg chg="mod">
          <ac:chgData name="WILLIAM RICARDO AGUILAR PIÑA" userId="25538c52-b196-49fc-9025-2dd86a54f18a" providerId="ADAL" clId="{6EA509F5-78FC-4DB8-8705-992E03FD31B3}" dt="2018-11-21T18:36:51.431" v="172" actId="14100"/>
          <ac:spMkLst>
            <pc:docMk/>
            <pc:sldMk cId="0" sldId="256"/>
            <ac:spMk id="8" creationId="{00000000-0000-0000-0000-000000000000}"/>
          </ac:spMkLst>
        </pc:spChg>
        <pc:spChg chg="add mod">
          <ac:chgData name="WILLIAM RICARDO AGUILAR PIÑA" userId="25538c52-b196-49fc-9025-2dd86a54f18a" providerId="ADAL" clId="{6EA509F5-78FC-4DB8-8705-992E03FD31B3}" dt="2018-11-21T18:29:14.377" v="59" actId="1076"/>
          <ac:spMkLst>
            <pc:docMk/>
            <pc:sldMk cId="0" sldId="256"/>
            <ac:spMk id="10" creationId="{CC5E7953-FB11-47EE-BA31-E17F11ADF417}"/>
          </ac:spMkLst>
        </pc:spChg>
        <pc:spChg chg="add mod topLvl">
          <ac:chgData name="WILLIAM RICARDO AGUILAR PIÑA" userId="25538c52-b196-49fc-9025-2dd86a54f18a" providerId="ADAL" clId="{6EA509F5-78FC-4DB8-8705-992E03FD31B3}" dt="2018-11-21T18:34:17.866" v="166" actId="164"/>
          <ac:spMkLst>
            <pc:docMk/>
            <pc:sldMk cId="0" sldId="256"/>
            <ac:spMk id="11" creationId="{2724D7B0-631D-4341-9FD0-52097D9644F3}"/>
          </ac:spMkLst>
        </pc:spChg>
        <pc:spChg chg="mod">
          <ac:chgData name="WILLIAM RICARDO AGUILAR PIÑA" userId="25538c52-b196-49fc-9025-2dd86a54f18a" providerId="ADAL" clId="{6EA509F5-78FC-4DB8-8705-992E03FD31B3}" dt="2018-11-21T18:32:36.576" v="150" actId="20577"/>
          <ac:spMkLst>
            <pc:docMk/>
            <pc:sldMk cId="0" sldId="256"/>
            <ac:spMk id="15" creationId="{02F73234-6DCD-4BEE-B2B6-767D64D438F2}"/>
          </ac:spMkLst>
        </pc:spChg>
        <pc:spChg chg="add mod">
          <ac:chgData name="WILLIAM RICARDO AGUILAR PIÑA" userId="25538c52-b196-49fc-9025-2dd86a54f18a" providerId="ADAL" clId="{6EA509F5-78FC-4DB8-8705-992E03FD31B3}" dt="2018-11-21T18:36:14.591" v="170" actId="14100"/>
          <ac:spMkLst>
            <pc:docMk/>
            <pc:sldMk cId="0" sldId="256"/>
            <ac:spMk id="18" creationId="{3EFF6669-DE9D-478E-A231-B3DE20A5B1C9}"/>
          </ac:spMkLst>
        </pc:spChg>
        <pc:grpChg chg="add del mod">
          <ac:chgData name="WILLIAM RICARDO AGUILAR PIÑA" userId="25538c52-b196-49fc-9025-2dd86a54f18a" providerId="ADAL" clId="{6EA509F5-78FC-4DB8-8705-992E03FD31B3}" dt="2018-11-21T18:34:02.246" v="162" actId="165"/>
          <ac:grpSpMkLst>
            <pc:docMk/>
            <pc:sldMk cId="0" sldId="256"/>
            <ac:grpSpMk id="4" creationId="{7DFE592D-001A-4878-9A1D-C219DFA77F73}"/>
          </ac:grpSpMkLst>
        </pc:grpChg>
        <pc:grpChg chg="add del mod">
          <ac:chgData name="WILLIAM RICARDO AGUILAR PIÑA" userId="25538c52-b196-49fc-9025-2dd86a54f18a" providerId="ADAL" clId="{6EA509F5-78FC-4DB8-8705-992E03FD31B3}" dt="2018-11-21T18:34:27.048" v="167"/>
          <ac:grpSpMkLst>
            <pc:docMk/>
            <pc:sldMk cId="0" sldId="256"/>
            <ac:grpSpMk id="5" creationId="{2D6048F8-673C-47F4-8369-A0B29BED263E}"/>
          </ac:grpSpMkLst>
        </pc:grpChg>
        <pc:grpChg chg="add del mod ord">
          <ac:chgData name="WILLIAM RICARDO AGUILAR PIÑA" userId="25538c52-b196-49fc-9025-2dd86a54f18a" providerId="ADAL" clId="{6EA509F5-78FC-4DB8-8705-992E03FD31B3}" dt="2018-11-21T18:34:27.048" v="167"/>
          <ac:grpSpMkLst>
            <pc:docMk/>
            <pc:sldMk cId="0" sldId="256"/>
            <ac:grpSpMk id="13" creationId="{3B987C32-AC9F-42ED-959A-6764CBB0A521}"/>
          </ac:grpSpMkLst>
        </pc:grpChg>
        <pc:grpChg chg="add mod">
          <ac:chgData name="WILLIAM RICARDO AGUILAR PIÑA" userId="25538c52-b196-49fc-9025-2dd86a54f18a" providerId="ADAL" clId="{6EA509F5-78FC-4DB8-8705-992E03FD31B3}" dt="2018-11-21T18:45:44.013" v="203" actId="1076"/>
          <ac:grpSpMkLst>
            <pc:docMk/>
            <pc:sldMk cId="0" sldId="256"/>
            <ac:grpSpMk id="19" creationId="{FA717F53-E3AF-4BFA-8C12-0EA155B34435}"/>
          </ac:grpSpMkLst>
        </pc:grpChg>
        <pc:picChg chg="add mod topLvl">
          <ac:chgData name="WILLIAM RICARDO AGUILAR PIÑA" userId="25538c52-b196-49fc-9025-2dd86a54f18a" providerId="ADAL" clId="{6EA509F5-78FC-4DB8-8705-992E03FD31B3}" dt="2018-11-21T18:34:17.866" v="166" actId="164"/>
          <ac:picMkLst>
            <pc:docMk/>
            <pc:sldMk cId="0" sldId="256"/>
            <ac:picMk id="3" creationId="{CDE19BAB-097A-4C82-9363-240B97DC4A98}"/>
          </ac:picMkLst>
        </pc:picChg>
      </pc:sldChg>
      <pc:sldChg chg="addSp delSp modSp">
        <pc:chgData name="WILLIAM RICARDO AGUILAR PIÑA" userId="25538c52-b196-49fc-9025-2dd86a54f18a" providerId="ADAL" clId="{6EA509F5-78FC-4DB8-8705-992E03FD31B3}" dt="2018-11-21T18:45:49.562" v="204" actId="478"/>
        <pc:sldMkLst>
          <pc:docMk/>
          <pc:sldMk cId="159271927" sldId="351"/>
        </pc:sldMkLst>
        <pc:spChg chg="mod topLvl">
          <ac:chgData name="WILLIAM RICARDO AGUILAR PIÑA" userId="25538c52-b196-49fc-9025-2dd86a54f18a" providerId="ADAL" clId="{6EA509F5-78FC-4DB8-8705-992E03FD31B3}" dt="2018-11-21T18:45:31.275" v="200" actId="164"/>
          <ac:spMkLst>
            <pc:docMk/>
            <pc:sldMk cId="159271927" sldId="351"/>
            <ac:spMk id="13" creationId="{CC725204-E3AA-4103-AD5B-029BC9C40AD7}"/>
          </ac:spMkLst>
        </pc:spChg>
        <pc:grpChg chg="add del mod">
          <ac:chgData name="WILLIAM RICARDO AGUILAR PIÑA" userId="25538c52-b196-49fc-9025-2dd86a54f18a" providerId="ADAL" clId="{6EA509F5-78FC-4DB8-8705-992E03FD31B3}" dt="2018-11-21T18:45:49.562" v="204" actId="478"/>
          <ac:grpSpMkLst>
            <pc:docMk/>
            <pc:sldMk cId="159271927" sldId="351"/>
            <ac:grpSpMk id="4" creationId="{BA884435-2454-441B-BAEC-B9C510F48315}"/>
          </ac:grpSpMkLst>
        </pc:grpChg>
        <pc:grpChg chg="add del mod">
          <ac:chgData name="WILLIAM RICARDO AGUILAR PIÑA" userId="25538c52-b196-49fc-9025-2dd86a54f18a" providerId="ADAL" clId="{6EA509F5-78FC-4DB8-8705-992E03FD31B3}" dt="2018-11-21T18:44:42.572" v="186" actId="165"/>
          <ac:grpSpMkLst>
            <pc:docMk/>
            <pc:sldMk cId="159271927" sldId="351"/>
            <ac:grpSpMk id="11" creationId="{F28BCF0B-E59C-4AEA-A5BE-4087C3D1F6F2}"/>
          </ac:grpSpMkLst>
        </pc:grpChg>
        <pc:grpChg chg="add del">
          <ac:chgData name="WILLIAM RICARDO AGUILAR PIÑA" userId="25538c52-b196-49fc-9025-2dd86a54f18a" providerId="ADAL" clId="{6EA509F5-78FC-4DB8-8705-992E03FD31B3}" dt="2018-11-21T18:39:50.493" v="174" actId="478"/>
          <ac:grpSpMkLst>
            <pc:docMk/>
            <pc:sldMk cId="159271927" sldId="351"/>
            <ac:grpSpMk id="14" creationId="{655F83BF-96CA-4DB8-B9F6-AF3D78DC7299}"/>
          </ac:grpSpMkLst>
        </pc:grpChg>
        <pc:picChg chg="add mod modCrop">
          <ac:chgData name="WILLIAM RICARDO AGUILAR PIÑA" userId="25538c52-b196-49fc-9025-2dd86a54f18a" providerId="ADAL" clId="{6EA509F5-78FC-4DB8-8705-992E03FD31B3}" dt="2018-11-21T18:45:31.275" v="200" actId="164"/>
          <ac:picMkLst>
            <pc:docMk/>
            <pc:sldMk cId="159271927" sldId="351"/>
            <ac:picMk id="3" creationId="{19E38503-1067-4899-9459-E63ED32D9094}"/>
          </ac:picMkLst>
        </pc:picChg>
        <pc:picChg chg="del mod topLvl">
          <ac:chgData name="WILLIAM RICARDO AGUILAR PIÑA" userId="25538c52-b196-49fc-9025-2dd86a54f18a" providerId="ADAL" clId="{6EA509F5-78FC-4DB8-8705-992E03FD31B3}" dt="2018-11-21T18:44:43.998" v="187" actId="478"/>
          <ac:picMkLst>
            <pc:docMk/>
            <pc:sldMk cId="159271927" sldId="351"/>
            <ac:picMk id="12" creationId="{C3ACD50C-68C5-4AF4-BAB2-105251A9AAB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23/11/2021</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a:t>
            </a:fld>
            <a:endParaRPr lang="es-CO"/>
          </a:p>
        </p:txBody>
      </p:sp>
    </p:spTree>
    <p:extLst>
      <p:ext uri="{BB962C8B-B14F-4D97-AF65-F5344CB8AC3E}">
        <p14:creationId xmlns:p14="http://schemas.microsoft.com/office/powerpoint/2010/main" val="2247161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a:t>
            </a:fld>
            <a:endParaRPr lang="es-CO"/>
          </a:p>
        </p:txBody>
      </p:sp>
    </p:spTree>
    <p:extLst>
      <p:ext uri="{BB962C8B-B14F-4D97-AF65-F5344CB8AC3E}">
        <p14:creationId xmlns:p14="http://schemas.microsoft.com/office/powerpoint/2010/main" val="4053472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a:t>
            </a:fld>
            <a:endParaRPr lang="es-CO"/>
          </a:p>
        </p:txBody>
      </p:sp>
    </p:spTree>
    <p:extLst>
      <p:ext uri="{BB962C8B-B14F-4D97-AF65-F5344CB8AC3E}">
        <p14:creationId xmlns:p14="http://schemas.microsoft.com/office/powerpoint/2010/main" val="4062427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a:t>
            </a:fld>
            <a:endParaRPr lang="es-CO"/>
          </a:p>
        </p:txBody>
      </p:sp>
    </p:spTree>
    <p:extLst>
      <p:ext uri="{BB962C8B-B14F-4D97-AF65-F5344CB8AC3E}">
        <p14:creationId xmlns:p14="http://schemas.microsoft.com/office/powerpoint/2010/main" val="1472817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a:t>
            </a:fld>
            <a:endParaRPr lang="es-CO"/>
          </a:p>
        </p:txBody>
      </p:sp>
    </p:spTree>
    <p:extLst>
      <p:ext uri="{BB962C8B-B14F-4D97-AF65-F5344CB8AC3E}">
        <p14:creationId xmlns:p14="http://schemas.microsoft.com/office/powerpoint/2010/main" val="1271360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a:t>
            </a:fld>
            <a:endParaRPr lang="es-CO"/>
          </a:p>
        </p:txBody>
      </p:sp>
    </p:spTree>
    <p:extLst>
      <p:ext uri="{BB962C8B-B14F-4D97-AF65-F5344CB8AC3E}">
        <p14:creationId xmlns:p14="http://schemas.microsoft.com/office/powerpoint/2010/main" val="2566567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8</a:t>
            </a:fld>
            <a:endParaRPr lang="es-CO"/>
          </a:p>
        </p:txBody>
      </p:sp>
    </p:spTree>
    <p:extLst>
      <p:ext uri="{BB962C8B-B14F-4D97-AF65-F5344CB8AC3E}">
        <p14:creationId xmlns:p14="http://schemas.microsoft.com/office/powerpoint/2010/main" val="2976811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9</a:t>
            </a:fld>
            <a:endParaRPr lang="es-CO"/>
          </a:p>
        </p:txBody>
      </p:sp>
    </p:spTree>
    <p:extLst>
      <p:ext uri="{BB962C8B-B14F-4D97-AF65-F5344CB8AC3E}">
        <p14:creationId xmlns:p14="http://schemas.microsoft.com/office/powerpoint/2010/main" val="2231557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10</a:t>
            </a:fld>
            <a:endParaRPr lang="es-CO"/>
          </a:p>
        </p:txBody>
      </p:sp>
    </p:spTree>
    <p:extLst>
      <p:ext uri="{BB962C8B-B14F-4D97-AF65-F5344CB8AC3E}">
        <p14:creationId xmlns:p14="http://schemas.microsoft.com/office/powerpoint/2010/main" val="20162543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11</a:t>
            </a:fld>
            <a:endParaRPr lang="es-CO"/>
          </a:p>
        </p:txBody>
      </p:sp>
    </p:spTree>
    <p:extLst>
      <p:ext uri="{BB962C8B-B14F-4D97-AF65-F5344CB8AC3E}">
        <p14:creationId xmlns:p14="http://schemas.microsoft.com/office/powerpoint/2010/main" val="159780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12</a:t>
            </a:fld>
            <a:endParaRPr lang="es-CO"/>
          </a:p>
        </p:txBody>
      </p:sp>
    </p:spTree>
    <p:extLst>
      <p:ext uri="{BB962C8B-B14F-4D97-AF65-F5344CB8AC3E}">
        <p14:creationId xmlns:p14="http://schemas.microsoft.com/office/powerpoint/2010/main" val="3009178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13</a:t>
            </a:fld>
            <a:endParaRPr lang="es-CO"/>
          </a:p>
        </p:txBody>
      </p:sp>
    </p:spTree>
    <p:extLst>
      <p:ext uri="{BB962C8B-B14F-4D97-AF65-F5344CB8AC3E}">
        <p14:creationId xmlns:p14="http://schemas.microsoft.com/office/powerpoint/2010/main" val="1004356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14</a:t>
            </a:fld>
            <a:endParaRPr lang="es-CO"/>
          </a:p>
        </p:txBody>
      </p:sp>
    </p:spTree>
    <p:extLst>
      <p:ext uri="{BB962C8B-B14F-4D97-AF65-F5344CB8AC3E}">
        <p14:creationId xmlns:p14="http://schemas.microsoft.com/office/powerpoint/2010/main" val="287474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15</a:t>
            </a:fld>
            <a:endParaRPr lang="es-CO"/>
          </a:p>
        </p:txBody>
      </p:sp>
    </p:spTree>
    <p:extLst>
      <p:ext uri="{BB962C8B-B14F-4D97-AF65-F5344CB8AC3E}">
        <p14:creationId xmlns:p14="http://schemas.microsoft.com/office/powerpoint/2010/main" val="3036440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16</a:t>
            </a:fld>
            <a:endParaRPr lang="es-CO"/>
          </a:p>
        </p:txBody>
      </p:sp>
    </p:spTree>
    <p:extLst>
      <p:ext uri="{BB962C8B-B14F-4D97-AF65-F5344CB8AC3E}">
        <p14:creationId xmlns:p14="http://schemas.microsoft.com/office/powerpoint/2010/main" val="3290532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17</a:t>
            </a:fld>
            <a:endParaRPr lang="es-CO"/>
          </a:p>
        </p:txBody>
      </p:sp>
    </p:spTree>
    <p:extLst>
      <p:ext uri="{BB962C8B-B14F-4D97-AF65-F5344CB8AC3E}">
        <p14:creationId xmlns:p14="http://schemas.microsoft.com/office/powerpoint/2010/main" val="41817180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18</a:t>
            </a:fld>
            <a:endParaRPr lang="es-CO"/>
          </a:p>
        </p:txBody>
      </p:sp>
    </p:spTree>
    <p:extLst>
      <p:ext uri="{BB962C8B-B14F-4D97-AF65-F5344CB8AC3E}">
        <p14:creationId xmlns:p14="http://schemas.microsoft.com/office/powerpoint/2010/main" val="3686394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19</a:t>
            </a:fld>
            <a:endParaRPr lang="es-CO"/>
          </a:p>
        </p:txBody>
      </p:sp>
    </p:spTree>
    <p:extLst>
      <p:ext uri="{BB962C8B-B14F-4D97-AF65-F5344CB8AC3E}">
        <p14:creationId xmlns:p14="http://schemas.microsoft.com/office/powerpoint/2010/main" val="1637531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20</a:t>
            </a:fld>
            <a:endParaRPr lang="es-CO"/>
          </a:p>
        </p:txBody>
      </p:sp>
    </p:spTree>
    <p:extLst>
      <p:ext uri="{BB962C8B-B14F-4D97-AF65-F5344CB8AC3E}">
        <p14:creationId xmlns:p14="http://schemas.microsoft.com/office/powerpoint/2010/main" val="3768254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21</a:t>
            </a:fld>
            <a:endParaRPr lang="es-CO"/>
          </a:p>
        </p:txBody>
      </p:sp>
    </p:spTree>
    <p:extLst>
      <p:ext uri="{BB962C8B-B14F-4D97-AF65-F5344CB8AC3E}">
        <p14:creationId xmlns:p14="http://schemas.microsoft.com/office/powerpoint/2010/main" val="3128962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22</a:t>
            </a:fld>
            <a:endParaRPr lang="es-CO"/>
          </a:p>
        </p:txBody>
      </p:sp>
    </p:spTree>
    <p:extLst>
      <p:ext uri="{BB962C8B-B14F-4D97-AF65-F5344CB8AC3E}">
        <p14:creationId xmlns:p14="http://schemas.microsoft.com/office/powerpoint/2010/main" val="194952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23</a:t>
            </a:fld>
            <a:endParaRPr lang="es-CO"/>
          </a:p>
        </p:txBody>
      </p:sp>
    </p:spTree>
    <p:extLst>
      <p:ext uri="{BB962C8B-B14F-4D97-AF65-F5344CB8AC3E}">
        <p14:creationId xmlns:p14="http://schemas.microsoft.com/office/powerpoint/2010/main" val="11696399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24</a:t>
            </a:fld>
            <a:endParaRPr lang="es-CO"/>
          </a:p>
        </p:txBody>
      </p:sp>
    </p:spTree>
    <p:extLst>
      <p:ext uri="{BB962C8B-B14F-4D97-AF65-F5344CB8AC3E}">
        <p14:creationId xmlns:p14="http://schemas.microsoft.com/office/powerpoint/2010/main" val="3131632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25</a:t>
            </a:fld>
            <a:endParaRPr lang="es-CO"/>
          </a:p>
        </p:txBody>
      </p:sp>
    </p:spTree>
    <p:extLst>
      <p:ext uri="{BB962C8B-B14F-4D97-AF65-F5344CB8AC3E}">
        <p14:creationId xmlns:p14="http://schemas.microsoft.com/office/powerpoint/2010/main" val="24996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26</a:t>
            </a:fld>
            <a:endParaRPr lang="es-CO"/>
          </a:p>
        </p:txBody>
      </p:sp>
    </p:spTree>
    <p:extLst>
      <p:ext uri="{BB962C8B-B14F-4D97-AF65-F5344CB8AC3E}">
        <p14:creationId xmlns:p14="http://schemas.microsoft.com/office/powerpoint/2010/main" val="1266790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27</a:t>
            </a:fld>
            <a:endParaRPr lang="es-CO"/>
          </a:p>
        </p:txBody>
      </p:sp>
    </p:spTree>
    <p:extLst>
      <p:ext uri="{BB962C8B-B14F-4D97-AF65-F5344CB8AC3E}">
        <p14:creationId xmlns:p14="http://schemas.microsoft.com/office/powerpoint/2010/main" val="1626512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28</a:t>
            </a:fld>
            <a:endParaRPr lang="es-CO"/>
          </a:p>
        </p:txBody>
      </p:sp>
    </p:spTree>
    <p:extLst>
      <p:ext uri="{BB962C8B-B14F-4D97-AF65-F5344CB8AC3E}">
        <p14:creationId xmlns:p14="http://schemas.microsoft.com/office/powerpoint/2010/main" val="3010051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29</a:t>
            </a:fld>
            <a:endParaRPr lang="es-CO"/>
          </a:p>
        </p:txBody>
      </p:sp>
    </p:spTree>
    <p:extLst>
      <p:ext uri="{BB962C8B-B14F-4D97-AF65-F5344CB8AC3E}">
        <p14:creationId xmlns:p14="http://schemas.microsoft.com/office/powerpoint/2010/main" val="1028633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30</a:t>
            </a:fld>
            <a:endParaRPr lang="es-CO"/>
          </a:p>
        </p:txBody>
      </p:sp>
    </p:spTree>
    <p:extLst>
      <p:ext uri="{BB962C8B-B14F-4D97-AF65-F5344CB8AC3E}">
        <p14:creationId xmlns:p14="http://schemas.microsoft.com/office/powerpoint/2010/main" val="37542073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31</a:t>
            </a:fld>
            <a:endParaRPr lang="es-CO"/>
          </a:p>
        </p:txBody>
      </p:sp>
    </p:spTree>
    <p:extLst>
      <p:ext uri="{BB962C8B-B14F-4D97-AF65-F5344CB8AC3E}">
        <p14:creationId xmlns:p14="http://schemas.microsoft.com/office/powerpoint/2010/main" val="9900506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32</a:t>
            </a:fld>
            <a:endParaRPr lang="es-CO"/>
          </a:p>
        </p:txBody>
      </p:sp>
    </p:spTree>
    <p:extLst>
      <p:ext uri="{BB962C8B-B14F-4D97-AF65-F5344CB8AC3E}">
        <p14:creationId xmlns:p14="http://schemas.microsoft.com/office/powerpoint/2010/main" val="57261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33</a:t>
            </a:fld>
            <a:endParaRPr lang="es-CO"/>
          </a:p>
        </p:txBody>
      </p:sp>
    </p:spTree>
    <p:extLst>
      <p:ext uri="{BB962C8B-B14F-4D97-AF65-F5344CB8AC3E}">
        <p14:creationId xmlns:p14="http://schemas.microsoft.com/office/powerpoint/2010/main" val="27529008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34</a:t>
            </a:fld>
            <a:endParaRPr lang="es-CO"/>
          </a:p>
        </p:txBody>
      </p:sp>
    </p:spTree>
    <p:extLst>
      <p:ext uri="{BB962C8B-B14F-4D97-AF65-F5344CB8AC3E}">
        <p14:creationId xmlns:p14="http://schemas.microsoft.com/office/powerpoint/2010/main" val="726596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35</a:t>
            </a:fld>
            <a:endParaRPr lang="es-CO"/>
          </a:p>
        </p:txBody>
      </p:sp>
    </p:spTree>
    <p:extLst>
      <p:ext uri="{BB962C8B-B14F-4D97-AF65-F5344CB8AC3E}">
        <p14:creationId xmlns:p14="http://schemas.microsoft.com/office/powerpoint/2010/main" val="36259948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36</a:t>
            </a:fld>
            <a:endParaRPr lang="es-CO"/>
          </a:p>
        </p:txBody>
      </p:sp>
    </p:spTree>
    <p:extLst>
      <p:ext uri="{BB962C8B-B14F-4D97-AF65-F5344CB8AC3E}">
        <p14:creationId xmlns:p14="http://schemas.microsoft.com/office/powerpoint/2010/main" val="10554155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37</a:t>
            </a:fld>
            <a:endParaRPr lang="es-CO"/>
          </a:p>
        </p:txBody>
      </p:sp>
    </p:spTree>
    <p:extLst>
      <p:ext uri="{BB962C8B-B14F-4D97-AF65-F5344CB8AC3E}">
        <p14:creationId xmlns:p14="http://schemas.microsoft.com/office/powerpoint/2010/main" val="8725879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38</a:t>
            </a:fld>
            <a:endParaRPr lang="es-CO"/>
          </a:p>
        </p:txBody>
      </p:sp>
    </p:spTree>
    <p:extLst>
      <p:ext uri="{BB962C8B-B14F-4D97-AF65-F5344CB8AC3E}">
        <p14:creationId xmlns:p14="http://schemas.microsoft.com/office/powerpoint/2010/main" val="36209243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39</a:t>
            </a:fld>
            <a:endParaRPr lang="es-CO"/>
          </a:p>
        </p:txBody>
      </p:sp>
    </p:spTree>
    <p:extLst>
      <p:ext uri="{BB962C8B-B14F-4D97-AF65-F5344CB8AC3E}">
        <p14:creationId xmlns:p14="http://schemas.microsoft.com/office/powerpoint/2010/main" val="15379172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40</a:t>
            </a:fld>
            <a:endParaRPr lang="es-CO"/>
          </a:p>
        </p:txBody>
      </p:sp>
    </p:spTree>
    <p:extLst>
      <p:ext uri="{BB962C8B-B14F-4D97-AF65-F5344CB8AC3E}">
        <p14:creationId xmlns:p14="http://schemas.microsoft.com/office/powerpoint/2010/main" val="15492280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41</a:t>
            </a:fld>
            <a:endParaRPr lang="es-CO"/>
          </a:p>
        </p:txBody>
      </p:sp>
    </p:spTree>
    <p:extLst>
      <p:ext uri="{BB962C8B-B14F-4D97-AF65-F5344CB8AC3E}">
        <p14:creationId xmlns:p14="http://schemas.microsoft.com/office/powerpoint/2010/main" val="28705956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42</a:t>
            </a:fld>
            <a:endParaRPr lang="es-CO"/>
          </a:p>
        </p:txBody>
      </p:sp>
    </p:spTree>
    <p:extLst>
      <p:ext uri="{BB962C8B-B14F-4D97-AF65-F5344CB8AC3E}">
        <p14:creationId xmlns:p14="http://schemas.microsoft.com/office/powerpoint/2010/main" val="15546515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43</a:t>
            </a:fld>
            <a:endParaRPr lang="es-CO"/>
          </a:p>
        </p:txBody>
      </p:sp>
    </p:spTree>
    <p:extLst>
      <p:ext uri="{BB962C8B-B14F-4D97-AF65-F5344CB8AC3E}">
        <p14:creationId xmlns:p14="http://schemas.microsoft.com/office/powerpoint/2010/main" val="8925043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44</a:t>
            </a:fld>
            <a:endParaRPr lang="es-CO"/>
          </a:p>
        </p:txBody>
      </p:sp>
    </p:spTree>
    <p:extLst>
      <p:ext uri="{BB962C8B-B14F-4D97-AF65-F5344CB8AC3E}">
        <p14:creationId xmlns:p14="http://schemas.microsoft.com/office/powerpoint/2010/main" val="33049569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45</a:t>
            </a:fld>
            <a:endParaRPr lang="es-CO"/>
          </a:p>
        </p:txBody>
      </p:sp>
    </p:spTree>
    <p:extLst>
      <p:ext uri="{BB962C8B-B14F-4D97-AF65-F5344CB8AC3E}">
        <p14:creationId xmlns:p14="http://schemas.microsoft.com/office/powerpoint/2010/main" val="32951113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46</a:t>
            </a:fld>
            <a:endParaRPr lang="es-CO"/>
          </a:p>
        </p:txBody>
      </p:sp>
    </p:spTree>
    <p:extLst>
      <p:ext uri="{BB962C8B-B14F-4D97-AF65-F5344CB8AC3E}">
        <p14:creationId xmlns:p14="http://schemas.microsoft.com/office/powerpoint/2010/main" val="707677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47</a:t>
            </a:fld>
            <a:endParaRPr lang="es-CO"/>
          </a:p>
        </p:txBody>
      </p:sp>
    </p:spTree>
    <p:extLst>
      <p:ext uri="{BB962C8B-B14F-4D97-AF65-F5344CB8AC3E}">
        <p14:creationId xmlns:p14="http://schemas.microsoft.com/office/powerpoint/2010/main" val="19078153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48</a:t>
            </a:fld>
            <a:endParaRPr lang="es-CO"/>
          </a:p>
        </p:txBody>
      </p:sp>
    </p:spTree>
    <p:extLst>
      <p:ext uri="{BB962C8B-B14F-4D97-AF65-F5344CB8AC3E}">
        <p14:creationId xmlns:p14="http://schemas.microsoft.com/office/powerpoint/2010/main" val="10818666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49</a:t>
            </a:fld>
            <a:endParaRPr lang="es-CO"/>
          </a:p>
        </p:txBody>
      </p:sp>
    </p:spTree>
    <p:extLst>
      <p:ext uri="{BB962C8B-B14F-4D97-AF65-F5344CB8AC3E}">
        <p14:creationId xmlns:p14="http://schemas.microsoft.com/office/powerpoint/2010/main" val="24843464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50</a:t>
            </a:fld>
            <a:endParaRPr lang="es-CO"/>
          </a:p>
        </p:txBody>
      </p:sp>
    </p:spTree>
    <p:extLst>
      <p:ext uri="{BB962C8B-B14F-4D97-AF65-F5344CB8AC3E}">
        <p14:creationId xmlns:p14="http://schemas.microsoft.com/office/powerpoint/2010/main" val="14386637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51</a:t>
            </a:fld>
            <a:endParaRPr lang="es-CO"/>
          </a:p>
        </p:txBody>
      </p:sp>
    </p:spTree>
    <p:extLst>
      <p:ext uri="{BB962C8B-B14F-4D97-AF65-F5344CB8AC3E}">
        <p14:creationId xmlns:p14="http://schemas.microsoft.com/office/powerpoint/2010/main" val="4037384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52</a:t>
            </a:fld>
            <a:endParaRPr lang="es-CO"/>
          </a:p>
        </p:txBody>
      </p:sp>
    </p:spTree>
    <p:extLst>
      <p:ext uri="{BB962C8B-B14F-4D97-AF65-F5344CB8AC3E}">
        <p14:creationId xmlns:p14="http://schemas.microsoft.com/office/powerpoint/2010/main" val="25466268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53</a:t>
            </a:fld>
            <a:endParaRPr lang="es-CO"/>
          </a:p>
        </p:txBody>
      </p:sp>
    </p:spTree>
    <p:extLst>
      <p:ext uri="{BB962C8B-B14F-4D97-AF65-F5344CB8AC3E}">
        <p14:creationId xmlns:p14="http://schemas.microsoft.com/office/powerpoint/2010/main" val="18191374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54</a:t>
            </a:fld>
            <a:endParaRPr lang="es-CO"/>
          </a:p>
        </p:txBody>
      </p:sp>
    </p:spTree>
    <p:extLst>
      <p:ext uri="{BB962C8B-B14F-4D97-AF65-F5344CB8AC3E}">
        <p14:creationId xmlns:p14="http://schemas.microsoft.com/office/powerpoint/2010/main" val="31150199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55</a:t>
            </a:fld>
            <a:endParaRPr lang="es-CO"/>
          </a:p>
        </p:txBody>
      </p:sp>
    </p:spTree>
    <p:extLst>
      <p:ext uri="{BB962C8B-B14F-4D97-AF65-F5344CB8AC3E}">
        <p14:creationId xmlns:p14="http://schemas.microsoft.com/office/powerpoint/2010/main" val="34281255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56</a:t>
            </a:fld>
            <a:endParaRPr lang="es-CO"/>
          </a:p>
        </p:txBody>
      </p:sp>
    </p:spTree>
    <p:extLst>
      <p:ext uri="{BB962C8B-B14F-4D97-AF65-F5344CB8AC3E}">
        <p14:creationId xmlns:p14="http://schemas.microsoft.com/office/powerpoint/2010/main" val="31073876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57</a:t>
            </a:fld>
            <a:endParaRPr lang="es-CO"/>
          </a:p>
        </p:txBody>
      </p:sp>
    </p:spTree>
    <p:extLst>
      <p:ext uri="{BB962C8B-B14F-4D97-AF65-F5344CB8AC3E}">
        <p14:creationId xmlns:p14="http://schemas.microsoft.com/office/powerpoint/2010/main" val="12845351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58</a:t>
            </a:fld>
            <a:endParaRPr lang="es-CO"/>
          </a:p>
        </p:txBody>
      </p:sp>
    </p:spTree>
    <p:extLst>
      <p:ext uri="{BB962C8B-B14F-4D97-AF65-F5344CB8AC3E}">
        <p14:creationId xmlns:p14="http://schemas.microsoft.com/office/powerpoint/2010/main" val="42593158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59</a:t>
            </a:fld>
            <a:endParaRPr lang="es-CO"/>
          </a:p>
        </p:txBody>
      </p:sp>
    </p:spTree>
    <p:extLst>
      <p:ext uri="{BB962C8B-B14F-4D97-AF65-F5344CB8AC3E}">
        <p14:creationId xmlns:p14="http://schemas.microsoft.com/office/powerpoint/2010/main" val="38573369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60</a:t>
            </a:fld>
            <a:endParaRPr lang="es-CO"/>
          </a:p>
        </p:txBody>
      </p:sp>
    </p:spTree>
    <p:extLst>
      <p:ext uri="{BB962C8B-B14F-4D97-AF65-F5344CB8AC3E}">
        <p14:creationId xmlns:p14="http://schemas.microsoft.com/office/powerpoint/2010/main" val="31051418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61</a:t>
            </a:fld>
            <a:endParaRPr lang="es-CO"/>
          </a:p>
        </p:txBody>
      </p:sp>
    </p:spTree>
    <p:extLst>
      <p:ext uri="{BB962C8B-B14F-4D97-AF65-F5344CB8AC3E}">
        <p14:creationId xmlns:p14="http://schemas.microsoft.com/office/powerpoint/2010/main" val="35295322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62</a:t>
            </a:fld>
            <a:endParaRPr lang="es-CO"/>
          </a:p>
        </p:txBody>
      </p:sp>
    </p:spTree>
    <p:extLst>
      <p:ext uri="{BB962C8B-B14F-4D97-AF65-F5344CB8AC3E}">
        <p14:creationId xmlns:p14="http://schemas.microsoft.com/office/powerpoint/2010/main" val="15961952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63</a:t>
            </a:fld>
            <a:endParaRPr lang="es-CO"/>
          </a:p>
        </p:txBody>
      </p:sp>
    </p:spTree>
    <p:extLst>
      <p:ext uri="{BB962C8B-B14F-4D97-AF65-F5344CB8AC3E}">
        <p14:creationId xmlns:p14="http://schemas.microsoft.com/office/powerpoint/2010/main" val="15133304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64</a:t>
            </a:fld>
            <a:endParaRPr lang="es-CO"/>
          </a:p>
        </p:txBody>
      </p:sp>
    </p:spTree>
    <p:extLst>
      <p:ext uri="{BB962C8B-B14F-4D97-AF65-F5344CB8AC3E}">
        <p14:creationId xmlns:p14="http://schemas.microsoft.com/office/powerpoint/2010/main" val="32857712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65</a:t>
            </a:fld>
            <a:endParaRPr lang="es-CO"/>
          </a:p>
        </p:txBody>
      </p:sp>
    </p:spTree>
    <p:extLst>
      <p:ext uri="{BB962C8B-B14F-4D97-AF65-F5344CB8AC3E}">
        <p14:creationId xmlns:p14="http://schemas.microsoft.com/office/powerpoint/2010/main" val="32054990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66</a:t>
            </a:fld>
            <a:endParaRPr lang="es-CO"/>
          </a:p>
        </p:txBody>
      </p:sp>
    </p:spTree>
    <p:extLst>
      <p:ext uri="{BB962C8B-B14F-4D97-AF65-F5344CB8AC3E}">
        <p14:creationId xmlns:p14="http://schemas.microsoft.com/office/powerpoint/2010/main" val="4156219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67</a:t>
            </a:fld>
            <a:endParaRPr lang="es-CO"/>
          </a:p>
        </p:txBody>
      </p:sp>
    </p:spTree>
    <p:extLst>
      <p:ext uri="{BB962C8B-B14F-4D97-AF65-F5344CB8AC3E}">
        <p14:creationId xmlns:p14="http://schemas.microsoft.com/office/powerpoint/2010/main" val="4662525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68</a:t>
            </a:fld>
            <a:endParaRPr lang="es-CO"/>
          </a:p>
        </p:txBody>
      </p:sp>
    </p:spTree>
    <p:extLst>
      <p:ext uri="{BB962C8B-B14F-4D97-AF65-F5344CB8AC3E}">
        <p14:creationId xmlns:p14="http://schemas.microsoft.com/office/powerpoint/2010/main" val="35780947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69</a:t>
            </a:fld>
            <a:endParaRPr lang="es-CO"/>
          </a:p>
        </p:txBody>
      </p:sp>
    </p:spTree>
    <p:extLst>
      <p:ext uri="{BB962C8B-B14F-4D97-AF65-F5344CB8AC3E}">
        <p14:creationId xmlns:p14="http://schemas.microsoft.com/office/powerpoint/2010/main" val="25430776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70</a:t>
            </a:fld>
            <a:endParaRPr lang="es-CO"/>
          </a:p>
        </p:txBody>
      </p:sp>
    </p:spTree>
    <p:extLst>
      <p:ext uri="{BB962C8B-B14F-4D97-AF65-F5344CB8AC3E}">
        <p14:creationId xmlns:p14="http://schemas.microsoft.com/office/powerpoint/2010/main" val="279322377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noProof="0"/>
          </a:p>
        </p:txBody>
      </p:sp>
      <p:sp>
        <p:nvSpPr>
          <p:cNvPr id="4" name="Marcador de número de diapositiva 3"/>
          <p:cNvSpPr>
            <a:spLocks noGrp="1"/>
          </p:cNvSpPr>
          <p:nvPr>
            <p:ph type="sldNum" sz="quarter" idx="5"/>
          </p:nvPr>
        </p:nvSpPr>
        <p:spPr/>
        <p:txBody>
          <a:bodyPr/>
          <a:lstStyle/>
          <a:p>
            <a:fld id="{70FAC943-C359-4C07-B08A-993C08E8D67C}" type="slidenum">
              <a:rPr lang="es-CO" smtClean="0"/>
              <a:pPr/>
              <a:t>71</a:t>
            </a:fld>
            <a:endParaRPr lang="es-CO"/>
          </a:p>
        </p:txBody>
      </p:sp>
    </p:spTree>
    <p:extLst>
      <p:ext uri="{BB962C8B-B14F-4D97-AF65-F5344CB8AC3E}">
        <p14:creationId xmlns:p14="http://schemas.microsoft.com/office/powerpoint/2010/main" val="54835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microsoft.com/office/2007/relationships/hdphoto" Target="../media/hdphoto3.wdp"/><Relationship Id="rId5" Type="http://schemas.openxmlformats.org/officeDocument/2006/relationships/image" Target="../media/image2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microsoft.com/office/2007/relationships/hdphoto" Target="../media/hdphoto4.wdp"/></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5.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1.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3.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4.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2.png"/><Relationship Id="rId7"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8.png"/><Relationship Id="rId4" Type="http://schemas.microsoft.com/office/2007/relationships/hdphoto" Target="../media/hdphoto5.wdp"/></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66.png"/><Relationship Id="rId5" Type="http://schemas.microsoft.com/office/2007/relationships/hdphoto" Target="../media/hdphoto6.wdp"/><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1.png"/><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5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6.png"/><Relationship Id="rId4" Type="http://schemas.openxmlformats.org/officeDocument/2006/relationships/image" Target="../media/image8.png"/></Relationships>
</file>

<file path=ppt/slides/_rels/slide59.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image" Target="../media/image87.png"/><Relationship Id="rId7" Type="http://schemas.openxmlformats.org/officeDocument/2006/relationships/image" Target="../media/image90.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png"/><Relationship Id="rId4" Type="http://schemas.openxmlformats.org/officeDocument/2006/relationships/image" Target="../media/image88.png"/><Relationship Id="rId9" Type="http://schemas.openxmlformats.org/officeDocument/2006/relationships/image" Target="../media/image1.png"/></Relationships>
</file>

<file path=ppt/slides/_rels/slide60.xml.rels><?xml version="1.0" encoding="UTF-8" standalone="yes"?>
<Relationships xmlns="http://schemas.openxmlformats.org/package/2006/relationships"><Relationship Id="rId8" Type="http://schemas.microsoft.com/office/2007/relationships/hdphoto" Target="../media/hdphoto8.wdp"/><Relationship Id="rId3" Type="http://schemas.openxmlformats.org/officeDocument/2006/relationships/image" Target="../media/image91.png"/><Relationship Id="rId7" Type="http://schemas.openxmlformats.org/officeDocument/2006/relationships/image" Target="../media/image94.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8.png"/><Relationship Id="rId9" Type="http://schemas.openxmlformats.org/officeDocument/2006/relationships/image" Target="../media/image1.png"/></Relationships>
</file>

<file path=ppt/slides/_rels/slide61.xml.rels><?xml version="1.0" encoding="UTF-8" standalone="yes"?>
<Relationships xmlns="http://schemas.openxmlformats.org/package/2006/relationships"><Relationship Id="rId8" Type="http://schemas.microsoft.com/office/2007/relationships/hdphoto" Target="../media/hdphoto9.wdp"/><Relationship Id="rId3" Type="http://schemas.openxmlformats.org/officeDocument/2006/relationships/image" Target="../media/image95.png"/><Relationship Id="rId7" Type="http://schemas.openxmlformats.org/officeDocument/2006/relationships/image" Target="../media/image98.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8.png"/><Relationship Id="rId9" Type="http://schemas.openxmlformats.org/officeDocument/2006/relationships/image" Target="../media/image1.png"/></Relationships>
</file>

<file path=ppt/slides/_rels/slide6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9.png"/><Relationship Id="rId7" Type="http://schemas.openxmlformats.org/officeDocument/2006/relationships/image" Target="../media/image10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8.png"/></Relationships>
</file>

<file path=ppt/slides/_rels/slide6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03.png"/><Relationship Id="rId7" Type="http://schemas.microsoft.com/office/2007/relationships/hdphoto" Target="../media/hdphoto11.wdp"/><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8.png"/><Relationship Id="rId4" Type="http://schemas.microsoft.com/office/2007/relationships/hdphoto" Target="../media/hdphoto10.wdp"/></Relationships>
</file>

<file path=ppt/slides/_rels/slide64.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65.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12.wdp"/><Relationship Id="rId4" Type="http://schemas.openxmlformats.org/officeDocument/2006/relationships/image" Target="../media/image110.png"/></Relationships>
</file>

<file path=ppt/slides/_rels/slide6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112.png"/></Relationships>
</file>

<file path=ppt/slides/_rels/slide6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6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6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6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7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7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png"/></Relationships>
</file>

<file path=ppt/slides/_rels/slide72.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v.20201118</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2D con HEC-RAS y RAS </a:t>
            </a:r>
            <a:r>
              <a:rPr lang="es-CO" sz="1200" dirty="0" err="1">
                <a:latin typeface="Segoe UI Light" panose="020B0502040204020203" pitchFamily="34" charset="0"/>
                <a:cs typeface="Segoe UI Light" panose="020B0502040204020203" pitchFamily="34" charset="0"/>
              </a:rPr>
              <a:t>Mapper</a:t>
            </a:r>
            <a:endParaRPr lang="es-CO" sz="12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Modelación incluyendo tramos naturales de inicio, </a:t>
            </a:r>
          </a:p>
          <a:p>
            <a:r>
              <a:rPr lang="es-CO" sz="1600" dirty="0">
                <a:latin typeface="Segoe UI Light" panose="020B0502040204020203" pitchFamily="34" charset="0"/>
                <a:cs typeface="Segoe UI Light" panose="020B0502040204020203" pitchFamily="34" charset="0"/>
              </a:rPr>
              <a:t>entrega, cauces laterales y estructuras de transición</a:t>
            </a:r>
            <a:endParaRPr lang="es-ES"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CFD460B6-DE2B-48C8-8BE2-017EC800F6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8292F4EB-3623-4AB0-9C00-8AAF22FDF2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07734" y="3105834"/>
            <a:ext cx="5576531"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1. Definición de secciones trasversales para el rectificado de los cauces naturales y cauces laterales</a:t>
            </a:r>
          </a:p>
        </p:txBody>
      </p:sp>
      <p:pic>
        <p:nvPicPr>
          <p:cNvPr id="4" name="Imagen 3">
            <a:extLst>
              <a:ext uri="{FF2B5EF4-FFF2-40B4-BE49-F238E27FC236}">
                <a16:creationId xmlns:a16="http://schemas.microsoft.com/office/drawing/2014/main" id="{8DD55654-A0DE-4803-9398-317A627455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081833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59728" y="585019"/>
            <a:ext cx="10272543" cy="2246769"/>
          </a:xfrm>
          <a:prstGeom prst="rect">
            <a:avLst/>
          </a:prstGeom>
          <a:noFill/>
        </p:spPr>
        <p:txBody>
          <a:bodyPr wrap="square" rtlCol="0">
            <a:spAutoFit/>
          </a:bodyPr>
          <a:lstStyle/>
          <a:p>
            <a:pPr algn="just"/>
            <a:r>
              <a:rPr lang="es-CO" sz="1400" dirty="0">
                <a:latin typeface="Segoe UI Light" panose="020B0502040204020203" pitchFamily="34" charset="0"/>
                <a:cs typeface="Segoe UI Light" panose="020B0502040204020203" pitchFamily="34" charset="0"/>
              </a:rPr>
              <a:t>Para la modelación del tramo sinuoso diseñado, incluyendo los tramos naturales de inicio, entrega, cauces laterales y estructuras de transición, es necesario evaluar y corregir las secciones transversales obtenidas del LIDAR a partir de información adquirida directamente en campo (</a:t>
            </a:r>
            <a:r>
              <a:rPr lang="es-CO" sz="1400" dirty="0" err="1">
                <a:latin typeface="Segoe UI Light" panose="020B0502040204020203" pitchFamily="34" charset="0"/>
                <a:cs typeface="Segoe UI Light" panose="020B0502040204020203" pitchFamily="34" charset="0"/>
              </a:rPr>
              <a:t>topobatimetrías</a:t>
            </a:r>
            <a:r>
              <a:rPr lang="es-CO" sz="1400" dirty="0">
                <a:latin typeface="Segoe UI Light" panose="020B0502040204020203" pitchFamily="34" charset="0"/>
                <a:cs typeface="Segoe UI Light" panose="020B0502040204020203" pitchFamily="34" charset="0"/>
              </a:rPr>
              <a:t>) o a través de la interpretación de las cotas de fondo de cada sección por medio de la observación de fondos aplanados, cambios en el perfil producidos por acumulación de sedimentos o por errores en la información topográfica obtenida mediante sensores remotos.</a:t>
            </a:r>
          </a:p>
          <a:p>
            <a:pPr algn="just"/>
            <a:endParaRPr lang="es-CO" sz="1400" dirty="0">
              <a:latin typeface="Segoe UI Light" panose="020B0502040204020203" pitchFamily="34" charset="0"/>
              <a:cs typeface="Segoe UI Light" panose="020B0502040204020203" pitchFamily="34" charset="0"/>
            </a:endParaRPr>
          </a:p>
          <a:p>
            <a:pPr algn="just"/>
            <a:r>
              <a:rPr lang="es-CO" sz="1400" dirty="0">
                <a:latin typeface="Segoe UI Light" panose="020B0502040204020203" pitchFamily="34" charset="0"/>
                <a:cs typeface="Segoe UI Light" panose="020B0502040204020203" pitchFamily="34" charset="0"/>
              </a:rPr>
              <a:t>En ArcGIS, a partir de las secciones transversales utilizadas anteriormente para la visualización de los perfiles de resultados (</a:t>
            </a:r>
            <a:r>
              <a:rPr lang="es-CO" sz="1400" dirty="0" err="1">
                <a:latin typeface="Segoe UI Light" panose="020B0502040204020203" pitchFamily="34" charset="0"/>
                <a:cs typeface="Segoe UI Light" panose="020B0502040204020203" pitchFamily="34" charset="0"/>
              </a:rPr>
              <a:t>shapefile</a:t>
            </a:r>
            <a:r>
              <a:rPr lang="es-CO" sz="1400" dirty="0">
                <a:latin typeface="Segoe UI Light" panose="020B0502040204020203" pitchFamily="34" charset="0"/>
                <a:cs typeface="Segoe UI Light" panose="020B0502040204020203" pitchFamily="34" charset="0"/>
              </a:rPr>
              <a:t>: XSCutLines_v1.shp ), cree una cobertura que contenga únicamente los tramos a rectificar en fondo y hacia el interior de las bancas definidas en el archivo de formas Banks_v0.shp y dentro del Área de Flujo 2D Perimeter_v2.shp. Guarde este archivo como XSCutLines_v2.shp o utilice el archivo disponible en el repositorio de datos del curso. </a:t>
            </a:r>
          </a:p>
        </p:txBody>
      </p:sp>
      <p:sp>
        <p:nvSpPr>
          <p:cNvPr id="10" name="1 Título">
            <a:extLst>
              <a:ext uri="{FF2B5EF4-FFF2-40B4-BE49-F238E27FC236}">
                <a16:creationId xmlns:a16="http://schemas.microsoft.com/office/drawing/2014/main" id="{F9D6EAC1-4B32-41A7-B151-AE03BB9DA4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de secciones trasversales para el rectificado de los cauces naturales y cauces laterales</a:t>
            </a:r>
          </a:p>
        </p:txBody>
      </p:sp>
      <p:pic>
        <p:nvPicPr>
          <p:cNvPr id="3" name="Imagen 2">
            <a:extLst>
              <a:ext uri="{FF2B5EF4-FFF2-40B4-BE49-F238E27FC236}">
                <a16:creationId xmlns:a16="http://schemas.microsoft.com/office/drawing/2014/main" id="{DD504AA3-AA41-4E60-9D95-173BFD4C4880}"/>
              </a:ext>
            </a:extLst>
          </p:cNvPr>
          <p:cNvPicPr>
            <a:picLocks noChangeAspect="1"/>
          </p:cNvPicPr>
          <p:nvPr/>
        </p:nvPicPr>
        <p:blipFill rotWithShape="1">
          <a:blip r:embed="rId3"/>
          <a:srcRect l="4592" r="4860"/>
          <a:stretch/>
        </p:blipFill>
        <p:spPr>
          <a:xfrm>
            <a:off x="318268" y="3429000"/>
            <a:ext cx="3644827" cy="2843981"/>
          </a:xfrm>
          <a:prstGeom prst="rect">
            <a:avLst/>
          </a:prstGeom>
        </p:spPr>
      </p:pic>
      <p:sp>
        <p:nvSpPr>
          <p:cNvPr id="11" name="7 CuadroTexto">
            <a:extLst>
              <a:ext uri="{FF2B5EF4-FFF2-40B4-BE49-F238E27FC236}">
                <a16:creationId xmlns:a16="http://schemas.microsoft.com/office/drawing/2014/main" id="{667261E6-078D-47FE-9217-A272777C1126}"/>
              </a:ext>
            </a:extLst>
          </p:cNvPr>
          <p:cNvSpPr txBox="1"/>
          <p:nvPr/>
        </p:nvSpPr>
        <p:spPr>
          <a:xfrm>
            <a:off x="1304929" y="3184219"/>
            <a:ext cx="1671504"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Aguas Arriba</a:t>
            </a:r>
          </a:p>
        </p:txBody>
      </p:sp>
      <p:pic>
        <p:nvPicPr>
          <p:cNvPr id="4" name="Imagen 3">
            <a:extLst>
              <a:ext uri="{FF2B5EF4-FFF2-40B4-BE49-F238E27FC236}">
                <a16:creationId xmlns:a16="http://schemas.microsoft.com/office/drawing/2014/main" id="{0F29B9AD-0A8D-4FFB-958A-4A9905A831E9}"/>
              </a:ext>
            </a:extLst>
          </p:cNvPr>
          <p:cNvPicPr>
            <a:picLocks noChangeAspect="1"/>
          </p:cNvPicPr>
          <p:nvPr/>
        </p:nvPicPr>
        <p:blipFill rotWithShape="1">
          <a:blip r:embed="rId4"/>
          <a:srcRect l="7146"/>
          <a:stretch/>
        </p:blipFill>
        <p:spPr>
          <a:xfrm>
            <a:off x="4132749" y="3429000"/>
            <a:ext cx="3384376" cy="2843981"/>
          </a:xfrm>
          <a:prstGeom prst="rect">
            <a:avLst/>
          </a:prstGeom>
        </p:spPr>
      </p:pic>
      <p:sp>
        <p:nvSpPr>
          <p:cNvPr id="12" name="7 CuadroTexto">
            <a:extLst>
              <a:ext uri="{FF2B5EF4-FFF2-40B4-BE49-F238E27FC236}">
                <a16:creationId xmlns:a16="http://schemas.microsoft.com/office/drawing/2014/main" id="{C9E0E406-A2A1-4427-AB8C-163B255A17F9}"/>
              </a:ext>
            </a:extLst>
          </p:cNvPr>
          <p:cNvSpPr txBox="1"/>
          <p:nvPr/>
        </p:nvSpPr>
        <p:spPr>
          <a:xfrm>
            <a:off x="4989185" y="3185900"/>
            <a:ext cx="1671504"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Cauce Lateral</a:t>
            </a:r>
          </a:p>
        </p:txBody>
      </p:sp>
      <p:pic>
        <p:nvPicPr>
          <p:cNvPr id="5" name="Imagen 4">
            <a:extLst>
              <a:ext uri="{FF2B5EF4-FFF2-40B4-BE49-F238E27FC236}">
                <a16:creationId xmlns:a16="http://schemas.microsoft.com/office/drawing/2014/main" id="{E86C04F3-5FAC-4E30-A6C0-DF81A646E266}"/>
              </a:ext>
            </a:extLst>
          </p:cNvPr>
          <p:cNvPicPr>
            <a:picLocks noChangeAspect="1"/>
          </p:cNvPicPr>
          <p:nvPr/>
        </p:nvPicPr>
        <p:blipFill>
          <a:blip r:embed="rId5"/>
          <a:stretch>
            <a:fillRect/>
          </a:stretch>
        </p:blipFill>
        <p:spPr>
          <a:xfrm>
            <a:off x="7686779" y="3428999"/>
            <a:ext cx="4159801" cy="2843981"/>
          </a:xfrm>
          <a:prstGeom prst="rect">
            <a:avLst/>
          </a:prstGeom>
        </p:spPr>
      </p:pic>
      <p:sp>
        <p:nvSpPr>
          <p:cNvPr id="13" name="7 CuadroTexto">
            <a:extLst>
              <a:ext uri="{FF2B5EF4-FFF2-40B4-BE49-F238E27FC236}">
                <a16:creationId xmlns:a16="http://schemas.microsoft.com/office/drawing/2014/main" id="{E0B047F1-500A-4A62-85C8-94DC7829E4BB}"/>
              </a:ext>
            </a:extLst>
          </p:cNvPr>
          <p:cNvSpPr txBox="1"/>
          <p:nvPr/>
        </p:nvSpPr>
        <p:spPr>
          <a:xfrm>
            <a:off x="8930927" y="3173753"/>
            <a:ext cx="1671504"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Aguas Abajo</a:t>
            </a:r>
          </a:p>
        </p:txBody>
      </p:sp>
      <p:pic>
        <p:nvPicPr>
          <p:cNvPr id="15" name="Imagen 14">
            <a:extLst>
              <a:ext uri="{FF2B5EF4-FFF2-40B4-BE49-F238E27FC236}">
                <a16:creationId xmlns:a16="http://schemas.microsoft.com/office/drawing/2014/main" id="{7C14EB34-4723-4419-B5D7-6F09575BAD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25941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D7D1205-A029-4822-85EA-E65F474CB23F}"/>
              </a:ext>
            </a:extLst>
          </p:cNvPr>
          <p:cNvPicPr>
            <a:picLocks noChangeAspect="1"/>
          </p:cNvPicPr>
          <p:nvPr/>
        </p:nvPicPr>
        <p:blipFill>
          <a:blip r:embed="rId3"/>
          <a:stretch>
            <a:fillRect/>
          </a:stretch>
        </p:blipFill>
        <p:spPr>
          <a:xfrm>
            <a:off x="0" y="1956403"/>
            <a:ext cx="12192000" cy="4896063"/>
          </a:xfrm>
          <a:prstGeom prst="rect">
            <a:avLst/>
          </a:prstGeom>
        </p:spPr>
      </p:pic>
      <p:sp>
        <p:nvSpPr>
          <p:cNvPr id="8" name="7 CuadroTexto"/>
          <p:cNvSpPr txBox="1"/>
          <p:nvPr/>
        </p:nvSpPr>
        <p:spPr>
          <a:xfrm>
            <a:off x="959728" y="548680"/>
            <a:ext cx="10272543" cy="1323439"/>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Para la definición correcta del cauce lateral y de los tramos a rectificar en fondo, crear una copia de la cobertura de drenajes (RiverRAS_v0.shp) y modificar la conexión, definir 3 tramos: aguas arriba del inicio, aguas abajo de la entrega y cauce lateral. Guardar la cobertura modificada como RiverRAS_v1.shp. En la cobertura de secciones transversales, incluir además, una sección transversal adicional en la base del cauce dominante sinuoso diseñado, conservando la curvatura de la curva de la base del talud del cauce dominante.</a:t>
            </a:r>
          </a:p>
        </p:txBody>
      </p:sp>
      <p:pic>
        <p:nvPicPr>
          <p:cNvPr id="14" name="Imagen 13">
            <a:extLst>
              <a:ext uri="{FF2B5EF4-FFF2-40B4-BE49-F238E27FC236}">
                <a16:creationId xmlns:a16="http://schemas.microsoft.com/office/drawing/2014/main" id="{B2049BAE-DBFA-4156-9C91-C03972084AB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68008" y="4149080"/>
            <a:ext cx="360000" cy="360000"/>
          </a:xfrm>
          <a:prstGeom prst="rect">
            <a:avLst/>
          </a:prstGeom>
        </p:spPr>
      </p:pic>
      <p:pic>
        <p:nvPicPr>
          <p:cNvPr id="10" name="Imagen 9">
            <a:extLst>
              <a:ext uri="{FF2B5EF4-FFF2-40B4-BE49-F238E27FC236}">
                <a16:creationId xmlns:a16="http://schemas.microsoft.com/office/drawing/2014/main" id="{759A1D93-F87A-42CA-9CF8-4F69A602A3A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CCDA9134-A4FE-47D2-8941-8E63D51735E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de secciones trasversales para el rectificado de los cauces naturales y cauces laterales</a:t>
            </a:r>
          </a:p>
        </p:txBody>
      </p:sp>
    </p:spTree>
    <p:extLst>
      <p:ext uri="{BB962C8B-B14F-4D97-AF65-F5344CB8AC3E}">
        <p14:creationId xmlns:p14="http://schemas.microsoft.com/office/powerpoint/2010/main" val="2362431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718BE3B-89E9-475D-9130-805C55A47294}"/>
              </a:ext>
            </a:extLst>
          </p:cNvPr>
          <p:cNvPicPr>
            <a:picLocks noChangeAspect="1"/>
          </p:cNvPicPr>
          <p:nvPr/>
        </p:nvPicPr>
        <p:blipFill>
          <a:blip r:embed="rId3">
            <a:clrChange>
              <a:clrFrom>
                <a:srgbClr val="FEFFFF"/>
              </a:clrFrom>
              <a:clrTo>
                <a:srgbClr val="FEFFFF">
                  <a:alpha val="0"/>
                </a:srgbClr>
              </a:clrTo>
            </a:clrChange>
          </a:blip>
          <a:stretch>
            <a:fillRect/>
          </a:stretch>
        </p:blipFill>
        <p:spPr>
          <a:xfrm>
            <a:off x="0" y="1727548"/>
            <a:ext cx="12192000" cy="5129161"/>
          </a:xfrm>
          <a:prstGeom prst="rect">
            <a:avLst/>
          </a:prstGeom>
        </p:spPr>
      </p:pic>
      <p:sp>
        <p:nvSpPr>
          <p:cNvPr id="8" name="7 CuadroTexto"/>
          <p:cNvSpPr txBox="1"/>
          <p:nvPr/>
        </p:nvSpPr>
        <p:spPr>
          <a:xfrm>
            <a:off x="959728" y="948222"/>
            <a:ext cx="10272543" cy="338554"/>
          </a:xfrm>
          <a:prstGeom prst="rect">
            <a:avLst/>
          </a:prstGeom>
          <a:noFill/>
        </p:spPr>
        <p:txBody>
          <a:bodyPr wrap="square" rtlCol="0">
            <a:spAutoFit/>
          </a:bodyPr>
          <a:lstStyle/>
          <a:p>
            <a:pPr algn="ctr"/>
            <a:r>
              <a:rPr lang="es-CO" sz="1600" dirty="0">
                <a:latin typeface="Segoe UI Light" panose="020B0502040204020203" pitchFamily="34" charset="0"/>
                <a:cs typeface="Segoe UI Light" panose="020B0502040204020203" pitchFamily="34" charset="0"/>
              </a:rPr>
              <a:t>Topología para rectificado.</a:t>
            </a:r>
          </a:p>
        </p:txBody>
      </p:sp>
      <p:sp>
        <p:nvSpPr>
          <p:cNvPr id="9" name="7 CuadroTexto">
            <a:extLst>
              <a:ext uri="{FF2B5EF4-FFF2-40B4-BE49-F238E27FC236}">
                <a16:creationId xmlns:a16="http://schemas.microsoft.com/office/drawing/2014/main" id="{6C2190A2-C230-4A1F-8B01-D565F7CB2D1B}"/>
              </a:ext>
            </a:extLst>
          </p:cNvPr>
          <p:cNvSpPr txBox="1"/>
          <p:nvPr/>
        </p:nvSpPr>
        <p:spPr>
          <a:xfrm>
            <a:off x="9984432" y="2852936"/>
            <a:ext cx="1330932" cy="461665"/>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Aguas Arriba del Inicio</a:t>
            </a:r>
          </a:p>
        </p:txBody>
      </p:sp>
      <p:sp>
        <p:nvSpPr>
          <p:cNvPr id="11" name="7 CuadroTexto">
            <a:extLst>
              <a:ext uri="{FF2B5EF4-FFF2-40B4-BE49-F238E27FC236}">
                <a16:creationId xmlns:a16="http://schemas.microsoft.com/office/drawing/2014/main" id="{39F7557B-6545-49CA-8427-E77643A533C9}"/>
              </a:ext>
            </a:extLst>
          </p:cNvPr>
          <p:cNvSpPr txBox="1"/>
          <p:nvPr/>
        </p:nvSpPr>
        <p:spPr>
          <a:xfrm>
            <a:off x="1199456" y="5229200"/>
            <a:ext cx="1224136" cy="461665"/>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Aguas Abajo de la Entrega</a:t>
            </a:r>
          </a:p>
        </p:txBody>
      </p:sp>
      <p:sp>
        <p:nvSpPr>
          <p:cNvPr id="12" name="7 CuadroTexto">
            <a:extLst>
              <a:ext uri="{FF2B5EF4-FFF2-40B4-BE49-F238E27FC236}">
                <a16:creationId xmlns:a16="http://schemas.microsoft.com/office/drawing/2014/main" id="{341BD907-7D73-463E-9461-CA51D8D7E656}"/>
              </a:ext>
            </a:extLst>
          </p:cNvPr>
          <p:cNvSpPr txBox="1"/>
          <p:nvPr/>
        </p:nvSpPr>
        <p:spPr>
          <a:xfrm>
            <a:off x="8544272" y="6021288"/>
            <a:ext cx="864096" cy="461665"/>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Cauce Lateral</a:t>
            </a:r>
          </a:p>
        </p:txBody>
      </p:sp>
      <p:pic>
        <p:nvPicPr>
          <p:cNvPr id="10" name="Imagen 9">
            <a:extLst>
              <a:ext uri="{FF2B5EF4-FFF2-40B4-BE49-F238E27FC236}">
                <a16:creationId xmlns:a16="http://schemas.microsoft.com/office/drawing/2014/main" id="{5594B0FB-A373-4E5B-BA2F-00D9497719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1D5A577C-ADD1-4CC4-85F4-D728CEC65FA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1. Definición de secciones trasversales para el rectificado de los cauces naturales y cauces laterales</a:t>
            </a:r>
          </a:p>
        </p:txBody>
      </p:sp>
    </p:spTree>
    <p:extLst>
      <p:ext uri="{BB962C8B-B14F-4D97-AF65-F5344CB8AC3E}">
        <p14:creationId xmlns:p14="http://schemas.microsoft.com/office/powerpoint/2010/main" val="3739938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791744" y="3105834"/>
            <a:ext cx="460851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2. Trazado de diques de encausamiento y evaluación de transiciones de inicio y entrega</a:t>
            </a:r>
          </a:p>
        </p:txBody>
      </p:sp>
      <p:pic>
        <p:nvPicPr>
          <p:cNvPr id="4" name="Imagen 3">
            <a:extLst>
              <a:ext uri="{FF2B5EF4-FFF2-40B4-BE49-F238E27FC236}">
                <a16:creationId xmlns:a16="http://schemas.microsoft.com/office/drawing/2014/main" id="{B4621D45-846C-4FE3-ADC8-D8866192D4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155821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19336" y="277740"/>
            <a:ext cx="11881320" cy="1569660"/>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En ArcGIS, a partir del modelo de terreno, identifique visualmente con ayuda de la extensión 3D </a:t>
            </a:r>
            <a:r>
              <a:rPr lang="es-CO" sz="1600" dirty="0" err="1">
                <a:latin typeface="Segoe UI Light" panose="020B0502040204020203" pitchFamily="34" charset="0"/>
                <a:cs typeface="Segoe UI Light" panose="020B0502040204020203" pitchFamily="34" charset="0"/>
              </a:rPr>
              <a:t>Analyst</a:t>
            </a:r>
            <a:r>
              <a:rPr lang="es-CO" sz="1600" dirty="0">
                <a:latin typeface="Segoe UI Light" panose="020B0502040204020203" pitchFamily="34" charset="0"/>
                <a:cs typeface="Segoe UI Light" panose="020B0502040204020203" pitchFamily="34" charset="0"/>
              </a:rPr>
              <a:t> y contornos manuales; zonas susceptibles de inundación y trace diques de encausamiento y protección. El proceso consiste en trazar líneas en planta hasta una cota de cierre definida o hasta una prolongación determinada. Agregue una sección transversal al inicio y final de cada eje de dique, considerando el ancho del dique o huella de mecanización del diseño y la prolongación de los taludes hasta una altura de 1.5 metros para conservar el mismo patrón de diseño. Para el ejercicio, el ancho de la línea de sección es de 25 metros en corona + 2 x (1.5 altura de dique creciente x 14 m de talud)  = 67 metros.</a:t>
            </a:r>
          </a:p>
        </p:txBody>
      </p:sp>
      <p:sp>
        <p:nvSpPr>
          <p:cNvPr id="10" name="1 Título">
            <a:extLst>
              <a:ext uri="{FF2B5EF4-FFF2-40B4-BE49-F238E27FC236}">
                <a16:creationId xmlns:a16="http://schemas.microsoft.com/office/drawing/2014/main" id="{F9D6EAC1-4B32-41A7-B151-AE03BB9DA4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Trazado de diques de encausamiento y evaluación de transiciones de inicio y entrega</a:t>
            </a:r>
          </a:p>
        </p:txBody>
      </p:sp>
      <p:pic>
        <p:nvPicPr>
          <p:cNvPr id="2" name="Imagen 1">
            <a:extLst>
              <a:ext uri="{FF2B5EF4-FFF2-40B4-BE49-F238E27FC236}">
                <a16:creationId xmlns:a16="http://schemas.microsoft.com/office/drawing/2014/main" id="{96CB26BF-3CDA-45FA-8E27-F89909B6957A}"/>
              </a:ext>
            </a:extLst>
          </p:cNvPr>
          <p:cNvPicPr>
            <a:picLocks noChangeAspect="1"/>
          </p:cNvPicPr>
          <p:nvPr/>
        </p:nvPicPr>
        <p:blipFill rotWithShape="1">
          <a:blip r:embed="rId3"/>
          <a:srcRect b="13037"/>
          <a:stretch/>
        </p:blipFill>
        <p:spPr>
          <a:xfrm>
            <a:off x="311695" y="1888558"/>
            <a:ext cx="11568608" cy="4905126"/>
          </a:xfrm>
          <a:prstGeom prst="rect">
            <a:avLst/>
          </a:prstGeom>
        </p:spPr>
      </p:pic>
      <p:pic>
        <p:nvPicPr>
          <p:cNvPr id="14" name="Imagen 13">
            <a:extLst>
              <a:ext uri="{FF2B5EF4-FFF2-40B4-BE49-F238E27FC236}">
                <a16:creationId xmlns:a16="http://schemas.microsoft.com/office/drawing/2014/main" id="{91E7BED7-BB7B-4594-A812-8F8C3450FA0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8079" y="3735693"/>
            <a:ext cx="360000" cy="360000"/>
          </a:xfrm>
          <a:prstGeom prst="rect">
            <a:avLst/>
          </a:prstGeom>
        </p:spPr>
      </p:pic>
      <p:pic>
        <p:nvPicPr>
          <p:cNvPr id="16" name="Imagen 15">
            <a:extLst>
              <a:ext uri="{FF2B5EF4-FFF2-40B4-BE49-F238E27FC236}">
                <a16:creationId xmlns:a16="http://schemas.microsoft.com/office/drawing/2014/main" id="{3405FF3A-53F5-4F5C-BB35-BD7F0E8417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57634" y="2345446"/>
            <a:ext cx="360000" cy="360000"/>
          </a:xfrm>
          <a:prstGeom prst="rect">
            <a:avLst/>
          </a:prstGeom>
        </p:spPr>
      </p:pic>
      <p:pic>
        <p:nvPicPr>
          <p:cNvPr id="17" name="Imagen 16">
            <a:extLst>
              <a:ext uri="{FF2B5EF4-FFF2-40B4-BE49-F238E27FC236}">
                <a16:creationId xmlns:a16="http://schemas.microsoft.com/office/drawing/2014/main" id="{1FEB0433-C6B6-43BB-ABEC-FF9005FB32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5649" y="2013559"/>
            <a:ext cx="360000" cy="360000"/>
          </a:xfrm>
          <a:prstGeom prst="rect">
            <a:avLst/>
          </a:prstGeom>
        </p:spPr>
      </p:pic>
      <p:pic>
        <p:nvPicPr>
          <p:cNvPr id="18" name="Imagen 17">
            <a:extLst>
              <a:ext uri="{FF2B5EF4-FFF2-40B4-BE49-F238E27FC236}">
                <a16:creationId xmlns:a16="http://schemas.microsoft.com/office/drawing/2014/main" id="{97AF27E3-D244-43C3-8AF7-F8B596FEB9F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76200" y="6021288"/>
            <a:ext cx="360000" cy="360000"/>
          </a:xfrm>
          <a:prstGeom prst="rect">
            <a:avLst/>
          </a:prstGeom>
        </p:spPr>
      </p:pic>
      <p:sp>
        <p:nvSpPr>
          <p:cNvPr id="19" name="7 CuadroTexto">
            <a:extLst>
              <a:ext uri="{FF2B5EF4-FFF2-40B4-BE49-F238E27FC236}">
                <a16:creationId xmlns:a16="http://schemas.microsoft.com/office/drawing/2014/main" id="{C06B2B38-906D-4B19-8217-BE2EB0433F40}"/>
              </a:ext>
            </a:extLst>
          </p:cNvPr>
          <p:cNvSpPr txBox="1"/>
          <p:nvPr/>
        </p:nvSpPr>
        <p:spPr>
          <a:xfrm>
            <a:off x="6647344" y="2373559"/>
            <a:ext cx="1089554" cy="461665"/>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Dique requerido</a:t>
            </a:r>
          </a:p>
        </p:txBody>
      </p:sp>
      <p:sp>
        <p:nvSpPr>
          <p:cNvPr id="20" name="7 CuadroTexto">
            <a:extLst>
              <a:ext uri="{FF2B5EF4-FFF2-40B4-BE49-F238E27FC236}">
                <a16:creationId xmlns:a16="http://schemas.microsoft.com/office/drawing/2014/main" id="{6F0A260C-5A7B-42A3-BC8D-4483E57E64BE}"/>
              </a:ext>
            </a:extLst>
          </p:cNvPr>
          <p:cNvSpPr txBox="1"/>
          <p:nvPr/>
        </p:nvSpPr>
        <p:spPr>
          <a:xfrm>
            <a:off x="7464152" y="5264251"/>
            <a:ext cx="1440160"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Cota 67.5 msnm</a:t>
            </a:r>
          </a:p>
        </p:txBody>
      </p:sp>
      <p:sp>
        <p:nvSpPr>
          <p:cNvPr id="21" name="7 CuadroTexto">
            <a:extLst>
              <a:ext uri="{FF2B5EF4-FFF2-40B4-BE49-F238E27FC236}">
                <a16:creationId xmlns:a16="http://schemas.microsoft.com/office/drawing/2014/main" id="{01EB6BE5-A9FE-487B-A548-3B906DC1EE45}"/>
              </a:ext>
            </a:extLst>
          </p:cNvPr>
          <p:cNvSpPr txBox="1"/>
          <p:nvPr/>
        </p:nvSpPr>
        <p:spPr>
          <a:xfrm>
            <a:off x="8328248" y="6056886"/>
            <a:ext cx="1440160"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Cota 67.5 msnm</a:t>
            </a:r>
          </a:p>
        </p:txBody>
      </p:sp>
      <p:pic>
        <p:nvPicPr>
          <p:cNvPr id="13" name="Imagen 12">
            <a:extLst>
              <a:ext uri="{FF2B5EF4-FFF2-40B4-BE49-F238E27FC236}">
                <a16:creationId xmlns:a16="http://schemas.microsoft.com/office/drawing/2014/main" id="{396480CA-1D6C-453F-8C73-F25F0656B04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15" name="Imagen 14">
            <a:extLst>
              <a:ext uri="{FF2B5EF4-FFF2-40B4-BE49-F238E27FC236}">
                <a16:creationId xmlns:a16="http://schemas.microsoft.com/office/drawing/2014/main" id="{901FB72D-1633-4064-96A1-DDC4D00EC5B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92470" y="3068960"/>
            <a:ext cx="533401" cy="533401"/>
          </a:xfrm>
          <a:prstGeom prst="rect">
            <a:avLst/>
          </a:prstGeom>
        </p:spPr>
      </p:pic>
    </p:spTree>
    <p:extLst>
      <p:ext uri="{BB962C8B-B14F-4D97-AF65-F5344CB8AC3E}">
        <p14:creationId xmlns:p14="http://schemas.microsoft.com/office/powerpoint/2010/main" val="184983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59728" y="327541"/>
            <a:ext cx="10272543" cy="1323439"/>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Es necesario definir las cotas iniciales y finales de corona del dique a partir de la posición del punto de inicio y de la pendiente existente en el dique diseñado previamente para el canal compuesto.</a:t>
            </a:r>
          </a:p>
          <a:p>
            <a:pPr algn="just"/>
            <a:endParaRPr lang="en-US" sz="1600">
              <a:latin typeface="Segoe UI Light" panose="020B0502040204020203" pitchFamily="34" charset="0"/>
              <a:cs typeface="Segoe UI Light" panose="020B0502040204020203" pitchFamily="34" charset="0"/>
            </a:endParaRPr>
          </a:p>
          <a:p>
            <a:pPr algn="just"/>
            <a:r>
              <a:rPr lang="en-US" sz="1600">
                <a:latin typeface="Segoe UI Light" panose="020B0502040204020203" pitchFamily="34" charset="0"/>
                <a:cs typeface="Segoe UI Light" panose="020B0502040204020203" pitchFamily="34" charset="0"/>
              </a:rPr>
              <a:t>1. En RAS Mapper, trace manualmente una línea de muestreo temporal sobre la corona del dique existente en una longitud aproximada de 250 metros o superior y obtenga la tabla de valores de estación elevación.</a:t>
            </a:r>
          </a:p>
        </p:txBody>
      </p:sp>
      <p:pic>
        <p:nvPicPr>
          <p:cNvPr id="16" name="Imagen 15">
            <a:extLst>
              <a:ext uri="{FF2B5EF4-FFF2-40B4-BE49-F238E27FC236}">
                <a16:creationId xmlns:a16="http://schemas.microsoft.com/office/drawing/2014/main" id="{3405FF3A-53F5-4F5C-BB35-BD7F0E8417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360" y="2276872"/>
            <a:ext cx="360000" cy="360000"/>
          </a:xfrm>
          <a:prstGeom prst="rect">
            <a:avLst/>
          </a:prstGeom>
        </p:spPr>
      </p:pic>
      <p:pic>
        <p:nvPicPr>
          <p:cNvPr id="3" name="Imagen 2">
            <a:extLst>
              <a:ext uri="{FF2B5EF4-FFF2-40B4-BE49-F238E27FC236}">
                <a16:creationId xmlns:a16="http://schemas.microsoft.com/office/drawing/2014/main" id="{FD72556C-A9FF-4D11-B367-69C1549A1A49}"/>
              </a:ext>
            </a:extLst>
          </p:cNvPr>
          <p:cNvPicPr>
            <a:picLocks noChangeAspect="1"/>
          </p:cNvPicPr>
          <p:nvPr/>
        </p:nvPicPr>
        <p:blipFill>
          <a:blip r:embed="rId4"/>
          <a:stretch>
            <a:fillRect/>
          </a:stretch>
        </p:blipFill>
        <p:spPr>
          <a:xfrm>
            <a:off x="0" y="1671530"/>
            <a:ext cx="12192000" cy="5194327"/>
          </a:xfrm>
          <a:prstGeom prst="rect">
            <a:avLst/>
          </a:prstGeom>
        </p:spPr>
      </p:pic>
      <p:pic>
        <p:nvPicPr>
          <p:cNvPr id="9" name="Imagen 8">
            <a:extLst>
              <a:ext uri="{FF2B5EF4-FFF2-40B4-BE49-F238E27FC236}">
                <a16:creationId xmlns:a16="http://schemas.microsoft.com/office/drawing/2014/main" id="{E9C5D5C9-C797-451B-98AF-76B569826F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39816" y="2302510"/>
            <a:ext cx="360000" cy="360000"/>
          </a:xfrm>
          <a:prstGeom prst="rect">
            <a:avLst/>
          </a:prstGeom>
        </p:spPr>
      </p:pic>
      <p:pic>
        <p:nvPicPr>
          <p:cNvPr id="11" name="Imagen 10">
            <a:extLst>
              <a:ext uri="{FF2B5EF4-FFF2-40B4-BE49-F238E27FC236}">
                <a16:creationId xmlns:a16="http://schemas.microsoft.com/office/drawing/2014/main" id="{2CC36AD1-E795-49E2-A486-95C2E8B839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63952" y="4509120"/>
            <a:ext cx="360000" cy="360000"/>
          </a:xfrm>
          <a:prstGeom prst="rect">
            <a:avLst/>
          </a:prstGeom>
        </p:spPr>
      </p:pic>
      <p:pic>
        <p:nvPicPr>
          <p:cNvPr id="4" name="Imagen 3">
            <a:extLst>
              <a:ext uri="{FF2B5EF4-FFF2-40B4-BE49-F238E27FC236}">
                <a16:creationId xmlns:a16="http://schemas.microsoft.com/office/drawing/2014/main" id="{B83787C2-5236-4931-A02A-1EAE90E89777}"/>
              </a:ext>
            </a:extLst>
          </p:cNvPr>
          <p:cNvPicPr>
            <a:picLocks noChangeAspect="1"/>
          </p:cNvPicPr>
          <p:nvPr/>
        </p:nvPicPr>
        <p:blipFill>
          <a:blip r:embed="rId5"/>
          <a:stretch>
            <a:fillRect/>
          </a:stretch>
        </p:blipFill>
        <p:spPr>
          <a:xfrm>
            <a:off x="7511" y="3905194"/>
            <a:ext cx="3435522" cy="2955662"/>
          </a:xfrm>
          <a:prstGeom prst="rect">
            <a:avLst/>
          </a:prstGeom>
        </p:spPr>
      </p:pic>
      <p:pic>
        <p:nvPicPr>
          <p:cNvPr id="5" name="Imagen 4">
            <a:extLst>
              <a:ext uri="{FF2B5EF4-FFF2-40B4-BE49-F238E27FC236}">
                <a16:creationId xmlns:a16="http://schemas.microsoft.com/office/drawing/2014/main" id="{26A76169-7C8B-43C5-8AB0-4A7855D7E39C}"/>
              </a:ext>
            </a:extLst>
          </p:cNvPr>
          <p:cNvPicPr>
            <a:picLocks noChangeAspect="1"/>
          </p:cNvPicPr>
          <p:nvPr/>
        </p:nvPicPr>
        <p:blipFill>
          <a:blip r:embed="rId6"/>
          <a:stretch>
            <a:fillRect/>
          </a:stretch>
        </p:blipFill>
        <p:spPr>
          <a:xfrm>
            <a:off x="7187489" y="2564904"/>
            <a:ext cx="4705350" cy="4048125"/>
          </a:xfrm>
          <a:prstGeom prst="rect">
            <a:avLst/>
          </a:prstGeom>
        </p:spPr>
      </p:pic>
      <p:pic>
        <p:nvPicPr>
          <p:cNvPr id="14" name="Imagen 13">
            <a:extLst>
              <a:ext uri="{FF2B5EF4-FFF2-40B4-BE49-F238E27FC236}">
                <a16:creationId xmlns:a16="http://schemas.microsoft.com/office/drawing/2014/main" id="{3122D932-7E0D-40B7-ADB2-FB5A583B61D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4975C1AA-9D9B-4091-BC79-E6B1FBE4CDB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Trazado de diques de encausamiento y evaluación de transiciones de inicio y entrega</a:t>
            </a:r>
          </a:p>
        </p:txBody>
      </p:sp>
    </p:spTree>
    <p:extLst>
      <p:ext uri="{BB962C8B-B14F-4D97-AF65-F5344CB8AC3E}">
        <p14:creationId xmlns:p14="http://schemas.microsoft.com/office/powerpoint/2010/main" val="690588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59728" y="458390"/>
            <a:ext cx="10272543" cy="584775"/>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2. Cree un Libro de Microsoft Excel y pegue allí los valores de la tabla de atributos.</a:t>
            </a:r>
          </a:p>
          <a:p>
            <a:pPr algn="just"/>
            <a:r>
              <a:rPr lang="en-US" sz="1600">
                <a:latin typeface="Segoe UI Light" panose="020B0502040204020203" pitchFamily="34" charset="0"/>
                <a:cs typeface="Segoe UI Light" panose="020B0502040204020203" pitchFamily="34" charset="0"/>
              </a:rPr>
              <a:t>3. Evalué la pendiente, cotas de inicio y los valores de estación elevación del dique requerido.</a:t>
            </a:r>
            <a:endParaRPr lang="es-CO"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17B558C3-F5BC-4135-9FBA-D5A638E6DCA9}"/>
              </a:ext>
            </a:extLst>
          </p:cNvPr>
          <p:cNvPicPr>
            <a:picLocks noChangeAspect="1"/>
          </p:cNvPicPr>
          <p:nvPr/>
        </p:nvPicPr>
        <p:blipFill>
          <a:blip r:embed="rId3"/>
          <a:stretch>
            <a:fillRect/>
          </a:stretch>
        </p:blipFill>
        <p:spPr>
          <a:xfrm>
            <a:off x="1063198" y="1085486"/>
            <a:ext cx="10065604" cy="5661368"/>
          </a:xfrm>
          <a:prstGeom prst="rect">
            <a:avLst/>
          </a:prstGeom>
        </p:spPr>
      </p:pic>
      <p:pic>
        <p:nvPicPr>
          <p:cNvPr id="7" name="Imagen 6">
            <a:extLst>
              <a:ext uri="{FF2B5EF4-FFF2-40B4-BE49-F238E27FC236}">
                <a16:creationId xmlns:a16="http://schemas.microsoft.com/office/drawing/2014/main" id="{644E2DE1-908B-4B52-AA8C-2B4A82AE27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F17BC2FA-ECE5-42F9-9DDD-68F07F74775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Trazado de diques de encausamiento y evaluación de transiciones de inicio y entrega</a:t>
            </a:r>
          </a:p>
        </p:txBody>
      </p:sp>
    </p:spTree>
    <p:extLst>
      <p:ext uri="{BB962C8B-B14F-4D97-AF65-F5344CB8AC3E}">
        <p14:creationId xmlns:p14="http://schemas.microsoft.com/office/powerpoint/2010/main" val="945528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59728" y="1321388"/>
            <a:ext cx="1027254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Geometría del dique de encausamiento o protección.</a:t>
            </a:r>
            <a:endParaRPr lang="es-CO" sz="1600">
              <a:latin typeface="Segoe UI Light" panose="020B0502040204020203" pitchFamily="34" charset="0"/>
              <a:cs typeface="Segoe UI Light" panose="020B0502040204020203" pitchFamily="34" charset="0"/>
            </a:endParaRPr>
          </a:p>
        </p:txBody>
      </p:sp>
      <p:sp>
        <p:nvSpPr>
          <p:cNvPr id="21" name="7 CuadroTexto">
            <a:extLst>
              <a:ext uri="{FF2B5EF4-FFF2-40B4-BE49-F238E27FC236}">
                <a16:creationId xmlns:a16="http://schemas.microsoft.com/office/drawing/2014/main" id="{01EB6BE5-A9FE-487B-A548-3B906DC1EE45}"/>
              </a:ext>
            </a:extLst>
          </p:cNvPr>
          <p:cNvSpPr txBox="1"/>
          <p:nvPr/>
        </p:nvSpPr>
        <p:spPr>
          <a:xfrm>
            <a:off x="5807967" y="2352166"/>
            <a:ext cx="576064"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25 m</a:t>
            </a:r>
          </a:p>
        </p:txBody>
      </p:sp>
      <p:sp>
        <p:nvSpPr>
          <p:cNvPr id="12" name="Trapecio 11">
            <a:extLst>
              <a:ext uri="{FF2B5EF4-FFF2-40B4-BE49-F238E27FC236}">
                <a16:creationId xmlns:a16="http://schemas.microsoft.com/office/drawing/2014/main" id="{6259EBE3-12A0-48C1-9AD2-469359C13EE8}"/>
              </a:ext>
            </a:extLst>
          </p:cNvPr>
          <p:cNvSpPr/>
          <p:nvPr/>
        </p:nvSpPr>
        <p:spPr>
          <a:xfrm>
            <a:off x="1199455" y="2718642"/>
            <a:ext cx="9793088" cy="1921519"/>
          </a:xfrm>
          <a:prstGeom prst="trapezoid">
            <a:avLst>
              <a:gd name="adj" fmla="val 198458"/>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latin typeface="Segoe UI Light" panose="020B0502040204020203" pitchFamily="34" charset="0"/>
              <a:cs typeface="Segoe UI Light" panose="020B0502040204020203" pitchFamily="34" charset="0"/>
            </a:endParaRPr>
          </a:p>
        </p:txBody>
      </p:sp>
      <p:cxnSp>
        <p:nvCxnSpPr>
          <p:cNvPr id="22" name="Conector recto de flecha 21">
            <a:extLst>
              <a:ext uri="{FF2B5EF4-FFF2-40B4-BE49-F238E27FC236}">
                <a16:creationId xmlns:a16="http://schemas.microsoft.com/office/drawing/2014/main" id="{3A4CD26B-B6C7-4C22-9AC2-8672C1DA9AAC}"/>
              </a:ext>
            </a:extLst>
          </p:cNvPr>
          <p:cNvCxnSpPr>
            <a:cxnSpLocks/>
          </p:cNvCxnSpPr>
          <p:nvPr/>
        </p:nvCxnSpPr>
        <p:spPr>
          <a:xfrm flipV="1">
            <a:off x="6312024" y="2490665"/>
            <a:ext cx="864096" cy="2231"/>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F6CC7FDC-BDFA-474B-9110-628EF39E1178}"/>
              </a:ext>
            </a:extLst>
          </p:cNvPr>
          <p:cNvCxnSpPr>
            <a:cxnSpLocks/>
          </p:cNvCxnSpPr>
          <p:nvPr/>
        </p:nvCxnSpPr>
        <p:spPr>
          <a:xfrm flipH="1">
            <a:off x="5015880" y="2500455"/>
            <a:ext cx="792087"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28" name="7 CuadroTexto">
            <a:extLst>
              <a:ext uri="{FF2B5EF4-FFF2-40B4-BE49-F238E27FC236}">
                <a16:creationId xmlns:a16="http://schemas.microsoft.com/office/drawing/2014/main" id="{E847ACB0-E4C2-40CC-A847-A333769D72F1}"/>
              </a:ext>
            </a:extLst>
          </p:cNvPr>
          <p:cNvSpPr txBox="1"/>
          <p:nvPr/>
        </p:nvSpPr>
        <p:spPr>
          <a:xfrm>
            <a:off x="2999656" y="4038480"/>
            <a:ext cx="576064" cy="276999"/>
          </a:xfrm>
          <a:prstGeom prst="rect">
            <a:avLst/>
          </a:prstGeom>
          <a:noFill/>
          <a:ln>
            <a:noFill/>
          </a:ln>
        </p:spPr>
        <p:txBody>
          <a:bodyPr wrap="square" rtlCol="0">
            <a:spAutoFit/>
          </a:bodyPr>
          <a:lstStyle/>
          <a:p>
            <a:pPr algn="ctr"/>
            <a:r>
              <a:rPr lang="es-CO" sz="1200">
                <a:latin typeface="Segoe UI Light" panose="020B0502040204020203" pitchFamily="34" charset="0"/>
                <a:cs typeface="Segoe UI Light" panose="020B0502040204020203" pitchFamily="34" charset="0"/>
              </a:rPr>
              <a:t>14</a:t>
            </a:r>
          </a:p>
        </p:txBody>
      </p:sp>
      <p:cxnSp>
        <p:nvCxnSpPr>
          <p:cNvPr id="29" name="Conector recto 28">
            <a:extLst>
              <a:ext uri="{FF2B5EF4-FFF2-40B4-BE49-F238E27FC236}">
                <a16:creationId xmlns:a16="http://schemas.microsoft.com/office/drawing/2014/main" id="{39B01375-770B-4330-9678-6CD58CBA4556}"/>
              </a:ext>
            </a:extLst>
          </p:cNvPr>
          <p:cNvCxnSpPr/>
          <p:nvPr/>
        </p:nvCxnSpPr>
        <p:spPr>
          <a:xfrm>
            <a:off x="2490267" y="3993876"/>
            <a:ext cx="1440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D5BC5A72-2ED3-4DE5-AD67-7FCE18225F0A}"/>
              </a:ext>
            </a:extLst>
          </p:cNvPr>
          <p:cNvCxnSpPr>
            <a:cxnSpLocks/>
          </p:cNvCxnSpPr>
          <p:nvPr/>
        </p:nvCxnSpPr>
        <p:spPr>
          <a:xfrm flipV="1">
            <a:off x="3930427" y="3268050"/>
            <a:ext cx="0" cy="7258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7 CuadroTexto">
            <a:extLst>
              <a:ext uri="{FF2B5EF4-FFF2-40B4-BE49-F238E27FC236}">
                <a16:creationId xmlns:a16="http://schemas.microsoft.com/office/drawing/2014/main" id="{C729DC7E-2ECB-4A47-89E3-C554FBC632E4}"/>
              </a:ext>
            </a:extLst>
          </p:cNvPr>
          <p:cNvSpPr txBox="1"/>
          <p:nvPr/>
        </p:nvSpPr>
        <p:spPr>
          <a:xfrm>
            <a:off x="3791744" y="3533639"/>
            <a:ext cx="576064" cy="276999"/>
          </a:xfrm>
          <a:prstGeom prst="rect">
            <a:avLst/>
          </a:prstGeom>
          <a:noFill/>
          <a:ln>
            <a:noFill/>
          </a:ln>
        </p:spPr>
        <p:txBody>
          <a:bodyPr wrap="square" rtlCol="0">
            <a:spAutoFit/>
          </a:bodyPr>
          <a:lstStyle/>
          <a:p>
            <a:pPr algn="ctr"/>
            <a:r>
              <a:rPr lang="es-CO" sz="1200">
                <a:latin typeface="Segoe UI Light" panose="020B0502040204020203" pitchFamily="34" charset="0"/>
                <a:cs typeface="Segoe UI Light" panose="020B0502040204020203" pitchFamily="34" charset="0"/>
              </a:rPr>
              <a:t>1</a:t>
            </a:r>
          </a:p>
        </p:txBody>
      </p:sp>
      <p:sp>
        <p:nvSpPr>
          <p:cNvPr id="36" name="7 CuadroTexto">
            <a:extLst>
              <a:ext uri="{FF2B5EF4-FFF2-40B4-BE49-F238E27FC236}">
                <a16:creationId xmlns:a16="http://schemas.microsoft.com/office/drawing/2014/main" id="{CFD9A046-697C-4517-992D-31FBD4A4D676}"/>
              </a:ext>
            </a:extLst>
          </p:cNvPr>
          <p:cNvSpPr txBox="1"/>
          <p:nvPr/>
        </p:nvSpPr>
        <p:spPr>
          <a:xfrm>
            <a:off x="10944239" y="3407816"/>
            <a:ext cx="576064"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1.5 m</a:t>
            </a:r>
          </a:p>
        </p:txBody>
      </p:sp>
      <p:cxnSp>
        <p:nvCxnSpPr>
          <p:cNvPr id="37" name="Conector recto de flecha 36">
            <a:extLst>
              <a:ext uri="{FF2B5EF4-FFF2-40B4-BE49-F238E27FC236}">
                <a16:creationId xmlns:a16="http://schemas.microsoft.com/office/drawing/2014/main" id="{4B0647F4-F025-4BCF-9C0C-4C9636BA649E}"/>
              </a:ext>
            </a:extLst>
          </p:cNvPr>
          <p:cNvCxnSpPr>
            <a:cxnSpLocks/>
            <a:stCxn id="36" idx="2"/>
          </p:cNvCxnSpPr>
          <p:nvPr/>
        </p:nvCxnSpPr>
        <p:spPr>
          <a:xfrm>
            <a:off x="11232271" y="3684815"/>
            <a:ext cx="0" cy="955346"/>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BEB655EF-CB82-4BDF-A4F6-CBB55A67761B}"/>
              </a:ext>
            </a:extLst>
          </p:cNvPr>
          <p:cNvCxnSpPr>
            <a:cxnSpLocks/>
            <a:stCxn id="36" idx="0"/>
          </p:cNvCxnSpPr>
          <p:nvPr/>
        </p:nvCxnSpPr>
        <p:spPr>
          <a:xfrm flipV="1">
            <a:off x="11232271" y="2718642"/>
            <a:ext cx="0" cy="689174"/>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CC113FB3-0384-49AD-BD05-7FA7E9FFDB69}"/>
              </a:ext>
            </a:extLst>
          </p:cNvPr>
          <p:cNvCxnSpPr>
            <a:cxnSpLocks/>
          </p:cNvCxnSpPr>
          <p:nvPr/>
        </p:nvCxnSpPr>
        <p:spPr>
          <a:xfrm>
            <a:off x="3405410" y="2500455"/>
            <a:ext cx="1584176"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05DEA0AD-D89F-48F8-A2D2-97FFA8BC754B}"/>
              </a:ext>
            </a:extLst>
          </p:cNvPr>
          <p:cNvCxnSpPr>
            <a:cxnSpLocks/>
          </p:cNvCxnSpPr>
          <p:nvPr/>
        </p:nvCxnSpPr>
        <p:spPr>
          <a:xfrm flipH="1">
            <a:off x="1245169" y="2500985"/>
            <a:ext cx="1584177"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49" name="7 CuadroTexto">
            <a:extLst>
              <a:ext uri="{FF2B5EF4-FFF2-40B4-BE49-F238E27FC236}">
                <a16:creationId xmlns:a16="http://schemas.microsoft.com/office/drawing/2014/main" id="{8659FB55-B143-439A-BA1E-F5566E8E3E9C}"/>
              </a:ext>
            </a:extLst>
          </p:cNvPr>
          <p:cNvSpPr txBox="1"/>
          <p:nvPr/>
        </p:nvSpPr>
        <p:spPr>
          <a:xfrm>
            <a:off x="2803052" y="2360075"/>
            <a:ext cx="576064"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21 m</a:t>
            </a:r>
          </a:p>
        </p:txBody>
      </p:sp>
      <p:cxnSp>
        <p:nvCxnSpPr>
          <p:cNvPr id="52" name="Conector recto de flecha 51">
            <a:extLst>
              <a:ext uri="{FF2B5EF4-FFF2-40B4-BE49-F238E27FC236}">
                <a16:creationId xmlns:a16="http://schemas.microsoft.com/office/drawing/2014/main" id="{73450C76-C656-46FE-AC7F-C54A74FC4DE3}"/>
              </a:ext>
            </a:extLst>
          </p:cNvPr>
          <p:cNvCxnSpPr>
            <a:cxnSpLocks/>
          </p:cNvCxnSpPr>
          <p:nvPr/>
        </p:nvCxnSpPr>
        <p:spPr>
          <a:xfrm>
            <a:off x="9336359" y="2483106"/>
            <a:ext cx="1584176"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3" name="Conector recto de flecha 52">
            <a:extLst>
              <a:ext uri="{FF2B5EF4-FFF2-40B4-BE49-F238E27FC236}">
                <a16:creationId xmlns:a16="http://schemas.microsoft.com/office/drawing/2014/main" id="{9ACB2F63-9F0F-4BDE-B014-DC2E4E74ACE7}"/>
              </a:ext>
            </a:extLst>
          </p:cNvPr>
          <p:cNvCxnSpPr>
            <a:cxnSpLocks/>
          </p:cNvCxnSpPr>
          <p:nvPr/>
        </p:nvCxnSpPr>
        <p:spPr>
          <a:xfrm flipH="1">
            <a:off x="7176118" y="2483636"/>
            <a:ext cx="1584177"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54" name="7 CuadroTexto">
            <a:extLst>
              <a:ext uri="{FF2B5EF4-FFF2-40B4-BE49-F238E27FC236}">
                <a16:creationId xmlns:a16="http://schemas.microsoft.com/office/drawing/2014/main" id="{91FBB509-8AC2-413F-843B-414DAD8A25F1}"/>
              </a:ext>
            </a:extLst>
          </p:cNvPr>
          <p:cNvSpPr txBox="1"/>
          <p:nvPr/>
        </p:nvSpPr>
        <p:spPr>
          <a:xfrm>
            <a:off x="8734001" y="2342726"/>
            <a:ext cx="576064"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21 m</a:t>
            </a:r>
          </a:p>
        </p:txBody>
      </p:sp>
      <p:cxnSp>
        <p:nvCxnSpPr>
          <p:cNvPr id="55" name="Conector recto de flecha 54">
            <a:extLst>
              <a:ext uri="{FF2B5EF4-FFF2-40B4-BE49-F238E27FC236}">
                <a16:creationId xmlns:a16="http://schemas.microsoft.com/office/drawing/2014/main" id="{5EEF748E-64BA-4D53-8489-BAB4522F9790}"/>
              </a:ext>
            </a:extLst>
          </p:cNvPr>
          <p:cNvCxnSpPr>
            <a:cxnSpLocks/>
          </p:cNvCxnSpPr>
          <p:nvPr/>
        </p:nvCxnSpPr>
        <p:spPr>
          <a:xfrm>
            <a:off x="6384031" y="2170218"/>
            <a:ext cx="4536504" cy="0"/>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56" name="Conector recto de flecha 55">
            <a:extLst>
              <a:ext uri="{FF2B5EF4-FFF2-40B4-BE49-F238E27FC236}">
                <a16:creationId xmlns:a16="http://schemas.microsoft.com/office/drawing/2014/main" id="{9DB14998-DA06-48CD-8871-A8AFC5FC6681}"/>
              </a:ext>
            </a:extLst>
          </p:cNvPr>
          <p:cNvCxnSpPr>
            <a:cxnSpLocks/>
            <a:stCxn id="57" idx="1"/>
          </p:cNvCxnSpPr>
          <p:nvPr/>
        </p:nvCxnSpPr>
        <p:spPr>
          <a:xfrm flipH="1">
            <a:off x="1245171" y="2169701"/>
            <a:ext cx="4562796" cy="517"/>
          </a:xfrm>
          <a:prstGeom prst="straightConnector1">
            <a:avLst/>
          </a:prstGeom>
          <a:ln>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57" name="7 CuadroTexto">
            <a:extLst>
              <a:ext uri="{FF2B5EF4-FFF2-40B4-BE49-F238E27FC236}">
                <a16:creationId xmlns:a16="http://schemas.microsoft.com/office/drawing/2014/main" id="{D27B4019-D78A-4380-B138-384FC65E4EB7}"/>
              </a:ext>
            </a:extLst>
          </p:cNvPr>
          <p:cNvSpPr txBox="1"/>
          <p:nvPr/>
        </p:nvSpPr>
        <p:spPr>
          <a:xfrm>
            <a:off x="5807967" y="2031201"/>
            <a:ext cx="576064"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67 m</a:t>
            </a:r>
          </a:p>
        </p:txBody>
      </p:sp>
      <p:sp>
        <p:nvSpPr>
          <p:cNvPr id="26" name="7 CuadroTexto">
            <a:extLst>
              <a:ext uri="{FF2B5EF4-FFF2-40B4-BE49-F238E27FC236}">
                <a16:creationId xmlns:a16="http://schemas.microsoft.com/office/drawing/2014/main" id="{38FBE2FE-6DA5-4023-82C6-86EC45DEA710}"/>
              </a:ext>
            </a:extLst>
          </p:cNvPr>
          <p:cNvSpPr txBox="1"/>
          <p:nvPr/>
        </p:nvSpPr>
        <p:spPr>
          <a:xfrm>
            <a:off x="959728" y="5115221"/>
            <a:ext cx="1027254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Exporte el eje del dique trazado como LeveeStructure.shp.</a:t>
            </a:r>
            <a:endParaRPr lang="es-CO" sz="1600">
              <a:latin typeface="Segoe UI Light" panose="020B0502040204020203" pitchFamily="34" charset="0"/>
              <a:cs typeface="Segoe UI Light" panose="020B0502040204020203" pitchFamily="34" charset="0"/>
            </a:endParaRPr>
          </a:p>
        </p:txBody>
      </p:sp>
      <p:pic>
        <p:nvPicPr>
          <p:cNvPr id="32" name="Imagen 31">
            <a:extLst>
              <a:ext uri="{FF2B5EF4-FFF2-40B4-BE49-F238E27FC236}">
                <a16:creationId xmlns:a16="http://schemas.microsoft.com/office/drawing/2014/main" id="{0BB84344-F1D4-4A42-B416-1D0694F3C1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27" name="1 Título">
            <a:extLst>
              <a:ext uri="{FF2B5EF4-FFF2-40B4-BE49-F238E27FC236}">
                <a16:creationId xmlns:a16="http://schemas.microsoft.com/office/drawing/2014/main" id="{CE79E376-5BE6-4BBB-BC96-638CA0A1056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Trazado de diques de encausamiento y evaluación de transiciones de inicio y entrega</a:t>
            </a:r>
          </a:p>
        </p:txBody>
      </p:sp>
      <p:sp>
        <p:nvSpPr>
          <p:cNvPr id="30" name="7 CuadroTexto">
            <a:extLst>
              <a:ext uri="{FF2B5EF4-FFF2-40B4-BE49-F238E27FC236}">
                <a16:creationId xmlns:a16="http://schemas.microsoft.com/office/drawing/2014/main" id="{7C12C8DB-1893-4668-A2DA-B6E3F0B98122}"/>
              </a:ext>
            </a:extLst>
          </p:cNvPr>
          <p:cNvSpPr txBox="1"/>
          <p:nvPr/>
        </p:nvSpPr>
        <p:spPr>
          <a:xfrm>
            <a:off x="5267910" y="2726202"/>
            <a:ext cx="1656177"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Ancho en la corona</a:t>
            </a:r>
          </a:p>
        </p:txBody>
      </p:sp>
      <p:sp>
        <p:nvSpPr>
          <p:cNvPr id="33" name="7 CuadroTexto">
            <a:extLst>
              <a:ext uri="{FF2B5EF4-FFF2-40B4-BE49-F238E27FC236}">
                <a16:creationId xmlns:a16="http://schemas.microsoft.com/office/drawing/2014/main" id="{2B3C7C02-8F3B-42DD-836A-D27D782B5283}"/>
              </a:ext>
            </a:extLst>
          </p:cNvPr>
          <p:cNvSpPr txBox="1"/>
          <p:nvPr/>
        </p:nvSpPr>
        <p:spPr>
          <a:xfrm>
            <a:off x="2577321" y="3667418"/>
            <a:ext cx="1656177"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Talud Izq.</a:t>
            </a:r>
          </a:p>
        </p:txBody>
      </p:sp>
      <p:sp>
        <p:nvSpPr>
          <p:cNvPr id="34" name="7 CuadroTexto">
            <a:extLst>
              <a:ext uri="{FF2B5EF4-FFF2-40B4-BE49-F238E27FC236}">
                <a16:creationId xmlns:a16="http://schemas.microsoft.com/office/drawing/2014/main" id="{E3E93781-89E6-4B8F-A002-1C8954FAEB93}"/>
              </a:ext>
            </a:extLst>
          </p:cNvPr>
          <p:cNvSpPr txBox="1"/>
          <p:nvPr/>
        </p:nvSpPr>
        <p:spPr>
          <a:xfrm>
            <a:off x="7824194" y="3558781"/>
            <a:ext cx="1656177"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Talud Der.</a:t>
            </a:r>
          </a:p>
        </p:txBody>
      </p:sp>
      <p:sp>
        <p:nvSpPr>
          <p:cNvPr id="38" name="7 CuadroTexto">
            <a:extLst>
              <a:ext uri="{FF2B5EF4-FFF2-40B4-BE49-F238E27FC236}">
                <a16:creationId xmlns:a16="http://schemas.microsoft.com/office/drawing/2014/main" id="{783CE364-6A6C-4933-95AF-0519ACC7CBC2}"/>
              </a:ext>
            </a:extLst>
          </p:cNvPr>
          <p:cNvSpPr txBox="1"/>
          <p:nvPr/>
        </p:nvSpPr>
        <p:spPr>
          <a:xfrm>
            <a:off x="10363295" y="3403307"/>
            <a:ext cx="629248" cy="276999"/>
          </a:xfrm>
          <a:prstGeom prst="rect">
            <a:avLst/>
          </a:prstGeom>
          <a:noFill/>
        </p:spPr>
        <p:txBody>
          <a:bodyPr wrap="square" rtlCol="0">
            <a:spAutoFit/>
          </a:bodyPr>
          <a:lstStyle/>
          <a:p>
            <a:pPr algn="ctr"/>
            <a:r>
              <a:rPr lang="es-CO" sz="1200" dirty="0">
                <a:latin typeface="Segoe UI Light" panose="020B0502040204020203" pitchFamily="34" charset="0"/>
                <a:cs typeface="Segoe UI Light" panose="020B0502040204020203" pitchFamily="34" charset="0"/>
              </a:rPr>
              <a:t>Alto</a:t>
            </a:r>
          </a:p>
        </p:txBody>
      </p:sp>
    </p:spTree>
    <p:extLst>
      <p:ext uri="{BB962C8B-B14F-4D97-AF65-F5344CB8AC3E}">
        <p14:creationId xmlns:p14="http://schemas.microsoft.com/office/powerpoint/2010/main" val="3520164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3690E08-4A8A-4E3D-BE02-11F1FD445BC1}"/>
              </a:ext>
            </a:extLst>
          </p:cNvPr>
          <p:cNvPicPr>
            <a:picLocks noChangeAspect="1"/>
          </p:cNvPicPr>
          <p:nvPr/>
        </p:nvPicPr>
        <p:blipFill>
          <a:blip r:embed="rId3"/>
          <a:stretch>
            <a:fillRect/>
          </a:stretch>
        </p:blipFill>
        <p:spPr>
          <a:xfrm>
            <a:off x="0" y="1009335"/>
            <a:ext cx="12192000" cy="5855317"/>
          </a:xfrm>
          <a:prstGeom prst="rect">
            <a:avLst/>
          </a:prstGeom>
        </p:spPr>
      </p:pic>
      <p:sp>
        <p:nvSpPr>
          <p:cNvPr id="8" name="7 CuadroTexto"/>
          <p:cNvSpPr txBox="1"/>
          <p:nvPr/>
        </p:nvSpPr>
        <p:spPr>
          <a:xfrm>
            <a:off x="623392" y="327541"/>
            <a:ext cx="10888903" cy="584775"/>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Para la zona de inicio No se requiere de transiciones de entrega y diques de encausamiento debido a que la corona del dique diseñado se empalma con las curvas de nivel existentes en la zona, creando una frontera natural.</a:t>
            </a:r>
            <a:endParaRPr lang="es-CO" sz="1600">
              <a:latin typeface="Segoe UI Light" panose="020B0502040204020203" pitchFamily="34" charset="0"/>
              <a:cs typeface="Segoe UI Light" panose="020B0502040204020203" pitchFamily="34" charset="0"/>
            </a:endParaRPr>
          </a:p>
        </p:txBody>
      </p:sp>
      <p:pic>
        <p:nvPicPr>
          <p:cNvPr id="17" name="Imagen 16">
            <a:extLst>
              <a:ext uri="{FF2B5EF4-FFF2-40B4-BE49-F238E27FC236}">
                <a16:creationId xmlns:a16="http://schemas.microsoft.com/office/drawing/2014/main" id="{1FEB0433-C6B6-43BB-ABEC-FF9005FB32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75920" y="3069000"/>
            <a:ext cx="360000" cy="360000"/>
          </a:xfrm>
          <a:prstGeom prst="rect">
            <a:avLst/>
          </a:prstGeom>
        </p:spPr>
      </p:pic>
      <p:sp>
        <p:nvSpPr>
          <p:cNvPr id="19" name="7 CuadroTexto">
            <a:extLst>
              <a:ext uri="{FF2B5EF4-FFF2-40B4-BE49-F238E27FC236}">
                <a16:creationId xmlns:a16="http://schemas.microsoft.com/office/drawing/2014/main" id="{C06B2B38-906D-4B19-8217-BE2EB0433F40}"/>
              </a:ext>
            </a:extLst>
          </p:cNvPr>
          <p:cNvSpPr txBox="1"/>
          <p:nvPr/>
        </p:nvSpPr>
        <p:spPr>
          <a:xfrm>
            <a:off x="3899736" y="1808384"/>
            <a:ext cx="1656184" cy="461665"/>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Control Natural de Encausamiento</a:t>
            </a:r>
          </a:p>
        </p:txBody>
      </p:sp>
      <p:pic>
        <p:nvPicPr>
          <p:cNvPr id="22" name="Imagen 21">
            <a:extLst>
              <a:ext uri="{FF2B5EF4-FFF2-40B4-BE49-F238E27FC236}">
                <a16:creationId xmlns:a16="http://schemas.microsoft.com/office/drawing/2014/main" id="{128810EA-D052-4DD3-966F-9DCA6E05088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5999" y="5488665"/>
            <a:ext cx="360000" cy="360000"/>
          </a:xfrm>
          <a:prstGeom prst="rect">
            <a:avLst/>
          </a:prstGeom>
        </p:spPr>
      </p:pic>
      <p:sp>
        <p:nvSpPr>
          <p:cNvPr id="23" name="7 CuadroTexto">
            <a:extLst>
              <a:ext uri="{FF2B5EF4-FFF2-40B4-BE49-F238E27FC236}">
                <a16:creationId xmlns:a16="http://schemas.microsoft.com/office/drawing/2014/main" id="{C9EBC68F-16C3-4449-9BD2-7A6790CE5D6C}"/>
              </a:ext>
            </a:extLst>
          </p:cNvPr>
          <p:cNvSpPr txBox="1"/>
          <p:nvPr/>
        </p:nvSpPr>
        <p:spPr>
          <a:xfrm>
            <a:off x="6240016" y="6421973"/>
            <a:ext cx="1656184" cy="461665"/>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Control Natural de Encausamiento</a:t>
            </a:r>
          </a:p>
        </p:txBody>
      </p:sp>
      <p:pic>
        <p:nvPicPr>
          <p:cNvPr id="10" name="Imagen 9">
            <a:extLst>
              <a:ext uri="{FF2B5EF4-FFF2-40B4-BE49-F238E27FC236}">
                <a16:creationId xmlns:a16="http://schemas.microsoft.com/office/drawing/2014/main" id="{18C646BF-E379-4CFD-AFE4-3F039BF593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B021340E-6633-4B49-B67E-66219C88FB1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2. Trazado de diques de encausamiento y evaluación de transiciones de inicio y entrega</a:t>
            </a:r>
          </a:p>
        </p:txBody>
      </p:sp>
    </p:spTree>
    <p:extLst>
      <p:ext uri="{BB962C8B-B14F-4D97-AF65-F5344CB8AC3E}">
        <p14:creationId xmlns:p14="http://schemas.microsoft.com/office/powerpoint/2010/main" val="364247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561807" y="3244334"/>
            <a:ext cx="5068386"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3. Creación de geometría 1D usando RAS </a:t>
            </a:r>
            <a:r>
              <a:rPr lang="es-CO" dirty="0" err="1">
                <a:latin typeface="Segoe UI Light" panose="020B0502040204020203" pitchFamily="34" charset="0"/>
                <a:cs typeface="Segoe UI Light" panose="020B0502040204020203" pitchFamily="34" charset="0"/>
              </a:rPr>
              <a:t>Mapper</a:t>
            </a:r>
            <a:endParaRPr lang="es-CO"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5B681826-CE32-44E9-943E-64F531C45B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797193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D6172AA-110B-48FF-9060-CBD5E3ADFBAA}"/>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350288" y="1848324"/>
            <a:ext cx="4881616" cy="2448272"/>
          </a:xfrm>
          <a:prstGeom prst="rect">
            <a:avLst/>
          </a:prstGeom>
        </p:spPr>
      </p:pic>
      <p:sp>
        <p:nvSpPr>
          <p:cNvPr id="8" name="7 CuadroTexto"/>
          <p:cNvSpPr txBox="1"/>
          <p:nvPr/>
        </p:nvSpPr>
        <p:spPr>
          <a:xfrm>
            <a:off x="340854" y="932418"/>
            <a:ext cx="4881615"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1. En RAS Mapper, clic derecho en Geometries – Add New Geometry. Nombre la geometría como DEMRecond. </a:t>
            </a:r>
            <a:endParaRPr lang="es-CO" sz="160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F9D6EAC1-4B32-41A7-B151-AE03BB9DA4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geometría 1D usando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3405FF3A-53F5-4F5C-BB35-BD7F0E84174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38087" y="2804861"/>
            <a:ext cx="360000" cy="360000"/>
          </a:xfrm>
          <a:prstGeom prst="rect">
            <a:avLst/>
          </a:prstGeom>
        </p:spPr>
      </p:pic>
      <p:pic>
        <p:nvPicPr>
          <p:cNvPr id="22" name="Imagen 21">
            <a:extLst>
              <a:ext uri="{FF2B5EF4-FFF2-40B4-BE49-F238E27FC236}">
                <a16:creationId xmlns:a16="http://schemas.microsoft.com/office/drawing/2014/main" id="{B7146A78-2B42-4DEF-9745-12EBE3B7E75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91095" y="3056909"/>
            <a:ext cx="360000" cy="360000"/>
          </a:xfrm>
          <a:prstGeom prst="rect">
            <a:avLst/>
          </a:prstGeom>
        </p:spPr>
      </p:pic>
      <p:pic>
        <p:nvPicPr>
          <p:cNvPr id="5" name="Imagen 4">
            <a:extLst>
              <a:ext uri="{FF2B5EF4-FFF2-40B4-BE49-F238E27FC236}">
                <a16:creationId xmlns:a16="http://schemas.microsoft.com/office/drawing/2014/main" id="{48213B90-E382-4533-90E3-0A9C72756D5E}"/>
              </a:ext>
            </a:extLst>
          </p:cNvPr>
          <p:cNvPicPr>
            <a:picLocks noChangeAspect="1"/>
          </p:cNvPicPr>
          <p:nvPr/>
        </p:nvPicPr>
        <p:blipFill>
          <a:blip r:embed="rId6"/>
          <a:stretch>
            <a:fillRect/>
          </a:stretch>
        </p:blipFill>
        <p:spPr>
          <a:xfrm>
            <a:off x="767032" y="4505263"/>
            <a:ext cx="4048125" cy="1457325"/>
          </a:xfrm>
          <a:prstGeom prst="rect">
            <a:avLst/>
          </a:prstGeom>
        </p:spPr>
      </p:pic>
      <p:sp>
        <p:nvSpPr>
          <p:cNvPr id="23" name="7 CuadroTexto">
            <a:extLst>
              <a:ext uri="{FF2B5EF4-FFF2-40B4-BE49-F238E27FC236}">
                <a16:creationId xmlns:a16="http://schemas.microsoft.com/office/drawing/2014/main" id="{7D28241F-909C-40B4-8A10-F1F480549C37}"/>
              </a:ext>
            </a:extLst>
          </p:cNvPr>
          <p:cNvSpPr txBox="1"/>
          <p:nvPr/>
        </p:nvSpPr>
        <p:spPr>
          <a:xfrm>
            <a:off x="5807968" y="698507"/>
            <a:ext cx="6111204"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2. En DEMRecond, clic derecho en Rivers – Edit Geometry (Beta) -  clic derecho nuevamente y Layer Properties. En la pestaña Features de clic en Import Features y Agregue los ejes del río contenidos en la capa RiverRAS_v1.shp y el eje del dique desde LeveeStructure.shp</a:t>
            </a:r>
            <a:endParaRPr lang="es-CO" sz="1600">
              <a:latin typeface="Segoe UI Light" panose="020B0502040204020203" pitchFamily="34" charset="0"/>
              <a:cs typeface="Segoe UI Light" panose="020B0502040204020203" pitchFamily="34" charset="0"/>
            </a:endParaRPr>
          </a:p>
        </p:txBody>
      </p:sp>
      <p:pic>
        <p:nvPicPr>
          <p:cNvPr id="6" name="Imagen 5">
            <a:extLst>
              <a:ext uri="{FF2B5EF4-FFF2-40B4-BE49-F238E27FC236}">
                <a16:creationId xmlns:a16="http://schemas.microsoft.com/office/drawing/2014/main" id="{D6A2600A-B9AC-4A8E-BFF3-BDC3D94F953C}"/>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5865008" y="2041076"/>
            <a:ext cx="6111205" cy="4052523"/>
          </a:xfrm>
          <a:prstGeom prst="rect">
            <a:avLst/>
          </a:prstGeom>
        </p:spPr>
      </p:pic>
      <p:pic>
        <p:nvPicPr>
          <p:cNvPr id="24" name="Imagen 23">
            <a:extLst>
              <a:ext uri="{FF2B5EF4-FFF2-40B4-BE49-F238E27FC236}">
                <a16:creationId xmlns:a16="http://schemas.microsoft.com/office/drawing/2014/main" id="{99C4DA3F-4E6F-49FE-A600-E0623126B7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796213" y="5805264"/>
            <a:ext cx="360000" cy="360000"/>
          </a:xfrm>
          <a:prstGeom prst="rect">
            <a:avLst/>
          </a:prstGeom>
        </p:spPr>
      </p:pic>
      <p:pic>
        <p:nvPicPr>
          <p:cNvPr id="12" name="Imagen 11">
            <a:extLst>
              <a:ext uri="{FF2B5EF4-FFF2-40B4-BE49-F238E27FC236}">
                <a16:creationId xmlns:a16="http://schemas.microsoft.com/office/drawing/2014/main" id="{B3F84E50-1CAA-48AC-84C7-77E4C1AD90A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79841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3CEBD97-3E3C-48D8-8FA0-BD83A72C3A17}"/>
              </a:ext>
            </a:extLst>
          </p:cNvPr>
          <p:cNvPicPr>
            <a:picLocks noChangeAspect="1"/>
          </p:cNvPicPr>
          <p:nvPr/>
        </p:nvPicPr>
        <p:blipFill>
          <a:blip r:embed="rId3"/>
          <a:stretch>
            <a:fillRect/>
          </a:stretch>
        </p:blipFill>
        <p:spPr>
          <a:xfrm>
            <a:off x="847725" y="1196752"/>
            <a:ext cx="10496550" cy="5143500"/>
          </a:xfrm>
          <a:prstGeom prst="rect">
            <a:avLst/>
          </a:prstGeom>
        </p:spPr>
      </p:pic>
      <p:sp>
        <p:nvSpPr>
          <p:cNvPr id="8" name="7 CuadroTexto"/>
          <p:cNvSpPr txBox="1"/>
          <p:nvPr/>
        </p:nvSpPr>
        <p:spPr>
          <a:xfrm>
            <a:off x="847725" y="458390"/>
            <a:ext cx="10496549" cy="584775"/>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Se ha incluído el eje del dique, debido a que a partir de esta linea y de las secciones trasversales se modificará el modelo de terreno, creando un volumen sobre el terreno natural.</a:t>
            </a:r>
            <a:endParaRPr lang="es-CO" sz="160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3405FF3A-53F5-4F5C-BB35-BD7F0E8417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07568" y="2636912"/>
            <a:ext cx="360000" cy="360000"/>
          </a:xfrm>
          <a:prstGeom prst="rect">
            <a:avLst/>
          </a:prstGeom>
        </p:spPr>
      </p:pic>
      <p:pic>
        <p:nvPicPr>
          <p:cNvPr id="9" name="Imagen 8">
            <a:extLst>
              <a:ext uri="{FF2B5EF4-FFF2-40B4-BE49-F238E27FC236}">
                <a16:creationId xmlns:a16="http://schemas.microsoft.com/office/drawing/2014/main" id="{80B09126-2517-48F4-A844-1B4CB7CD61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395BF9F5-3C9A-4C6F-83A2-95E2972B0CC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geometría 1D usando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708168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CAD3E29-BB4F-4F9A-A124-2BAA17837D4E}"/>
              </a:ext>
            </a:extLst>
          </p:cNvPr>
          <p:cNvPicPr>
            <a:picLocks noChangeAspect="1"/>
          </p:cNvPicPr>
          <p:nvPr/>
        </p:nvPicPr>
        <p:blipFill>
          <a:blip r:embed="rId3"/>
          <a:stretch>
            <a:fillRect/>
          </a:stretch>
        </p:blipFill>
        <p:spPr>
          <a:xfrm>
            <a:off x="479376" y="1546444"/>
            <a:ext cx="7056784" cy="5194924"/>
          </a:xfrm>
          <a:prstGeom prst="rect">
            <a:avLst/>
          </a:prstGeom>
        </p:spPr>
      </p:pic>
      <p:sp>
        <p:nvSpPr>
          <p:cNvPr id="8" name="7 CuadroTexto"/>
          <p:cNvSpPr txBox="1"/>
          <p:nvPr/>
        </p:nvSpPr>
        <p:spPr>
          <a:xfrm>
            <a:off x="479376" y="401024"/>
            <a:ext cx="11305256" cy="1077218"/>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Importación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de banca: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DEMRecond</a:t>
            </a:r>
            <a:r>
              <a:rPr lang="en-US" sz="1600" dirty="0">
                <a:latin typeface="Segoe UI Light" panose="020B0502040204020203" pitchFamily="34" charset="0"/>
                <a:cs typeface="Segoe UI Light" panose="020B0502040204020203" pitchFamily="34" charset="0"/>
              </a:rPr>
              <a:t> – Rivers,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Bank Lines – Layer Properties.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pestaña</a:t>
            </a:r>
            <a:r>
              <a:rPr lang="en-US" sz="1600" dirty="0">
                <a:latin typeface="Segoe UI Light" panose="020B0502040204020203" pitchFamily="34" charset="0"/>
                <a:cs typeface="Segoe UI Light" panose="020B0502040204020203" pitchFamily="34" charset="0"/>
              </a:rPr>
              <a:t> Features, de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Import Features y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archivo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formas</a:t>
            </a:r>
            <a:r>
              <a:rPr lang="en-US" sz="1600" dirty="0">
                <a:latin typeface="Segoe UI Light" panose="020B0502040204020203" pitchFamily="34" charset="0"/>
                <a:cs typeface="Segoe UI Light" panose="020B0502040204020203" pitchFamily="34" charset="0"/>
              </a:rPr>
              <a:t> Banks_v0.shp. El </a:t>
            </a:r>
            <a:r>
              <a:rPr lang="en-US" sz="1600" dirty="0" err="1">
                <a:latin typeface="Segoe UI Light" panose="020B0502040204020203" pitchFamily="34" charset="0"/>
                <a:cs typeface="Segoe UI Light" panose="020B0502040204020203" pitchFamily="34" charset="0"/>
              </a:rPr>
              <a:t>cargue</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de Banca solo </a:t>
            </a:r>
            <a:r>
              <a:rPr lang="en-US" sz="1600" dirty="0" err="1">
                <a:latin typeface="Segoe UI Light" panose="020B0502040204020203" pitchFamily="34" charset="0"/>
                <a:cs typeface="Segoe UI Light" panose="020B0502040204020203" pitchFamily="34" charset="0"/>
              </a:rPr>
              <a:t>será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requerido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caso</a:t>
            </a:r>
            <a:r>
              <a:rPr lang="en-US" sz="1600" dirty="0">
                <a:latin typeface="Segoe UI Light" panose="020B0502040204020203" pitchFamily="34" charset="0"/>
                <a:cs typeface="Segoe UI Light" panose="020B0502040204020203" pitchFamily="34" charset="0"/>
              </a:rPr>
              <a:t> de que las </a:t>
            </a:r>
            <a:r>
              <a:rPr lang="en-US" sz="1600" dirty="0" err="1">
                <a:latin typeface="Segoe UI Light" panose="020B0502040204020203" pitchFamily="34" charset="0"/>
                <a:cs typeface="Segoe UI Light" panose="020B0502040204020203" pitchFamily="34" charset="0"/>
              </a:rPr>
              <a:t>líneas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extiendan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zona del </a:t>
            </a:r>
            <a:r>
              <a:rPr lang="en-US" sz="1600" dirty="0" err="1">
                <a:latin typeface="Segoe UI Light" panose="020B0502040204020203" pitchFamily="34" charset="0"/>
                <a:cs typeface="Segoe UI Light" panose="020B0502040204020203" pitchFamily="34" charset="0"/>
              </a:rPr>
              <a:t>valle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caso</a:t>
            </a:r>
            <a:r>
              <a:rPr lang="en-US" sz="1600" dirty="0">
                <a:latin typeface="Segoe UI Light" panose="020B0502040204020203" pitchFamily="34" charset="0"/>
                <a:cs typeface="Segoe UI Light" panose="020B0502040204020203" pitchFamily="34" charset="0"/>
              </a:rPr>
              <a:t> de no </a:t>
            </a:r>
            <a:r>
              <a:rPr lang="en-US" sz="1600" dirty="0" err="1">
                <a:latin typeface="Segoe UI Light" panose="020B0502040204020203" pitchFamily="34" charset="0"/>
                <a:cs typeface="Segoe UI Light" panose="020B0502040204020203" pitchFamily="34" charset="0"/>
              </a:rPr>
              <a:t>importar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lineas</a:t>
            </a:r>
            <a:r>
              <a:rPr lang="en-US" sz="1600" dirty="0">
                <a:latin typeface="Segoe UI Light" panose="020B0502040204020203" pitchFamily="34" charset="0"/>
                <a:cs typeface="Segoe UI Light" panose="020B0502040204020203" pitchFamily="34" charset="0"/>
              </a:rPr>
              <a:t>, RAS Mapper </a:t>
            </a:r>
            <a:r>
              <a:rPr lang="en-US" sz="1600" dirty="0" err="1">
                <a:latin typeface="Segoe UI Light" panose="020B0502040204020203" pitchFamily="34" charset="0"/>
                <a:cs typeface="Segoe UI Light" panose="020B0502040204020203" pitchFamily="34" charset="0"/>
              </a:rPr>
              <a:t>localizará</a:t>
            </a:r>
            <a:r>
              <a:rPr lang="en-US" sz="1600" dirty="0">
                <a:latin typeface="Segoe UI Light" panose="020B0502040204020203" pitchFamily="34" charset="0"/>
                <a:cs typeface="Segoe UI Light" panose="020B0502040204020203" pitchFamily="34" charset="0"/>
              </a:rPr>
              <a:t> las bancas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extremos</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3405FF3A-53F5-4F5C-BB35-BD7F0E8417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9536" y="3071410"/>
            <a:ext cx="360000" cy="360000"/>
          </a:xfrm>
          <a:prstGeom prst="rect">
            <a:avLst/>
          </a:prstGeom>
        </p:spPr>
      </p:pic>
      <p:pic>
        <p:nvPicPr>
          <p:cNvPr id="3" name="Imagen 2">
            <a:extLst>
              <a:ext uri="{FF2B5EF4-FFF2-40B4-BE49-F238E27FC236}">
                <a16:creationId xmlns:a16="http://schemas.microsoft.com/office/drawing/2014/main" id="{FF0B4963-2217-4E61-A487-A2A18FD5DB99}"/>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Lst>
          </a:blip>
          <a:stretch>
            <a:fillRect/>
          </a:stretch>
        </p:blipFill>
        <p:spPr>
          <a:xfrm>
            <a:off x="7797849" y="2971871"/>
            <a:ext cx="3914775" cy="2428875"/>
          </a:xfrm>
          <a:prstGeom prst="rect">
            <a:avLst/>
          </a:prstGeom>
        </p:spPr>
      </p:pic>
      <p:pic>
        <p:nvPicPr>
          <p:cNvPr id="10" name="Imagen 9">
            <a:extLst>
              <a:ext uri="{FF2B5EF4-FFF2-40B4-BE49-F238E27FC236}">
                <a16:creationId xmlns:a16="http://schemas.microsoft.com/office/drawing/2014/main" id="{BD96CB01-E757-48FF-80F8-7C178BB4F64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45339580-420C-48AD-98B5-3E775AE597B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geometría 1D usando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81820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A296C5D-4084-46A8-A73D-24F355D1E5C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804987" y="1484784"/>
            <a:ext cx="8582025" cy="5248275"/>
          </a:xfrm>
          <a:prstGeom prst="rect">
            <a:avLst/>
          </a:prstGeom>
        </p:spPr>
      </p:pic>
      <p:sp>
        <p:nvSpPr>
          <p:cNvPr id="8" name="7 CuadroTexto"/>
          <p:cNvSpPr txBox="1"/>
          <p:nvPr/>
        </p:nvSpPr>
        <p:spPr>
          <a:xfrm>
            <a:off x="1804987" y="335558"/>
            <a:ext cx="8582025"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Importación de secciones transversales: En DEMRecond – Cross Sections, clic derecho – Layer Properties. En la pestaña Features, de clic en Import Features y seleccione el archivo de formas XSCutLines_v2.shp. Verifique la posición de las bancas activando la capa Bank Stations. Detenga la edición y guarde la geometría.</a:t>
            </a:r>
            <a:endParaRPr lang="es-CO" sz="160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3405FF3A-53F5-4F5C-BB35-BD7F0E84174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28448" y="6373059"/>
            <a:ext cx="360000" cy="360000"/>
          </a:xfrm>
          <a:prstGeom prst="rect">
            <a:avLst/>
          </a:prstGeom>
        </p:spPr>
      </p:pic>
      <p:pic>
        <p:nvPicPr>
          <p:cNvPr id="9" name="Imagen 8">
            <a:extLst>
              <a:ext uri="{FF2B5EF4-FFF2-40B4-BE49-F238E27FC236}">
                <a16:creationId xmlns:a16="http://schemas.microsoft.com/office/drawing/2014/main" id="{F13D5E67-A266-4CE6-AD81-724A17BB12A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ACAD3486-589B-47FC-9117-C6FC8B6C6F3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geometría 1D usando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882512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7BB175-7035-4B95-90F4-71FDC24A892A}"/>
              </a:ext>
            </a:extLst>
          </p:cNvPr>
          <p:cNvPicPr>
            <a:picLocks noChangeAspect="1"/>
          </p:cNvPicPr>
          <p:nvPr/>
        </p:nvPicPr>
        <p:blipFill>
          <a:blip r:embed="rId3"/>
          <a:stretch>
            <a:fillRect/>
          </a:stretch>
        </p:blipFill>
        <p:spPr>
          <a:xfrm>
            <a:off x="6130183" y="1484784"/>
            <a:ext cx="5902865" cy="4376383"/>
          </a:xfrm>
          <a:prstGeom prst="rect">
            <a:avLst/>
          </a:prstGeom>
        </p:spPr>
      </p:pic>
      <p:sp>
        <p:nvSpPr>
          <p:cNvPr id="8" name="7 CuadroTexto"/>
          <p:cNvSpPr txBox="1"/>
          <p:nvPr/>
        </p:nvSpPr>
        <p:spPr>
          <a:xfrm>
            <a:off x="1238086" y="816967"/>
            <a:ext cx="9682449" cy="338554"/>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Geometría</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y relleno de </a:t>
            </a:r>
            <a:r>
              <a:rPr lang="en-US" sz="1600" dirty="0" err="1">
                <a:latin typeface="Segoe UI Light" panose="020B0502040204020203" pitchFamily="34" charset="0"/>
                <a:cs typeface="Segoe UI Light" panose="020B0502040204020203" pitchFamily="34" charset="0"/>
              </a:rPr>
              <a:t>diques</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3405FF3A-53F5-4F5C-BB35-BD7F0E8417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48128" y="3106144"/>
            <a:ext cx="360000" cy="360000"/>
          </a:xfrm>
          <a:prstGeom prst="rect">
            <a:avLst/>
          </a:prstGeom>
        </p:spPr>
      </p:pic>
      <p:pic>
        <p:nvPicPr>
          <p:cNvPr id="3" name="Imagen 2">
            <a:extLst>
              <a:ext uri="{FF2B5EF4-FFF2-40B4-BE49-F238E27FC236}">
                <a16:creationId xmlns:a16="http://schemas.microsoft.com/office/drawing/2014/main" id="{7E7D8AAB-B466-467E-AA39-C16517BEEE97}"/>
              </a:ext>
            </a:extLst>
          </p:cNvPr>
          <p:cNvPicPr>
            <a:picLocks noChangeAspect="1"/>
          </p:cNvPicPr>
          <p:nvPr/>
        </p:nvPicPr>
        <p:blipFill>
          <a:blip r:embed="rId5"/>
          <a:stretch>
            <a:fillRect/>
          </a:stretch>
        </p:blipFill>
        <p:spPr>
          <a:xfrm>
            <a:off x="153520" y="1484784"/>
            <a:ext cx="5902866" cy="4376383"/>
          </a:xfrm>
          <a:prstGeom prst="rect">
            <a:avLst/>
          </a:prstGeom>
        </p:spPr>
      </p:pic>
      <p:pic>
        <p:nvPicPr>
          <p:cNvPr id="11" name="Imagen 10">
            <a:extLst>
              <a:ext uri="{FF2B5EF4-FFF2-40B4-BE49-F238E27FC236}">
                <a16:creationId xmlns:a16="http://schemas.microsoft.com/office/drawing/2014/main" id="{0F9A8715-306E-4F60-A549-8286B5C765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75028" y="3106144"/>
            <a:ext cx="360000" cy="360000"/>
          </a:xfrm>
          <a:prstGeom prst="rect">
            <a:avLst/>
          </a:prstGeom>
        </p:spPr>
      </p:pic>
      <p:pic>
        <p:nvPicPr>
          <p:cNvPr id="10" name="Imagen 9">
            <a:extLst>
              <a:ext uri="{FF2B5EF4-FFF2-40B4-BE49-F238E27FC236}">
                <a16:creationId xmlns:a16="http://schemas.microsoft.com/office/drawing/2014/main" id="{383E57F0-42BF-4FDE-B440-B244E035E84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148EE47D-CB7F-4C9C-BE2C-3008844453E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3. Creación de geometría 1D usando RAS </a:t>
            </a:r>
            <a:r>
              <a:rPr lang="es-ES" sz="800" dirty="0" err="1">
                <a:latin typeface="Segoe UI Light" panose="020B0502040204020203" pitchFamily="34" charset="0"/>
                <a:cs typeface="Segoe UI Light" panose="020B0502040204020203" pitchFamily="34" charset="0"/>
              </a:rPr>
              <a:t>Mapper</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673787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945650" y="3105834"/>
            <a:ext cx="6300700"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CO" dirty="0" err="1">
                <a:latin typeface="Segoe UI Light" panose="020B0502040204020203" pitchFamily="34" charset="0"/>
                <a:cs typeface="Segoe UI Light" panose="020B0502040204020203" pitchFamily="34" charset="0"/>
              </a:rPr>
              <a:t>pilot</a:t>
            </a:r>
            <a:r>
              <a:rPr lang="es-CO" dirty="0">
                <a:latin typeface="Segoe UI Light" panose="020B0502040204020203" pitchFamily="34" charset="0"/>
                <a:cs typeface="Segoe UI Light" panose="020B0502040204020203" pitchFamily="34" charset="0"/>
              </a:rPr>
              <a:t> </a:t>
            </a:r>
            <a:r>
              <a:rPr lang="es-CO" dirty="0" err="1">
                <a:latin typeface="Segoe UI Light" panose="020B0502040204020203" pitchFamily="34" charset="0"/>
                <a:cs typeface="Segoe UI Light" panose="020B0502040204020203" pitchFamily="34" charset="0"/>
              </a:rPr>
              <a:t>channel</a:t>
            </a:r>
            <a:endParaRPr lang="es-CO" dirty="0">
              <a:latin typeface="Segoe UI Light" panose="020B0502040204020203" pitchFamily="34" charset="0"/>
              <a:cs typeface="Segoe UI Light" panose="020B0502040204020203" pitchFamily="34" charset="0"/>
            </a:endParaRPr>
          </a:p>
        </p:txBody>
      </p:sp>
      <p:pic>
        <p:nvPicPr>
          <p:cNvPr id="5" name="Imagen 4">
            <a:extLst>
              <a:ext uri="{FF2B5EF4-FFF2-40B4-BE49-F238E27FC236}">
                <a16:creationId xmlns:a16="http://schemas.microsoft.com/office/drawing/2014/main" id="{BABDAFC0-B005-4AA9-B0B2-65F962A38C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303839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448B05C-065F-4CDF-B7DF-6006754AD4B5}"/>
              </a:ext>
            </a:extLst>
          </p:cNvPr>
          <p:cNvPicPr>
            <a:picLocks noChangeAspect="1"/>
          </p:cNvPicPr>
          <p:nvPr/>
        </p:nvPicPr>
        <p:blipFill>
          <a:blip r:embed="rId3"/>
          <a:stretch>
            <a:fillRect/>
          </a:stretch>
        </p:blipFill>
        <p:spPr>
          <a:xfrm>
            <a:off x="1583825" y="916606"/>
            <a:ext cx="9031932" cy="5895845"/>
          </a:xfrm>
          <a:prstGeom prst="rect">
            <a:avLst/>
          </a:prstGeom>
        </p:spPr>
      </p:pic>
      <p:sp>
        <p:nvSpPr>
          <p:cNvPr id="8" name="7 CuadroTexto"/>
          <p:cNvSpPr txBox="1"/>
          <p:nvPr/>
        </p:nvSpPr>
        <p:spPr>
          <a:xfrm>
            <a:off x="1583823" y="379741"/>
            <a:ext cx="9031933" cy="584775"/>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Cerrar RAS Mapper y abrir el editor de geometría de HEC-RAS.  Menú File – Open Geometry Data, seleccione la geometría creada previamente (DEMRecond).</a:t>
            </a:r>
            <a:endParaRPr lang="es-CO" sz="160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F9D6EAC1-4B32-41A7-B151-AE03BB9DA4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4E8A4709-EA12-426B-A8F0-FACA6A223EBF}"/>
              </a:ext>
            </a:extLst>
          </p:cNvPr>
          <p:cNvPicPr>
            <a:picLocks noChangeAspect="1"/>
          </p:cNvPicPr>
          <p:nvPr/>
        </p:nvPicPr>
        <p:blipFill>
          <a:blip r:embed="rId4"/>
          <a:stretch>
            <a:fillRect/>
          </a:stretch>
        </p:blipFill>
        <p:spPr>
          <a:xfrm>
            <a:off x="2303905" y="4441379"/>
            <a:ext cx="5381625" cy="1914525"/>
          </a:xfrm>
          <a:prstGeom prst="rect">
            <a:avLst/>
          </a:prstGeom>
        </p:spPr>
      </p:pic>
      <p:pic>
        <p:nvPicPr>
          <p:cNvPr id="17" name="Imagen 16">
            <a:extLst>
              <a:ext uri="{FF2B5EF4-FFF2-40B4-BE49-F238E27FC236}">
                <a16:creationId xmlns:a16="http://schemas.microsoft.com/office/drawing/2014/main" id="{7A400FAD-E398-4314-9FB3-D3C944B84D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3985" y="1597083"/>
            <a:ext cx="360000" cy="360000"/>
          </a:xfrm>
          <a:prstGeom prst="rect">
            <a:avLst/>
          </a:prstGeom>
        </p:spPr>
      </p:pic>
      <p:pic>
        <p:nvPicPr>
          <p:cNvPr id="18" name="Imagen 17">
            <a:extLst>
              <a:ext uri="{FF2B5EF4-FFF2-40B4-BE49-F238E27FC236}">
                <a16:creationId xmlns:a16="http://schemas.microsoft.com/office/drawing/2014/main" id="{6C646CF0-317F-4F01-BFB6-158887B7EF8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68001" y="5403016"/>
            <a:ext cx="360000" cy="360000"/>
          </a:xfrm>
          <a:prstGeom prst="rect">
            <a:avLst/>
          </a:prstGeom>
        </p:spPr>
      </p:pic>
      <p:pic>
        <p:nvPicPr>
          <p:cNvPr id="11" name="Imagen 10">
            <a:extLst>
              <a:ext uri="{FF2B5EF4-FFF2-40B4-BE49-F238E27FC236}">
                <a16:creationId xmlns:a16="http://schemas.microsoft.com/office/drawing/2014/main" id="{33368C31-FCB2-4706-88C2-0E950F5E24F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4385451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6286246-83D8-49FD-AC0A-68A5857BE138}"/>
              </a:ext>
            </a:extLst>
          </p:cNvPr>
          <p:cNvPicPr>
            <a:picLocks noChangeAspect="1"/>
          </p:cNvPicPr>
          <p:nvPr/>
        </p:nvPicPr>
        <p:blipFill>
          <a:blip r:embed="rId3"/>
          <a:stretch>
            <a:fillRect/>
          </a:stretch>
        </p:blipFill>
        <p:spPr>
          <a:xfrm>
            <a:off x="615723" y="2107091"/>
            <a:ext cx="5981263" cy="4670301"/>
          </a:xfrm>
          <a:prstGeom prst="rect">
            <a:avLst/>
          </a:prstGeom>
        </p:spPr>
      </p:pic>
      <p:sp>
        <p:nvSpPr>
          <p:cNvPr id="8" name="7 CuadroTexto"/>
          <p:cNvSpPr txBox="1"/>
          <p:nvPr/>
        </p:nvSpPr>
        <p:spPr>
          <a:xfrm>
            <a:off x="615722" y="332656"/>
            <a:ext cx="10877237" cy="1815882"/>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a. </a:t>
            </a:r>
            <a:r>
              <a:rPr lang="en-US" sz="1600" dirty="0" err="1">
                <a:latin typeface="Segoe UI Light" panose="020B0502040204020203" pitchFamily="34" charset="0"/>
                <a:cs typeface="Segoe UI Light" panose="020B0502040204020203" pitchFamily="34" charset="0"/>
              </a:rPr>
              <a:t>Dique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protección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eje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dique</a:t>
            </a:r>
            <a:r>
              <a:rPr lang="en-US" sz="1600" dirty="0">
                <a:latin typeface="Segoe UI Light" panose="020B0502040204020203" pitchFamily="34" charset="0"/>
                <a:cs typeface="Segoe UI Light" panose="020B0502040204020203" pitchFamily="34" charset="0"/>
              </a:rPr>
              <a:t> y de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Tools</a:t>
            </a:r>
            <a:r>
              <a:rPr lang="en-US" sz="1600" dirty="0">
                <a:latin typeface="Segoe UI Light" panose="020B0502040204020203" pitchFamily="34" charset="0"/>
                <a:cs typeface="Segoe UI Light" panose="020B0502040204020203" pitchFamily="34" charset="0"/>
              </a:rPr>
              <a:t> – </a:t>
            </a:r>
            <a:r>
              <a:rPr lang="en-US" sz="1600" i="1" dirty="0">
                <a:latin typeface="Segoe UI Light" panose="020B0502040204020203" pitchFamily="34" charset="0"/>
                <a:cs typeface="Segoe UI Light" panose="020B0502040204020203" pitchFamily="34" charset="0"/>
              </a:rPr>
              <a:t>Pilot Channels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Incluya</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especificaciones</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diseño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dique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evaluadas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previamente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libro</a:t>
            </a:r>
            <a:r>
              <a:rPr lang="en-US" sz="1600" dirty="0">
                <a:latin typeface="Segoe UI Light" panose="020B0502040204020203" pitchFamily="34" charset="0"/>
                <a:cs typeface="Segoe UI Light" panose="020B0502040204020203" pitchFamily="34" charset="0"/>
              </a:rPr>
              <a:t> de Excel: Cota </a:t>
            </a:r>
            <a:r>
              <a:rPr lang="en-US" sz="1600" dirty="0" err="1">
                <a:latin typeface="Segoe UI Light" panose="020B0502040204020203" pitchFamily="34" charset="0"/>
                <a:cs typeface="Segoe UI Light" panose="020B0502040204020203" pitchFamily="34" charset="0"/>
              </a:rPr>
              <a:t>inicial</a:t>
            </a:r>
            <a:r>
              <a:rPr lang="en-US" sz="1600" dirty="0">
                <a:latin typeface="Segoe UI Light" panose="020B0502040204020203" pitchFamily="34" charset="0"/>
                <a:cs typeface="Segoe UI Light" panose="020B0502040204020203" pitchFamily="34" charset="0"/>
              </a:rPr>
              <a:t> de corona 67.51 </a:t>
            </a:r>
            <a:r>
              <a:rPr lang="en-US" sz="1600" dirty="0" err="1">
                <a:latin typeface="Segoe UI Light" panose="020B0502040204020203" pitchFamily="34" charset="0"/>
                <a:cs typeface="Segoe UI Light" panose="020B0502040204020203" pitchFamily="34" charset="0"/>
              </a:rPr>
              <a:t>msnm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cota</a:t>
            </a:r>
            <a:r>
              <a:rPr lang="en-US" sz="1600" dirty="0">
                <a:latin typeface="Segoe UI Light" panose="020B0502040204020203" pitchFamily="34" charset="0"/>
                <a:cs typeface="Segoe UI Light" panose="020B0502040204020203" pitchFamily="34" charset="0"/>
              </a:rPr>
              <a:t> final 66.9 </a:t>
            </a:r>
            <a:r>
              <a:rPr lang="en-US" sz="1600" dirty="0" err="1">
                <a:latin typeface="Segoe UI Light" panose="020B0502040204020203" pitchFamily="34" charset="0"/>
                <a:cs typeface="Segoe UI Light" panose="020B0502040204020203" pitchFamily="34" charset="0"/>
              </a:rPr>
              <a:t>msnm</a:t>
            </a:r>
            <a:r>
              <a:rPr lang="en-US" sz="1600" dirty="0">
                <a:latin typeface="Segoe UI Light" panose="020B0502040204020203" pitchFamily="34" charset="0"/>
                <a:cs typeface="Segoe UI Light" panose="020B0502040204020203" pitchFamily="34" charset="0"/>
              </a:rPr>
              <a:t> y ancho de corona 25 metros.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Apply Cuts to Select Range – Update Plot.</a:t>
            </a:r>
          </a:p>
          <a:p>
            <a:pPr algn="just"/>
            <a:endParaRPr lang="en-US" sz="1600" dirty="0">
              <a:latin typeface="Segoe UI Light" panose="020B0502040204020203" pitchFamily="34" charset="0"/>
              <a:cs typeface="Segoe UI Light" panose="020B0502040204020203" pitchFamily="34" charset="0"/>
            </a:endParaRPr>
          </a:p>
          <a:p>
            <a:pPr algn="just"/>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opción</a:t>
            </a:r>
            <a:r>
              <a:rPr lang="en-US" sz="1600" dirty="0">
                <a:latin typeface="Segoe UI Light" panose="020B0502040204020203" pitchFamily="34" charset="0"/>
                <a:cs typeface="Segoe UI Light" panose="020B0502040204020203" pitchFamily="34" charset="0"/>
              </a:rPr>
              <a:t> le </a:t>
            </a:r>
            <a:r>
              <a:rPr lang="en-US" sz="1600" dirty="0" err="1">
                <a:latin typeface="Segoe UI Light" panose="020B0502040204020203" pitchFamily="34" charset="0"/>
                <a:cs typeface="Segoe UI Light" panose="020B0502040204020203" pitchFamily="34" charset="0"/>
              </a:rPr>
              <a:t>permitirá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trazar</a:t>
            </a:r>
            <a:r>
              <a:rPr lang="en-US" sz="1600" dirty="0">
                <a:latin typeface="Segoe UI Light" panose="020B0502040204020203" pitchFamily="34" charset="0"/>
                <a:cs typeface="Segoe UI Light" panose="020B0502040204020203" pitchFamily="34" charset="0"/>
              </a:rPr>
              <a:t> un </a:t>
            </a:r>
            <a:r>
              <a:rPr lang="en-US" sz="1600" dirty="0" err="1">
                <a:latin typeface="Segoe UI Light" panose="020B0502040204020203" pitchFamily="34" charset="0"/>
                <a:cs typeface="Segoe UI Light" panose="020B0502040204020203" pitchFamily="34" charset="0"/>
              </a:rPr>
              <a:t>perfil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esquemático</a:t>
            </a:r>
            <a:r>
              <a:rPr lang="en-US" sz="1600" dirty="0">
                <a:latin typeface="Segoe UI Light" panose="020B0502040204020203" pitchFamily="34" charset="0"/>
                <a:cs typeface="Segoe UI Light" panose="020B0502040204020203" pitchFamily="34" charset="0"/>
              </a:rPr>
              <a:t> que </a:t>
            </a:r>
            <a:r>
              <a:rPr lang="en-US" sz="1600" dirty="0" err="1">
                <a:latin typeface="Segoe UI Light" panose="020B0502040204020203" pitchFamily="34" charset="0"/>
                <a:cs typeface="Segoe UI Light" panose="020B0502040204020203" pitchFamily="34" charset="0"/>
              </a:rPr>
              <a:t>servirá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guía</a:t>
            </a:r>
            <a:r>
              <a:rPr lang="en-US" sz="1600" dirty="0">
                <a:latin typeface="Segoe UI Light" panose="020B0502040204020203" pitchFamily="34" charset="0"/>
                <a:cs typeface="Segoe UI Light" panose="020B0502040204020203" pitchFamily="34" charset="0"/>
              </a:rPr>
              <a:t> para la </a:t>
            </a:r>
            <a:r>
              <a:rPr lang="en-US" sz="1600" dirty="0" err="1">
                <a:latin typeface="Segoe UI Light" panose="020B0502040204020203" pitchFamily="34" charset="0"/>
                <a:cs typeface="Segoe UI Light" panose="020B0502040204020203" pitchFamily="34" charset="0"/>
              </a:rPr>
              <a:t>modificación</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rectificar</a:t>
            </a:r>
            <a:r>
              <a:rPr lang="en-US" sz="1600" dirty="0">
                <a:latin typeface="Segoe UI Light" panose="020B0502040204020203" pitchFamily="34" charset="0"/>
                <a:cs typeface="Segoe UI Light" panose="020B0502040204020203" pitchFamily="34" charset="0"/>
              </a:rPr>
              <a:t> y para la </a:t>
            </a:r>
            <a:r>
              <a:rPr lang="en-US" sz="1600" dirty="0" err="1">
                <a:latin typeface="Segoe UI Light" panose="020B0502040204020203" pitchFamily="34" charset="0"/>
                <a:cs typeface="Segoe UI Light" panose="020B0502040204020203" pitchFamily="34" charset="0"/>
              </a:rPr>
              <a:t>definición</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dique</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generar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seleccionar</a:t>
            </a:r>
            <a:r>
              <a:rPr lang="en-US" sz="1600" dirty="0">
                <a:latin typeface="Segoe UI Light" panose="020B0502040204020203" pitchFamily="34" charset="0"/>
                <a:cs typeface="Segoe UI Light" panose="020B0502040204020203" pitchFamily="34" charset="0"/>
              </a:rPr>
              <a:t> un </a:t>
            </a:r>
            <a:r>
              <a:rPr lang="en-US" sz="1600" dirty="0" err="1">
                <a:latin typeface="Segoe UI Light" panose="020B0502040204020203" pitchFamily="34" charset="0"/>
                <a:cs typeface="Segoe UI Light" panose="020B0502040204020203" pitchFamily="34" charset="0"/>
              </a:rPr>
              <a:t>tramo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comprendido</a:t>
            </a:r>
            <a:r>
              <a:rPr lang="en-US" sz="1600" dirty="0">
                <a:latin typeface="Segoe UI Light" panose="020B0502040204020203" pitchFamily="34" charset="0"/>
                <a:cs typeface="Segoe UI Light" panose="020B0502040204020203" pitchFamily="34" charset="0"/>
              </a:rPr>
              <a:t> entre dos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proyectar</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interpolación</a:t>
            </a:r>
            <a:r>
              <a:rPr lang="en-US" sz="1600" dirty="0">
                <a:latin typeface="Segoe UI Light" panose="020B0502040204020203" pitchFamily="34" charset="0"/>
                <a:cs typeface="Segoe UI Light" panose="020B0502040204020203" pitchFamily="34" charset="0"/>
              </a:rPr>
              <a:t> o una </a:t>
            </a:r>
            <a:r>
              <a:rPr lang="en-US" sz="1600" dirty="0" err="1">
                <a:latin typeface="Segoe UI Light" panose="020B0502040204020203" pitchFamily="34" charset="0"/>
                <a:cs typeface="Segoe UI Light" panose="020B0502040204020203" pitchFamily="34" charset="0"/>
              </a:rPr>
              <a:t>polilínea</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17" name="Imagen 16">
            <a:extLst>
              <a:ext uri="{FF2B5EF4-FFF2-40B4-BE49-F238E27FC236}">
                <a16:creationId xmlns:a16="http://schemas.microsoft.com/office/drawing/2014/main" id="{7A400FAD-E398-4314-9FB3-D3C944B84D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43728" y="2528920"/>
            <a:ext cx="360000" cy="360000"/>
          </a:xfrm>
          <a:prstGeom prst="rect">
            <a:avLst/>
          </a:prstGeom>
        </p:spPr>
      </p:pic>
      <p:pic>
        <p:nvPicPr>
          <p:cNvPr id="11" name="Imagen 10">
            <a:extLst>
              <a:ext uri="{FF2B5EF4-FFF2-40B4-BE49-F238E27FC236}">
                <a16:creationId xmlns:a16="http://schemas.microsoft.com/office/drawing/2014/main" id="{42B13CE1-45F6-4872-8070-32137645A0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9832" y="4262241"/>
            <a:ext cx="360000" cy="360000"/>
          </a:xfrm>
          <a:prstGeom prst="rect">
            <a:avLst/>
          </a:prstGeom>
        </p:spPr>
      </p:pic>
      <p:pic>
        <p:nvPicPr>
          <p:cNvPr id="5" name="Imagen 4">
            <a:extLst>
              <a:ext uri="{FF2B5EF4-FFF2-40B4-BE49-F238E27FC236}">
                <a16:creationId xmlns:a16="http://schemas.microsoft.com/office/drawing/2014/main" id="{A7666320-C054-4E5E-A660-6D911C289D8C}"/>
              </a:ext>
            </a:extLst>
          </p:cNvPr>
          <p:cNvPicPr>
            <a:picLocks noChangeAspect="1"/>
          </p:cNvPicPr>
          <p:nvPr/>
        </p:nvPicPr>
        <p:blipFill>
          <a:blip r:embed="rId5"/>
          <a:stretch>
            <a:fillRect/>
          </a:stretch>
        </p:blipFill>
        <p:spPr>
          <a:xfrm>
            <a:off x="6660152" y="2139154"/>
            <a:ext cx="4832808" cy="4566230"/>
          </a:xfrm>
          <a:prstGeom prst="rect">
            <a:avLst/>
          </a:prstGeom>
        </p:spPr>
      </p:pic>
      <p:pic>
        <p:nvPicPr>
          <p:cNvPr id="13" name="Imagen 12">
            <a:extLst>
              <a:ext uri="{FF2B5EF4-FFF2-40B4-BE49-F238E27FC236}">
                <a16:creationId xmlns:a16="http://schemas.microsoft.com/office/drawing/2014/main" id="{F6FD01CD-5EE0-4848-92E5-649E22826D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41944" y="6363058"/>
            <a:ext cx="360000" cy="360000"/>
          </a:xfrm>
          <a:prstGeom prst="rect">
            <a:avLst/>
          </a:prstGeom>
        </p:spPr>
      </p:pic>
      <p:pic>
        <p:nvPicPr>
          <p:cNvPr id="14" name="Imagen 13">
            <a:extLst>
              <a:ext uri="{FF2B5EF4-FFF2-40B4-BE49-F238E27FC236}">
                <a16:creationId xmlns:a16="http://schemas.microsoft.com/office/drawing/2014/main" id="{97318321-AFEB-48E3-8266-3E71A7D991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44528" y="6525384"/>
            <a:ext cx="360000" cy="360000"/>
          </a:xfrm>
          <a:prstGeom prst="rect">
            <a:avLst/>
          </a:prstGeom>
        </p:spPr>
      </p:pic>
      <p:pic>
        <p:nvPicPr>
          <p:cNvPr id="16" name="Imagen 15">
            <a:extLst>
              <a:ext uri="{FF2B5EF4-FFF2-40B4-BE49-F238E27FC236}">
                <a16:creationId xmlns:a16="http://schemas.microsoft.com/office/drawing/2014/main" id="{A31A9C84-98FF-49C0-AC91-1EDA0E0FDE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84232" y="3401173"/>
            <a:ext cx="360000" cy="360000"/>
          </a:xfrm>
          <a:prstGeom prst="rect">
            <a:avLst/>
          </a:prstGeom>
        </p:spPr>
      </p:pic>
      <p:pic>
        <p:nvPicPr>
          <p:cNvPr id="18" name="Imagen 17">
            <a:extLst>
              <a:ext uri="{FF2B5EF4-FFF2-40B4-BE49-F238E27FC236}">
                <a16:creationId xmlns:a16="http://schemas.microsoft.com/office/drawing/2014/main" id="{40F91F23-6CA1-43D5-AA78-88A1076779B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278D0E66-963C-4159-ACC2-EA159D48764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589399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36845F1-5833-4CDB-8FD1-1B951CAE980B}"/>
              </a:ext>
            </a:extLst>
          </p:cNvPr>
          <p:cNvPicPr>
            <a:picLocks noChangeAspect="1"/>
          </p:cNvPicPr>
          <p:nvPr/>
        </p:nvPicPr>
        <p:blipFill>
          <a:blip r:embed="rId3"/>
          <a:stretch>
            <a:fillRect/>
          </a:stretch>
        </p:blipFill>
        <p:spPr>
          <a:xfrm>
            <a:off x="64419" y="1561599"/>
            <a:ext cx="6225470" cy="4893306"/>
          </a:xfrm>
          <a:prstGeom prst="rect">
            <a:avLst/>
          </a:prstGeom>
        </p:spPr>
      </p:pic>
      <p:sp>
        <p:nvSpPr>
          <p:cNvPr id="8" name="7 CuadroTexto"/>
          <p:cNvSpPr txBox="1"/>
          <p:nvPr/>
        </p:nvSpPr>
        <p:spPr>
          <a:xfrm>
            <a:off x="695400" y="404664"/>
            <a:ext cx="10909212"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Seleccione la sección inicial del dique y de clic en Edit Cross Section. Modifique la tabla de puntos de la sección transversal inicial incluyendo las especificaciones de diseño evaluadas previamente en el libro de Excel. El trazado de la sección del dique podrá ser realizado usando 4 o 5 puntos si requiere incluir el punto del eje. Será necesario eliminar los puntos restantes. Se recomienda preservar siempre los puntos de la estación inicial y final (0 y 67m).</a:t>
            </a:r>
            <a:endParaRPr lang="es-CO" sz="1600">
              <a:latin typeface="Segoe UI Light" panose="020B0502040204020203" pitchFamily="34" charset="0"/>
              <a:cs typeface="Segoe UI Light" panose="020B0502040204020203" pitchFamily="34" charset="0"/>
            </a:endParaRPr>
          </a:p>
        </p:txBody>
      </p:sp>
      <p:pic>
        <p:nvPicPr>
          <p:cNvPr id="17" name="Imagen 16">
            <a:extLst>
              <a:ext uri="{FF2B5EF4-FFF2-40B4-BE49-F238E27FC236}">
                <a16:creationId xmlns:a16="http://schemas.microsoft.com/office/drawing/2014/main" id="{7A400FAD-E398-4314-9FB3-D3C944B84D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31704" y="5733256"/>
            <a:ext cx="360000" cy="360000"/>
          </a:xfrm>
          <a:prstGeom prst="rect">
            <a:avLst/>
          </a:prstGeom>
        </p:spPr>
      </p:pic>
      <p:pic>
        <p:nvPicPr>
          <p:cNvPr id="3" name="Imagen 2">
            <a:extLst>
              <a:ext uri="{FF2B5EF4-FFF2-40B4-BE49-F238E27FC236}">
                <a16:creationId xmlns:a16="http://schemas.microsoft.com/office/drawing/2014/main" id="{58184DF1-B660-4CF1-918A-66F01630310B}"/>
              </a:ext>
            </a:extLst>
          </p:cNvPr>
          <p:cNvPicPr>
            <a:picLocks noChangeAspect="1"/>
          </p:cNvPicPr>
          <p:nvPr/>
        </p:nvPicPr>
        <p:blipFill>
          <a:blip r:embed="rId5"/>
          <a:stretch>
            <a:fillRect/>
          </a:stretch>
        </p:blipFill>
        <p:spPr>
          <a:xfrm>
            <a:off x="6312024" y="1587365"/>
            <a:ext cx="5832648" cy="4849137"/>
          </a:xfrm>
          <a:prstGeom prst="rect">
            <a:avLst/>
          </a:prstGeom>
        </p:spPr>
      </p:pic>
      <p:pic>
        <p:nvPicPr>
          <p:cNvPr id="9" name="Imagen 8">
            <a:extLst>
              <a:ext uri="{FF2B5EF4-FFF2-40B4-BE49-F238E27FC236}">
                <a16:creationId xmlns:a16="http://schemas.microsoft.com/office/drawing/2014/main" id="{14B2E9C4-9853-4B7B-AC74-C211B8E395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55840" y="2924944"/>
            <a:ext cx="360000" cy="360000"/>
          </a:xfrm>
          <a:prstGeom prst="rect">
            <a:avLst/>
          </a:prstGeom>
        </p:spPr>
      </p:pic>
      <p:pic>
        <p:nvPicPr>
          <p:cNvPr id="11" name="Imagen 10">
            <a:extLst>
              <a:ext uri="{FF2B5EF4-FFF2-40B4-BE49-F238E27FC236}">
                <a16:creationId xmlns:a16="http://schemas.microsoft.com/office/drawing/2014/main" id="{75CD2DB3-2CE2-49E1-B3F7-5FB3D3E6BC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60096" y="3141863"/>
            <a:ext cx="360000" cy="360000"/>
          </a:xfrm>
          <a:prstGeom prst="rect">
            <a:avLst/>
          </a:prstGeom>
        </p:spPr>
      </p:pic>
      <p:pic>
        <p:nvPicPr>
          <p:cNvPr id="12" name="Imagen 11">
            <a:extLst>
              <a:ext uri="{FF2B5EF4-FFF2-40B4-BE49-F238E27FC236}">
                <a16:creationId xmlns:a16="http://schemas.microsoft.com/office/drawing/2014/main" id="{CB41A147-C54D-4311-B899-A07B5D4415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2104" y="4935873"/>
            <a:ext cx="360000" cy="360000"/>
          </a:xfrm>
          <a:prstGeom prst="rect">
            <a:avLst/>
          </a:prstGeom>
        </p:spPr>
      </p:pic>
      <p:pic>
        <p:nvPicPr>
          <p:cNvPr id="15" name="Imagen 14">
            <a:extLst>
              <a:ext uri="{FF2B5EF4-FFF2-40B4-BE49-F238E27FC236}">
                <a16:creationId xmlns:a16="http://schemas.microsoft.com/office/drawing/2014/main" id="{401B3547-4004-40C8-B3E8-D376DE4DA58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718028EF-AB54-42CF-9A73-0A8F6E354BB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86130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65AED96-488B-427F-A63B-336F18C33863}"/>
              </a:ext>
            </a:extLst>
          </p:cNvPr>
          <p:cNvPicPr>
            <a:picLocks noChangeAspect="1"/>
          </p:cNvPicPr>
          <p:nvPr/>
        </p:nvPicPr>
        <p:blipFill>
          <a:blip r:embed="rId3"/>
          <a:stretch>
            <a:fillRect/>
          </a:stretch>
        </p:blipFill>
        <p:spPr>
          <a:xfrm>
            <a:off x="3438525" y="888504"/>
            <a:ext cx="5314950" cy="1676400"/>
          </a:xfrm>
          <a:prstGeom prst="rect">
            <a:avLst/>
          </a:prstGeom>
        </p:spPr>
      </p:pic>
      <p:sp>
        <p:nvSpPr>
          <p:cNvPr id="8" name="7 CuadroTexto"/>
          <p:cNvSpPr txBox="1"/>
          <p:nvPr/>
        </p:nvSpPr>
        <p:spPr>
          <a:xfrm>
            <a:off x="839417" y="423714"/>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Sección de inicio modificada.</a:t>
            </a:r>
            <a:endParaRPr lang="es-CO" sz="1600">
              <a:latin typeface="Segoe UI Light" panose="020B0502040204020203" pitchFamily="34" charset="0"/>
              <a:cs typeface="Segoe UI Light" panose="020B0502040204020203" pitchFamily="34" charset="0"/>
            </a:endParaRPr>
          </a:p>
        </p:txBody>
      </p:sp>
      <p:pic>
        <p:nvPicPr>
          <p:cNvPr id="17" name="Imagen 16">
            <a:extLst>
              <a:ext uri="{FF2B5EF4-FFF2-40B4-BE49-F238E27FC236}">
                <a16:creationId xmlns:a16="http://schemas.microsoft.com/office/drawing/2014/main" id="{7A400FAD-E398-4314-9FB3-D3C944B84D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62574" y="1860592"/>
            <a:ext cx="360000" cy="360000"/>
          </a:xfrm>
          <a:prstGeom prst="rect">
            <a:avLst/>
          </a:prstGeom>
        </p:spPr>
      </p:pic>
      <p:pic>
        <p:nvPicPr>
          <p:cNvPr id="6" name="Imagen 5">
            <a:extLst>
              <a:ext uri="{FF2B5EF4-FFF2-40B4-BE49-F238E27FC236}">
                <a16:creationId xmlns:a16="http://schemas.microsoft.com/office/drawing/2014/main" id="{15BC48E7-9FBC-4E26-B0DE-FD84BC81A658}"/>
              </a:ext>
            </a:extLst>
          </p:cNvPr>
          <p:cNvPicPr>
            <a:picLocks noChangeAspect="1"/>
          </p:cNvPicPr>
          <p:nvPr/>
        </p:nvPicPr>
        <p:blipFill>
          <a:blip r:embed="rId5"/>
          <a:stretch>
            <a:fillRect/>
          </a:stretch>
        </p:blipFill>
        <p:spPr>
          <a:xfrm>
            <a:off x="0" y="2774880"/>
            <a:ext cx="12192000" cy="4086121"/>
          </a:xfrm>
          <a:prstGeom prst="rect">
            <a:avLst/>
          </a:prstGeom>
        </p:spPr>
      </p:pic>
      <p:sp>
        <p:nvSpPr>
          <p:cNvPr id="18" name="7 CuadroTexto">
            <a:extLst>
              <a:ext uri="{FF2B5EF4-FFF2-40B4-BE49-F238E27FC236}">
                <a16:creationId xmlns:a16="http://schemas.microsoft.com/office/drawing/2014/main" id="{4035D825-8908-44B9-8EC4-25CEAE72D0E0}"/>
              </a:ext>
            </a:extLst>
          </p:cNvPr>
          <p:cNvSpPr txBox="1"/>
          <p:nvPr/>
        </p:nvSpPr>
        <p:spPr>
          <a:xfrm>
            <a:off x="8616280" y="5673794"/>
            <a:ext cx="513490"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MDT</a:t>
            </a:r>
          </a:p>
        </p:txBody>
      </p:sp>
      <p:sp>
        <p:nvSpPr>
          <p:cNvPr id="19" name="7 CuadroTexto">
            <a:extLst>
              <a:ext uri="{FF2B5EF4-FFF2-40B4-BE49-F238E27FC236}">
                <a16:creationId xmlns:a16="http://schemas.microsoft.com/office/drawing/2014/main" id="{B2A91909-D10D-4AB0-99F3-11490F039327}"/>
              </a:ext>
            </a:extLst>
          </p:cNvPr>
          <p:cNvSpPr txBox="1"/>
          <p:nvPr/>
        </p:nvSpPr>
        <p:spPr>
          <a:xfrm>
            <a:off x="9480376" y="4817940"/>
            <a:ext cx="864096"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Dique</a:t>
            </a:r>
          </a:p>
        </p:txBody>
      </p:sp>
      <p:pic>
        <p:nvPicPr>
          <p:cNvPr id="11" name="Imagen 10">
            <a:extLst>
              <a:ext uri="{FF2B5EF4-FFF2-40B4-BE49-F238E27FC236}">
                <a16:creationId xmlns:a16="http://schemas.microsoft.com/office/drawing/2014/main" id="{206A1A62-BB81-44BF-845C-B5F4A1CBF7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5440" y="5229200"/>
            <a:ext cx="360000" cy="360000"/>
          </a:xfrm>
          <a:prstGeom prst="rect">
            <a:avLst/>
          </a:prstGeom>
        </p:spPr>
      </p:pic>
      <p:pic>
        <p:nvPicPr>
          <p:cNvPr id="14" name="Imagen 13">
            <a:extLst>
              <a:ext uri="{FF2B5EF4-FFF2-40B4-BE49-F238E27FC236}">
                <a16:creationId xmlns:a16="http://schemas.microsoft.com/office/drawing/2014/main" id="{A6DBA141-AC32-4F11-9C06-0413D088D46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776C8332-9608-40CB-AB5D-197B3E033D7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448654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65AED96-488B-427F-A63B-336F18C33863}"/>
              </a:ext>
            </a:extLst>
          </p:cNvPr>
          <p:cNvPicPr>
            <a:picLocks noChangeAspect="1"/>
          </p:cNvPicPr>
          <p:nvPr/>
        </p:nvPicPr>
        <p:blipFill>
          <a:blip r:embed="rId3"/>
          <a:stretch>
            <a:fillRect/>
          </a:stretch>
        </p:blipFill>
        <p:spPr>
          <a:xfrm>
            <a:off x="3438525" y="875135"/>
            <a:ext cx="5314950" cy="1676400"/>
          </a:xfrm>
          <a:prstGeom prst="rect">
            <a:avLst/>
          </a:prstGeom>
        </p:spPr>
      </p:pic>
      <p:sp>
        <p:nvSpPr>
          <p:cNvPr id="8" name="7 CuadroTexto"/>
          <p:cNvSpPr txBox="1"/>
          <p:nvPr/>
        </p:nvSpPr>
        <p:spPr>
          <a:xfrm>
            <a:off x="839417" y="423714"/>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Repita el mismo procedimiento para la sección de final del dique.</a:t>
            </a:r>
            <a:endParaRPr lang="es-CO" sz="1600">
              <a:latin typeface="Segoe UI Light" panose="020B0502040204020203" pitchFamily="34" charset="0"/>
              <a:cs typeface="Segoe UI Light" panose="020B0502040204020203" pitchFamily="34" charset="0"/>
            </a:endParaRPr>
          </a:p>
        </p:txBody>
      </p:sp>
      <p:pic>
        <p:nvPicPr>
          <p:cNvPr id="17" name="Imagen 16">
            <a:extLst>
              <a:ext uri="{FF2B5EF4-FFF2-40B4-BE49-F238E27FC236}">
                <a16:creationId xmlns:a16="http://schemas.microsoft.com/office/drawing/2014/main" id="{7A400FAD-E398-4314-9FB3-D3C944B84D6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47928" y="2223954"/>
            <a:ext cx="360000" cy="360000"/>
          </a:xfrm>
          <a:prstGeom prst="rect">
            <a:avLst/>
          </a:prstGeom>
        </p:spPr>
      </p:pic>
      <p:pic>
        <p:nvPicPr>
          <p:cNvPr id="2" name="Imagen 1">
            <a:extLst>
              <a:ext uri="{FF2B5EF4-FFF2-40B4-BE49-F238E27FC236}">
                <a16:creationId xmlns:a16="http://schemas.microsoft.com/office/drawing/2014/main" id="{80D183C0-085C-40F2-9608-E98EDAE153EA}"/>
              </a:ext>
            </a:extLst>
          </p:cNvPr>
          <p:cNvPicPr>
            <a:picLocks noChangeAspect="1"/>
          </p:cNvPicPr>
          <p:nvPr/>
        </p:nvPicPr>
        <p:blipFill>
          <a:blip r:embed="rId5"/>
          <a:stretch>
            <a:fillRect/>
          </a:stretch>
        </p:blipFill>
        <p:spPr>
          <a:xfrm>
            <a:off x="0" y="2770262"/>
            <a:ext cx="12192000" cy="4086121"/>
          </a:xfrm>
          <a:prstGeom prst="rect">
            <a:avLst/>
          </a:prstGeom>
        </p:spPr>
      </p:pic>
      <p:sp>
        <p:nvSpPr>
          <p:cNvPr id="11" name="7 CuadroTexto">
            <a:extLst>
              <a:ext uri="{FF2B5EF4-FFF2-40B4-BE49-F238E27FC236}">
                <a16:creationId xmlns:a16="http://schemas.microsoft.com/office/drawing/2014/main" id="{D4D05E9B-89A9-4409-B1F3-BA0F3A9A3942}"/>
              </a:ext>
            </a:extLst>
          </p:cNvPr>
          <p:cNvSpPr txBox="1"/>
          <p:nvPr/>
        </p:nvSpPr>
        <p:spPr>
          <a:xfrm>
            <a:off x="8496730" y="5844365"/>
            <a:ext cx="513490"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MDT</a:t>
            </a:r>
          </a:p>
        </p:txBody>
      </p:sp>
      <p:sp>
        <p:nvSpPr>
          <p:cNvPr id="12" name="7 CuadroTexto">
            <a:extLst>
              <a:ext uri="{FF2B5EF4-FFF2-40B4-BE49-F238E27FC236}">
                <a16:creationId xmlns:a16="http://schemas.microsoft.com/office/drawing/2014/main" id="{3AEEBC77-E3F4-418F-A6B1-95DD7C858157}"/>
              </a:ext>
            </a:extLst>
          </p:cNvPr>
          <p:cNvSpPr txBox="1"/>
          <p:nvPr/>
        </p:nvSpPr>
        <p:spPr>
          <a:xfrm>
            <a:off x="9705925" y="4725144"/>
            <a:ext cx="864096"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Dique</a:t>
            </a:r>
          </a:p>
        </p:txBody>
      </p:sp>
      <p:pic>
        <p:nvPicPr>
          <p:cNvPr id="13" name="Imagen 12">
            <a:extLst>
              <a:ext uri="{FF2B5EF4-FFF2-40B4-BE49-F238E27FC236}">
                <a16:creationId xmlns:a16="http://schemas.microsoft.com/office/drawing/2014/main" id="{C345764C-EF34-4A31-BB98-983C47A545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5440" y="5229200"/>
            <a:ext cx="360000" cy="360000"/>
          </a:xfrm>
          <a:prstGeom prst="rect">
            <a:avLst/>
          </a:prstGeom>
        </p:spPr>
      </p:pic>
      <p:pic>
        <p:nvPicPr>
          <p:cNvPr id="16" name="Imagen 15">
            <a:extLst>
              <a:ext uri="{FF2B5EF4-FFF2-40B4-BE49-F238E27FC236}">
                <a16:creationId xmlns:a16="http://schemas.microsoft.com/office/drawing/2014/main" id="{6E9E3A58-1E97-4BE2-BAD4-9284F59B44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E51AA6CF-8F83-479B-B3B5-03F8976BF25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074981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471339"/>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Comparación de la sección inicial y final del dique de protección.</a:t>
            </a:r>
            <a:endParaRPr lang="es-CO" sz="160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4A0C60F5-E658-41FE-B03D-CAE8D5F082EC}"/>
              </a:ext>
            </a:extLst>
          </p:cNvPr>
          <p:cNvPicPr>
            <a:picLocks noChangeAspect="1"/>
          </p:cNvPicPr>
          <p:nvPr/>
        </p:nvPicPr>
        <p:blipFill>
          <a:blip r:embed="rId3"/>
          <a:stretch>
            <a:fillRect/>
          </a:stretch>
        </p:blipFill>
        <p:spPr>
          <a:xfrm>
            <a:off x="0" y="935651"/>
            <a:ext cx="12192000" cy="5925350"/>
          </a:xfrm>
          <a:prstGeom prst="rect">
            <a:avLst/>
          </a:prstGeom>
        </p:spPr>
      </p:pic>
      <p:sp>
        <p:nvSpPr>
          <p:cNvPr id="12" name="7 CuadroTexto">
            <a:extLst>
              <a:ext uri="{FF2B5EF4-FFF2-40B4-BE49-F238E27FC236}">
                <a16:creationId xmlns:a16="http://schemas.microsoft.com/office/drawing/2014/main" id="{578EC28B-8FB1-43CC-A0FF-47BE44C8D6B3}"/>
              </a:ext>
            </a:extLst>
          </p:cNvPr>
          <p:cNvSpPr txBox="1"/>
          <p:nvPr/>
        </p:nvSpPr>
        <p:spPr>
          <a:xfrm>
            <a:off x="8472264" y="5783849"/>
            <a:ext cx="513490"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MDT</a:t>
            </a:r>
          </a:p>
        </p:txBody>
      </p:sp>
      <p:sp>
        <p:nvSpPr>
          <p:cNvPr id="13" name="7 CuadroTexto">
            <a:extLst>
              <a:ext uri="{FF2B5EF4-FFF2-40B4-BE49-F238E27FC236}">
                <a16:creationId xmlns:a16="http://schemas.microsoft.com/office/drawing/2014/main" id="{AC53B40D-9A0B-4FD8-A2A8-4A96733E028C}"/>
              </a:ext>
            </a:extLst>
          </p:cNvPr>
          <p:cNvSpPr txBox="1"/>
          <p:nvPr/>
        </p:nvSpPr>
        <p:spPr>
          <a:xfrm>
            <a:off x="9768408" y="5157192"/>
            <a:ext cx="864096"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Dique</a:t>
            </a:r>
          </a:p>
        </p:txBody>
      </p:sp>
      <p:sp>
        <p:nvSpPr>
          <p:cNvPr id="14" name="7 CuadroTexto">
            <a:extLst>
              <a:ext uri="{FF2B5EF4-FFF2-40B4-BE49-F238E27FC236}">
                <a16:creationId xmlns:a16="http://schemas.microsoft.com/office/drawing/2014/main" id="{4F86E6A8-02C2-494E-AF83-DE9BF8AD2812}"/>
              </a:ext>
            </a:extLst>
          </p:cNvPr>
          <p:cNvSpPr txBox="1"/>
          <p:nvPr/>
        </p:nvSpPr>
        <p:spPr>
          <a:xfrm>
            <a:off x="9480376" y="3409501"/>
            <a:ext cx="864096"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Dique</a:t>
            </a:r>
          </a:p>
        </p:txBody>
      </p:sp>
      <p:sp>
        <p:nvSpPr>
          <p:cNvPr id="16" name="7 CuadroTexto">
            <a:extLst>
              <a:ext uri="{FF2B5EF4-FFF2-40B4-BE49-F238E27FC236}">
                <a16:creationId xmlns:a16="http://schemas.microsoft.com/office/drawing/2014/main" id="{0D20FE1A-B8F6-4069-B0F5-86E556DD3446}"/>
              </a:ext>
            </a:extLst>
          </p:cNvPr>
          <p:cNvSpPr txBox="1"/>
          <p:nvPr/>
        </p:nvSpPr>
        <p:spPr>
          <a:xfrm>
            <a:off x="10905039" y="4149080"/>
            <a:ext cx="513490" cy="276999"/>
          </a:xfrm>
          <a:prstGeom prst="rect">
            <a:avLst/>
          </a:prstGeom>
          <a:noFill/>
        </p:spPr>
        <p:txBody>
          <a:bodyPr wrap="square" rtlCol="0">
            <a:spAutoFit/>
          </a:bodyPr>
          <a:lstStyle/>
          <a:p>
            <a:pPr algn="ctr"/>
            <a:r>
              <a:rPr lang="es-CO" sz="1200">
                <a:latin typeface="Segoe UI Light" panose="020B0502040204020203" pitchFamily="34" charset="0"/>
                <a:cs typeface="Segoe UI Light" panose="020B0502040204020203" pitchFamily="34" charset="0"/>
              </a:rPr>
              <a:t>MDT</a:t>
            </a:r>
          </a:p>
        </p:txBody>
      </p:sp>
      <p:pic>
        <p:nvPicPr>
          <p:cNvPr id="10" name="Imagen 9">
            <a:extLst>
              <a:ext uri="{FF2B5EF4-FFF2-40B4-BE49-F238E27FC236}">
                <a16:creationId xmlns:a16="http://schemas.microsoft.com/office/drawing/2014/main" id="{E2175F55-6D74-46E9-8416-64EEE1E774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BE8FE7BC-9319-46D1-BCA8-63A6F036A11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509987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0FB9B85-2EAD-417F-BBEC-43105189EAAA}"/>
              </a:ext>
            </a:extLst>
          </p:cNvPr>
          <p:cNvPicPr>
            <a:picLocks noChangeAspect="1"/>
          </p:cNvPicPr>
          <p:nvPr/>
        </p:nvPicPr>
        <p:blipFill>
          <a:blip r:embed="rId3"/>
          <a:stretch>
            <a:fillRect/>
          </a:stretch>
        </p:blipFill>
        <p:spPr>
          <a:xfrm>
            <a:off x="331168" y="1321244"/>
            <a:ext cx="5404792" cy="5420124"/>
          </a:xfrm>
          <a:prstGeom prst="rect">
            <a:avLst/>
          </a:prstGeom>
        </p:spPr>
      </p:pic>
      <p:sp>
        <p:nvSpPr>
          <p:cNvPr id="8" name="7 CuadroTexto"/>
          <p:cNvSpPr txBox="1"/>
          <p:nvPr/>
        </p:nvSpPr>
        <p:spPr>
          <a:xfrm>
            <a:off x="259160" y="361231"/>
            <a:ext cx="11673680" cy="830997"/>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b.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tramo</a:t>
            </a:r>
            <a:r>
              <a:rPr lang="en-US" sz="1600" dirty="0">
                <a:latin typeface="Segoe UI Light" panose="020B0502040204020203" pitchFamily="34" charset="0"/>
                <a:cs typeface="Segoe UI Light" panose="020B0502040204020203" pitchFamily="34" charset="0"/>
              </a:rPr>
              <a:t> natural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arriba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eje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río</a:t>
            </a:r>
            <a:r>
              <a:rPr lang="en-US" sz="1600" dirty="0">
                <a:latin typeface="Segoe UI Light" panose="020B0502040204020203" pitchFamily="34" charset="0"/>
                <a:cs typeface="Segoe UI Light" panose="020B0502040204020203" pitchFamily="34" charset="0"/>
              </a:rPr>
              <a:t> y de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Tools – Pilot Channels.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perfil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identifique</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cotas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inicio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abscisa</a:t>
            </a:r>
            <a:r>
              <a:rPr lang="en-US" sz="1600" dirty="0">
                <a:latin typeface="Segoe UI Light" panose="020B0502040204020203" pitchFamily="34" charset="0"/>
                <a:cs typeface="Segoe UI Light" panose="020B0502040204020203" pitchFamily="34" charset="0"/>
              </a:rPr>
              <a:t> 899.8m ( 71 </a:t>
            </a:r>
            <a:r>
              <a:rPr lang="en-US" sz="1600" dirty="0" err="1">
                <a:latin typeface="Segoe UI Light" panose="020B0502040204020203" pitchFamily="34" charset="0"/>
                <a:cs typeface="Segoe UI Light" panose="020B0502040204020203" pitchFamily="34" charset="0"/>
              </a:rPr>
              <a:t>msnm</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entrega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abscisa</a:t>
            </a:r>
            <a:r>
              <a:rPr lang="en-US" sz="1600" dirty="0">
                <a:latin typeface="Segoe UI Light" panose="020B0502040204020203" pitchFamily="34" charset="0"/>
                <a:cs typeface="Segoe UI Light" panose="020B0502040204020203" pitchFamily="34" charset="0"/>
              </a:rPr>
              <a:t> 131.6m (70.50 </a:t>
            </a:r>
            <a:r>
              <a:rPr lang="en-US" sz="1600" dirty="0" err="1">
                <a:latin typeface="Segoe UI Light" panose="020B0502040204020203" pitchFamily="34" charset="0"/>
                <a:cs typeface="Segoe UI Light" panose="020B0502040204020203" pitchFamily="34" charset="0"/>
              </a:rPr>
              <a:t>msnm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Apply y Update Plot.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este</a:t>
            </a:r>
            <a:r>
              <a:rPr lang="en-US" sz="1600" dirty="0">
                <a:latin typeface="Segoe UI Light" panose="020B0502040204020203" pitchFamily="34" charset="0"/>
                <a:cs typeface="Segoe UI Light" panose="020B0502040204020203" pitchFamily="34" charset="0"/>
              </a:rPr>
              <a:t> nuevo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observa</a:t>
            </a:r>
            <a:r>
              <a:rPr lang="en-US" sz="1600" dirty="0">
                <a:latin typeface="Segoe UI Light" panose="020B0502040204020203" pitchFamily="34" charset="0"/>
                <a:cs typeface="Segoe UI Light" panose="020B0502040204020203" pitchFamily="34" charset="0"/>
              </a:rPr>
              <a:t> que es </a:t>
            </a:r>
            <a:r>
              <a:rPr lang="en-US" sz="1600" dirty="0" err="1">
                <a:latin typeface="Segoe UI Light" panose="020B0502040204020203" pitchFamily="34" charset="0"/>
                <a:cs typeface="Segoe UI Light" panose="020B0502040204020203" pitchFamily="34" charset="0"/>
              </a:rPr>
              <a:t>necesario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rectificar</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242.4m, 413.5m y 503m.</a:t>
            </a:r>
            <a:endParaRPr lang="es-CO" sz="1600" dirty="0">
              <a:latin typeface="Segoe UI Light" panose="020B0502040204020203" pitchFamily="34" charset="0"/>
              <a:cs typeface="Segoe UI Light" panose="020B0502040204020203" pitchFamily="34" charset="0"/>
            </a:endParaRPr>
          </a:p>
        </p:txBody>
      </p:sp>
      <p:pic>
        <p:nvPicPr>
          <p:cNvPr id="5" name="Imagen 4">
            <a:extLst>
              <a:ext uri="{FF2B5EF4-FFF2-40B4-BE49-F238E27FC236}">
                <a16:creationId xmlns:a16="http://schemas.microsoft.com/office/drawing/2014/main" id="{18B0F5D3-1836-47AE-944D-078426577C59}"/>
              </a:ext>
            </a:extLst>
          </p:cNvPr>
          <p:cNvPicPr>
            <a:picLocks noChangeAspect="1"/>
          </p:cNvPicPr>
          <p:nvPr/>
        </p:nvPicPr>
        <p:blipFill>
          <a:blip r:embed="rId4"/>
          <a:stretch>
            <a:fillRect/>
          </a:stretch>
        </p:blipFill>
        <p:spPr>
          <a:xfrm>
            <a:off x="6235824" y="1321244"/>
            <a:ext cx="5591049" cy="5378056"/>
          </a:xfrm>
          <a:prstGeom prst="rect">
            <a:avLst/>
          </a:prstGeom>
        </p:spPr>
      </p:pic>
      <p:pic>
        <p:nvPicPr>
          <p:cNvPr id="9" name="Imagen 8">
            <a:extLst>
              <a:ext uri="{FF2B5EF4-FFF2-40B4-BE49-F238E27FC236}">
                <a16:creationId xmlns:a16="http://schemas.microsoft.com/office/drawing/2014/main" id="{2AB859AB-FB30-408A-8414-094B48903F5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0F3C6857-1258-47EF-82CE-85D26EB901E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956158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D776A23-5A63-4545-AE97-5C5E960CE64D}"/>
              </a:ext>
            </a:extLst>
          </p:cNvPr>
          <p:cNvPicPr>
            <a:picLocks noChangeAspect="1"/>
          </p:cNvPicPr>
          <p:nvPr/>
        </p:nvPicPr>
        <p:blipFill>
          <a:blip r:embed="rId3"/>
          <a:stretch>
            <a:fillRect/>
          </a:stretch>
        </p:blipFill>
        <p:spPr>
          <a:xfrm>
            <a:off x="139528" y="1772815"/>
            <a:ext cx="5922406" cy="4417069"/>
          </a:xfrm>
          <a:prstGeom prst="rect">
            <a:avLst/>
          </a:prstGeom>
        </p:spPr>
      </p:pic>
      <p:sp>
        <p:nvSpPr>
          <p:cNvPr id="8" name="7 CuadroTexto"/>
          <p:cNvSpPr txBox="1"/>
          <p:nvPr/>
        </p:nvSpPr>
        <p:spPr>
          <a:xfrm>
            <a:off x="839417" y="692696"/>
            <a:ext cx="10441160"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Cierre la ventana Pilot Channels y seleccione la sección transversal de la abscisa 242.4m. De clic en Edit Cross Section y modifique los puntos de la base hasta el nuevo fondo. Para visualizar el fondo trazado con Pilot Channel, clic derecho en la ventana del editor y active la casilla Pilot Channels. </a:t>
            </a:r>
            <a:endParaRPr lang="es-CO"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B11C7137-3941-4546-8BA0-006A7B3330EF}"/>
              </a:ext>
            </a:extLst>
          </p:cNvPr>
          <p:cNvPicPr>
            <a:picLocks noChangeAspect="1"/>
          </p:cNvPicPr>
          <p:nvPr/>
        </p:nvPicPr>
        <p:blipFill>
          <a:blip r:embed="rId4"/>
          <a:stretch>
            <a:fillRect/>
          </a:stretch>
        </p:blipFill>
        <p:spPr>
          <a:xfrm>
            <a:off x="139528" y="3754877"/>
            <a:ext cx="2880319" cy="2435007"/>
          </a:xfrm>
          <a:prstGeom prst="rect">
            <a:avLst/>
          </a:prstGeom>
        </p:spPr>
      </p:pic>
      <p:pic>
        <p:nvPicPr>
          <p:cNvPr id="6" name="Imagen 5">
            <a:extLst>
              <a:ext uri="{FF2B5EF4-FFF2-40B4-BE49-F238E27FC236}">
                <a16:creationId xmlns:a16="http://schemas.microsoft.com/office/drawing/2014/main" id="{F7F47D83-4D8B-40E4-B298-BEDA13E5351F}"/>
              </a:ext>
            </a:extLst>
          </p:cNvPr>
          <p:cNvPicPr>
            <a:picLocks noChangeAspect="1"/>
          </p:cNvPicPr>
          <p:nvPr/>
        </p:nvPicPr>
        <p:blipFill>
          <a:blip r:embed="rId5"/>
          <a:stretch>
            <a:fillRect/>
          </a:stretch>
        </p:blipFill>
        <p:spPr>
          <a:xfrm>
            <a:off x="6177533" y="1764137"/>
            <a:ext cx="5934042" cy="4425747"/>
          </a:xfrm>
          <a:prstGeom prst="rect">
            <a:avLst/>
          </a:prstGeom>
        </p:spPr>
      </p:pic>
      <p:pic>
        <p:nvPicPr>
          <p:cNvPr id="10" name="Imagen 9">
            <a:extLst>
              <a:ext uri="{FF2B5EF4-FFF2-40B4-BE49-F238E27FC236}">
                <a16:creationId xmlns:a16="http://schemas.microsoft.com/office/drawing/2014/main" id="{E930DAD6-5EAD-4C63-9D40-EB04B7BB42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E8D9E992-A9D1-42EB-9772-5DC3D934D63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9019589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816967"/>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Repita este procedimiento para la sección de la abscisa 413.5m.</a:t>
            </a:r>
            <a:endParaRPr lang="es-CO" sz="160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4E28203E-DC75-40A4-9042-2562A7D66A3F}"/>
              </a:ext>
            </a:extLst>
          </p:cNvPr>
          <p:cNvPicPr>
            <a:picLocks noChangeAspect="1"/>
          </p:cNvPicPr>
          <p:nvPr/>
        </p:nvPicPr>
        <p:blipFill>
          <a:blip r:embed="rId3"/>
          <a:stretch>
            <a:fillRect/>
          </a:stretch>
        </p:blipFill>
        <p:spPr>
          <a:xfrm>
            <a:off x="90761" y="1556792"/>
            <a:ext cx="5985997" cy="4464497"/>
          </a:xfrm>
          <a:prstGeom prst="rect">
            <a:avLst/>
          </a:prstGeom>
        </p:spPr>
      </p:pic>
      <p:pic>
        <p:nvPicPr>
          <p:cNvPr id="5" name="Imagen 4">
            <a:extLst>
              <a:ext uri="{FF2B5EF4-FFF2-40B4-BE49-F238E27FC236}">
                <a16:creationId xmlns:a16="http://schemas.microsoft.com/office/drawing/2014/main" id="{AFB24B99-F1C5-48C1-99AA-FB6C6B7D2254}"/>
              </a:ext>
            </a:extLst>
          </p:cNvPr>
          <p:cNvPicPr>
            <a:picLocks noChangeAspect="1"/>
          </p:cNvPicPr>
          <p:nvPr/>
        </p:nvPicPr>
        <p:blipFill>
          <a:blip r:embed="rId4"/>
          <a:stretch>
            <a:fillRect/>
          </a:stretch>
        </p:blipFill>
        <p:spPr>
          <a:xfrm>
            <a:off x="6160636" y="1556793"/>
            <a:ext cx="5985996" cy="4464496"/>
          </a:xfrm>
          <a:prstGeom prst="rect">
            <a:avLst/>
          </a:prstGeom>
        </p:spPr>
      </p:pic>
      <p:pic>
        <p:nvPicPr>
          <p:cNvPr id="9" name="Imagen 8">
            <a:extLst>
              <a:ext uri="{FF2B5EF4-FFF2-40B4-BE49-F238E27FC236}">
                <a16:creationId xmlns:a16="http://schemas.microsoft.com/office/drawing/2014/main" id="{D2B16545-6AEF-40A8-8629-8AAD71152D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F0A60AD2-205F-47D3-91F4-6C5B697469C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0157710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816967"/>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Repita este procedimiento para la sección de la abscisa 503m.</a:t>
            </a:r>
            <a:endParaRPr lang="es-CO"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9D26707D-AAF9-4076-B4F0-4AA7B85E098D}"/>
              </a:ext>
            </a:extLst>
          </p:cNvPr>
          <p:cNvPicPr>
            <a:picLocks noChangeAspect="1"/>
          </p:cNvPicPr>
          <p:nvPr/>
        </p:nvPicPr>
        <p:blipFill>
          <a:blip r:embed="rId3"/>
          <a:stretch>
            <a:fillRect/>
          </a:stretch>
        </p:blipFill>
        <p:spPr>
          <a:xfrm>
            <a:off x="90761" y="1576538"/>
            <a:ext cx="5985997" cy="4464496"/>
          </a:xfrm>
          <a:prstGeom prst="rect">
            <a:avLst/>
          </a:prstGeom>
        </p:spPr>
      </p:pic>
      <p:pic>
        <p:nvPicPr>
          <p:cNvPr id="4" name="Imagen 3">
            <a:extLst>
              <a:ext uri="{FF2B5EF4-FFF2-40B4-BE49-F238E27FC236}">
                <a16:creationId xmlns:a16="http://schemas.microsoft.com/office/drawing/2014/main" id="{B11017E4-FAFC-4F8B-A2B1-094B2164939B}"/>
              </a:ext>
            </a:extLst>
          </p:cNvPr>
          <p:cNvPicPr>
            <a:picLocks noChangeAspect="1"/>
          </p:cNvPicPr>
          <p:nvPr/>
        </p:nvPicPr>
        <p:blipFill>
          <a:blip r:embed="rId4"/>
          <a:stretch>
            <a:fillRect/>
          </a:stretch>
        </p:blipFill>
        <p:spPr>
          <a:xfrm>
            <a:off x="6129908" y="1576538"/>
            <a:ext cx="5985997" cy="4464497"/>
          </a:xfrm>
          <a:prstGeom prst="rect">
            <a:avLst/>
          </a:prstGeom>
        </p:spPr>
      </p:pic>
      <p:pic>
        <p:nvPicPr>
          <p:cNvPr id="9" name="Imagen 8">
            <a:extLst>
              <a:ext uri="{FF2B5EF4-FFF2-40B4-BE49-F238E27FC236}">
                <a16:creationId xmlns:a16="http://schemas.microsoft.com/office/drawing/2014/main" id="{716A0AB3-2503-4940-B8A1-E016D49263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C5549D59-08B6-4B08-8D3C-154019DC48A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973804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670949E-8E20-4BB6-951B-B8C946C08931}"/>
              </a:ext>
            </a:extLst>
          </p:cNvPr>
          <p:cNvPicPr>
            <a:picLocks noChangeAspect="1"/>
          </p:cNvPicPr>
          <p:nvPr/>
        </p:nvPicPr>
        <p:blipFill>
          <a:blip r:embed="rId3"/>
          <a:stretch>
            <a:fillRect/>
          </a:stretch>
        </p:blipFill>
        <p:spPr>
          <a:xfrm>
            <a:off x="0" y="878650"/>
            <a:ext cx="12192000" cy="5991876"/>
          </a:xfrm>
          <a:prstGeom prst="rect">
            <a:avLst/>
          </a:prstGeom>
        </p:spPr>
      </p:pic>
      <p:sp>
        <p:nvSpPr>
          <p:cNvPr id="8" name="7 CuadroTexto"/>
          <p:cNvSpPr txBox="1"/>
          <p:nvPr/>
        </p:nvSpPr>
        <p:spPr>
          <a:xfrm>
            <a:off x="839417" y="491530"/>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Verifique el nuevo perfil de fondo del tramo natural aguas arriba del punto de inicio del cauce sinuoso diseñado.</a:t>
            </a:r>
            <a:endParaRPr lang="es-CO" sz="160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D01B04B9-2A00-4B10-9015-BF6192A0ED08}"/>
              </a:ext>
            </a:extLst>
          </p:cNvPr>
          <p:cNvPicPr>
            <a:picLocks noChangeAspect="1"/>
          </p:cNvPicPr>
          <p:nvPr/>
        </p:nvPicPr>
        <p:blipFill>
          <a:blip r:embed="rId4"/>
          <a:stretch>
            <a:fillRect/>
          </a:stretch>
        </p:blipFill>
        <p:spPr>
          <a:xfrm>
            <a:off x="9526" y="1633869"/>
            <a:ext cx="2895600" cy="3505200"/>
          </a:xfrm>
          <a:prstGeom prst="rect">
            <a:avLst/>
          </a:prstGeom>
        </p:spPr>
      </p:pic>
      <p:pic>
        <p:nvPicPr>
          <p:cNvPr id="9" name="Imagen 8">
            <a:extLst>
              <a:ext uri="{FF2B5EF4-FFF2-40B4-BE49-F238E27FC236}">
                <a16:creationId xmlns:a16="http://schemas.microsoft.com/office/drawing/2014/main" id="{324EA299-4C22-4038-AE5B-E7CE9A0789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1424" y="4149080"/>
            <a:ext cx="360000" cy="360000"/>
          </a:xfrm>
          <a:prstGeom prst="rect">
            <a:avLst/>
          </a:prstGeom>
        </p:spPr>
      </p:pic>
      <p:pic>
        <p:nvPicPr>
          <p:cNvPr id="10" name="Imagen 9">
            <a:extLst>
              <a:ext uri="{FF2B5EF4-FFF2-40B4-BE49-F238E27FC236}">
                <a16:creationId xmlns:a16="http://schemas.microsoft.com/office/drawing/2014/main" id="{0336F270-9BD1-461A-A58D-E567CA308F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9910EF5F-9A22-4988-9B4A-ECE8D0CBBFB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673307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5360" y="479574"/>
            <a:ext cx="11449272" cy="1077218"/>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c.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tramo</a:t>
            </a:r>
            <a:r>
              <a:rPr lang="en-US" sz="1600" dirty="0">
                <a:latin typeface="Segoe UI Light" panose="020B0502040204020203" pitchFamily="34" charset="0"/>
                <a:cs typeface="Segoe UI Light" panose="020B0502040204020203" pitchFamily="34" charset="0"/>
              </a:rPr>
              <a:t> natural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eje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río</a:t>
            </a:r>
            <a:r>
              <a:rPr lang="en-US" sz="1600" dirty="0">
                <a:latin typeface="Segoe UI Light" panose="020B0502040204020203" pitchFamily="34" charset="0"/>
                <a:cs typeface="Segoe UI Light" panose="020B0502040204020203" pitchFamily="34" charset="0"/>
              </a:rPr>
              <a:t> y de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Tools – Pilot Channels.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perfil</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identifique</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cotas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inicio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abscisa</a:t>
            </a:r>
            <a:r>
              <a:rPr lang="en-US" sz="1600" dirty="0">
                <a:latin typeface="Segoe UI Light" panose="020B0502040204020203" pitchFamily="34" charset="0"/>
                <a:cs typeface="Segoe UI Light" panose="020B0502040204020203" pitchFamily="34" charset="0"/>
              </a:rPr>
              <a:t> 3104.9 (64.53 </a:t>
            </a:r>
            <a:r>
              <a:rPr lang="en-US" sz="1600" dirty="0" err="1">
                <a:latin typeface="Segoe UI Light" panose="020B0502040204020203" pitchFamily="34" charset="0"/>
                <a:cs typeface="Segoe UI Light" panose="020B0502040204020203" pitchFamily="34" charset="0"/>
              </a:rPr>
              <a:t>msnm</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entrega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abscisa</a:t>
            </a:r>
            <a:r>
              <a:rPr lang="en-US" sz="1600" dirty="0">
                <a:latin typeface="Segoe UI Light" panose="020B0502040204020203" pitchFamily="34" charset="0"/>
                <a:cs typeface="Segoe UI Light" panose="020B0502040204020203" pitchFamily="34" charset="0"/>
              </a:rPr>
              <a:t> 0m (61.00 </a:t>
            </a:r>
            <a:r>
              <a:rPr lang="en-US" sz="1600" dirty="0" err="1">
                <a:latin typeface="Segoe UI Light" panose="020B0502040204020203" pitchFamily="34" charset="0"/>
                <a:cs typeface="Segoe UI Light" panose="020B0502040204020203" pitchFamily="34" charset="0"/>
              </a:rPr>
              <a:t>msnm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Defina</a:t>
            </a:r>
            <a:r>
              <a:rPr lang="en-US" sz="1600" dirty="0">
                <a:latin typeface="Segoe UI Light" panose="020B0502040204020203" pitchFamily="34" charset="0"/>
                <a:cs typeface="Segoe UI Light" panose="020B0502040204020203" pitchFamily="34" charset="0"/>
              </a:rPr>
              <a:t> el nuevo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modifique</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requeridas</a:t>
            </a:r>
            <a:r>
              <a:rPr lang="en-US" sz="1600" dirty="0">
                <a:latin typeface="Segoe UI Light" panose="020B0502040204020203" pitchFamily="34" charset="0"/>
                <a:cs typeface="Segoe UI Light" panose="020B0502040204020203" pitchFamily="34" charset="0"/>
              </a:rPr>
              <a:t>. El ancho de </a:t>
            </a:r>
            <a:r>
              <a:rPr lang="en-US" sz="1600" dirty="0" err="1">
                <a:latin typeface="Segoe UI Light" panose="020B0502040204020203" pitchFamily="34" charset="0"/>
                <a:cs typeface="Segoe UI Light" panose="020B0502040204020203" pitchFamily="34" charset="0"/>
              </a:rPr>
              <a:t>pilotaje</a:t>
            </a:r>
            <a:r>
              <a:rPr lang="en-US" sz="1600" dirty="0">
                <a:latin typeface="Segoe UI Light" panose="020B0502040204020203" pitchFamily="34" charset="0"/>
                <a:cs typeface="Segoe UI Light" panose="020B0502040204020203" pitchFamily="34" charset="0"/>
              </a:rPr>
              <a:t> de 60 metros </a:t>
            </a:r>
            <a:r>
              <a:rPr lang="en-US" sz="1600" dirty="0" err="1">
                <a:latin typeface="Segoe UI Light" panose="020B0502040204020203" pitchFamily="34" charset="0"/>
                <a:cs typeface="Segoe UI Light" panose="020B0502040204020203" pitchFamily="34" charset="0"/>
              </a:rPr>
              <a:t>corresponde</a:t>
            </a:r>
            <a:r>
              <a:rPr lang="en-US" sz="1600" dirty="0">
                <a:latin typeface="Segoe UI Light" panose="020B0502040204020203" pitchFamily="34" charset="0"/>
                <a:cs typeface="Segoe UI Light" panose="020B0502040204020203" pitchFamily="34" charset="0"/>
              </a:rPr>
              <a:t> al ancho </a:t>
            </a:r>
            <a:r>
              <a:rPr lang="en-US" sz="1600" dirty="0" err="1">
                <a:latin typeface="Segoe UI Light" panose="020B0502040204020203" pitchFamily="34" charset="0"/>
                <a:cs typeface="Segoe UI Light" panose="020B0502040204020203" pitchFamily="34" charset="0"/>
              </a:rPr>
              <a:t>promedio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natural.</a:t>
            </a:r>
            <a:endParaRPr lang="es-CO"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6C3C5C69-A237-4696-B4C4-93B9DF59A15F}"/>
              </a:ext>
            </a:extLst>
          </p:cNvPr>
          <p:cNvPicPr>
            <a:picLocks noChangeAspect="1"/>
          </p:cNvPicPr>
          <p:nvPr/>
        </p:nvPicPr>
        <p:blipFill>
          <a:blip r:embed="rId3"/>
          <a:stretch>
            <a:fillRect/>
          </a:stretch>
        </p:blipFill>
        <p:spPr>
          <a:xfrm>
            <a:off x="393284" y="1628800"/>
            <a:ext cx="5149473" cy="5164081"/>
          </a:xfrm>
          <a:prstGeom prst="rect">
            <a:avLst/>
          </a:prstGeom>
        </p:spPr>
      </p:pic>
      <p:pic>
        <p:nvPicPr>
          <p:cNvPr id="4" name="Imagen 3">
            <a:extLst>
              <a:ext uri="{FF2B5EF4-FFF2-40B4-BE49-F238E27FC236}">
                <a16:creationId xmlns:a16="http://schemas.microsoft.com/office/drawing/2014/main" id="{5B320E49-2319-43E1-AF6A-F89B2D743484}"/>
              </a:ext>
            </a:extLst>
          </p:cNvPr>
          <p:cNvPicPr>
            <a:picLocks noChangeAspect="1"/>
          </p:cNvPicPr>
          <p:nvPr/>
        </p:nvPicPr>
        <p:blipFill>
          <a:blip r:embed="rId4"/>
          <a:stretch>
            <a:fillRect/>
          </a:stretch>
        </p:blipFill>
        <p:spPr>
          <a:xfrm>
            <a:off x="5704533" y="1628800"/>
            <a:ext cx="6152107" cy="5164081"/>
          </a:xfrm>
          <a:prstGeom prst="rect">
            <a:avLst/>
          </a:prstGeom>
        </p:spPr>
      </p:pic>
      <p:pic>
        <p:nvPicPr>
          <p:cNvPr id="9" name="Imagen 8">
            <a:extLst>
              <a:ext uri="{FF2B5EF4-FFF2-40B4-BE49-F238E27FC236}">
                <a16:creationId xmlns:a16="http://schemas.microsoft.com/office/drawing/2014/main" id="{7CC342C9-96B1-4947-8406-33D9763D328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EEF83B32-F7B1-466F-8DE3-0F63EF61CF7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576543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811634"/>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Sección en la abscisa 2855.7m.</a:t>
            </a:r>
            <a:endParaRPr lang="es-CO" sz="160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F73CF675-27FF-47E5-849F-A1A235E7F3F7}"/>
              </a:ext>
            </a:extLst>
          </p:cNvPr>
          <p:cNvPicPr>
            <a:picLocks noChangeAspect="1"/>
          </p:cNvPicPr>
          <p:nvPr/>
        </p:nvPicPr>
        <p:blipFill>
          <a:blip r:embed="rId3"/>
          <a:stretch>
            <a:fillRect/>
          </a:stretch>
        </p:blipFill>
        <p:spPr>
          <a:xfrm>
            <a:off x="70583" y="1628800"/>
            <a:ext cx="5985996" cy="4464496"/>
          </a:xfrm>
          <a:prstGeom prst="rect">
            <a:avLst/>
          </a:prstGeom>
        </p:spPr>
      </p:pic>
      <p:pic>
        <p:nvPicPr>
          <p:cNvPr id="5" name="Imagen 4">
            <a:extLst>
              <a:ext uri="{FF2B5EF4-FFF2-40B4-BE49-F238E27FC236}">
                <a16:creationId xmlns:a16="http://schemas.microsoft.com/office/drawing/2014/main" id="{6B932499-87AD-48E3-97E1-F51AED187FFC}"/>
              </a:ext>
            </a:extLst>
          </p:cNvPr>
          <p:cNvPicPr>
            <a:picLocks noChangeAspect="1"/>
          </p:cNvPicPr>
          <p:nvPr/>
        </p:nvPicPr>
        <p:blipFill>
          <a:blip r:embed="rId4"/>
          <a:stretch>
            <a:fillRect/>
          </a:stretch>
        </p:blipFill>
        <p:spPr>
          <a:xfrm>
            <a:off x="6134294" y="1628800"/>
            <a:ext cx="5985995" cy="4464496"/>
          </a:xfrm>
          <a:prstGeom prst="rect">
            <a:avLst/>
          </a:prstGeom>
        </p:spPr>
      </p:pic>
      <p:pic>
        <p:nvPicPr>
          <p:cNvPr id="9" name="Imagen 8">
            <a:extLst>
              <a:ext uri="{FF2B5EF4-FFF2-40B4-BE49-F238E27FC236}">
                <a16:creationId xmlns:a16="http://schemas.microsoft.com/office/drawing/2014/main" id="{8F8527BC-2F1F-4E46-BEAC-8383C6F916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2D26D89F-FF7C-40E6-AC11-985E423D2A3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1579123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811634"/>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Sección en la abscisa 3104.9m.</a:t>
            </a:r>
            <a:endParaRPr lang="es-CO"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1471AE72-CFD0-491E-A259-8D3555BC0DC4}"/>
              </a:ext>
            </a:extLst>
          </p:cNvPr>
          <p:cNvPicPr>
            <a:picLocks noChangeAspect="1"/>
          </p:cNvPicPr>
          <p:nvPr/>
        </p:nvPicPr>
        <p:blipFill>
          <a:blip r:embed="rId3"/>
          <a:stretch>
            <a:fillRect/>
          </a:stretch>
        </p:blipFill>
        <p:spPr>
          <a:xfrm>
            <a:off x="127720" y="1628800"/>
            <a:ext cx="6677479" cy="4980220"/>
          </a:xfrm>
          <a:prstGeom prst="rect">
            <a:avLst/>
          </a:prstGeom>
        </p:spPr>
      </p:pic>
      <p:pic>
        <p:nvPicPr>
          <p:cNvPr id="4" name="Imagen 3">
            <a:extLst>
              <a:ext uri="{FF2B5EF4-FFF2-40B4-BE49-F238E27FC236}">
                <a16:creationId xmlns:a16="http://schemas.microsoft.com/office/drawing/2014/main" id="{F2A31460-3E20-4B30-9120-08F0C0C8DF86}"/>
              </a:ext>
            </a:extLst>
          </p:cNvPr>
          <p:cNvPicPr>
            <a:picLocks noChangeAspect="1"/>
          </p:cNvPicPr>
          <p:nvPr/>
        </p:nvPicPr>
        <p:blipFill>
          <a:blip r:embed="rId4"/>
          <a:stretch>
            <a:fillRect/>
          </a:stretch>
        </p:blipFill>
        <p:spPr>
          <a:xfrm>
            <a:off x="6873230" y="1630587"/>
            <a:ext cx="5184576" cy="4980220"/>
          </a:xfrm>
          <a:prstGeom prst="rect">
            <a:avLst/>
          </a:prstGeom>
        </p:spPr>
      </p:pic>
      <p:pic>
        <p:nvPicPr>
          <p:cNvPr id="9" name="Imagen 8">
            <a:extLst>
              <a:ext uri="{FF2B5EF4-FFF2-40B4-BE49-F238E27FC236}">
                <a16:creationId xmlns:a16="http://schemas.microsoft.com/office/drawing/2014/main" id="{5B593494-3D4E-4605-9C85-FA5F97081C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313FE9BC-2200-461A-86BC-791C1FC5233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155510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811634"/>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Sección en la abscisa 2731.2m.</a:t>
            </a:r>
            <a:endParaRPr lang="es-CO"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A65889F7-5122-43FD-AD05-CADBEC23DF49}"/>
              </a:ext>
            </a:extLst>
          </p:cNvPr>
          <p:cNvPicPr>
            <a:picLocks noChangeAspect="1"/>
          </p:cNvPicPr>
          <p:nvPr/>
        </p:nvPicPr>
        <p:blipFill>
          <a:blip r:embed="rId3"/>
          <a:stretch>
            <a:fillRect/>
          </a:stretch>
        </p:blipFill>
        <p:spPr>
          <a:xfrm>
            <a:off x="62186" y="1628800"/>
            <a:ext cx="5985996" cy="4464496"/>
          </a:xfrm>
          <a:prstGeom prst="rect">
            <a:avLst/>
          </a:prstGeom>
        </p:spPr>
      </p:pic>
      <p:pic>
        <p:nvPicPr>
          <p:cNvPr id="4" name="Imagen 3">
            <a:extLst>
              <a:ext uri="{FF2B5EF4-FFF2-40B4-BE49-F238E27FC236}">
                <a16:creationId xmlns:a16="http://schemas.microsoft.com/office/drawing/2014/main" id="{92BEF13F-11C5-4958-8575-CA8A3B6A9B4D}"/>
              </a:ext>
            </a:extLst>
          </p:cNvPr>
          <p:cNvPicPr>
            <a:picLocks noChangeAspect="1"/>
          </p:cNvPicPr>
          <p:nvPr/>
        </p:nvPicPr>
        <p:blipFill>
          <a:blip r:embed="rId4"/>
          <a:stretch>
            <a:fillRect/>
          </a:stretch>
        </p:blipFill>
        <p:spPr>
          <a:xfrm>
            <a:off x="6130100" y="1628800"/>
            <a:ext cx="5985997" cy="4464497"/>
          </a:xfrm>
          <a:prstGeom prst="rect">
            <a:avLst/>
          </a:prstGeom>
        </p:spPr>
      </p:pic>
      <p:pic>
        <p:nvPicPr>
          <p:cNvPr id="9" name="Imagen 8">
            <a:extLst>
              <a:ext uri="{FF2B5EF4-FFF2-40B4-BE49-F238E27FC236}">
                <a16:creationId xmlns:a16="http://schemas.microsoft.com/office/drawing/2014/main" id="{8EB10F86-8F4F-43AB-93C8-D26BA50221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87B6499E-CF22-4B45-94F8-2D89D0A3ECA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2735291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811634"/>
            <a:ext cx="10441160"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Sección en la abscisa 2582.1m.</a:t>
            </a:r>
            <a:endParaRPr lang="es-CO" sz="160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066912A0-FC6F-4FB2-9189-CCDC6003545C}"/>
              </a:ext>
            </a:extLst>
          </p:cNvPr>
          <p:cNvPicPr>
            <a:picLocks noChangeAspect="1"/>
          </p:cNvPicPr>
          <p:nvPr/>
        </p:nvPicPr>
        <p:blipFill>
          <a:blip r:embed="rId3"/>
          <a:stretch>
            <a:fillRect/>
          </a:stretch>
        </p:blipFill>
        <p:spPr>
          <a:xfrm>
            <a:off x="71903" y="1628800"/>
            <a:ext cx="5985997" cy="4464497"/>
          </a:xfrm>
          <a:prstGeom prst="rect">
            <a:avLst/>
          </a:prstGeom>
        </p:spPr>
      </p:pic>
      <p:pic>
        <p:nvPicPr>
          <p:cNvPr id="5" name="Imagen 4">
            <a:extLst>
              <a:ext uri="{FF2B5EF4-FFF2-40B4-BE49-F238E27FC236}">
                <a16:creationId xmlns:a16="http://schemas.microsoft.com/office/drawing/2014/main" id="{2FC52B25-A842-4BF6-9A45-1702A9F18D46}"/>
              </a:ext>
            </a:extLst>
          </p:cNvPr>
          <p:cNvPicPr>
            <a:picLocks noChangeAspect="1"/>
          </p:cNvPicPr>
          <p:nvPr/>
        </p:nvPicPr>
        <p:blipFill>
          <a:blip r:embed="rId4"/>
          <a:stretch>
            <a:fillRect/>
          </a:stretch>
        </p:blipFill>
        <p:spPr>
          <a:xfrm>
            <a:off x="6130099" y="1628800"/>
            <a:ext cx="5985998" cy="4464498"/>
          </a:xfrm>
          <a:prstGeom prst="rect">
            <a:avLst/>
          </a:prstGeom>
        </p:spPr>
      </p:pic>
      <p:pic>
        <p:nvPicPr>
          <p:cNvPr id="9" name="Imagen 8">
            <a:extLst>
              <a:ext uri="{FF2B5EF4-FFF2-40B4-BE49-F238E27FC236}">
                <a16:creationId xmlns:a16="http://schemas.microsoft.com/office/drawing/2014/main" id="{1E735D13-F344-432D-A579-1EDA351A43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F1F6BE30-84F5-4B2F-9FD1-9D69FEFA979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56775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839417" y="568871"/>
            <a:ext cx="10441160" cy="584775"/>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Perfil final del tramo natural aguas abajo del cauce diseñado. Opcionalmente podrá considerar agradar el fondo en las secciones aguas abajo, mediante la construcción de una estructura frontal. </a:t>
            </a:r>
            <a:endParaRPr lang="es-CO" sz="160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6199B297-CA47-44A9-B46C-6B8CB08A0DC7}"/>
              </a:ext>
            </a:extLst>
          </p:cNvPr>
          <p:cNvPicPr>
            <a:picLocks noChangeAspect="1"/>
          </p:cNvPicPr>
          <p:nvPr/>
        </p:nvPicPr>
        <p:blipFill>
          <a:blip r:embed="rId3"/>
          <a:stretch>
            <a:fillRect/>
          </a:stretch>
        </p:blipFill>
        <p:spPr>
          <a:xfrm>
            <a:off x="0" y="1342417"/>
            <a:ext cx="12192000" cy="5518584"/>
          </a:xfrm>
          <a:prstGeom prst="rect">
            <a:avLst/>
          </a:prstGeom>
        </p:spPr>
      </p:pic>
      <p:pic>
        <p:nvPicPr>
          <p:cNvPr id="7" name="Imagen 6">
            <a:extLst>
              <a:ext uri="{FF2B5EF4-FFF2-40B4-BE49-F238E27FC236}">
                <a16:creationId xmlns:a16="http://schemas.microsoft.com/office/drawing/2014/main" id="{E306AF5C-117A-49A7-B51C-ACADE5C805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A5E17739-DFC1-4B65-ABE3-15B0D8FF06A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350883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35360" y="361231"/>
            <a:ext cx="11449272" cy="830997"/>
          </a:xfrm>
          <a:prstGeom prst="rect">
            <a:avLst/>
          </a:prstGeom>
          <a:noFill/>
        </p:spPr>
        <p:txBody>
          <a:bodyPr wrap="square" rtlCol="0">
            <a:spAutoFit/>
          </a:bodyPr>
          <a:lstStyle/>
          <a:p>
            <a:pPr algn="just"/>
            <a:r>
              <a:rPr lang="en-US" sz="1600" dirty="0">
                <a:latin typeface="Segoe UI Light" panose="020B0502040204020203" pitchFamily="34" charset="0"/>
                <a:cs typeface="Segoe UI Light" panose="020B0502040204020203" pitchFamily="34" charset="0"/>
              </a:rPr>
              <a:t>d.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lateral: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eje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río</a:t>
            </a:r>
            <a:r>
              <a:rPr lang="en-US" sz="1600" dirty="0">
                <a:latin typeface="Segoe UI Light" panose="020B0502040204020203" pitchFamily="34" charset="0"/>
                <a:cs typeface="Segoe UI Light" panose="020B0502040204020203" pitchFamily="34" charset="0"/>
              </a:rPr>
              <a:t> y de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Tools – Pilot Channels. </a:t>
            </a:r>
            <a:r>
              <a:rPr lang="en-US" sz="1600" dirty="0" err="1">
                <a:latin typeface="Segoe UI Light" panose="020B0502040204020203" pitchFamily="34" charset="0"/>
                <a:cs typeface="Segoe UI Light" panose="020B0502040204020203" pitchFamily="34" charset="0"/>
              </a:rPr>
              <a:t>Verifique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necesario</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tramo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este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ejercicio</a:t>
            </a:r>
            <a:r>
              <a:rPr lang="en-US" sz="1600" dirty="0">
                <a:latin typeface="Segoe UI Light" panose="020B0502040204020203" pitchFamily="34" charset="0"/>
                <a:cs typeface="Segoe UI Light" panose="020B0502040204020203" pitchFamily="34" charset="0"/>
              </a:rPr>
              <a:t>, No es </a:t>
            </a:r>
            <a:r>
              <a:rPr lang="en-US" sz="1600" dirty="0" err="1">
                <a:latin typeface="Segoe UI Light" panose="020B0502040204020203" pitchFamily="34" charset="0"/>
                <a:cs typeface="Segoe UI Light" panose="020B0502040204020203" pitchFamily="34" charset="0"/>
              </a:rPr>
              <a:t>necesaria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operación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sin embargo, el </a:t>
            </a:r>
            <a:r>
              <a:rPr lang="en-US" sz="1600" dirty="0" err="1">
                <a:latin typeface="Segoe UI Light" panose="020B0502040204020203" pitchFamily="34" charset="0"/>
                <a:cs typeface="Segoe UI Light" panose="020B0502040204020203" pitchFamily="34" charset="0"/>
              </a:rPr>
              <a:t>eje</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lateral y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transversales</a:t>
            </a:r>
            <a:r>
              <a:rPr lang="en-US" sz="1600" dirty="0">
                <a:latin typeface="Segoe UI Light" panose="020B0502040204020203" pitchFamily="34" charset="0"/>
                <a:cs typeface="Segoe UI Light" panose="020B0502040204020203" pitchFamily="34" charset="0"/>
              </a:rPr>
              <a:t> son </a:t>
            </a:r>
            <a:r>
              <a:rPr lang="en-US" sz="1600" dirty="0" err="1">
                <a:latin typeface="Segoe UI Light" panose="020B0502040204020203" pitchFamily="34" charset="0"/>
                <a:cs typeface="Segoe UI Light" panose="020B0502040204020203" pitchFamily="34" charset="0"/>
              </a:rPr>
              <a:t>requeridas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limpiar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fondo</a:t>
            </a:r>
            <a:r>
              <a:rPr lang="en-US" sz="1600" dirty="0">
                <a:latin typeface="Segoe UI Light" panose="020B0502040204020203" pitchFamily="34" charset="0"/>
                <a:cs typeface="Segoe UI Light" panose="020B0502040204020203" pitchFamily="34" charset="0"/>
              </a:rPr>
              <a:t> natural entre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muestreo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definidas</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E477BD7E-2FBC-4277-8A0C-3262CEDD2F0C}"/>
              </a:ext>
            </a:extLst>
          </p:cNvPr>
          <p:cNvPicPr>
            <a:picLocks noChangeAspect="1"/>
          </p:cNvPicPr>
          <p:nvPr/>
        </p:nvPicPr>
        <p:blipFill>
          <a:blip r:embed="rId3"/>
          <a:stretch>
            <a:fillRect/>
          </a:stretch>
        </p:blipFill>
        <p:spPr>
          <a:xfrm>
            <a:off x="393478" y="1438449"/>
            <a:ext cx="5342482" cy="5357638"/>
          </a:xfrm>
          <a:prstGeom prst="rect">
            <a:avLst/>
          </a:prstGeom>
        </p:spPr>
      </p:pic>
      <p:pic>
        <p:nvPicPr>
          <p:cNvPr id="5" name="Imagen 4">
            <a:extLst>
              <a:ext uri="{FF2B5EF4-FFF2-40B4-BE49-F238E27FC236}">
                <a16:creationId xmlns:a16="http://schemas.microsoft.com/office/drawing/2014/main" id="{0636DE65-579B-44FF-BF3B-C87B0F71B7D9}"/>
              </a:ext>
            </a:extLst>
          </p:cNvPr>
          <p:cNvPicPr>
            <a:picLocks noChangeAspect="1"/>
          </p:cNvPicPr>
          <p:nvPr/>
        </p:nvPicPr>
        <p:blipFill>
          <a:blip r:embed="rId4"/>
          <a:stretch>
            <a:fillRect/>
          </a:stretch>
        </p:blipFill>
        <p:spPr>
          <a:xfrm>
            <a:off x="5951984" y="1438449"/>
            <a:ext cx="5788162" cy="5357638"/>
          </a:xfrm>
          <a:prstGeom prst="rect">
            <a:avLst/>
          </a:prstGeom>
        </p:spPr>
      </p:pic>
      <p:pic>
        <p:nvPicPr>
          <p:cNvPr id="9" name="Imagen 8">
            <a:extLst>
              <a:ext uri="{FF2B5EF4-FFF2-40B4-BE49-F238E27FC236}">
                <a16:creationId xmlns:a16="http://schemas.microsoft.com/office/drawing/2014/main" id="{C98F2EEC-E9EB-4F2D-A0B2-98C494FE1F8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F59F4F4C-881F-4BCD-8592-5AFF0EA9D0B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4. Modificación de secciones transversales con especificaciones de rectificado y diques usando </a:t>
            </a:r>
            <a:r>
              <a:rPr lang="es-ES" sz="800" dirty="0" err="1">
                <a:latin typeface="Segoe UI Light" panose="020B0502040204020203" pitchFamily="34" charset="0"/>
                <a:cs typeface="Segoe UI Light" panose="020B0502040204020203" pitchFamily="34" charset="0"/>
              </a:rPr>
              <a:t>pilot</a:t>
            </a:r>
            <a:r>
              <a:rPr lang="es-ES" sz="800" dirty="0">
                <a:latin typeface="Segoe UI Light" panose="020B0502040204020203" pitchFamily="34" charset="0"/>
                <a:cs typeface="Segoe UI Light" panose="020B0502040204020203" pitchFamily="34" charset="0"/>
              </a:rPr>
              <a:t> </a:t>
            </a:r>
            <a:r>
              <a:rPr lang="es-ES" sz="800" dirty="0" err="1">
                <a:latin typeface="Segoe UI Light" panose="020B0502040204020203" pitchFamily="34" charset="0"/>
                <a:cs typeface="Segoe UI Light" panose="020B0502040204020203" pitchFamily="34" charset="0"/>
              </a:rPr>
              <a:t>channel</a:t>
            </a:r>
            <a:endParaRPr lang="es-ES" sz="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588066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926759" y="3105834"/>
            <a:ext cx="4338482"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5. Creación y análisis del modelo de terreno de cauces rectificados y diques</a:t>
            </a:r>
          </a:p>
        </p:txBody>
      </p:sp>
      <p:pic>
        <p:nvPicPr>
          <p:cNvPr id="4" name="Imagen 3">
            <a:extLst>
              <a:ext uri="{FF2B5EF4-FFF2-40B4-BE49-F238E27FC236}">
                <a16:creationId xmlns:a16="http://schemas.microsoft.com/office/drawing/2014/main" id="{C00B970F-0F3F-49D5-BF29-6225E050F0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137848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E1BA2B8-62D6-490C-827B-FF860136EF05}"/>
              </a:ext>
            </a:extLst>
          </p:cNvPr>
          <p:cNvPicPr>
            <a:picLocks noChangeAspect="1"/>
          </p:cNvPicPr>
          <p:nvPr/>
        </p:nvPicPr>
        <p:blipFill>
          <a:blip r:embed="rId3"/>
          <a:stretch>
            <a:fillRect/>
          </a:stretch>
        </p:blipFill>
        <p:spPr>
          <a:xfrm>
            <a:off x="190224" y="1879628"/>
            <a:ext cx="6347619" cy="4717724"/>
          </a:xfrm>
          <a:prstGeom prst="rect">
            <a:avLst/>
          </a:prstGeom>
        </p:spPr>
      </p:pic>
      <p:sp>
        <p:nvSpPr>
          <p:cNvPr id="8" name="7 CuadroTexto"/>
          <p:cNvSpPr txBox="1"/>
          <p:nvPr/>
        </p:nvSpPr>
        <p:spPr>
          <a:xfrm>
            <a:off x="190224" y="379741"/>
            <a:ext cx="11776247"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Una vez se finalizan las tareas de modificación de la geometría, se crea el modelo de terreno. Cerrar el editor de geometría y abrir el RAS Mapper. Clic derecho en DEMRecond – Export Layer – Create Terrain Geo Tiff from XS’s (Channel Only). Esta operación creará el MDT requerido solo para la zona central entre las bancas. Guarde la grilla como RiverDrag.tif y defina la resolución de las celdas en 1 metro. Se recomienda crear la grilla al menos con la misma resolución del modelo de terreno global.</a:t>
            </a:r>
            <a:endParaRPr lang="es-CO" sz="160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F9D6EAC1-4B32-41A7-B151-AE03BB9DA4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Creación y análisis del modelo de terreno de cauces rectificados y diques</a:t>
            </a:r>
          </a:p>
        </p:txBody>
      </p:sp>
      <p:pic>
        <p:nvPicPr>
          <p:cNvPr id="5" name="Imagen 4">
            <a:extLst>
              <a:ext uri="{FF2B5EF4-FFF2-40B4-BE49-F238E27FC236}">
                <a16:creationId xmlns:a16="http://schemas.microsoft.com/office/drawing/2014/main" id="{BA5AFCC6-B005-429E-B9EE-4D959C8FA524}"/>
              </a:ext>
            </a:extLst>
          </p:cNvPr>
          <p:cNvPicPr>
            <a:picLocks noChangeAspect="1"/>
          </p:cNvPicPr>
          <p:nvPr/>
        </p:nvPicPr>
        <p:blipFill>
          <a:blip r:embed="rId4"/>
          <a:stretch>
            <a:fillRect/>
          </a:stretch>
        </p:blipFill>
        <p:spPr>
          <a:xfrm>
            <a:off x="6651420" y="2581795"/>
            <a:ext cx="5315052" cy="3313390"/>
          </a:xfrm>
          <a:prstGeom prst="rect">
            <a:avLst/>
          </a:prstGeom>
        </p:spPr>
      </p:pic>
      <p:pic>
        <p:nvPicPr>
          <p:cNvPr id="12" name="Imagen 11">
            <a:extLst>
              <a:ext uri="{FF2B5EF4-FFF2-40B4-BE49-F238E27FC236}">
                <a16:creationId xmlns:a16="http://schemas.microsoft.com/office/drawing/2014/main" id="{0F1E4EA0-FD02-44B2-A9DF-267D240905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47528" y="4526011"/>
            <a:ext cx="360000" cy="360000"/>
          </a:xfrm>
          <a:prstGeom prst="rect">
            <a:avLst/>
          </a:prstGeom>
        </p:spPr>
      </p:pic>
      <p:pic>
        <p:nvPicPr>
          <p:cNvPr id="13" name="Imagen 12">
            <a:extLst>
              <a:ext uri="{FF2B5EF4-FFF2-40B4-BE49-F238E27FC236}">
                <a16:creationId xmlns:a16="http://schemas.microsoft.com/office/drawing/2014/main" id="{2711439D-17D4-41BF-8105-A429D5BB9CB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59896" y="4693103"/>
            <a:ext cx="360000" cy="360000"/>
          </a:xfrm>
          <a:prstGeom prst="rect">
            <a:avLst/>
          </a:prstGeom>
        </p:spPr>
      </p:pic>
      <p:pic>
        <p:nvPicPr>
          <p:cNvPr id="14" name="Imagen 13">
            <a:extLst>
              <a:ext uri="{FF2B5EF4-FFF2-40B4-BE49-F238E27FC236}">
                <a16:creationId xmlns:a16="http://schemas.microsoft.com/office/drawing/2014/main" id="{6A098907-7242-46B4-83B6-A31D7C6592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16280" y="5035331"/>
            <a:ext cx="360000" cy="360000"/>
          </a:xfrm>
          <a:prstGeom prst="rect">
            <a:avLst/>
          </a:prstGeom>
        </p:spPr>
      </p:pic>
      <p:pic>
        <p:nvPicPr>
          <p:cNvPr id="11" name="Imagen 10">
            <a:extLst>
              <a:ext uri="{FF2B5EF4-FFF2-40B4-BE49-F238E27FC236}">
                <a16:creationId xmlns:a16="http://schemas.microsoft.com/office/drawing/2014/main" id="{1C0294A8-97B9-4264-9F1B-F36C0CF333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57833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C94DA8E-038F-46FC-840C-2503E672A18A}"/>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019447" y="1776444"/>
            <a:ext cx="5472608" cy="4820908"/>
          </a:xfrm>
          <a:prstGeom prst="rect">
            <a:avLst/>
          </a:prstGeom>
        </p:spPr>
      </p:pic>
      <p:sp>
        <p:nvSpPr>
          <p:cNvPr id="8" name="7 CuadroTexto"/>
          <p:cNvSpPr txBox="1"/>
          <p:nvPr/>
        </p:nvSpPr>
        <p:spPr>
          <a:xfrm>
            <a:off x="1019447" y="404664"/>
            <a:ext cx="9910325" cy="1323439"/>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Abra </a:t>
            </a:r>
            <a:r>
              <a:rPr lang="es-CO" sz="1600" dirty="0" err="1">
                <a:latin typeface="Segoe UI Light" panose="020B0502040204020203" pitchFamily="34" charset="0"/>
                <a:cs typeface="Segoe UI Light" panose="020B0502040204020203" pitchFamily="34" charset="0"/>
              </a:rPr>
              <a:t>ArcScene</a:t>
            </a:r>
            <a:r>
              <a:rPr lang="es-CO" sz="1600" dirty="0">
                <a:latin typeface="Segoe UI Light" panose="020B0502040204020203" pitchFamily="34" charset="0"/>
                <a:cs typeface="Segoe UI Light" panose="020B0502040204020203" pitchFamily="34" charset="0"/>
              </a:rPr>
              <a:t> y cargue la grilla correspondiente al modelo de rectificado </a:t>
            </a:r>
            <a:r>
              <a:rPr lang="en-US" sz="1600" dirty="0" err="1">
                <a:latin typeface="Segoe UI Light" panose="020B0502040204020203" pitchFamily="34" charset="0"/>
                <a:cs typeface="Segoe UI Light" panose="020B0502040204020203" pitchFamily="34" charset="0"/>
              </a:rPr>
              <a:t>RiverDrag.tif</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grilla</a:t>
            </a:r>
            <a:r>
              <a:rPr lang="en-US" sz="1600" dirty="0">
                <a:latin typeface="Segoe UI Light" panose="020B0502040204020203" pitchFamily="34" charset="0"/>
                <a:cs typeface="Segoe UI Light" panose="020B0502040204020203" pitchFamily="34" charset="0"/>
              </a:rPr>
              <a:t> se ha </a:t>
            </a:r>
            <a:r>
              <a:rPr lang="en-US" sz="1600" dirty="0" err="1">
                <a:latin typeface="Segoe UI Light" panose="020B0502040204020203" pitchFamily="34" charset="0"/>
                <a:cs typeface="Segoe UI Light" panose="020B0502040204020203" pitchFamily="34" charset="0"/>
              </a:rPr>
              <a:t>georeferenciado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automáticamente</a:t>
            </a:r>
            <a:r>
              <a:rPr lang="en-US" sz="1600" dirty="0">
                <a:latin typeface="Segoe UI Light" panose="020B0502040204020203" pitchFamily="34" charset="0"/>
                <a:cs typeface="Segoe UI Light" panose="020B0502040204020203" pitchFamily="34" charset="0"/>
              </a:rPr>
              <a:t> con el </a:t>
            </a:r>
            <a:r>
              <a:rPr lang="en-US" sz="1600" dirty="0" err="1">
                <a:latin typeface="Segoe UI Light" panose="020B0502040204020203" pitchFamily="34" charset="0"/>
                <a:cs typeface="Segoe UI Light" panose="020B0502040204020203" pitchFamily="34" charset="0"/>
              </a:rPr>
              <a:t>sistema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proyección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coordenadas</a:t>
            </a:r>
            <a:r>
              <a:rPr lang="en-US" sz="1600" dirty="0">
                <a:latin typeface="Segoe UI Light" panose="020B0502040204020203" pitchFamily="34" charset="0"/>
                <a:cs typeface="Segoe UI Light" panose="020B0502040204020203" pitchFamily="34" charset="0"/>
              </a:rPr>
              <a:t> del RAS Mapper.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ArcScene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proyecte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verticalmente</a:t>
            </a:r>
            <a:r>
              <a:rPr lang="en-US" sz="1600" dirty="0">
                <a:latin typeface="Segoe UI Light" panose="020B0502040204020203" pitchFamily="34" charset="0"/>
                <a:cs typeface="Segoe UI Light" panose="020B0502040204020203" pitchFamily="34" charset="0"/>
              </a:rPr>
              <a:t> el MDT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propios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elevación</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pixeles</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grilla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establezca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exageración</a:t>
            </a:r>
            <a:r>
              <a:rPr lang="en-US" sz="1600" dirty="0">
                <a:latin typeface="Segoe UI Light" panose="020B0502040204020203" pitchFamily="34" charset="0"/>
                <a:cs typeface="Segoe UI Light" panose="020B0502040204020203" pitchFamily="34" charset="0"/>
              </a:rPr>
              <a:t> vertical y </a:t>
            </a:r>
            <a:r>
              <a:rPr lang="en-US" sz="1600" dirty="0" err="1">
                <a:latin typeface="Segoe UI Light" panose="020B0502040204020203" pitchFamily="34" charset="0"/>
                <a:cs typeface="Segoe UI Light" panose="020B0502040204020203" pitchFamily="34" charset="0"/>
              </a:rPr>
              <a:t>evalúe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resultado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obtenido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Defina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10 la </a:t>
            </a:r>
            <a:r>
              <a:rPr lang="en-US" sz="1600" dirty="0" err="1">
                <a:latin typeface="Segoe UI Light" panose="020B0502040204020203" pitchFamily="34" charset="0"/>
                <a:cs typeface="Segoe UI Light" panose="020B0502040204020203" pitchFamily="34" charset="0"/>
              </a:rPr>
              <a:t>exageración</a:t>
            </a:r>
            <a:r>
              <a:rPr lang="en-US" sz="1600" dirty="0">
                <a:latin typeface="Segoe UI Light" panose="020B0502040204020203" pitchFamily="34" charset="0"/>
                <a:cs typeface="Segoe UI Light" panose="020B0502040204020203" pitchFamily="34" charset="0"/>
              </a:rPr>
              <a:t> vertical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propiedades</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escena</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0F1E4EA0-FD02-44B2-A9DF-267D240905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87688" y="2950998"/>
            <a:ext cx="360000" cy="360000"/>
          </a:xfrm>
          <a:prstGeom prst="rect">
            <a:avLst/>
          </a:prstGeom>
        </p:spPr>
      </p:pic>
      <p:pic>
        <p:nvPicPr>
          <p:cNvPr id="6" name="Imagen 5">
            <a:extLst>
              <a:ext uri="{FF2B5EF4-FFF2-40B4-BE49-F238E27FC236}">
                <a16:creationId xmlns:a16="http://schemas.microsoft.com/office/drawing/2014/main" id="{35542342-5AB1-4448-B2C4-1D53C39A941E}"/>
              </a:ext>
            </a:extLst>
          </p:cNvPr>
          <p:cNvPicPr>
            <a:picLocks noChangeAspect="1"/>
          </p:cNvPicPr>
          <p:nvPr/>
        </p:nvPicPr>
        <p:blipFill>
          <a:blip r:embed="rId6"/>
          <a:stretch>
            <a:fillRect/>
          </a:stretch>
        </p:blipFill>
        <p:spPr>
          <a:xfrm>
            <a:off x="1244190" y="3673499"/>
            <a:ext cx="2695575" cy="2628900"/>
          </a:xfrm>
          <a:prstGeom prst="rect">
            <a:avLst/>
          </a:prstGeom>
        </p:spPr>
      </p:pic>
      <p:pic>
        <p:nvPicPr>
          <p:cNvPr id="19" name="Imagen 18">
            <a:extLst>
              <a:ext uri="{FF2B5EF4-FFF2-40B4-BE49-F238E27FC236}">
                <a16:creationId xmlns:a16="http://schemas.microsoft.com/office/drawing/2014/main" id="{115FC7DE-46B5-4B8C-873E-A647A499FC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9576" y="3184501"/>
            <a:ext cx="360000" cy="360000"/>
          </a:xfrm>
          <a:prstGeom prst="rect">
            <a:avLst/>
          </a:prstGeom>
        </p:spPr>
      </p:pic>
      <p:pic>
        <p:nvPicPr>
          <p:cNvPr id="20" name="Imagen 19">
            <a:extLst>
              <a:ext uri="{FF2B5EF4-FFF2-40B4-BE49-F238E27FC236}">
                <a16:creationId xmlns:a16="http://schemas.microsoft.com/office/drawing/2014/main" id="{564686E6-25A1-441A-AF70-966C3493671C}"/>
              </a:ext>
            </a:extLst>
          </p:cNvPr>
          <p:cNvPicPr>
            <a:picLocks noChangeAspect="1"/>
          </p:cNvPicPr>
          <p:nvPr/>
        </p:nvPicPr>
        <p:blipFill>
          <a:blip r:embed="rId7"/>
          <a:stretch>
            <a:fillRect/>
          </a:stretch>
        </p:blipFill>
        <p:spPr>
          <a:xfrm>
            <a:off x="6888087" y="1776444"/>
            <a:ext cx="4041685" cy="4820908"/>
          </a:xfrm>
          <a:prstGeom prst="rect">
            <a:avLst/>
          </a:prstGeom>
        </p:spPr>
      </p:pic>
      <p:pic>
        <p:nvPicPr>
          <p:cNvPr id="21" name="Imagen 20">
            <a:extLst>
              <a:ext uri="{FF2B5EF4-FFF2-40B4-BE49-F238E27FC236}">
                <a16:creationId xmlns:a16="http://schemas.microsoft.com/office/drawing/2014/main" id="{8F473B62-725F-41E4-9295-76A04A0D51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76360" y="4869160"/>
            <a:ext cx="360000" cy="360000"/>
          </a:xfrm>
          <a:prstGeom prst="rect">
            <a:avLst/>
          </a:prstGeom>
        </p:spPr>
      </p:pic>
      <p:pic>
        <p:nvPicPr>
          <p:cNvPr id="22" name="Imagen 21">
            <a:extLst>
              <a:ext uri="{FF2B5EF4-FFF2-40B4-BE49-F238E27FC236}">
                <a16:creationId xmlns:a16="http://schemas.microsoft.com/office/drawing/2014/main" id="{61D6403B-4B9A-4D0D-AA36-723FAA2875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76360" y="5178158"/>
            <a:ext cx="360000" cy="360000"/>
          </a:xfrm>
          <a:prstGeom prst="rect">
            <a:avLst/>
          </a:prstGeom>
        </p:spPr>
      </p:pic>
      <p:pic>
        <p:nvPicPr>
          <p:cNvPr id="14" name="Imagen 13">
            <a:extLst>
              <a:ext uri="{FF2B5EF4-FFF2-40B4-BE49-F238E27FC236}">
                <a16:creationId xmlns:a16="http://schemas.microsoft.com/office/drawing/2014/main" id="{AAE0D0F1-2095-4005-ABFE-C984BF0C24F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5" name="1 Título">
            <a:extLst>
              <a:ext uri="{FF2B5EF4-FFF2-40B4-BE49-F238E27FC236}">
                <a16:creationId xmlns:a16="http://schemas.microsoft.com/office/drawing/2014/main" id="{36A8330E-19E1-4CC7-A234-138B98CEB37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Creación y análisis del modelo de terreno de cauces rectificados y diques</a:t>
            </a:r>
          </a:p>
        </p:txBody>
      </p:sp>
    </p:spTree>
    <p:extLst>
      <p:ext uri="{BB962C8B-B14F-4D97-AF65-F5344CB8AC3E}">
        <p14:creationId xmlns:p14="http://schemas.microsoft.com/office/powerpoint/2010/main" val="3868232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583823" y="602685"/>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Simbología y Visualización.</a:t>
            </a:r>
            <a:endParaRPr lang="es-CO" sz="1600">
              <a:latin typeface="Segoe UI Light" panose="020B0502040204020203" pitchFamily="34" charset="0"/>
              <a:cs typeface="Segoe UI Light" panose="020B0502040204020203" pitchFamily="34" charset="0"/>
            </a:endParaRPr>
          </a:p>
        </p:txBody>
      </p:sp>
      <p:pic>
        <p:nvPicPr>
          <p:cNvPr id="19" name="Imagen 18">
            <a:extLst>
              <a:ext uri="{FF2B5EF4-FFF2-40B4-BE49-F238E27FC236}">
                <a16:creationId xmlns:a16="http://schemas.microsoft.com/office/drawing/2014/main" id="{115FC7DE-46B5-4B8C-873E-A647A499FC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9416" y="2839863"/>
            <a:ext cx="360000" cy="360000"/>
          </a:xfrm>
          <a:prstGeom prst="rect">
            <a:avLst/>
          </a:prstGeom>
        </p:spPr>
      </p:pic>
      <p:pic>
        <p:nvPicPr>
          <p:cNvPr id="2" name="Imagen 1">
            <a:extLst>
              <a:ext uri="{FF2B5EF4-FFF2-40B4-BE49-F238E27FC236}">
                <a16:creationId xmlns:a16="http://schemas.microsoft.com/office/drawing/2014/main" id="{CC57D2D2-4A41-4058-ADEC-1C73F5A7FE09}"/>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80662" y="1268760"/>
            <a:ext cx="5421453" cy="4775845"/>
          </a:xfrm>
          <a:prstGeom prst="rect">
            <a:avLst/>
          </a:prstGeom>
        </p:spPr>
      </p:pic>
      <p:pic>
        <p:nvPicPr>
          <p:cNvPr id="3" name="Imagen 2">
            <a:extLst>
              <a:ext uri="{FF2B5EF4-FFF2-40B4-BE49-F238E27FC236}">
                <a16:creationId xmlns:a16="http://schemas.microsoft.com/office/drawing/2014/main" id="{0FBBB2A7-ABDD-404A-8309-C493A9EA12EB}"/>
              </a:ext>
            </a:extLst>
          </p:cNvPr>
          <p:cNvPicPr>
            <a:picLocks noChangeAspect="1"/>
          </p:cNvPicPr>
          <p:nvPr/>
        </p:nvPicPr>
        <p:blipFill>
          <a:blip r:embed="rId6"/>
          <a:stretch>
            <a:fillRect/>
          </a:stretch>
        </p:blipFill>
        <p:spPr>
          <a:xfrm>
            <a:off x="6232445" y="1268761"/>
            <a:ext cx="5425445" cy="4779362"/>
          </a:xfrm>
          <a:prstGeom prst="rect">
            <a:avLst/>
          </a:prstGeom>
        </p:spPr>
      </p:pic>
      <p:pic>
        <p:nvPicPr>
          <p:cNvPr id="9" name="Imagen 8">
            <a:extLst>
              <a:ext uri="{FF2B5EF4-FFF2-40B4-BE49-F238E27FC236}">
                <a16:creationId xmlns:a16="http://schemas.microsoft.com/office/drawing/2014/main" id="{7C07CB42-EBC6-41CC-8315-8267F54BDC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11388" y="4365104"/>
            <a:ext cx="360000" cy="360000"/>
          </a:xfrm>
          <a:prstGeom prst="rect">
            <a:avLst/>
          </a:prstGeom>
        </p:spPr>
      </p:pic>
      <p:pic>
        <p:nvPicPr>
          <p:cNvPr id="11" name="Imagen 10">
            <a:extLst>
              <a:ext uri="{FF2B5EF4-FFF2-40B4-BE49-F238E27FC236}">
                <a16:creationId xmlns:a16="http://schemas.microsoft.com/office/drawing/2014/main" id="{3E99C32D-975B-43D0-A0BC-0ED127C874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28248" y="2659863"/>
            <a:ext cx="360000" cy="360000"/>
          </a:xfrm>
          <a:prstGeom prst="rect">
            <a:avLst/>
          </a:prstGeom>
        </p:spPr>
      </p:pic>
      <p:pic>
        <p:nvPicPr>
          <p:cNvPr id="10" name="Imagen 9">
            <a:extLst>
              <a:ext uri="{FF2B5EF4-FFF2-40B4-BE49-F238E27FC236}">
                <a16:creationId xmlns:a16="http://schemas.microsoft.com/office/drawing/2014/main" id="{6FEE13BE-1FA2-4F32-B53C-5319AF7CCDD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E69266BB-6D4C-480A-9714-629F737D0C0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Creación y análisis del modelo de terreno de cauces rectificados y diques</a:t>
            </a:r>
          </a:p>
        </p:txBody>
      </p:sp>
    </p:spTree>
    <p:extLst>
      <p:ext uri="{BB962C8B-B14F-4D97-AF65-F5344CB8AC3E}">
        <p14:creationId xmlns:p14="http://schemas.microsoft.com/office/powerpoint/2010/main" val="1120445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AED43E2-B4BD-42B2-BC79-7BBA2F61DFC7}"/>
              </a:ext>
            </a:extLst>
          </p:cNvPr>
          <p:cNvPicPr>
            <a:picLocks noChangeAspect="1"/>
          </p:cNvPicPr>
          <p:nvPr/>
        </p:nvPicPr>
        <p:blipFill>
          <a:blip r:embed="rId3"/>
          <a:stretch>
            <a:fillRect/>
          </a:stretch>
        </p:blipFill>
        <p:spPr>
          <a:xfrm>
            <a:off x="0" y="934115"/>
            <a:ext cx="12192000" cy="5930537"/>
          </a:xfrm>
          <a:prstGeom prst="rect">
            <a:avLst/>
          </a:prstGeom>
        </p:spPr>
      </p:pic>
      <p:sp>
        <p:nvSpPr>
          <p:cNvPr id="8" name="7 CuadroTexto"/>
          <p:cNvSpPr txBox="1"/>
          <p:nvPr/>
        </p:nvSpPr>
        <p:spPr>
          <a:xfrm>
            <a:off x="1583823" y="602685"/>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Zona natural dragada aguas ariba y dique de protección.</a:t>
            </a:r>
            <a:endParaRPr lang="es-CO" sz="160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818CEA62-444E-4839-8E7D-DFBC4A9E40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3792" y="1556792"/>
            <a:ext cx="360000" cy="360000"/>
          </a:xfrm>
          <a:prstGeom prst="rect">
            <a:avLst/>
          </a:prstGeom>
        </p:spPr>
      </p:pic>
      <p:pic>
        <p:nvPicPr>
          <p:cNvPr id="10" name="Imagen 9">
            <a:extLst>
              <a:ext uri="{FF2B5EF4-FFF2-40B4-BE49-F238E27FC236}">
                <a16:creationId xmlns:a16="http://schemas.microsoft.com/office/drawing/2014/main" id="{9AC51464-0669-4818-A298-536D08F515D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66BDECA2-FCB9-4174-A772-B3322CD83FA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Creación y análisis del modelo de terreno de cauces rectificados y diques</a:t>
            </a:r>
          </a:p>
        </p:txBody>
      </p:sp>
    </p:spTree>
    <p:extLst>
      <p:ext uri="{BB962C8B-B14F-4D97-AF65-F5344CB8AC3E}">
        <p14:creationId xmlns:p14="http://schemas.microsoft.com/office/powerpoint/2010/main" val="3916483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6DEA244-465D-488D-84FE-7CC75A370FCE}"/>
              </a:ext>
            </a:extLst>
          </p:cNvPr>
          <p:cNvPicPr>
            <a:picLocks noChangeAspect="1"/>
          </p:cNvPicPr>
          <p:nvPr/>
        </p:nvPicPr>
        <p:blipFill>
          <a:blip r:embed="rId3"/>
          <a:stretch>
            <a:fillRect/>
          </a:stretch>
        </p:blipFill>
        <p:spPr>
          <a:xfrm>
            <a:off x="0" y="934115"/>
            <a:ext cx="12192000" cy="5930537"/>
          </a:xfrm>
          <a:prstGeom prst="rect">
            <a:avLst/>
          </a:prstGeom>
        </p:spPr>
      </p:pic>
      <p:sp>
        <p:nvSpPr>
          <p:cNvPr id="8" name="7 CuadroTexto"/>
          <p:cNvSpPr txBox="1"/>
          <p:nvPr/>
        </p:nvSpPr>
        <p:spPr>
          <a:xfrm>
            <a:off x="1583823" y="602685"/>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Zona natural aguas arriba.</a:t>
            </a:r>
            <a:endParaRPr lang="es-CO" sz="1600">
              <a:latin typeface="Segoe UI Light" panose="020B0502040204020203" pitchFamily="34" charset="0"/>
              <a:cs typeface="Segoe UI Light" panose="020B0502040204020203" pitchFamily="34" charset="0"/>
            </a:endParaRPr>
          </a:p>
        </p:txBody>
      </p:sp>
      <p:pic>
        <p:nvPicPr>
          <p:cNvPr id="9" name="Imagen 8">
            <a:extLst>
              <a:ext uri="{FF2B5EF4-FFF2-40B4-BE49-F238E27FC236}">
                <a16:creationId xmlns:a16="http://schemas.microsoft.com/office/drawing/2014/main" id="{508F26EA-76D3-4356-9FFD-30B06520EC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8B2F0E18-CE00-45FD-BBB1-3D37EB9D68A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Creación y análisis del modelo de terreno de cauces rectificados y diques</a:t>
            </a:r>
          </a:p>
        </p:txBody>
      </p:sp>
    </p:spTree>
    <p:extLst>
      <p:ext uri="{BB962C8B-B14F-4D97-AF65-F5344CB8AC3E}">
        <p14:creationId xmlns:p14="http://schemas.microsoft.com/office/powerpoint/2010/main" val="12056955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1583823" y="602685"/>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Cauce Lateral.</a:t>
            </a:r>
            <a:endParaRPr lang="es-CO" sz="1600">
              <a:latin typeface="Segoe UI Light" panose="020B0502040204020203" pitchFamily="34" charset="0"/>
              <a:cs typeface="Segoe UI Light" panose="020B0502040204020203" pitchFamily="34" charset="0"/>
            </a:endParaRPr>
          </a:p>
        </p:txBody>
      </p:sp>
      <p:pic>
        <p:nvPicPr>
          <p:cNvPr id="2" name="Imagen 1">
            <a:extLst>
              <a:ext uri="{FF2B5EF4-FFF2-40B4-BE49-F238E27FC236}">
                <a16:creationId xmlns:a16="http://schemas.microsoft.com/office/drawing/2014/main" id="{AEBFCD32-C79E-4A10-B0B3-FD7C7B6BC645}"/>
              </a:ext>
            </a:extLst>
          </p:cNvPr>
          <p:cNvPicPr>
            <a:picLocks noChangeAspect="1"/>
          </p:cNvPicPr>
          <p:nvPr/>
        </p:nvPicPr>
        <p:blipFill>
          <a:blip r:embed="rId3"/>
          <a:stretch>
            <a:fillRect/>
          </a:stretch>
        </p:blipFill>
        <p:spPr>
          <a:xfrm>
            <a:off x="0" y="934115"/>
            <a:ext cx="12192000" cy="5930537"/>
          </a:xfrm>
          <a:prstGeom prst="rect">
            <a:avLst/>
          </a:prstGeom>
        </p:spPr>
      </p:pic>
      <p:pic>
        <p:nvPicPr>
          <p:cNvPr id="7" name="Imagen 6">
            <a:extLst>
              <a:ext uri="{FF2B5EF4-FFF2-40B4-BE49-F238E27FC236}">
                <a16:creationId xmlns:a16="http://schemas.microsoft.com/office/drawing/2014/main" id="{9C1EB2BF-BAD9-4AD8-8A7F-A8878AC524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87FCD32B-0405-465A-A1C9-71205F2652A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5. Creación y análisis del modelo de terreno de cauces rectificados y diques</a:t>
            </a:r>
          </a:p>
        </p:txBody>
      </p:sp>
    </p:spTree>
    <p:extLst>
      <p:ext uri="{BB962C8B-B14F-4D97-AF65-F5344CB8AC3E}">
        <p14:creationId xmlns:p14="http://schemas.microsoft.com/office/powerpoint/2010/main" val="1800001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97778" y="2967335"/>
            <a:ext cx="3996444" cy="923330"/>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6. Integración del modelo de rectificado y diques al modelo de terreno sinuoso</a:t>
            </a:r>
          </a:p>
        </p:txBody>
      </p:sp>
      <p:pic>
        <p:nvPicPr>
          <p:cNvPr id="4" name="Imagen 3">
            <a:extLst>
              <a:ext uri="{FF2B5EF4-FFF2-40B4-BE49-F238E27FC236}">
                <a16:creationId xmlns:a16="http://schemas.microsoft.com/office/drawing/2014/main" id="{8164C74C-E3D4-4484-AC11-7DD329D7A9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106049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F1A0A8D-03AE-4B67-8251-047E6F0926C9}"/>
              </a:ext>
            </a:extLst>
          </p:cNvPr>
          <p:cNvPicPr>
            <a:picLocks noChangeAspect="1"/>
          </p:cNvPicPr>
          <p:nvPr/>
        </p:nvPicPr>
        <p:blipFill>
          <a:blip r:embed="rId3"/>
          <a:stretch>
            <a:fillRect/>
          </a:stretch>
        </p:blipFill>
        <p:spPr>
          <a:xfrm>
            <a:off x="76606" y="2492896"/>
            <a:ext cx="6093208" cy="3130302"/>
          </a:xfrm>
          <a:prstGeom prst="rect">
            <a:avLst/>
          </a:prstGeom>
        </p:spPr>
      </p:pic>
      <p:sp>
        <p:nvSpPr>
          <p:cNvPr id="8" name="7 CuadroTexto"/>
          <p:cNvSpPr txBox="1"/>
          <p:nvPr/>
        </p:nvSpPr>
        <p:spPr>
          <a:xfrm>
            <a:off x="1580033" y="752992"/>
            <a:ext cx="9031933" cy="1323439"/>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RAS Mapper, </a:t>
            </a:r>
            <a:r>
              <a:rPr lang="en-US" sz="1600" dirty="0" err="1">
                <a:latin typeface="Segoe UI Light" panose="020B0502040204020203" pitchFamily="34" charset="0"/>
                <a:cs typeface="Segoe UI Light" panose="020B0502040204020203" pitchFamily="34" charset="0"/>
              </a:rPr>
              <a:t>clic</a:t>
            </a:r>
            <a:r>
              <a:rPr lang="en-US" sz="1600" dirty="0">
                <a:latin typeface="Segoe UI Light" panose="020B0502040204020203" pitchFamily="34" charset="0"/>
                <a:cs typeface="Segoe UI Light" panose="020B0502040204020203" pitchFamily="34" charset="0"/>
              </a:rPr>
              <a:t> derecho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Terrains </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Create a New RAS Terrain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Agregue</a:t>
            </a:r>
            <a:r>
              <a:rPr lang="en-US" sz="1600" dirty="0">
                <a:latin typeface="Segoe UI Light" panose="020B0502040204020203" pitchFamily="34" charset="0"/>
                <a:cs typeface="Segoe UI Light" panose="020B0502040204020203" pitchFamily="34" charset="0"/>
              </a:rPr>
              <a:t> primero el </a:t>
            </a:r>
            <a:r>
              <a:rPr lang="en-US" sz="1600" dirty="0" err="1">
                <a:latin typeface="Segoe UI Light" panose="020B0502040204020203" pitchFamily="34" charset="0"/>
                <a:cs typeface="Segoe UI Light" panose="020B0502040204020203" pitchFamily="34" charset="0"/>
              </a:rPr>
              <a:t>terreno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creado</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secciones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y el </a:t>
            </a:r>
            <a:r>
              <a:rPr lang="en-US" sz="1600" dirty="0" err="1">
                <a:latin typeface="Segoe UI Light" panose="020B0502040204020203" pitchFamily="34" charset="0"/>
                <a:cs typeface="Segoe UI Light" panose="020B0502040204020203" pitchFamily="34" charset="0"/>
              </a:rPr>
              <a:t>dique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protección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luego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agregue</a:t>
            </a:r>
            <a:r>
              <a:rPr lang="en-US" sz="1600" dirty="0">
                <a:latin typeface="Segoe UI Light" panose="020B0502040204020203" pitchFamily="34" charset="0"/>
                <a:cs typeface="Segoe UI Light" panose="020B0502040204020203" pitchFamily="34" charset="0"/>
              </a:rPr>
              <a:t> el MDT general y </a:t>
            </a:r>
            <a:r>
              <a:rPr lang="en-US" sz="1600" dirty="0" err="1">
                <a:latin typeface="Segoe UI Light" panose="020B0502040204020203" pitchFamily="34" charset="0"/>
                <a:cs typeface="Segoe UI Light" panose="020B0502040204020203" pitchFamily="34" charset="0"/>
              </a:rPr>
              <a:t>mantenga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activada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casilla</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Create Stitches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Seleccione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casilla</a:t>
            </a:r>
            <a:r>
              <a:rPr lang="en-US" sz="1600" dirty="0">
                <a:latin typeface="Segoe UI Light" panose="020B0502040204020203" pitchFamily="34" charset="0"/>
                <a:cs typeface="Segoe UI Light" panose="020B0502040204020203" pitchFamily="34" charset="0"/>
              </a:rPr>
              <a:t> </a:t>
            </a:r>
            <a:r>
              <a:rPr lang="en-US" sz="1600" i="1" dirty="0">
                <a:latin typeface="Segoe UI Light" panose="020B0502040204020203" pitchFamily="34" charset="0"/>
                <a:cs typeface="Segoe UI Light" panose="020B0502040204020203" pitchFamily="34" charset="0"/>
              </a:rPr>
              <a:t>Merge Inputs to Single Raster</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caso</a:t>
            </a:r>
            <a:r>
              <a:rPr lang="en-US" sz="1600" dirty="0">
                <a:latin typeface="Segoe UI Light" panose="020B0502040204020203" pitchFamily="34" charset="0"/>
                <a:cs typeface="Segoe UI Light" panose="020B0502040204020203" pitchFamily="34" charset="0"/>
              </a:rPr>
              <a:t> de que </a:t>
            </a:r>
            <a:r>
              <a:rPr lang="en-US" sz="1600" dirty="0" err="1">
                <a:latin typeface="Segoe UI Light" panose="020B0502040204020203" pitchFamily="34" charset="0"/>
                <a:cs typeface="Segoe UI Light" panose="020B0502040204020203" pitchFamily="34" charset="0"/>
              </a:rPr>
              <a:t>requiera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exportar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terreno</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usarlo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ArcGIS. </a:t>
            </a:r>
            <a:r>
              <a:rPr lang="en-US" sz="1600" dirty="0" err="1">
                <a:latin typeface="Segoe UI Light" panose="020B0502040204020203" pitchFamily="34" charset="0"/>
                <a:cs typeface="Segoe UI Light" panose="020B0502040204020203" pitchFamily="34" charset="0"/>
              </a:rPr>
              <a:t>Guarde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TerrainDrag.hdf</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Analice</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terreno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resultante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creando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perfiles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temporales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visualización</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F9D6EAC1-4B32-41A7-B151-AE03BB9DA4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pic>
        <p:nvPicPr>
          <p:cNvPr id="12" name="Imagen 11">
            <a:extLst>
              <a:ext uri="{FF2B5EF4-FFF2-40B4-BE49-F238E27FC236}">
                <a16:creationId xmlns:a16="http://schemas.microsoft.com/office/drawing/2014/main" id="{0F1E4EA0-FD02-44B2-A9DF-267D240905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16966" y="5085184"/>
            <a:ext cx="360000" cy="360000"/>
          </a:xfrm>
          <a:prstGeom prst="rect">
            <a:avLst/>
          </a:prstGeom>
        </p:spPr>
      </p:pic>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638" y="3249000"/>
            <a:ext cx="360000" cy="360000"/>
          </a:xfrm>
          <a:prstGeom prst="rect">
            <a:avLst/>
          </a:prstGeom>
        </p:spPr>
      </p:pic>
      <p:pic>
        <p:nvPicPr>
          <p:cNvPr id="3" name="Imagen 2">
            <a:extLst>
              <a:ext uri="{FF2B5EF4-FFF2-40B4-BE49-F238E27FC236}">
                <a16:creationId xmlns:a16="http://schemas.microsoft.com/office/drawing/2014/main" id="{E122199B-7530-4C97-BB4B-B60A0C0BBA13}"/>
              </a:ext>
            </a:extLst>
          </p:cNvPr>
          <p:cNvPicPr>
            <a:picLocks noChangeAspect="1"/>
          </p:cNvPicPr>
          <p:nvPr/>
        </p:nvPicPr>
        <p:blipFill>
          <a:blip r:embed="rId5"/>
          <a:stretch>
            <a:fillRect/>
          </a:stretch>
        </p:blipFill>
        <p:spPr>
          <a:xfrm>
            <a:off x="6197286" y="2492897"/>
            <a:ext cx="5937059" cy="3130302"/>
          </a:xfrm>
          <a:prstGeom prst="rect">
            <a:avLst/>
          </a:prstGeom>
        </p:spPr>
      </p:pic>
      <p:pic>
        <p:nvPicPr>
          <p:cNvPr id="11" name="Imagen 10">
            <a:extLst>
              <a:ext uri="{FF2B5EF4-FFF2-40B4-BE49-F238E27FC236}">
                <a16:creationId xmlns:a16="http://schemas.microsoft.com/office/drawing/2014/main" id="{FBE87B17-7328-400F-9536-DF46A4B0EEE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357002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F892AC8-A406-41BC-8D43-B6F616F6FA42}"/>
              </a:ext>
            </a:extLst>
          </p:cNvPr>
          <p:cNvPicPr>
            <a:picLocks noChangeAspect="1"/>
          </p:cNvPicPr>
          <p:nvPr/>
        </p:nvPicPr>
        <p:blipFill>
          <a:blip r:embed="rId3"/>
          <a:stretch>
            <a:fillRect/>
          </a:stretch>
        </p:blipFill>
        <p:spPr>
          <a:xfrm>
            <a:off x="0" y="933834"/>
            <a:ext cx="12192000" cy="5930818"/>
          </a:xfrm>
          <a:prstGeom prst="rect">
            <a:avLst/>
          </a:prstGeom>
        </p:spPr>
      </p:pic>
      <p:sp>
        <p:nvSpPr>
          <p:cNvPr id="8" name="7 CuadroTexto"/>
          <p:cNvSpPr txBox="1"/>
          <p:nvPr/>
        </p:nvSpPr>
        <p:spPr>
          <a:xfrm>
            <a:off x="1580033" y="412223"/>
            <a:ext cx="9031933" cy="338554"/>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natural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dique</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protección</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9070" y="3667967"/>
            <a:ext cx="360000" cy="360000"/>
          </a:xfrm>
          <a:prstGeom prst="rect">
            <a:avLst/>
          </a:prstGeom>
        </p:spPr>
      </p:pic>
      <p:pic>
        <p:nvPicPr>
          <p:cNvPr id="9" name="Imagen 8">
            <a:extLst>
              <a:ext uri="{FF2B5EF4-FFF2-40B4-BE49-F238E27FC236}">
                <a16:creationId xmlns:a16="http://schemas.microsoft.com/office/drawing/2014/main" id="{421E2D41-632B-4ED1-8D46-1744E0151C7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EADD94E2-3861-4C0E-A468-33E65281CA4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spTree>
    <p:extLst>
      <p:ext uri="{BB962C8B-B14F-4D97-AF65-F5344CB8AC3E}">
        <p14:creationId xmlns:p14="http://schemas.microsoft.com/office/powerpoint/2010/main" val="15283534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8F8CFDF-A2C2-47E0-A250-0E9B359C7FA5}"/>
              </a:ext>
            </a:extLst>
          </p:cNvPr>
          <p:cNvPicPr>
            <a:picLocks noChangeAspect="1"/>
          </p:cNvPicPr>
          <p:nvPr/>
        </p:nvPicPr>
        <p:blipFill>
          <a:blip r:embed="rId3"/>
          <a:stretch>
            <a:fillRect/>
          </a:stretch>
        </p:blipFill>
        <p:spPr>
          <a:xfrm>
            <a:off x="0" y="930194"/>
            <a:ext cx="12192000" cy="5930818"/>
          </a:xfrm>
          <a:prstGeom prst="rect">
            <a:avLst/>
          </a:prstGeom>
        </p:spPr>
      </p:pic>
      <p:sp>
        <p:nvSpPr>
          <p:cNvPr id="8" name="7 CuadroTexto"/>
          <p:cNvSpPr txBox="1"/>
          <p:nvPr/>
        </p:nvSpPr>
        <p:spPr>
          <a:xfrm>
            <a:off x="1580033" y="412223"/>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Corte del Dique de Protección.</a:t>
            </a:r>
            <a:endParaRPr lang="es-CO" sz="160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31704" y="1484784"/>
            <a:ext cx="360000" cy="360000"/>
          </a:xfrm>
          <a:prstGeom prst="rect">
            <a:avLst/>
          </a:prstGeom>
        </p:spPr>
      </p:pic>
      <p:pic>
        <p:nvPicPr>
          <p:cNvPr id="9" name="Imagen 8">
            <a:extLst>
              <a:ext uri="{FF2B5EF4-FFF2-40B4-BE49-F238E27FC236}">
                <a16:creationId xmlns:a16="http://schemas.microsoft.com/office/drawing/2014/main" id="{43C8E212-3BD6-43B0-A3EB-CD2F0B63B57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24192" y="2708920"/>
            <a:ext cx="360000" cy="360000"/>
          </a:xfrm>
          <a:prstGeom prst="rect">
            <a:avLst/>
          </a:prstGeom>
        </p:spPr>
      </p:pic>
      <p:pic>
        <p:nvPicPr>
          <p:cNvPr id="10" name="Imagen 9">
            <a:extLst>
              <a:ext uri="{FF2B5EF4-FFF2-40B4-BE49-F238E27FC236}">
                <a16:creationId xmlns:a16="http://schemas.microsoft.com/office/drawing/2014/main" id="{BBB2B522-03D7-491D-B3F6-1D4BD0A235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935A9B71-8225-4A65-9BD0-3AA260AF892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spTree>
    <p:extLst>
      <p:ext uri="{BB962C8B-B14F-4D97-AF65-F5344CB8AC3E}">
        <p14:creationId xmlns:p14="http://schemas.microsoft.com/office/powerpoint/2010/main" val="761692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961979B-59EC-4124-A554-4E02ECA0E29F}"/>
              </a:ext>
            </a:extLst>
          </p:cNvPr>
          <p:cNvPicPr>
            <a:picLocks noChangeAspect="1"/>
          </p:cNvPicPr>
          <p:nvPr/>
        </p:nvPicPr>
        <p:blipFill>
          <a:blip r:embed="rId3"/>
          <a:stretch>
            <a:fillRect/>
          </a:stretch>
        </p:blipFill>
        <p:spPr>
          <a:xfrm>
            <a:off x="0" y="934358"/>
            <a:ext cx="12192000" cy="5930818"/>
          </a:xfrm>
          <a:prstGeom prst="rect">
            <a:avLst/>
          </a:prstGeom>
        </p:spPr>
      </p:pic>
      <p:sp>
        <p:nvSpPr>
          <p:cNvPr id="225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1580033" y="412223"/>
            <a:ext cx="9031933" cy="338554"/>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transversal de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natural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31704" y="1484784"/>
            <a:ext cx="360000" cy="360000"/>
          </a:xfrm>
          <a:prstGeom prst="rect">
            <a:avLst/>
          </a:prstGeom>
        </p:spPr>
      </p:pic>
      <p:pic>
        <p:nvPicPr>
          <p:cNvPr id="9" name="Imagen 8">
            <a:extLst>
              <a:ext uri="{FF2B5EF4-FFF2-40B4-BE49-F238E27FC236}">
                <a16:creationId xmlns:a16="http://schemas.microsoft.com/office/drawing/2014/main" id="{43C8E212-3BD6-43B0-A3EB-CD2F0B63B57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88288" y="5229200"/>
            <a:ext cx="360000" cy="360000"/>
          </a:xfrm>
          <a:prstGeom prst="rect">
            <a:avLst/>
          </a:prstGeom>
        </p:spPr>
      </p:pic>
      <p:pic>
        <p:nvPicPr>
          <p:cNvPr id="10" name="Imagen 9">
            <a:extLst>
              <a:ext uri="{FF2B5EF4-FFF2-40B4-BE49-F238E27FC236}">
                <a16:creationId xmlns:a16="http://schemas.microsoft.com/office/drawing/2014/main" id="{C222B18C-0CD8-4D73-A007-4E4433AD419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58ACE6C3-5244-4BB5-B397-A6F86E37838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spTree>
    <p:extLst>
      <p:ext uri="{BB962C8B-B14F-4D97-AF65-F5344CB8AC3E}">
        <p14:creationId xmlns:p14="http://schemas.microsoft.com/office/powerpoint/2010/main" val="2245949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4FF960E-22F9-41C4-98D2-8C3C62F3C3CD}"/>
              </a:ext>
            </a:extLst>
          </p:cNvPr>
          <p:cNvPicPr>
            <a:picLocks noChangeAspect="1"/>
          </p:cNvPicPr>
          <p:nvPr/>
        </p:nvPicPr>
        <p:blipFill>
          <a:blip r:embed="rId3"/>
          <a:stretch>
            <a:fillRect/>
          </a:stretch>
        </p:blipFill>
        <p:spPr>
          <a:xfrm>
            <a:off x="0" y="933834"/>
            <a:ext cx="12192000" cy="5930818"/>
          </a:xfrm>
          <a:prstGeom prst="rect">
            <a:avLst/>
          </a:prstGeom>
        </p:spPr>
      </p:pic>
      <p:sp>
        <p:nvSpPr>
          <p:cNvPr id="225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1580033" y="412223"/>
            <a:ext cx="9031933" cy="338554"/>
          </a:xfrm>
          <a:prstGeom prst="rect">
            <a:avLst/>
          </a:prstGeom>
          <a:noFill/>
        </p:spPr>
        <p:txBody>
          <a:bodyPr wrap="square" rtlCol="0">
            <a:spAutoFit/>
          </a:bodyPr>
          <a:lstStyle/>
          <a:p>
            <a:pPr algn="ctr"/>
            <a:r>
              <a:rPr lang="en-US" sz="1600" dirty="0" err="1">
                <a:latin typeface="Segoe UI Light" panose="020B0502040204020203" pitchFamily="34" charset="0"/>
                <a:cs typeface="Segoe UI Light" panose="020B0502040204020203" pitchFamily="34" charset="0"/>
              </a:rPr>
              <a:t>Tramo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arriba</a:t>
            </a:r>
            <a:r>
              <a:rPr lang="en-US" sz="1600" dirty="0">
                <a:latin typeface="Segoe UI Light" panose="020B0502040204020203" pitchFamily="34" charset="0"/>
                <a:cs typeface="Segoe UI Light" panose="020B0502040204020203" pitchFamily="34" charset="0"/>
              </a:rPr>
              <a:t>.</a:t>
            </a:r>
            <a:endParaRPr lang="es-CO" sz="1600" dirty="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47928" y="4077072"/>
            <a:ext cx="360000" cy="360000"/>
          </a:xfrm>
          <a:prstGeom prst="rect">
            <a:avLst/>
          </a:prstGeom>
        </p:spPr>
      </p:pic>
      <p:pic>
        <p:nvPicPr>
          <p:cNvPr id="10" name="Imagen 9">
            <a:extLst>
              <a:ext uri="{FF2B5EF4-FFF2-40B4-BE49-F238E27FC236}">
                <a16:creationId xmlns:a16="http://schemas.microsoft.com/office/drawing/2014/main" id="{4155DEE2-CF35-4CDA-9C52-4683AE52A3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42542FF7-3F42-4250-AE97-1CCC2C749DB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spTree>
    <p:extLst>
      <p:ext uri="{BB962C8B-B14F-4D97-AF65-F5344CB8AC3E}">
        <p14:creationId xmlns:p14="http://schemas.microsoft.com/office/powerpoint/2010/main" val="2541512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D3515C7-32DC-4289-B805-723F815B016D}"/>
              </a:ext>
            </a:extLst>
          </p:cNvPr>
          <p:cNvPicPr>
            <a:picLocks noChangeAspect="1"/>
          </p:cNvPicPr>
          <p:nvPr/>
        </p:nvPicPr>
        <p:blipFill>
          <a:blip r:embed="rId3"/>
          <a:stretch>
            <a:fillRect/>
          </a:stretch>
        </p:blipFill>
        <p:spPr>
          <a:xfrm>
            <a:off x="0" y="933834"/>
            <a:ext cx="12192000" cy="5930818"/>
          </a:xfrm>
          <a:prstGeom prst="rect">
            <a:avLst/>
          </a:prstGeom>
        </p:spPr>
      </p:pic>
      <p:sp>
        <p:nvSpPr>
          <p:cNvPr id="225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1580033" y="412223"/>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Cauce lateral restituido.</a:t>
            </a:r>
            <a:endParaRPr lang="es-CO" sz="160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56040" y="4797152"/>
            <a:ext cx="360000" cy="360000"/>
          </a:xfrm>
          <a:prstGeom prst="rect">
            <a:avLst/>
          </a:prstGeom>
        </p:spPr>
      </p:pic>
      <p:pic>
        <p:nvPicPr>
          <p:cNvPr id="10" name="Imagen 9">
            <a:extLst>
              <a:ext uri="{FF2B5EF4-FFF2-40B4-BE49-F238E27FC236}">
                <a16:creationId xmlns:a16="http://schemas.microsoft.com/office/drawing/2014/main" id="{D83E5CA0-4793-4448-A402-3139CBB63C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8C3748BE-46DD-4C91-AFD2-9F881DFD404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spTree>
    <p:extLst>
      <p:ext uri="{BB962C8B-B14F-4D97-AF65-F5344CB8AC3E}">
        <p14:creationId xmlns:p14="http://schemas.microsoft.com/office/powerpoint/2010/main" val="26055242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619777B-57F4-47B0-BCCB-F3BBFDD41856}"/>
              </a:ext>
            </a:extLst>
          </p:cNvPr>
          <p:cNvPicPr>
            <a:picLocks noChangeAspect="1"/>
          </p:cNvPicPr>
          <p:nvPr/>
        </p:nvPicPr>
        <p:blipFill>
          <a:blip r:embed="rId3"/>
          <a:stretch>
            <a:fillRect/>
          </a:stretch>
        </p:blipFill>
        <p:spPr>
          <a:xfrm>
            <a:off x="0" y="939264"/>
            <a:ext cx="12192000" cy="5930818"/>
          </a:xfrm>
          <a:prstGeom prst="rect">
            <a:avLst/>
          </a:prstGeom>
        </p:spPr>
      </p:pic>
      <p:sp>
        <p:nvSpPr>
          <p:cNvPr id="225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1580033" y="412223"/>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Entrega del cauce lateral al cause sinuoso diseñado.</a:t>
            </a:r>
            <a:endParaRPr lang="es-CO" sz="160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83832" y="4653136"/>
            <a:ext cx="360000" cy="360000"/>
          </a:xfrm>
          <a:prstGeom prst="rect">
            <a:avLst/>
          </a:prstGeom>
        </p:spPr>
      </p:pic>
      <p:pic>
        <p:nvPicPr>
          <p:cNvPr id="9" name="Imagen 8">
            <a:extLst>
              <a:ext uri="{FF2B5EF4-FFF2-40B4-BE49-F238E27FC236}">
                <a16:creationId xmlns:a16="http://schemas.microsoft.com/office/drawing/2014/main" id="{742DCAB3-6CF4-412C-A1DB-55BA1C52F8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31704" y="1484784"/>
            <a:ext cx="360000" cy="360000"/>
          </a:xfrm>
          <a:prstGeom prst="rect">
            <a:avLst/>
          </a:prstGeom>
        </p:spPr>
      </p:pic>
      <p:cxnSp>
        <p:nvCxnSpPr>
          <p:cNvPr id="4" name="Conector recto 3">
            <a:extLst>
              <a:ext uri="{FF2B5EF4-FFF2-40B4-BE49-F238E27FC236}">
                <a16:creationId xmlns:a16="http://schemas.microsoft.com/office/drawing/2014/main" id="{3BF81D41-E199-44D5-A15D-174D02E3647C}"/>
              </a:ext>
            </a:extLst>
          </p:cNvPr>
          <p:cNvCxnSpPr>
            <a:cxnSpLocks/>
          </p:cNvCxnSpPr>
          <p:nvPr/>
        </p:nvCxnSpPr>
        <p:spPr>
          <a:xfrm flipH="1">
            <a:off x="4007768" y="4492028"/>
            <a:ext cx="936064" cy="37713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DFAEFE27-4E84-476F-A47B-F8C9A32C1E6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005A7999-398A-48CE-AE66-9034A1444D7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spTree>
    <p:extLst>
      <p:ext uri="{BB962C8B-B14F-4D97-AF65-F5344CB8AC3E}">
        <p14:creationId xmlns:p14="http://schemas.microsoft.com/office/powerpoint/2010/main" val="7219409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BBECC70-2153-4BAC-9A2E-A618B7B479B1}"/>
              </a:ext>
            </a:extLst>
          </p:cNvPr>
          <p:cNvPicPr>
            <a:picLocks noChangeAspect="1"/>
          </p:cNvPicPr>
          <p:nvPr/>
        </p:nvPicPr>
        <p:blipFill>
          <a:blip r:embed="rId3"/>
          <a:stretch>
            <a:fillRect/>
          </a:stretch>
        </p:blipFill>
        <p:spPr>
          <a:xfrm>
            <a:off x="0" y="928928"/>
            <a:ext cx="12192000" cy="5930818"/>
          </a:xfrm>
          <a:prstGeom prst="rect">
            <a:avLst/>
          </a:prstGeom>
        </p:spPr>
      </p:pic>
      <p:sp>
        <p:nvSpPr>
          <p:cNvPr id="22530"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latin typeface="Segoe UI Light" panose="020B0502040204020203" pitchFamily="34" charset="0"/>
              <a:cs typeface="Segoe UI Light" panose="020B0502040204020203" pitchFamily="34" charset="0"/>
            </a:endParaRPr>
          </a:p>
        </p:txBody>
      </p:sp>
      <p:sp>
        <p:nvSpPr>
          <p:cNvPr id="8" name="7 CuadroTexto"/>
          <p:cNvSpPr txBox="1"/>
          <p:nvPr/>
        </p:nvSpPr>
        <p:spPr>
          <a:xfrm>
            <a:off x="1580033" y="412223"/>
            <a:ext cx="903193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Entrega del cauce lateral al cause sinuoso diseñado.</a:t>
            </a:r>
            <a:endParaRPr lang="es-CO" sz="1600">
              <a:latin typeface="Segoe UI Light" panose="020B0502040204020203" pitchFamily="34" charset="0"/>
              <a:cs typeface="Segoe UI Light" panose="020B0502040204020203" pitchFamily="34" charset="0"/>
            </a:endParaRP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11824" y="4509120"/>
            <a:ext cx="360000" cy="360000"/>
          </a:xfrm>
          <a:prstGeom prst="rect">
            <a:avLst/>
          </a:prstGeom>
        </p:spPr>
      </p:pic>
      <p:pic>
        <p:nvPicPr>
          <p:cNvPr id="9" name="Imagen 8">
            <a:extLst>
              <a:ext uri="{FF2B5EF4-FFF2-40B4-BE49-F238E27FC236}">
                <a16:creationId xmlns:a16="http://schemas.microsoft.com/office/drawing/2014/main" id="{742DCAB3-6CF4-412C-A1DB-55BA1C52F8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31704" y="1484784"/>
            <a:ext cx="360000" cy="360000"/>
          </a:xfrm>
          <a:prstGeom prst="rect">
            <a:avLst/>
          </a:prstGeom>
        </p:spPr>
      </p:pic>
      <p:cxnSp>
        <p:nvCxnSpPr>
          <p:cNvPr id="11" name="Conector recto 10">
            <a:extLst>
              <a:ext uri="{FF2B5EF4-FFF2-40B4-BE49-F238E27FC236}">
                <a16:creationId xmlns:a16="http://schemas.microsoft.com/office/drawing/2014/main" id="{16F1B0F7-3986-4A5F-B078-A4E4FFEB42B9}"/>
              </a:ext>
            </a:extLst>
          </p:cNvPr>
          <p:cNvCxnSpPr>
            <a:cxnSpLocks/>
          </p:cNvCxnSpPr>
          <p:nvPr/>
        </p:nvCxnSpPr>
        <p:spPr>
          <a:xfrm flipH="1" flipV="1">
            <a:off x="4295800" y="4149080"/>
            <a:ext cx="432048" cy="129614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71782F23-2987-4499-AD22-2D6600625BB7}"/>
              </a:ext>
            </a:extLst>
          </p:cNvPr>
          <p:cNvCxnSpPr>
            <a:cxnSpLocks/>
          </p:cNvCxnSpPr>
          <p:nvPr/>
        </p:nvCxnSpPr>
        <p:spPr>
          <a:xfrm flipH="1" flipV="1">
            <a:off x="3143672" y="3789040"/>
            <a:ext cx="1152128" cy="36004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54DE42C7-8997-4DFE-879E-B45172E0577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3C19FA29-B7B9-4455-9962-758E8B610B2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6. Integración del modelo de rectificado y diques al modelo de terreno sinuoso</a:t>
            </a:r>
          </a:p>
        </p:txBody>
      </p:sp>
    </p:spTree>
    <p:extLst>
      <p:ext uri="{BB962C8B-B14F-4D97-AF65-F5344CB8AC3E}">
        <p14:creationId xmlns:p14="http://schemas.microsoft.com/office/powerpoint/2010/main" val="2632381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566627" y="3244334"/>
            <a:ext cx="5058746"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7. Modelación hidráulica y análisis de resultados</a:t>
            </a:r>
          </a:p>
        </p:txBody>
      </p:sp>
      <p:pic>
        <p:nvPicPr>
          <p:cNvPr id="4" name="Imagen 3">
            <a:extLst>
              <a:ext uri="{FF2B5EF4-FFF2-40B4-BE49-F238E27FC236}">
                <a16:creationId xmlns:a16="http://schemas.microsoft.com/office/drawing/2014/main" id="{6BDA4E31-2F5B-430B-B6BA-A052B95C79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9668405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B912D0D-0FEB-4427-B917-734B09C5CFAF}"/>
              </a:ext>
            </a:extLst>
          </p:cNvPr>
          <p:cNvPicPr>
            <a:picLocks noChangeAspect="1"/>
          </p:cNvPicPr>
          <p:nvPr/>
        </p:nvPicPr>
        <p:blipFill>
          <a:blip r:embed="rId3"/>
          <a:stretch>
            <a:fillRect/>
          </a:stretch>
        </p:blipFill>
        <p:spPr>
          <a:xfrm>
            <a:off x="0" y="1463803"/>
            <a:ext cx="12192000" cy="5395943"/>
          </a:xfrm>
          <a:prstGeom prst="rect">
            <a:avLst/>
          </a:prstGeom>
        </p:spPr>
      </p:pic>
      <p:sp>
        <p:nvSpPr>
          <p:cNvPr id="8" name="7 CuadroTexto"/>
          <p:cNvSpPr txBox="1"/>
          <p:nvPr/>
        </p:nvSpPr>
        <p:spPr>
          <a:xfrm>
            <a:off x="191344" y="332656"/>
            <a:ext cx="11809312"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Para la modelación hidráulica es necesario crear una nueva geometría utilizando el área de drenaje 2D denominada Perimeter_v2.shp y el nuevo modelo de terreno. Posteriormente se deben realizar el refinamiento a partir de regiones, asociar las zonas de uso para aplicar los coeficientes de rugosidad de Manning (n) y establecer todas las condiciones de frontera para la geometría. Área de drenaje 2D. Establecer la rugosidad por defecto en 0.020 y el tamaño de celdas en 50 metros.</a:t>
            </a:r>
          </a:p>
        </p:txBody>
      </p:sp>
      <p:sp>
        <p:nvSpPr>
          <p:cNvPr id="10" name="1 Título">
            <a:extLst>
              <a:ext uri="{FF2B5EF4-FFF2-40B4-BE49-F238E27FC236}">
                <a16:creationId xmlns:a16="http://schemas.microsoft.com/office/drawing/2014/main" id="{F9D6EAC1-4B32-41A7-B151-AE03BB9DA45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4638" y="3249000"/>
            <a:ext cx="360000" cy="360000"/>
          </a:xfrm>
          <a:prstGeom prst="rect">
            <a:avLst/>
          </a:prstGeom>
        </p:spPr>
      </p:pic>
      <p:pic>
        <p:nvPicPr>
          <p:cNvPr id="4" name="Imagen 3">
            <a:extLst>
              <a:ext uri="{FF2B5EF4-FFF2-40B4-BE49-F238E27FC236}">
                <a16:creationId xmlns:a16="http://schemas.microsoft.com/office/drawing/2014/main" id="{0292BF38-B0B0-45C3-8161-D3E34992BA36}"/>
              </a:ext>
            </a:extLst>
          </p:cNvPr>
          <p:cNvPicPr>
            <a:picLocks noChangeAspect="1"/>
          </p:cNvPicPr>
          <p:nvPr/>
        </p:nvPicPr>
        <p:blipFill>
          <a:blip r:embed="rId5"/>
          <a:stretch>
            <a:fillRect/>
          </a:stretch>
        </p:blipFill>
        <p:spPr>
          <a:xfrm>
            <a:off x="1847528" y="5301208"/>
            <a:ext cx="4048125" cy="1457325"/>
          </a:xfrm>
          <a:prstGeom prst="rect">
            <a:avLst/>
          </a:prstGeom>
        </p:spPr>
      </p:pic>
      <p:pic>
        <p:nvPicPr>
          <p:cNvPr id="2" name="Imagen 1">
            <a:extLst>
              <a:ext uri="{FF2B5EF4-FFF2-40B4-BE49-F238E27FC236}">
                <a16:creationId xmlns:a16="http://schemas.microsoft.com/office/drawing/2014/main" id="{9DBD10E4-FEAA-4213-A19B-25429653982A}"/>
              </a:ext>
            </a:extLst>
          </p:cNvPr>
          <p:cNvPicPr>
            <a:picLocks noChangeAspect="1"/>
          </p:cNvPicPr>
          <p:nvPr/>
        </p:nvPicPr>
        <p:blipFill>
          <a:blip r:embed="rId6"/>
          <a:stretch>
            <a:fillRect/>
          </a:stretch>
        </p:blipFill>
        <p:spPr>
          <a:xfrm>
            <a:off x="6081757" y="1476517"/>
            <a:ext cx="3407073" cy="2474871"/>
          </a:xfrm>
          <a:prstGeom prst="rect">
            <a:avLst/>
          </a:prstGeom>
        </p:spPr>
      </p:pic>
      <p:pic>
        <p:nvPicPr>
          <p:cNvPr id="11" name="Imagen 10">
            <a:extLst>
              <a:ext uri="{FF2B5EF4-FFF2-40B4-BE49-F238E27FC236}">
                <a16:creationId xmlns:a16="http://schemas.microsoft.com/office/drawing/2014/main" id="{33D29341-A023-4AE3-8FAD-F413CA76735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33453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7F729D2-197D-4849-949A-69CD0A39D3DE}"/>
              </a:ext>
            </a:extLst>
          </p:cNvPr>
          <p:cNvPicPr>
            <a:picLocks noChangeAspect="1"/>
          </p:cNvPicPr>
          <p:nvPr/>
        </p:nvPicPr>
        <p:blipFill>
          <a:blip r:embed="rId3"/>
          <a:stretch>
            <a:fillRect/>
          </a:stretch>
        </p:blipFill>
        <p:spPr>
          <a:xfrm>
            <a:off x="0" y="1463803"/>
            <a:ext cx="12192000" cy="5395943"/>
          </a:xfrm>
          <a:prstGeom prst="rect">
            <a:avLst/>
          </a:prstGeom>
        </p:spPr>
      </p:pic>
      <p:sp>
        <p:nvSpPr>
          <p:cNvPr id="8" name="7 CuadroTexto"/>
          <p:cNvSpPr txBox="1"/>
          <p:nvPr/>
        </p:nvSpPr>
        <p:spPr>
          <a:xfrm>
            <a:off x="767408" y="538751"/>
            <a:ext cx="10657183"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Región para Refinamiento. Definir el espaciamiento perimetral cercano de celdas en 20 metros y el lejano en 50 metros. Opcionalmente podrá refinar las celdas a partir de las lineas de Thalweg de los cauces naturales y del eje del dique mediante la inclusión de Break Lines..</a:t>
            </a: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36366" y="3726998"/>
            <a:ext cx="360000" cy="360000"/>
          </a:xfrm>
          <a:prstGeom prst="rect">
            <a:avLst/>
          </a:prstGeom>
        </p:spPr>
      </p:pic>
      <p:pic>
        <p:nvPicPr>
          <p:cNvPr id="14" name="Imagen 13">
            <a:extLst>
              <a:ext uri="{FF2B5EF4-FFF2-40B4-BE49-F238E27FC236}">
                <a16:creationId xmlns:a16="http://schemas.microsoft.com/office/drawing/2014/main" id="{13C2F97D-BEDD-4E54-BC27-DEE75D77F4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6200" y="5722394"/>
            <a:ext cx="360000" cy="360000"/>
          </a:xfrm>
          <a:prstGeom prst="rect">
            <a:avLst/>
          </a:prstGeom>
        </p:spPr>
      </p:pic>
      <p:pic>
        <p:nvPicPr>
          <p:cNvPr id="17" name="Imagen 16">
            <a:extLst>
              <a:ext uri="{FF2B5EF4-FFF2-40B4-BE49-F238E27FC236}">
                <a16:creationId xmlns:a16="http://schemas.microsoft.com/office/drawing/2014/main" id="{BA4ADEA6-F2F3-421A-BFE1-294E0AEFBB9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16280" y="5754393"/>
            <a:ext cx="360000" cy="360000"/>
          </a:xfrm>
          <a:prstGeom prst="rect">
            <a:avLst/>
          </a:prstGeom>
        </p:spPr>
      </p:pic>
      <p:pic>
        <p:nvPicPr>
          <p:cNvPr id="10" name="Imagen 9">
            <a:extLst>
              <a:ext uri="{FF2B5EF4-FFF2-40B4-BE49-F238E27FC236}">
                <a16:creationId xmlns:a16="http://schemas.microsoft.com/office/drawing/2014/main" id="{ADCE820D-18CD-4A7F-870F-48EA36227EC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A03AB890-405F-4CCD-B5E1-E1D31102BE3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33650711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3DDA887-264D-4F52-BDF7-C82F7698341D}"/>
              </a:ext>
            </a:extLst>
          </p:cNvPr>
          <p:cNvPicPr>
            <a:picLocks noChangeAspect="1"/>
          </p:cNvPicPr>
          <p:nvPr/>
        </p:nvPicPr>
        <p:blipFill>
          <a:blip r:embed="rId3"/>
          <a:stretch>
            <a:fillRect/>
          </a:stretch>
        </p:blipFill>
        <p:spPr>
          <a:xfrm>
            <a:off x="3781425" y="1685925"/>
            <a:ext cx="4629150" cy="3486150"/>
          </a:xfrm>
          <a:prstGeom prst="rect">
            <a:avLst/>
          </a:prstGeom>
        </p:spPr>
      </p:pic>
      <p:sp>
        <p:nvSpPr>
          <p:cNvPr id="8" name="7 CuadroTexto"/>
          <p:cNvSpPr txBox="1"/>
          <p:nvPr/>
        </p:nvSpPr>
        <p:spPr>
          <a:xfrm>
            <a:off x="767408" y="932397"/>
            <a:ext cx="10657183"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Desde el editor del área 2D, genere los puntos computacionales de la malla y sus propiedades.</a:t>
            </a: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19936" y="2996952"/>
            <a:ext cx="360000" cy="360000"/>
          </a:xfrm>
          <a:prstGeom prst="rect">
            <a:avLst/>
          </a:prstGeom>
        </p:spPr>
      </p:pic>
      <p:pic>
        <p:nvPicPr>
          <p:cNvPr id="11" name="Imagen 10">
            <a:extLst>
              <a:ext uri="{FF2B5EF4-FFF2-40B4-BE49-F238E27FC236}">
                <a16:creationId xmlns:a16="http://schemas.microsoft.com/office/drawing/2014/main" id="{9B078044-C24A-4F64-92AD-F0E2396168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19936" y="3794706"/>
            <a:ext cx="360000" cy="360000"/>
          </a:xfrm>
          <a:prstGeom prst="rect">
            <a:avLst/>
          </a:prstGeom>
        </p:spPr>
      </p:pic>
      <p:pic>
        <p:nvPicPr>
          <p:cNvPr id="12" name="Imagen 11">
            <a:extLst>
              <a:ext uri="{FF2B5EF4-FFF2-40B4-BE49-F238E27FC236}">
                <a16:creationId xmlns:a16="http://schemas.microsoft.com/office/drawing/2014/main" id="{8686CEF3-54C4-468D-8DAD-5D8F26C3DD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1944" y="4412460"/>
            <a:ext cx="360000" cy="360000"/>
          </a:xfrm>
          <a:prstGeom prst="rect">
            <a:avLst/>
          </a:prstGeom>
        </p:spPr>
      </p:pic>
      <p:pic>
        <p:nvPicPr>
          <p:cNvPr id="10" name="Imagen 9">
            <a:extLst>
              <a:ext uri="{FF2B5EF4-FFF2-40B4-BE49-F238E27FC236}">
                <a16:creationId xmlns:a16="http://schemas.microsoft.com/office/drawing/2014/main" id="{A2C3FCA9-9803-4294-9D11-7902BD6AB3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FCE8AFB9-3784-4D74-87C5-E77568E2FE3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7107679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A4C7F92-ED01-42A6-8780-7B5271A005FC}"/>
              </a:ext>
            </a:extLst>
          </p:cNvPr>
          <p:cNvPicPr>
            <a:picLocks noChangeAspect="1"/>
          </p:cNvPicPr>
          <p:nvPr/>
        </p:nvPicPr>
        <p:blipFill>
          <a:blip r:embed="rId3"/>
          <a:stretch>
            <a:fillRect/>
          </a:stretch>
        </p:blipFill>
        <p:spPr>
          <a:xfrm>
            <a:off x="0" y="1468709"/>
            <a:ext cx="12192000" cy="5395943"/>
          </a:xfrm>
          <a:prstGeom prst="rect">
            <a:avLst/>
          </a:prstGeom>
        </p:spPr>
      </p:pic>
      <p:sp>
        <p:nvSpPr>
          <p:cNvPr id="8" name="7 CuadroTexto"/>
          <p:cNvSpPr txBox="1"/>
          <p:nvPr/>
        </p:nvSpPr>
        <p:spPr>
          <a:xfrm>
            <a:off x="851716" y="476672"/>
            <a:ext cx="10488568" cy="830997"/>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Realice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corrección</a:t>
            </a:r>
            <a:r>
              <a:rPr lang="en-US" sz="1600" dirty="0">
                <a:latin typeface="Segoe UI Light" panose="020B0502040204020203" pitchFamily="34" charset="0"/>
                <a:cs typeface="Segoe UI Light" panose="020B0502040204020203" pitchFamily="34" charset="0"/>
              </a:rPr>
              <a:t> de las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más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erradas</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más</a:t>
            </a:r>
            <a:r>
              <a:rPr lang="en-US" sz="1600" dirty="0">
                <a:latin typeface="Segoe UI Light" panose="020B0502040204020203" pitchFamily="34" charset="0"/>
                <a:cs typeface="Segoe UI Light" panose="020B0502040204020203" pitchFamily="34" charset="0"/>
              </a:rPr>
              <a:t> de 8 </a:t>
            </a:r>
            <a:r>
              <a:rPr lang="en-US" sz="1600" dirty="0" err="1">
                <a:latin typeface="Segoe UI Light" panose="020B0502040204020203" pitchFamily="34" charset="0"/>
                <a:cs typeface="Segoe UI Light" panose="020B0502040204020203" pitchFamily="34" charset="0"/>
              </a:rPr>
              <a:t>caras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calcule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tabla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propiedades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geométricas</a:t>
            </a:r>
            <a:r>
              <a:rPr lang="en-US" sz="1600" dirty="0">
                <a:latin typeface="Segoe UI Light" panose="020B0502040204020203" pitchFamily="34" charset="0"/>
                <a:cs typeface="Segoe UI Light" panose="020B0502040204020203" pitchFamily="34" charset="0"/>
              </a:rPr>
              <a:t> e </a:t>
            </a:r>
            <a:r>
              <a:rPr lang="en-US" sz="1600" dirty="0" err="1">
                <a:latin typeface="Segoe UI Light" panose="020B0502040204020203" pitchFamily="34" charset="0"/>
                <a:cs typeface="Segoe UI Light" panose="020B0502040204020203" pitchFamily="34" charset="0"/>
              </a:rPr>
              <a:t>hidráulicas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Observará</a:t>
            </a:r>
            <a:r>
              <a:rPr lang="en-US" sz="1600" dirty="0">
                <a:latin typeface="Segoe UI Light" panose="020B0502040204020203" pitchFamily="34" charset="0"/>
                <a:cs typeface="Segoe UI Light" panose="020B0502040204020203" pitchFamily="34" charset="0"/>
              </a:rPr>
              <a:t> que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tramos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rectificados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dique</a:t>
            </a:r>
            <a:r>
              <a:rPr lang="en-US" sz="1600" dirty="0">
                <a:latin typeface="Segoe UI Light" panose="020B0502040204020203" pitchFamily="34" charset="0"/>
                <a:cs typeface="Segoe UI Light" panose="020B0502040204020203" pitchFamily="34" charset="0"/>
              </a:rPr>
              <a:t> No se </a:t>
            </a:r>
            <a:r>
              <a:rPr lang="en-US" sz="1600" dirty="0" err="1">
                <a:latin typeface="Segoe UI Light" panose="020B0502040204020203" pitchFamily="34" charset="0"/>
                <a:cs typeface="Segoe UI Light" panose="020B0502040204020203" pitchFamily="34" charset="0"/>
              </a:rPr>
              <a:t>presentan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errores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celdas</a:t>
            </a:r>
            <a:r>
              <a:rPr lang="en-US" sz="1600" dirty="0">
                <a:latin typeface="Segoe UI Light" panose="020B0502040204020203" pitchFamily="34" charset="0"/>
                <a:cs typeface="Segoe UI Light" panose="020B0502040204020203" pitchFamily="34" charset="0"/>
              </a:rPr>
              <a:t> y que </a:t>
            </a:r>
            <a:r>
              <a:rPr lang="en-US" sz="1600" dirty="0" err="1">
                <a:latin typeface="Segoe UI Light" panose="020B0502040204020203" pitchFamily="34" charset="0"/>
                <a:cs typeface="Segoe UI Light" panose="020B0502040204020203" pitchFamily="34" charset="0"/>
              </a:rPr>
              <a:t>estas</a:t>
            </a:r>
            <a:r>
              <a:rPr lang="en-US" sz="1600" dirty="0">
                <a:latin typeface="Segoe UI Light" panose="020B0502040204020203" pitchFamily="34" charset="0"/>
                <a:cs typeface="Segoe UI Light" panose="020B0502040204020203" pitchFamily="34" charset="0"/>
              </a:rPr>
              <a:t> se </a:t>
            </a:r>
            <a:r>
              <a:rPr lang="en-US" sz="1600" dirty="0" err="1">
                <a:latin typeface="Segoe UI Light" panose="020B0502040204020203" pitchFamily="34" charset="0"/>
                <a:cs typeface="Segoe UI Light" panose="020B0502040204020203" pitchFamily="34" charset="0"/>
              </a:rPr>
              <a:t>mantienen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estructuradas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internamente</a:t>
            </a:r>
            <a:r>
              <a:rPr lang="en-US" sz="1600" dirty="0">
                <a:latin typeface="Segoe UI Light" panose="020B0502040204020203" pitchFamily="34" charset="0"/>
                <a:cs typeface="Segoe UI Light" panose="020B0502040204020203" pitchFamily="34" charset="0"/>
              </a:rPr>
              <a:t>.</a:t>
            </a: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36366" y="3726998"/>
            <a:ext cx="360000" cy="360000"/>
          </a:xfrm>
          <a:prstGeom prst="rect">
            <a:avLst/>
          </a:prstGeom>
        </p:spPr>
      </p:pic>
      <p:pic>
        <p:nvPicPr>
          <p:cNvPr id="9" name="Imagen 8">
            <a:extLst>
              <a:ext uri="{FF2B5EF4-FFF2-40B4-BE49-F238E27FC236}">
                <a16:creationId xmlns:a16="http://schemas.microsoft.com/office/drawing/2014/main" id="{DC379677-5223-4795-865B-2D77E4B5CD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4ECAF7C9-2423-4C8A-9ABE-FC23379633D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40641305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16541D5-336D-49A2-958B-D2A14481F5C2}"/>
              </a:ext>
            </a:extLst>
          </p:cNvPr>
          <p:cNvPicPr>
            <a:picLocks noChangeAspect="1"/>
          </p:cNvPicPr>
          <p:nvPr/>
        </p:nvPicPr>
        <p:blipFill>
          <a:blip r:embed="rId3"/>
          <a:stretch>
            <a:fillRect/>
          </a:stretch>
        </p:blipFill>
        <p:spPr>
          <a:xfrm>
            <a:off x="0" y="1463803"/>
            <a:ext cx="12192000" cy="5395943"/>
          </a:xfrm>
          <a:prstGeom prst="rect">
            <a:avLst/>
          </a:prstGeom>
        </p:spPr>
      </p:pic>
      <p:sp>
        <p:nvSpPr>
          <p:cNvPr id="8" name="7 CuadroTexto"/>
          <p:cNvSpPr txBox="1"/>
          <p:nvPr/>
        </p:nvSpPr>
        <p:spPr>
          <a:xfrm>
            <a:off x="851716" y="694868"/>
            <a:ext cx="10488568"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Grilla corregida.</a:t>
            </a:r>
          </a:p>
        </p:txBody>
      </p:sp>
      <p:pic>
        <p:nvPicPr>
          <p:cNvPr id="16" name="Imagen 15">
            <a:extLst>
              <a:ext uri="{FF2B5EF4-FFF2-40B4-BE49-F238E27FC236}">
                <a16:creationId xmlns:a16="http://schemas.microsoft.com/office/drawing/2014/main" id="{E1A6FBC9-95A2-4A1D-8238-83AC22F9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1577" y="3140968"/>
            <a:ext cx="360000" cy="360000"/>
          </a:xfrm>
          <a:prstGeom prst="rect">
            <a:avLst/>
          </a:prstGeom>
        </p:spPr>
      </p:pic>
      <p:pic>
        <p:nvPicPr>
          <p:cNvPr id="3" name="Imagen 2">
            <a:extLst>
              <a:ext uri="{FF2B5EF4-FFF2-40B4-BE49-F238E27FC236}">
                <a16:creationId xmlns:a16="http://schemas.microsoft.com/office/drawing/2014/main" id="{A478B13F-16E3-497A-AEBD-546F12235353}"/>
              </a:ext>
            </a:extLst>
          </p:cNvPr>
          <p:cNvPicPr>
            <a:picLocks noChangeAspect="1"/>
          </p:cNvPicPr>
          <p:nvPr/>
        </p:nvPicPr>
        <p:blipFill>
          <a:blip r:embed="rId5"/>
          <a:stretch>
            <a:fillRect/>
          </a:stretch>
        </p:blipFill>
        <p:spPr>
          <a:xfrm>
            <a:off x="7032104" y="5301208"/>
            <a:ext cx="2667000" cy="581025"/>
          </a:xfrm>
          <a:prstGeom prst="rect">
            <a:avLst/>
          </a:prstGeom>
        </p:spPr>
      </p:pic>
      <p:pic>
        <p:nvPicPr>
          <p:cNvPr id="11" name="Imagen 10">
            <a:extLst>
              <a:ext uri="{FF2B5EF4-FFF2-40B4-BE49-F238E27FC236}">
                <a16:creationId xmlns:a16="http://schemas.microsoft.com/office/drawing/2014/main" id="{C96E124E-61F1-47C0-BFAE-3505FA5AE7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75920" y="6133334"/>
            <a:ext cx="360000" cy="360000"/>
          </a:xfrm>
          <a:prstGeom prst="rect">
            <a:avLst/>
          </a:prstGeom>
        </p:spPr>
      </p:pic>
      <p:pic>
        <p:nvPicPr>
          <p:cNvPr id="10" name="Imagen 9">
            <a:extLst>
              <a:ext uri="{FF2B5EF4-FFF2-40B4-BE49-F238E27FC236}">
                <a16:creationId xmlns:a16="http://schemas.microsoft.com/office/drawing/2014/main" id="{5C2187FD-9450-4495-9EF2-F04EC0F1E31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9315FF03-62EC-4472-B2A2-D21A43089A1F}"/>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25726165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354C938-03F2-4F2E-AD22-9D4270EBE3AA}"/>
              </a:ext>
            </a:extLst>
          </p:cNvPr>
          <p:cNvPicPr>
            <a:picLocks noChangeAspect="1"/>
          </p:cNvPicPr>
          <p:nvPr/>
        </p:nvPicPr>
        <p:blipFill>
          <a:blip r:embed="rId3"/>
          <a:stretch>
            <a:fillRect/>
          </a:stretch>
        </p:blipFill>
        <p:spPr>
          <a:xfrm>
            <a:off x="114417" y="1098029"/>
            <a:ext cx="5955944" cy="5643339"/>
          </a:xfrm>
          <a:prstGeom prst="rect">
            <a:avLst/>
          </a:prstGeom>
        </p:spPr>
      </p:pic>
      <p:sp>
        <p:nvSpPr>
          <p:cNvPr id="8" name="7 CuadroTexto"/>
          <p:cNvSpPr txBox="1"/>
          <p:nvPr/>
        </p:nvSpPr>
        <p:spPr>
          <a:xfrm>
            <a:off x="629541" y="397514"/>
            <a:ext cx="10932917" cy="584775"/>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Condiciones de Frontera: Para la modelación completa del límite que contiene el cauce lateral, incluir dos condiciones de frontera de entrada aguas arriba y una de salida aguas abajo. Para el cauce principal aguas arriba.</a:t>
            </a:r>
          </a:p>
        </p:txBody>
      </p:sp>
      <p:pic>
        <p:nvPicPr>
          <p:cNvPr id="2" name="Imagen 1">
            <a:extLst>
              <a:ext uri="{FF2B5EF4-FFF2-40B4-BE49-F238E27FC236}">
                <a16:creationId xmlns:a16="http://schemas.microsoft.com/office/drawing/2014/main" id="{BDC4A850-E485-4F35-B79C-83793102AC5F}"/>
              </a:ext>
            </a:extLst>
          </p:cNvPr>
          <p:cNvPicPr>
            <a:picLocks noChangeAspect="1"/>
          </p:cNvPicPr>
          <p:nvPr/>
        </p:nvPicPr>
        <p:blipFill>
          <a:blip r:embed="rId4"/>
          <a:stretch>
            <a:fillRect/>
          </a:stretch>
        </p:blipFill>
        <p:spPr>
          <a:xfrm>
            <a:off x="1908076" y="5151451"/>
            <a:ext cx="4048125" cy="1457325"/>
          </a:xfrm>
          <a:prstGeom prst="rect">
            <a:avLst/>
          </a:prstGeom>
        </p:spPr>
      </p:pic>
      <p:pic>
        <p:nvPicPr>
          <p:cNvPr id="12" name="Imagen 11">
            <a:extLst>
              <a:ext uri="{FF2B5EF4-FFF2-40B4-BE49-F238E27FC236}">
                <a16:creationId xmlns:a16="http://schemas.microsoft.com/office/drawing/2014/main" id="{0F7C0E56-4EAD-4AD4-9DD5-29386A48B5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47928" y="3384376"/>
            <a:ext cx="360000" cy="360000"/>
          </a:xfrm>
          <a:prstGeom prst="rect">
            <a:avLst/>
          </a:prstGeom>
        </p:spPr>
      </p:pic>
      <p:pic>
        <p:nvPicPr>
          <p:cNvPr id="6" name="Imagen 5">
            <a:extLst>
              <a:ext uri="{FF2B5EF4-FFF2-40B4-BE49-F238E27FC236}">
                <a16:creationId xmlns:a16="http://schemas.microsoft.com/office/drawing/2014/main" id="{58445675-C889-4507-B513-BE7A0A4FE296}"/>
              </a:ext>
            </a:extLst>
          </p:cNvPr>
          <p:cNvPicPr>
            <a:picLocks noChangeAspect="1"/>
          </p:cNvPicPr>
          <p:nvPr/>
        </p:nvPicPr>
        <p:blipFill>
          <a:blip r:embed="rId6"/>
          <a:stretch>
            <a:fillRect/>
          </a:stretch>
        </p:blipFill>
        <p:spPr>
          <a:xfrm>
            <a:off x="6145998" y="1098028"/>
            <a:ext cx="5955944" cy="5643339"/>
          </a:xfrm>
          <a:prstGeom prst="rect">
            <a:avLst/>
          </a:prstGeom>
        </p:spPr>
      </p:pic>
      <p:pic>
        <p:nvPicPr>
          <p:cNvPr id="14" name="Imagen 13">
            <a:extLst>
              <a:ext uri="{FF2B5EF4-FFF2-40B4-BE49-F238E27FC236}">
                <a16:creationId xmlns:a16="http://schemas.microsoft.com/office/drawing/2014/main" id="{F4EFC77D-FBE1-4A9F-90F7-53A439CF4C0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28076" y="3919697"/>
            <a:ext cx="360000" cy="360000"/>
          </a:xfrm>
          <a:prstGeom prst="rect">
            <a:avLst/>
          </a:prstGeom>
        </p:spPr>
      </p:pic>
      <p:pic>
        <p:nvPicPr>
          <p:cNvPr id="17" name="Imagen 16">
            <a:extLst>
              <a:ext uri="{FF2B5EF4-FFF2-40B4-BE49-F238E27FC236}">
                <a16:creationId xmlns:a16="http://schemas.microsoft.com/office/drawing/2014/main" id="{9E29AD68-3334-48FF-AB68-A10834289F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92000" y="4176464"/>
            <a:ext cx="360000" cy="360000"/>
          </a:xfrm>
          <a:prstGeom prst="rect">
            <a:avLst/>
          </a:prstGeom>
        </p:spPr>
      </p:pic>
      <p:pic>
        <p:nvPicPr>
          <p:cNvPr id="7" name="Imagen 6">
            <a:extLst>
              <a:ext uri="{FF2B5EF4-FFF2-40B4-BE49-F238E27FC236}">
                <a16:creationId xmlns:a16="http://schemas.microsoft.com/office/drawing/2014/main" id="{D5E67ABF-1CF8-4D8B-B3C8-4075B9E6C8B8}"/>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8328248" y="4767968"/>
            <a:ext cx="3773694" cy="1973400"/>
          </a:xfrm>
          <a:prstGeom prst="rect">
            <a:avLst/>
          </a:prstGeom>
        </p:spPr>
      </p:pic>
      <p:pic>
        <p:nvPicPr>
          <p:cNvPr id="15" name="Imagen 14">
            <a:extLst>
              <a:ext uri="{FF2B5EF4-FFF2-40B4-BE49-F238E27FC236}">
                <a16:creationId xmlns:a16="http://schemas.microsoft.com/office/drawing/2014/main" id="{54D69E74-E8E7-40A2-B7C8-C4F0B32ECF4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6" name="1 Título">
            <a:extLst>
              <a:ext uri="{FF2B5EF4-FFF2-40B4-BE49-F238E27FC236}">
                <a16:creationId xmlns:a16="http://schemas.microsoft.com/office/drawing/2014/main" id="{FA86AB54-9665-4CCC-B662-A1DEEAC4265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20936687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B944CB3-4CD6-4040-A0C1-447D7B8936B9}"/>
              </a:ext>
            </a:extLst>
          </p:cNvPr>
          <p:cNvPicPr>
            <a:picLocks noChangeAspect="1"/>
          </p:cNvPicPr>
          <p:nvPr/>
        </p:nvPicPr>
        <p:blipFill>
          <a:blip r:embed="rId3"/>
          <a:stretch>
            <a:fillRect/>
          </a:stretch>
        </p:blipFill>
        <p:spPr>
          <a:xfrm>
            <a:off x="191343" y="1029324"/>
            <a:ext cx="5904657" cy="5594744"/>
          </a:xfrm>
          <a:prstGeom prst="rect">
            <a:avLst/>
          </a:prstGeom>
        </p:spPr>
      </p:pic>
      <p:sp>
        <p:nvSpPr>
          <p:cNvPr id="8" name="7 CuadroTexto"/>
          <p:cNvSpPr txBox="1"/>
          <p:nvPr/>
        </p:nvSpPr>
        <p:spPr>
          <a:xfrm>
            <a:off x="851715" y="489389"/>
            <a:ext cx="10488568"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Para el cauce lateral.</a:t>
            </a:r>
          </a:p>
        </p:txBody>
      </p:sp>
      <p:pic>
        <p:nvPicPr>
          <p:cNvPr id="12" name="Imagen 11">
            <a:extLst>
              <a:ext uri="{FF2B5EF4-FFF2-40B4-BE49-F238E27FC236}">
                <a16:creationId xmlns:a16="http://schemas.microsoft.com/office/drawing/2014/main" id="{0F7C0E56-4EAD-4AD4-9DD5-29386A48B5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92004" y="4187106"/>
            <a:ext cx="360000" cy="360000"/>
          </a:xfrm>
          <a:prstGeom prst="rect">
            <a:avLst/>
          </a:prstGeom>
        </p:spPr>
      </p:pic>
      <p:pic>
        <p:nvPicPr>
          <p:cNvPr id="3" name="Imagen 2">
            <a:extLst>
              <a:ext uri="{FF2B5EF4-FFF2-40B4-BE49-F238E27FC236}">
                <a16:creationId xmlns:a16="http://schemas.microsoft.com/office/drawing/2014/main" id="{C458DA00-4699-492B-AA32-021315F20325}"/>
              </a:ext>
            </a:extLst>
          </p:cNvPr>
          <p:cNvPicPr>
            <a:picLocks noChangeAspect="1"/>
          </p:cNvPicPr>
          <p:nvPr/>
        </p:nvPicPr>
        <p:blipFill>
          <a:blip r:embed="rId5"/>
          <a:stretch>
            <a:fillRect/>
          </a:stretch>
        </p:blipFill>
        <p:spPr>
          <a:xfrm>
            <a:off x="1974452" y="5079394"/>
            <a:ext cx="4048125" cy="1457325"/>
          </a:xfrm>
          <a:prstGeom prst="rect">
            <a:avLst/>
          </a:prstGeom>
        </p:spPr>
      </p:pic>
      <p:pic>
        <p:nvPicPr>
          <p:cNvPr id="7" name="Imagen 6">
            <a:extLst>
              <a:ext uri="{FF2B5EF4-FFF2-40B4-BE49-F238E27FC236}">
                <a16:creationId xmlns:a16="http://schemas.microsoft.com/office/drawing/2014/main" id="{6582101E-26FE-4D3A-A274-EEADC451121D}"/>
              </a:ext>
            </a:extLst>
          </p:cNvPr>
          <p:cNvPicPr>
            <a:picLocks noChangeAspect="1"/>
          </p:cNvPicPr>
          <p:nvPr/>
        </p:nvPicPr>
        <p:blipFill>
          <a:blip r:embed="rId6"/>
          <a:stretch>
            <a:fillRect/>
          </a:stretch>
        </p:blipFill>
        <p:spPr>
          <a:xfrm>
            <a:off x="6168007" y="1029325"/>
            <a:ext cx="5904657" cy="5594744"/>
          </a:xfrm>
          <a:prstGeom prst="rect">
            <a:avLst/>
          </a:prstGeom>
        </p:spPr>
      </p:pic>
      <p:pic>
        <p:nvPicPr>
          <p:cNvPr id="13" name="Imagen 12">
            <a:extLst>
              <a:ext uri="{FF2B5EF4-FFF2-40B4-BE49-F238E27FC236}">
                <a16:creationId xmlns:a16="http://schemas.microsoft.com/office/drawing/2014/main" id="{81FB3071-A388-40D7-9CBD-F0E60A43075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00456" y="4007106"/>
            <a:ext cx="360000" cy="360000"/>
          </a:xfrm>
          <a:prstGeom prst="rect">
            <a:avLst/>
          </a:prstGeom>
        </p:spPr>
      </p:pic>
      <p:pic>
        <p:nvPicPr>
          <p:cNvPr id="11" name="Imagen 10">
            <a:extLst>
              <a:ext uri="{FF2B5EF4-FFF2-40B4-BE49-F238E27FC236}">
                <a16:creationId xmlns:a16="http://schemas.microsoft.com/office/drawing/2014/main" id="{A6A2947B-5F8E-465D-8C6E-173237CD7DCA}"/>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8470354" y="4408902"/>
            <a:ext cx="3460203" cy="2229099"/>
          </a:xfrm>
          <a:prstGeom prst="rect">
            <a:avLst/>
          </a:prstGeom>
        </p:spPr>
      </p:pic>
      <p:pic>
        <p:nvPicPr>
          <p:cNvPr id="16" name="Imagen 15">
            <a:extLst>
              <a:ext uri="{FF2B5EF4-FFF2-40B4-BE49-F238E27FC236}">
                <a16:creationId xmlns:a16="http://schemas.microsoft.com/office/drawing/2014/main" id="{3821DAEB-C86D-45E0-95DC-60B26921D81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4" name="1 Título">
            <a:extLst>
              <a:ext uri="{FF2B5EF4-FFF2-40B4-BE49-F238E27FC236}">
                <a16:creationId xmlns:a16="http://schemas.microsoft.com/office/drawing/2014/main" id="{0B69DD9C-9443-4A73-8535-2A64E9DBAEFC}"/>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15154932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4FA99AD-543E-460F-B303-E2AA3CF96941}"/>
              </a:ext>
            </a:extLst>
          </p:cNvPr>
          <p:cNvPicPr>
            <a:picLocks noChangeAspect="1"/>
          </p:cNvPicPr>
          <p:nvPr/>
        </p:nvPicPr>
        <p:blipFill>
          <a:blip r:embed="rId3"/>
          <a:stretch>
            <a:fillRect/>
          </a:stretch>
        </p:blipFill>
        <p:spPr>
          <a:xfrm>
            <a:off x="55874" y="963636"/>
            <a:ext cx="5976664" cy="5662971"/>
          </a:xfrm>
          <a:prstGeom prst="rect">
            <a:avLst/>
          </a:prstGeom>
        </p:spPr>
      </p:pic>
      <p:sp>
        <p:nvSpPr>
          <p:cNvPr id="8" name="7 CuadroTexto"/>
          <p:cNvSpPr txBox="1"/>
          <p:nvPr/>
        </p:nvSpPr>
        <p:spPr>
          <a:xfrm>
            <a:off x="851715" y="489389"/>
            <a:ext cx="10488568"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Aguas abajo.</a:t>
            </a:r>
          </a:p>
        </p:txBody>
      </p:sp>
      <p:pic>
        <p:nvPicPr>
          <p:cNvPr id="12" name="Imagen 11">
            <a:extLst>
              <a:ext uri="{FF2B5EF4-FFF2-40B4-BE49-F238E27FC236}">
                <a16:creationId xmlns:a16="http://schemas.microsoft.com/office/drawing/2014/main" id="{0F7C0E56-4EAD-4AD4-9DD5-29386A48B5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67608" y="3615121"/>
            <a:ext cx="360000" cy="360000"/>
          </a:xfrm>
          <a:prstGeom prst="rect">
            <a:avLst/>
          </a:prstGeom>
        </p:spPr>
      </p:pic>
      <p:pic>
        <p:nvPicPr>
          <p:cNvPr id="2" name="Imagen 1">
            <a:extLst>
              <a:ext uri="{FF2B5EF4-FFF2-40B4-BE49-F238E27FC236}">
                <a16:creationId xmlns:a16="http://schemas.microsoft.com/office/drawing/2014/main" id="{C19428BA-948A-4A2C-8669-7FB4663E3428}"/>
              </a:ext>
            </a:extLst>
          </p:cNvPr>
          <p:cNvPicPr>
            <a:picLocks noChangeAspect="1"/>
          </p:cNvPicPr>
          <p:nvPr/>
        </p:nvPicPr>
        <p:blipFill>
          <a:blip r:embed="rId5"/>
          <a:stretch>
            <a:fillRect/>
          </a:stretch>
        </p:blipFill>
        <p:spPr>
          <a:xfrm>
            <a:off x="1916045" y="5085184"/>
            <a:ext cx="4048125" cy="1457325"/>
          </a:xfrm>
          <a:prstGeom prst="rect">
            <a:avLst/>
          </a:prstGeom>
        </p:spPr>
      </p:pic>
      <p:pic>
        <p:nvPicPr>
          <p:cNvPr id="6" name="Imagen 5">
            <a:extLst>
              <a:ext uri="{FF2B5EF4-FFF2-40B4-BE49-F238E27FC236}">
                <a16:creationId xmlns:a16="http://schemas.microsoft.com/office/drawing/2014/main" id="{3638E3C7-E496-4FDD-9061-029073F1C3B3}"/>
              </a:ext>
            </a:extLst>
          </p:cNvPr>
          <p:cNvPicPr>
            <a:picLocks noChangeAspect="1"/>
          </p:cNvPicPr>
          <p:nvPr/>
        </p:nvPicPr>
        <p:blipFill>
          <a:blip r:embed="rId6"/>
          <a:stretch>
            <a:fillRect/>
          </a:stretch>
        </p:blipFill>
        <p:spPr>
          <a:xfrm>
            <a:off x="6113092" y="963636"/>
            <a:ext cx="5976664" cy="5662972"/>
          </a:xfrm>
          <a:prstGeom prst="rect">
            <a:avLst/>
          </a:prstGeom>
        </p:spPr>
      </p:pic>
      <p:pic>
        <p:nvPicPr>
          <p:cNvPr id="9" name="Imagen 8">
            <a:extLst>
              <a:ext uri="{FF2B5EF4-FFF2-40B4-BE49-F238E27FC236}">
                <a16:creationId xmlns:a16="http://schemas.microsoft.com/office/drawing/2014/main" id="{A8E19FD6-2384-4EC0-AAB2-E5C03E99B82E}"/>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8328248" y="4313583"/>
            <a:ext cx="3761508" cy="2313024"/>
          </a:xfrm>
          <a:prstGeom prst="rect">
            <a:avLst/>
          </a:prstGeom>
        </p:spPr>
      </p:pic>
      <p:pic>
        <p:nvPicPr>
          <p:cNvPr id="10" name="Imagen 9">
            <a:extLst>
              <a:ext uri="{FF2B5EF4-FFF2-40B4-BE49-F238E27FC236}">
                <a16:creationId xmlns:a16="http://schemas.microsoft.com/office/drawing/2014/main" id="{86CE23AF-28C7-4E74-9F08-B56D5B4CD15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04995AB0-6A3A-4231-B96C-AB0EF2D9E38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16720286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F57DF12-2476-48F4-B18F-135A41574D2F}"/>
              </a:ext>
            </a:extLst>
          </p:cNvPr>
          <p:cNvPicPr>
            <a:picLocks noChangeAspect="1"/>
          </p:cNvPicPr>
          <p:nvPr/>
        </p:nvPicPr>
        <p:blipFill>
          <a:blip r:embed="rId3">
            <a:grayscl/>
          </a:blip>
          <a:stretch>
            <a:fillRect/>
          </a:stretch>
        </p:blipFill>
        <p:spPr>
          <a:xfrm>
            <a:off x="2486610" y="1454696"/>
            <a:ext cx="7027649" cy="2048583"/>
          </a:xfrm>
          <a:prstGeom prst="rect">
            <a:avLst/>
          </a:prstGeom>
        </p:spPr>
      </p:pic>
      <p:sp>
        <p:nvSpPr>
          <p:cNvPr id="8" name="7 CuadroTexto"/>
          <p:cNvSpPr txBox="1"/>
          <p:nvPr/>
        </p:nvSpPr>
        <p:spPr>
          <a:xfrm>
            <a:off x="851715" y="332656"/>
            <a:ext cx="10488568"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Asociación de mapa de usos del suelo para coeficientes de rugosidad de Manning (n): Clic derecho en Geometries – Manage Geometries Associations. Desde la misma ventana, realice la asociación del modelo de terreno TerrainDrag a la geometría definida para el Permímetro 2. Guarde y cierre RAS Mapper. Verifique los valores del coeficiente de rugosidad (n) en varias caras de diferentes celdas del modelo.</a:t>
            </a:r>
          </a:p>
        </p:txBody>
      </p:sp>
      <p:pic>
        <p:nvPicPr>
          <p:cNvPr id="13" name="Imagen 12">
            <a:extLst>
              <a:ext uri="{FF2B5EF4-FFF2-40B4-BE49-F238E27FC236}">
                <a16:creationId xmlns:a16="http://schemas.microsoft.com/office/drawing/2014/main" id="{FCBEEB7B-7B5F-492F-982B-72E8F4871F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08168" y="2457373"/>
            <a:ext cx="360000" cy="360000"/>
          </a:xfrm>
          <a:prstGeom prst="rect">
            <a:avLst/>
          </a:prstGeom>
        </p:spPr>
      </p:pic>
      <p:pic>
        <p:nvPicPr>
          <p:cNvPr id="14" name="Imagen 13">
            <a:extLst>
              <a:ext uri="{FF2B5EF4-FFF2-40B4-BE49-F238E27FC236}">
                <a16:creationId xmlns:a16="http://schemas.microsoft.com/office/drawing/2014/main" id="{5263ECF2-2693-49B7-B679-B1AAF909A9D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0336" y="2478988"/>
            <a:ext cx="360000" cy="360000"/>
          </a:xfrm>
          <a:prstGeom prst="rect">
            <a:avLst/>
          </a:prstGeom>
        </p:spPr>
      </p:pic>
      <p:pic>
        <p:nvPicPr>
          <p:cNvPr id="7" name="Imagen 6">
            <a:extLst>
              <a:ext uri="{FF2B5EF4-FFF2-40B4-BE49-F238E27FC236}">
                <a16:creationId xmlns:a16="http://schemas.microsoft.com/office/drawing/2014/main" id="{97CBC982-DB68-4B2B-BEB0-FE05263F5BA2}"/>
              </a:ext>
            </a:extLst>
          </p:cNvPr>
          <p:cNvPicPr>
            <a:picLocks noChangeAspect="1"/>
          </p:cNvPicPr>
          <p:nvPr/>
        </p:nvPicPr>
        <p:blipFill>
          <a:blip r:embed="rId5">
            <a:grayscl/>
          </a:blip>
          <a:stretch>
            <a:fillRect/>
          </a:stretch>
        </p:blipFill>
        <p:spPr>
          <a:xfrm>
            <a:off x="207173" y="3579137"/>
            <a:ext cx="3898007" cy="3212976"/>
          </a:xfrm>
          <a:prstGeom prst="rect">
            <a:avLst/>
          </a:prstGeom>
        </p:spPr>
      </p:pic>
      <p:pic>
        <p:nvPicPr>
          <p:cNvPr id="11" name="Imagen 10">
            <a:extLst>
              <a:ext uri="{FF2B5EF4-FFF2-40B4-BE49-F238E27FC236}">
                <a16:creationId xmlns:a16="http://schemas.microsoft.com/office/drawing/2014/main" id="{C543C835-B22E-41B3-AACA-9D45163DC59A}"/>
              </a:ext>
            </a:extLst>
          </p:cNvPr>
          <p:cNvPicPr>
            <a:picLocks noChangeAspect="1"/>
          </p:cNvPicPr>
          <p:nvPr/>
        </p:nvPicPr>
        <p:blipFill>
          <a:blip r:embed="rId6">
            <a:grayscl/>
          </a:blip>
          <a:stretch>
            <a:fillRect/>
          </a:stretch>
        </p:blipFill>
        <p:spPr>
          <a:xfrm>
            <a:off x="4145852" y="3579137"/>
            <a:ext cx="3898007" cy="3212976"/>
          </a:xfrm>
          <a:prstGeom prst="rect">
            <a:avLst/>
          </a:prstGeom>
        </p:spPr>
      </p:pic>
      <p:pic>
        <p:nvPicPr>
          <p:cNvPr id="16" name="Imagen 15">
            <a:extLst>
              <a:ext uri="{FF2B5EF4-FFF2-40B4-BE49-F238E27FC236}">
                <a16:creationId xmlns:a16="http://schemas.microsoft.com/office/drawing/2014/main" id="{7C444F95-E8F8-4023-8879-B231E3D45975}"/>
              </a:ext>
            </a:extLst>
          </p:cNvPr>
          <p:cNvPicPr>
            <a:picLocks noChangeAspect="1"/>
          </p:cNvPicPr>
          <p:nvPr/>
        </p:nvPicPr>
        <p:blipFill>
          <a:blip r:embed="rId7">
            <a:grayscl/>
          </a:blip>
          <a:stretch>
            <a:fillRect/>
          </a:stretch>
        </p:blipFill>
        <p:spPr>
          <a:xfrm>
            <a:off x="8102649" y="3579137"/>
            <a:ext cx="3898007" cy="3212976"/>
          </a:xfrm>
          <a:prstGeom prst="rect">
            <a:avLst/>
          </a:prstGeom>
        </p:spPr>
      </p:pic>
      <p:pic>
        <p:nvPicPr>
          <p:cNvPr id="17" name="Imagen 16">
            <a:extLst>
              <a:ext uri="{FF2B5EF4-FFF2-40B4-BE49-F238E27FC236}">
                <a16:creationId xmlns:a16="http://schemas.microsoft.com/office/drawing/2014/main" id="{B54C273B-06D3-4647-8FAD-374F9E96859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D186FEF6-B29A-4527-9330-3204FA7F1B58}"/>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30155589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39059" y="332656"/>
            <a:ext cx="6216981" cy="6001643"/>
          </a:xfrm>
          <a:prstGeom prst="rect">
            <a:avLst/>
          </a:prstGeom>
          <a:noFill/>
        </p:spPr>
        <p:txBody>
          <a:bodyPr wrap="square" rtlCol="0">
            <a:spAutoFit/>
          </a:bodyPr>
          <a:lstStyle/>
          <a:p>
            <a:pPr algn="just"/>
            <a:r>
              <a:rPr lang="en-US" sz="1600" dirty="0" err="1">
                <a:latin typeface="Segoe UI Light" panose="020B0502040204020203" pitchFamily="34" charset="0"/>
                <a:cs typeface="Segoe UI Light" panose="020B0502040204020203" pitchFamily="34" charset="0"/>
              </a:rPr>
              <a:t>Hidrogramas</a:t>
            </a:r>
            <a:r>
              <a:rPr lang="en-US" sz="1600" dirty="0">
                <a:latin typeface="Segoe UI Light" panose="020B0502040204020203" pitchFamily="34" charset="0"/>
                <a:cs typeface="Segoe UI Light" panose="020B0502040204020203" pitchFamily="34" charset="0"/>
              </a:rPr>
              <a:t> y </a:t>
            </a:r>
            <a:r>
              <a:rPr lang="en-US" sz="1600" dirty="0" err="1">
                <a:latin typeface="Segoe UI Light" panose="020B0502040204020203" pitchFamily="34" charset="0"/>
                <a:cs typeface="Segoe UI Light" panose="020B0502040204020203" pitchFamily="34" charset="0"/>
              </a:rPr>
              <a:t>condiciones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frontera</a:t>
            </a:r>
            <a:r>
              <a:rPr lang="en-US" sz="1600" dirty="0">
                <a:latin typeface="Segoe UI Light" panose="020B0502040204020203" pitchFamily="34" charset="0"/>
                <a:cs typeface="Segoe UI Light" panose="020B0502040204020203" pitchFamily="34" charset="0"/>
              </a:rPr>
              <a:t> para la </a:t>
            </a:r>
            <a:r>
              <a:rPr lang="en-US" sz="1600" dirty="0" err="1">
                <a:latin typeface="Segoe UI Light" panose="020B0502040204020203" pitchFamily="34" charset="0"/>
                <a:cs typeface="Segoe UI Light" panose="020B0502040204020203" pitchFamily="34" charset="0"/>
              </a:rPr>
              <a:t>modelación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ventana</a:t>
            </a:r>
            <a:r>
              <a:rPr lang="en-US" sz="1600" dirty="0">
                <a:latin typeface="Segoe UI Light" panose="020B0502040204020203" pitchFamily="34" charset="0"/>
                <a:cs typeface="Segoe UI Light" panose="020B0502040204020203" pitchFamily="34" charset="0"/>
              </a:rPr>
              <a:t> principal del </a:t>
            </a:r>
            <a:r>
              <a:rPr lang="en-US" sz="1600" dirty="0" err="1">
                <a:latin typeface="Segoe UI Light" panose="020B0502040204020203" pitchFamily="34" charset="0"/>
                <a:cs typeface="Segoe UI Light" panose="020B0502040204020203" pitchFamily="34" charset="0"/>
              </a:rPr>
              <a:t>proyecto</a:t>
            </a:r>
            <a:r>
              <a:rPr lang="en-US" sz="1600" dirty="0">
                <a:latin typeface="Segoe UI Light" panose="020B0502040204020203" pitchFamily="34" charset="0"/>
                <a:cs typeface="Segoe UI Light" panose="020B0502040204020203" pitchFamily="34" charset="0"/>
              </a:rPr>
              <a:t> de HEC-RAS, </a:t>
            </a:r>
            <a:r>
              <a:rPr lang="en-US" sz="1600" dirty="0" err="1">
                <a:latin typeface="Segoe UI Light" panose="020B0502040204020203" pitchFamily="34" charset="0"/>
                <a:cs typeface="Segoe UI Light" panose="020B0502040204020203" pitchFamily="34" charset="0"/>
              </a:rPr>
              <a:t>defina</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configuración</a:t>
            </a:r>
            <a:r>
              <a:rPr lang="en-US" sz="1600" dirty="0">
                <a:latin typeface="Segoe UI Light" panose="020B0502040204020203" pitchFamily="34" charset="0"/>
                <a:cs typeface="Segoe UI Light" panose="020B0502040204020203" pitchFamily="34" charset="0"/>
              </a:rPr>
              <a:t> de los </a:t>
            </a:r>
            <a:r>
              <a:rPr lang="en-US" sz="1600" dirty="0" err="1">
                <a:latin typeface="Segoe UI Light" panose="020B0502040204020203" pitchFamily="34" charset="0"/>
                <a:cs typeface="Segoe UI Light" panose="020B0502040204020203" pitchFamily="34" charset="0"/>
              </a:rPr>
              <a:t>datos</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condiciones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flujo</a:t>
            </a:r>
            <a:r>
              <a:rPr lang="en-US" sz="1600" dirty="0">
                <a:latin typeface="Segoe UI Light" panose="020B0502040204020203" pitchFamily="34" charset="0"/>
                <a:cs typeface="Segoe UI Light" panose="020B0502040204020203" pitchFamily="34" charset="0"/>
              </a:rPr>
              <a:t> No </a:t>
            </a:r>
            <a:r>
              <a:rPr lang="en-US" sz="1600" dirty="0" err="1">
                <a:latin typeface="Segoe UI Light" panose="020B0502040204020203" pitchFamily="34" charset="0"/>
                <a:cs typeface="Segoe UI Light" panose="020B0502040204020203" pitchFamily="34" charset="0"/>
              </a:rPr>
              <a:t>Uniforme</a:t>
            </a:r>
            <a:r>
              <a:rPr lang="en-US" sz="1600" dirty="0">
                <a:latin typeface="Segoe UI Light" panose="020B0502040204020203" pitchFamily="34" charset="0"/>
                <a:cs typeface="Segoe UI Light" panose="020B0502040204020203" pitchFamily="34" charset="0"/>
              </a:rPr>
              <a:t>. Para </a:t>
            </a:r>
            <a:r>
              <a:rPr lang="en-US" sz="1600" dirty="0" err="1">
                <a:latin typeface="Segoe UI Light" panose="020B0502040204020203" pitchFamily="34" charset="0"/>
                <a:cs typeface="Segoe UI Light" panose="020B0502040204020203" pitchFamily="34" charset="0"/>
              </a:rPr>
              <a:t>este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ejercicio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analizaremos</a:t>
            </a:r>
            <a:r>
              <a:rPr lang="en-US" sz="1600" dirty="0">
                <a:latin typeface="Segoe UI Light" panose="020B0502040204020203" pitchFamily="34" charset="0"/>
                <a:cs typeface="Segoe UI Light" panose="020B0502040204020203" pitchFamily="34" charset="0"/>
              </a:rPr>
              <a:t> los </a:t>
            </a:r>
            <a:r>
              <a:rPr lang="en-US" sz="1600" dirty="0" err="1">
                <a:latin typeface="Segoe UI Light" panose="020B0502040204020203" pitchFamily="34" charset="0"/>
                <a:cs typeface="Segoe UI Light" panose="020B0502040204020203" pitchFamily="34" charset="0"/>
              </a:rPr>
              <a:t>valores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correspondientes</a:t>
            </a:r>
            <a:r>
              <a:rPr lang="en-US" sz="1600" dirty="0">
                <a:latin typeface="Segoe UI Light" panose="020B0502040204020203" pitchFamily="34" charset="0"/>
                <a:cs typeface="Segoe UI Light" panose="020B0502040204020203" pitchFamily="34" charset="0"/>
              </a:rPr>
              <a:t> a 100 </a:t>
            </a:r>
            <a:r>
              <a:rPr lang="en-US" sz="1600" dirty="0" err="1">
                <a:latin typeface="Segoe UI Light" panose="020B0502040204020203" pitchFamily="34" charset="0"/>
                <a:cs typeface="Segoe UI Light" panose="020B0502040204020203" pitchFamily="34" charset="0"/>
              </a:rPr>
              <a:t>años</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periodo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retorno</a:t>
            </a:r>
            <a:r>
              <a:rPr lang="en-US" sz="1600" dirty="0">
                <a:latin typeface="Segoe UI Light" panose="020B0502040204020203" pitchFamily="34" charset="0"/>
                <a:cs typeface="Segoe UI Light" panose="020B0502040204020203" pitchFamily="34" charset="0"/>
              </a:rPr>
              <a:t>. Es </a:t>
            </a:r>
            <a:r>
              <a:rPr lang="en-US" sz="1600" dirty="0" err="1">
                <a:latin typeface="Segoe UI Light" panose="020B0502040204020203" pitchFamily="34" charset="0"/>
                <a:cs typeface="Segoe UI Light" panose="020B0502040204020203" pitchFamily="34" charset="0"/>
              </a:rPr>
              <a:t>necesario</a:t>
            </a:r>
            <a:r>
              <a:rPr lang="en-US" sz="1600" dirty="0">
                <a:latin typeface="Segoe UI Light" panose="020B0502040204020203" pitchFamily="34" charset="0"/>
                <a:cs typeface="Segoe UI Light" panose="020B0502040204020203" pitchFamily="34" charset="0"/>
              </a:rPr>
              <a:t> que </a:t>
            </a:r>
            <a:r>
              <a:rPr lang="en-US" sz="1600" dirty="0" err="1">
                <a:latin typeface="Segoe UI Light" panose="020B0502040204020203" pitchFamily="34" charset="0"/>
                <a:cs typeface="Segoe UI Light" panose="020B0502040204020203" pitchFamily="34" charset="0"/>
              </a:rPr>
              <a:t>previamente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desde</a:t>
            </a:r>
            <a:r>
              <a:rPr lang="en-US" sz="1600" dirty="0">
                <a:latin typeface="Segoe UI Light" panose="020B0502040204020203" pitchFamily="34" charset="0"/>
                <a:cs typeface="Segoe UI Light" panose="020B0502040204020203" pitchFamily="34" charset="0"/>
              </a:rPr>
              <a:t> el editor de </a:t>
            </a:r>
            <a:r>
              <a:rPr lang="en-US" sz="1600" dirty="0" err="1">
                <a:latin typeface="Segoe UI Light" panose="020B0502040204020203" pitchFamily="34" charset="0"/>
                <a:cs typeface="Segoe UI Light" panose="020B0502040204020203" pitchFamily="34" charset="0"/>
              </a:rPr>
              <a:t>geometría</a:t>
            </a:r>
            <a:r>
              <a:rPr lang="en-US" sz="1600" dirty="0">
                <a:latin typeface="Segoe UI Light" panose="020B0502040204020203" pitchFamily="34" charset="0"/>
                <a:cs typeface="Segoe UI Light" panose="020B0502040204020203" pitchFamily="34" charset="0"/>
              </a:rPr>
              <a:t> 1D se </a:t>
            </a:r>
            <a:r>
              <a:rPr lang="en-US" sz="1600" dirty="0" err="1">
                <a:latin typeface="Segoe UI Light" panose="020B0502040204020203" pitchFamily="34" charset="0"/>
                <a:cs typeface="Segoe UI Light" panose="020B0502040204020203" pitchFamily="34" charset="0"/>
              </a:rPr>
              <a:t>cargue</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geometría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correspondiente</a:t>
            </a:r>
            <a:r>
              <a:rPr lang="en-US" sz="1600" dirty="0">
                <a:latin typeface="Segoe UI Light" panose="020B0502040204020203" pitchFamily="34" charset="0"/>
                <a:cs typeface="Segoe UI Light" panose="020B0502040204020203" pitchFamily="34" charset="0"/>
              </a:rPr>
              <a:t> al </a:t>
            </a:r>
            <a:r>
              <a:rPr lang="en-US" sz="1600" dirty="0" err="1">
                <a:latin typeface="Segoe UI Light" panose="020B0502040204020203" pitchFamily="34" charset="0"/>
                <a:cs typeface="Segoe UI Light" panose="020B0502040204020203" pitchFamily="34" charset="0"/>
              </a:rPr>
              <a:t>modelo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terreno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rectificado</a:t>
            </a:r>
            <a:r>
              <a:rPr lang="en-US" sz="1600" dirty="0">
                <a:latin typeface="Segoe UI Light" panose="020B0502040204020203" pitchFamily="34" charset="0"/>
                <a:cs typeface="Segoe UI Light" panose="020B0502040204020203" pitchFamily="34" charset="0"/>
              </a:rPr>
              <a:t>. </a:t>
            </a:r>
          </a:p>
          <a:p>
            <a:pPr algn="just"/>
            <a:endParaRPr lang="en-US" sz="1600" dirty="0">
              <a:latin typeface="Segoe UI Light" panose="020B0502040204020203" pitchFamily="34" charset="0"/>
              <a:cs typeface="Segoe UI Light" panose="020B0502040204020203" pitchFamily="34" charset="0"/>
            </a:endParaRPr>
          </a:p>
          <a:p>
            <a:endParaRPr lang="en-US" sz="1600" dirty="0">
              <a:latin typeface="Segoe UI Light" panose="020B0502040204020203" pitchFamily="34" charset="0"/>
              <a:cs typeface="Segoe UI Light" panose="020B0502040204020203" pitchFamily="34" charset="0"/>
            </a:endParaRPr>
          </a:p>
          <a:p>
            <a:r>
              <a:rPr lang="en-US" sz="1600" dirty="0" err="1">
                <a:latin typeface="Segoe UI Light" panose="020B0502040204020203" pitchFamily="34" charset="0"/>
                <a:cs typeface="Segoe UI Light" panose="020B0502040204020203" pitchFamily="34" charset="0"/>
              </a:rPr>
              <a:t>Especificaciones</a:t>
            </a:r>
            <a:r>
              <a:rPr lang="en-US" sz="1600" dirty="0">
                <a:latin typeface="Segoe UI Light" panose="020B0502040204020203" pitchFamily="34" charset="0"/>
                <a:cs typeface="Segoe UI Light" panose="020B0502040204020203" pitchFamily="34" charset="0"/>
              </a:rPr>
              <a:t>:</a:t>
            </a:r>
          </a:p>
          <a:p>
            <a:endParaRPr lang="en-U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principal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arriba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Hidrograma</a:t>
            </a:r>
            <a:r>
              <a:rPr lang="en-US" sz="1600" dirty="0">
                <a:latin typeface="Segoe UI Light" panose="020B0502040204020203" pitchFamily="34" charset="0"/>
                <a:cs typeface="Segoe UI Light" panose="020B0502040204020203" pitchFamily="34" charset="0"/>
              </a:rPr>
              <a:t> con </a:t>
            </a:r>
            <a:r>
              <a:rPr lang="en-US" sz="1600" dirty="0" err="1">
                <a:latin typeface="Segoe UI Light" panose="020B0502040204020203" pitchFamily="34" charset="0"/>
                <a:cs typeface="Segoe UI Light" panose="020B0502040204020203" pitchFamily="34" charset="0"/>
              </a:rPr>
              <a:t>pico</a:t>
            </a:r>
            <a:r>
              <a:rPr lang="en-US" sz="1600" dirty="0">
                <a:latin typeface="Segoe UI Light" panose="020B0502040204020203" pitchFamily="34" charset="0"/>
                <a:cs typeface="Segoe UI Light" panose="020B0502040204020203" pitchFamily="34" charset="0"/>
              </a:rPr>
              <a:t> de 522.1 m³/s.</a:t>
            </a:r>
          </a:p>
          <a:p>
            <a:pPr marL="285750" indent="-285750">
              <a:buFont typeface="Wingdings" panose="05000000000000000000" pitchFamily="2" charset="2"/>
              <a:buChar char="ü"/>
            </a:pPr>
            <a:endParaRPr lang="en-U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Lateral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arriba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Multiplicar</a:t>
            </a:r>
            <a:r>
              <a:rPr lang="en-US" sz="1600" dirty="0">
                <a:latin typeface="Segoe UI Light" panose="020B0502040204020203" pitchFamily="34" charset="0"/>
                <a:cs typeface="Segoe UI Light" panose="020B0502040204020203" pitchFamily="34" charset="0"/>
              </a:rPr>
              <a:t> los puntos </a:t>
            </a:r>
            <a:r>
              <a:rPr lang="en-US" sz="1600" dirty="0" err="1">
                <a:latin typeface="Segoe UI Light" panose="020B0502040204020203" pitchFamily="34" charset="0"/>
                <a:cs typeface="Segoe UI Light" panose="020B0502040204020203" pitchFamily="34" charset="0"/>
              </a:rPr>
              <a:t>obtenidos</a:t>
            </a:r>
            <a:r>
              <a:rPr lang="en-US" sz="1600" dirty="0">
                <a:latin typeface="Segoe UI Light" panose="020B0502040204020203" pitchFamily="34" charset="0"/>
                <a:cs typeface="Segoe UI Light" panose="020B0502040204020203" pitchFamily="34" charset="0"/>
              </a:rPr>
              <a:t> para el factor de </a:t>
            </a:r>
            <a:r>
              <a:rPr lang="en-US" sz="1600" dirty="0" err="1">
                <a:latin typeface="Segoe UI Light" panose="020B0502040204020203" pitchFamily="34" charset="0"/>
                <a:cs typeface="Segoe UI Light" panose="020B0502040204020203" pitchFamily="34" charset="0"/>
              </a:rPr>
              <a:t>atenuación</a:t>
            </a:r>
            <a:r>
              <a:rPr lang="en-US" sz="1600" dirty="0">
                <a:latin typeface="Segoe UI Light" panose="020B0502040204020203" pitchFamily="34" charset="0"/>
                <a:cs typeface="Segoe UI Light" panose="020B0502040204020203" pitchFamily="34" charset="0"/>
              </a:rPr>
              <a:t> 1.00 por 0.63 para </a:t>
            </a:r>
            <a:r>
              <a:rPr lang="en-US" sz="1600" dirty="0" err="1">
                <a:latin typeface="Segoe UI Light" panose="020B0502040204020203" pitchFamily="34" charset="0"/>
                <a:cs typeface="Segoe UI Light" panose="020B0502040204020203" pitchFamily="34" charset="0"/>
              </a:rPr>
              <a:t>considerar</a:t>
            </a:r>
            <a:r>
              <a:rPr lang="en-US" sz="1600" dirty="0">
                <a:latin typeface="Segoe UI Light" panose="020B0502040204020203" pitchFamily="34" charset="0"/>
                <a:cs typeface="Segoe UI Light" panose="020B0502040204020203" pitchFamily="34" charset="0"/>
              </a:rPr>
              <a:t> el </a:t>
            </a:r>
            <a:r>
              <a:rPr lang="en-US" sz="1600" dirty="0" err="1">
                <a:latin typeface="Segoe UI Light" panose="020B0502040204020203" pitchFamily="34" charset="0"/>
                <a:cs typeface="Segoe UI Light" panose="020B0502040204020203" pitchFamily="34" charset="0"/>
              </a:rPr>
              <a:t>efecto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simultáneo</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lateral con </a:t>
            </a:r>
            <a:r>
              <a:rPr lang="en-US" sz="1600" dirty="0" err="1">
                <a:latin typeface="Segoe UI Light" panose="020B0502040204020203" pitchFamily="34" charset="0"/>
                <a:cs typeface="Segoe UI Light" panose="020B0502040204020203" pitchFamily="34" charset="0"/>
              </a:rPr>
              <a:t>pico</a:t>
            </a:r>
            <a:r>
              <a:rPr lang="en-US" sz="1600" dirty="0">
                <a:latin typeface="Segoe UI Light" panose="020B0502040204020203" pitchFamily="34" charset="0"/>
                <a:cs typeface="Segoe UI Light" panose="020B0502040204020203" pitchFamily="34" charset="0"/>
              </a:rPr>
              <a:t> de 76.99 m³/s.</a:t>
            </a:r>
          </a:p>
          <a:p>
            <a:pPr marL="285750" indent="-285750">
              <a:buFont typeface="Wingdings" panose="05000000000000000000" pitchFamily="2" charset="2"/>
              <a:buChar char="ü"/>
            </a:pPr>
            <a:endParaRPr lang="en-U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principal </a:t>
            </a:r>
            <a:r>
              <a:rPr lang="en-US" sz="1600" dirty="0" err="1">
                <a:latin typeface="Segoe UI Light" panose="020B0502040204020203" pitchFamily="34" charset="0"/>
                <a:cs typeface="Segoe UI Light" panose="020B0502040204020203" pitchFamily="34" charset="0"/>
              </a:rPr>
              <a:t>aguas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abajo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Profundidad</a:t>
            </a:r>
            <a:r>
              <a:rPr lang="en-US" sz="1600" dirty="0">
                <a:latin typeface="Segoe UI Light" panose="020B0502040204020203" pitchFamily="34" charset="0"/>
                <a:cs typeface="Segoe UI Light" panose="020B0502040204020203" pitchFamily="34" charset="0"/>
              </a:rPr>
              <a:t> Normal con </a:t>
            </a:r>
            <a:r>
              <a:rPr lang="en-US" sz="1600" dirty="0" err="1">
                <a:latin typeface="Segoe UI Light" panose="020B0502040204020203" pitchFamily="34" charset="0"/>
                <a:cs typeface="Segoe UI Light" panose="020B0502040204020203" pitchFamily="34" charset="0"/>
              </a:rPr>
              <a:t>pendiente</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linea</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energía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0.0008969.</a:t>
            </a:r>
          </a:p>
          <a:p>
            <a:endParaRPr lang="en-US" sz="1600" dirty="0">
              <a:latin typeface="Segoe UI Light" panose="020B0502040204020203" pitchFamily="34" charset="0"/>
              <a:cs typeface="Segoe UI Light" panose="020B0502040204020203" pitchFamily="34" charset="0"/>
            </a:endParaRPr>
          </a:p>
          <a:p>
            <a:r>
              <a:rPr lang="en-US" sz="1600" dirty="0" err="1">
                <a:latin typeface="Segoe UI Light" panose="020B0502040204020203" pitchFamily="34" charset="0"/>
                <a:cs typeface="Segoe UI Light" panose="020B0502040204020203" pitchFamily="34" charset="0"/>
              </a:rPr>
              <a:t>Esta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combinación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transitará</a:t>
            </a:r>
            <a:r>
              <a:rPr lang="en-US" sz="1600" dirty="0">
                <a:latin typeface="Segoe UI Light" panose="020B0502040204020203" pitchFamily="34" charset="0"/>
                <a:cs typeface="Segoe UI Light" panose="020B0502040204020203" pitchFamily="34" charset="0"/>
              </a:rPr>
              <a:t> a </a:t>
            </a:r>
            <a:r>
              <a:rPr lang="en-US" sz="1600" dirty="0" err="1">
                <a:latin typeface="Segoe UI Light" panose="020B0502040204020203" pitchFamily="34" charset="0"/>
                <a:cs typeface="Segoe UI Light" panose="020B0502040204020203" pitchFamily="34" charset="0"/>
              </a:rPr>
              <a:t>partir</a:t>
            </a:r>
            <a:r>
              <a:rPr lang="en-US" sz="1600" dirty="0">
                <a:latin typeface="Segoe UI Light" panose="020B0502040204020203" pitchFamily="34" charset="0"/>
                <a:cs typeface="Segoe UI Light" panose="020B0502040204020203" pitchFamily="34" charset="0"/>
              </a:rPr>
              <a:t> de la </a:t>
            </a:r>
            <a:r>
              <a:rPr lang="en-US" sz="1600" dirty="0" err="1">
                <a:latin typeface="Segoe UI Light" panose="020B0502040204020203" pitchFamily="34" charset="0"/>
                <a:cs typeface="Segoe UI Light" panose="020B0502040204020203" pitchFamily="34" charset="0"/>
              </a:rPr>
              <a:t>unión</a:t>
            </a:r>
            <a:r>
              <a:rPr lang="en-US" sz="1600" dirty="0">
                <a:latin typeface="Segoe UI Light" panose="020B0502040204020203" pitchFamily="34" charset="0"/>
                <a:cs typeface="Segoe UI Light" panose="020B0502040204020203" pitchFamily="34" charset="0"/>
              </a:rPr>
              <a:t> del </a:t>
            </a:r>
            <a:r>
              <a:rPr lang="en-US" sz="1600" dirty="0" err="1">
                <a:latin typeface="Segoe UI Light" panose="020B0502040204020203" pitchFamily="34" charset="0"/>
                <a:cs typeface="Segoe UI Light" panose="020B0502040204020203" pitchFamily="34" charset="0"/>
              </a:rPr>
              <a:t>cauce</a:t>
            </a:r>
            <a:r>
              <a:rPr lang="en-US" sz="1600" dirty="0">
                <a:latin typeface="Segoe UI Light" panose="020B0502040204020203" pitchFamily="34" charset="0"/>
                <a:cs typeface="Segoe UI Light" panose="020B0502040204020203" pitchFamily="34" charset="0"/>
              </a:rPr>
              <a:t> principal y lateral, un caudal </a:t>
            </a:r>
            <a:r>
              <a:rPr lang="en-US" sz="1600" dirty="0" err="1">
                <a:latin typeface="Segoe UI Light" panose="020B0502040204020203" pitchFamily="34" charset="0"/>
                <a:cs typeface="Segoe UI Light" panose="020B0502040204020203" pitchFamily="34" charset="0"/>
              </a:rPr>
              <a:t>pico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aproximado</a:t>
            </a:r>
            <a:r>
              <a:rPr lang="en-US" sz="1600" dirty="0">
                <a:latin typeface="Segoe UI Light" panose="020B0502040204020203" pitchFamily="34" charset="0"/>
                <a:cs typeface="Segoe UI Light" panose="020B0502040204020203" pitchFamily="34" charset="0"/>
              </a:rPr>
              <a:t> de 599 m³/s, 15% mayor al valor </a:t>
            </a:r>
            <a:r>
              <a:rPr lang="en-US" sz="1600" dirty="0" err="1">
                <a:latin typeface="Segoe UI Light" panose="020B0502040204020203" pitchFamily="34" charset="0"/>
                <a:cs typeface="Segoe UI Light" panose="020B0502040204020203" pitchFamily="34" charset="0"/>
              </a:rPr>
              <a:t>utilizado</a:t>
            </a:r>
            <a:r>
              <a:rPr lang="en-US" sz="1600" dirty="0">
                <a:latin typeface="Segoe UI Light" panose="020B0502040204020203" pitchFamily="34" charset="0"/>
                <a:cs typeface="Segoe UI Light" panose="020B0502040204020203" pitchFamily="34" charset="0"/>
              </a:rPr>
              <a:t> para el </a:t>
            </a:r>
            <a:r>
              <a:rPr lang="en-US" sz="1600" dirty="0" err="1">
                <a:latin typeface="Segoe UI Light" panose="020B0502040204020203" pitchFamily="34" charset="0"/>
                <a:cs typeface="Segoe UI Light" panose="020B0502040204020203" pitchFamily="34" charset="0"/>
              </a:rPr>
              <a:t>diseño</a:t>
            </a:r>
            <a:r>
              <a:rPr lang="en-US" sz="1600" dirty="0">
                <a:latin typeface="Segoe UI Light" panose="020B0502040204020203" pitchFamily="34" charset="0"/>
                <a:cs typeface="Segoe UI Light" panose="020B0502040204020203" pitchFamily="34" charset="0"/>
              </a:rPr>
              <a:t> del canal </a:t>
            </a:r>
            <a:r>
              <a:rPr lang="en-US" sz="1600" dirty="0" err="1">
                <a:latin typeface="Segoe UI Light" panose="020B0502040204020203" pitchFamily="34" charset="0"/>
                <a:cs typeface="Segoe UI Light" panose="020B0502040204020203" pitchFamily="34" charset="0"/>
              </a:rPr>
              <a:t>compuesto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suponiendo</a:t>
            </a:r>
            <a:r>
              <a:rPr lang="en-US" sz="1600" dirty="0">
                <a:latin typeface="Segoe UI Light" panose="020B0502040204020203" pitchFamily="34" charset="0"/>
                <a:cs typeface="Segoe UI Light" panose="020B0502040204020203" pitchFamily="34" charset="0"/>
              </a:rPr>
              <a:t> una </a:t>
            </a:r>
            <a:r>
              <a:rPr lang="en-US" sz="1600" dirty="0" err="1">
                <a:latin typeface="Segoe UI Light" panose="020B0502040204020203" pitchFamily="34" charset="0"/>
                <a:cs typeface="Segoe UI Light" panose="020B0502040204020203" pitchFamily="34" charset="0"/>
              </a:rPr>
              <a:t>condición</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lluvia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simultánea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las dos </a:t>
            </a:r>
            <a:r>
              <a:rPr lang="en-US" sz="1600" dirty="0" err="1">
                <a:latin typeface="Segoe UI Light" panose="020B0502040204020203" pitchFamily="34" charset="0"/>
                <a:cs typeface="Segoe UI Light" panose="020B0502040204020203" pitchFamily="34" charset="0"/>
              </a:rPr>
              <a:t>cuencas</a:t>
            </a:r>
            <a:r>
              <a:rPr lang="en-US" sz="1600" dirty="0">
                <a:latin typeface="Segoe UI Light" panose="020B0502040204020203" pitchFamily="34" charset="0"/>
                <a:cs typeface="Segoe UI Light" panose="020B0502040204020203" pitchFamily="34" charset="0"/>
              </a:rPr>
              <a:t>.</a:t>
            </a:r>
          </a:p>
        </p:txBody>
      </p:sp>
      <p:pic>
        <p:nvPicPr>
          <p:cNvPr id="2" name="Imagen 1">
            <a:extLst>
              <a:ext uri="{FF2B5EF4-FFF2-40B4-BE49-F238E27FC236}">
                <a16:creationId xmlns:a16="http://schemas.microsoft.com/office/drawing/2014/main" id="{A03357B2-8058-4FDD-9C9C-302E2B37132A}"/>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6726980" y="620688"/>
            <a:ext cx="4909803" cy="5741666"/>
          </a:xfrm>
          <a:prstGeom prst="rect">
            <a:avLst/>
          </a:prstGeom>
        </p:spPr>
      </p:pic>
      <p:pic>
        <p:nvPicPr>
          <p:cNvPr id="9" name="Imagen 8">
            <a:extLst>
              <a:ext uri="{FF2B5EF4-FFF2-40B4-BE49-F238E27FC236}">
                <a16:creationId xmlns:a16="http://schemas.microsoft.com/office/drawing/2014/main" id="{1CA7EDF0-C98D-4352-851E-025D1339C9C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00456" y="4001724"/>
            <a:ext cx="360000" cy="360000"/>
          </a:xfrm>
          <a:prstGeom prst="rect">
            <a:avLst/>
          </a:prstGeom>
        </p:spPr>
      </p:pic>
      <p:pic>
        <p:nvPicPr>
          <p:cNvPr id="3" name="Imagen 2">
            <a:extLst>
              <a:ext uri="{FF2B5EF4-FFF2-40B4-BE49-F238E27FC236}">
                <a16:creationId xmlns:a16="http://schemas.microsoft.com/office/drawing/2014/main" id="{F65C7471-8A5C-41E3-AA32-6D07DC8DAEB2}"/>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7357843" y="4442412"/>
            <a:ext cx="3648075" cy="1724025"/>
          </a:xfrm>
          <a:prstGeom prst="rect">
            <a:avLst/>
          </a:prstGeom>
        </p:spPr>
      </p:pic>
      <p:pic>
        <p:nvPicPr>
          <p:cNvPr id="10" name="Imagen 9">
            <a:extLst>
              <a:ext uri="{FF2B5EF4-FFF2-40B4-BE49-F238E27FC236}">
                <a16:creationId xmlns:a16="http://schemas.microsoft.com/office/drawing/2014/main" id="{46BF23C2-EE22-467A-8378-B94670065EE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932B3BCA-E801-4448-866A-93090CE79A0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41029747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9EF558B-5F95-4DBA-BB16-7583C6FFB38A}"/>
              </a:ext>
            </a:extLst>
          </p:cNvPr>
          <p:cNvPicPr>
            <a:picLocks noChangeAspect="1"/>
          </p:cNvPicPr>
          <p:nvPr/>
        </p:nvPicPr>
        <p:blipFill>
          <a:blip r:embed="rId3">
            <a:grayscl/>
          </a:blip>
          <a:stretch>
            <a:fillRect/>
          </a:stretch>
        </p:blipFill>
        <p:spPr>
          <a:xfrm>
            <a:off x="1559496" y="548680"/>
            <a:ext cx="4248472" cy="3298977"/>
          </a:xfrm>
          <a:prstGeom prst="rect">
            <a:avLst/>
          </a:prstGeom>
        </p:spPr>
      </p:pic>
      <p:pic>
        <p:nvPicPr>
          <p:cNvPr id="4" name="Imagen 3">
            <a:extLst>
              <a:ext uri="{FF2B5EF4-FFF2-40B4-BE49-F238E27FC236}">
                <a16:creationId xmlns:a16="http://schemas.microsoft.com/office/drawing/2014/main" id="{23CBCA6E-2B9B-4347-83AD-EAD69456559C}"/>
              </a:ext>
            </a:extLst>
          </p:cNvPr>
          <p:cNvPicPr>
            <a:picLocks noChangeAspect="1"/>
          </p:cNvPicPr>
          <p:nvPr/>
        </p:nvPicPr>
        <p:blipFill>
          <a:blip r:embed="rId4">
            <a:grayscl/>
          </a:blip>
          <a:stretch>
            <a:fillRect/>
          </a:stretch>
        </p:blipFill>
        <p:spPr>
          <a:xfrm>
            <a:off x="1559496" y="3906002"/>
            <a:ext cx="4248472" cy="2635129"/>
          </a:xfrm>
          <a:prstGeom prst="rect">
            <a:avLst/>
          </a:prstGeom>
        </p:spPr>
      </p:pic>
      <p:pic>
        <p:nvPicPr>
          <p:cNvPr id="5" name="Imagen 4">
            <a:extLst>
              <a:ext uri="{FF2B5EF4-FFF2-40B4-BE49-F238E27FC236}">
                <a16:creationId xmlns:a16="http://schemas.microsoft.com/office/drawing/2014/main" id="{07D05302-048F-4071-A8DF-9AA8C3320A36}"/>
              </a:ext>
            </a:extLst>
          </p:cNvPr>
          <p:cNvPicPr>
            <a:picLocks noChangeAspect="1"/>
          </p:cNvPicPr>
          <p:nvPr/>
        </p:nvPicPr>
        <p:blipFill>
          <a:blip r:embed="rId5">
            <a:grayscl/>
          </a:blip>
          <a:stretch>
            <a:fillRect/>
          </a:stretch>
        </p:blipFill>
        <p:spPr>
          <a:xfrm>
            <a:off x="6023993" y="548680"/>
            <a:ext cx="4248472" cy="3298977"/>
          </a:xfrm>
          <a:prstGeom prst="rect">
            <a:avLst/>
          </a:prstGeom>
        </p:spPr>
      </p:pic>
      <p:pic>
        <p:nvPicPr>
          <p:cNvPr id="6" name="Imagen 5">
            <a:extLst>
              <a:ext uri="{FF2B5EF4-FFF2-40B4-BE49-F238E27FC236}">
                <a16:creationId xmlns:a16="http://schemas.microsoft.com/office/drawing/2014/main" id="{6371E059-79AE-410F-AA93-E65D04C42893}"/>
              </a:ext>
            </a:extLst>
          </p:cNvPr>
          <p:cNvPicPr>
            <a:picLocks noChangeAspect="1"/>
          </p:cNvPicPr>
          <p:nvPr/>
        </p:nvPicPr>
        <p:blipFill>
          <a:blip r:embed="rId6">
            <a:grayscl/>
          </a:blip>
          <a:stretch>
            <a:fillRect/>
          </a:stretch>
        </p:blipFill>
        <p:spPr>
          <a:xfrm>
            <a:off x="6023993" y="3906003"/>
            <a:ext cx="4248472" cy="2635128"/>
          </a:xfrm>
          <a:prstGeom prst="rect">
            <a:avLst/>
          </a:prstGeom>
        </p:spPr>
      </p:pic>
      <p:pic>
        <p:nvPicPr>
          <p:cNvPr id="9" name="Imagen 8">
            <a:extLst>
              <a:ext uri="{FF2B5EF4-FFF2-40B4-BE49-F238E27FC236}">
                <a16:creationId xmlns:a16="http://schemas.microsoft.com/office/drawing/2014/main" id="{644EA21C-CD69-409E-9CC7-729DAC989E7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5AD6ADDD-E55C-4F89-86E4-0DDFC58E937B}"/>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37166198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9101783-CD40-436C-8574-C7921C505226}"/>
              </a:ext>
            </a:extLst>
          </p:cNvPr>
          <p:cNvPicPr>
            <a:picLocks noChangeAspect="1"/>
          </p:cNvPicPr>
          <p:nvPr/>
        </p:nvPicPr>
        <p:blipFill>
          <a:blip r:embed="rId3"/>
          <a:stretch>
            <a:fillRect/>
          </a:stretch>
        </p:blipFill>
        <p:spPr>
          <a:xfrm>
            <a:off x="4788252" y="1412776"/>
            <a:ext cx="7301405" cy="4464495"/>
          </a:xfrm>
          <a:prstGeom prst="rect">
            <a:avLst/>
          </a:prstGeom>
        </p:spPr>
      </p:pic>
      <p:pic>
        <p:nvPicPr>
          <p:cNvPr id="5" name="Imagen 4">
            <a:extLst>
              <a:ext uri="{FF2B5EF4-FFF2-40B4-BE49-F238E27FC236}">
                <a16:creationId xmlns:a16="http://schemas.microsoft.com/office/drawing/2014/main" id="{DED65EF3-1B2F-41DA-A3C5-633C5BB68CC2}"/>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07096" y="1412777"/>
            <a:ext cx="4608222" cy="4464496"/>
          </a:xfrm>
          <a:prstGeom prst="rect">
            <a:avLst/>
          </a:prstGeom>
        </p:spPr>
      </p:pic>
      <p:sp>
        <p:nvSpPr>
          <p:cNvPr id="8" name="7 CuadroTexto"/>
          <p:cNvSpPr txBox="1"/>
          <p:nvPr/>
        </p:nvSpPr>
        <p:spPr>
          <a:xfrm>
            <a:off x="837960" y="720000"/>
            <a:ext cx="10488568"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Configuración del Plan, Opciones y Tolerancias</a:t>
            </a:r>
          </a:p>
        </p:txBody>
      </p:sp>
      <p:pic>
        <p:nvPicPr>
          <p:cNvPr id="14" name="Imagen 13">
            <a:extLst>
              <a:ext uri="{FF2B5EF4-FFF2-40B4-BE49-F238E27FC236}">
                <a16:creationId xmlns:a16="http://schemas.microsoft.com/office/drawing/2014/main" id="{5263ECF2-2693-49B7-B679-B1AAF909A9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68412" y="4581128"/>
            <a:ext cx="360000" cy="360000"/>
          </a:xfrm>
          <a:prstGeom prst="rect">
            <a:avLst/>
          </a:prstGeom>
        </p:spPr>
      </p:pic>
      <p:pic>
        <p:nvPicPr>
          <p:cNvPr id="17" name="Imagen 16">
            <a:extLst>
              <a:ext uri="{FF2B5EF4-FFF2-40B4-BE49-F238E27FC236}">
                <a16:creationId xmlns:a16="http://schemas.microsoft.com/office/drawing/2014/main" id="{C32A2BE3-021D-4446-83D2-D4D2F931721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632504" y="3465023"/>
            <a:ext cx="360000" cy="360000"/>
          </a:xfrm>
          <a:prstGeom prst="rect">
            <a:avLst/>
          </a:prstGeom>
        </p:spPr>
      </p:pic>
      <p:pic>
        <p:nvPicPr>
          <p:cNvPr id="10" name="Imagen 9">
            <a:extLst>
              <a:ext uri="{FF2B5EF4-FFF2-40B4-BE49-F238E27FC236}">
                <a16:creationId xmlns:a16="http://schemas.microsoft.com/office/drawing/2014/main" id="{2EE9FD9D-C548-4554-8C4F-B5F48ECB35A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1 Título">
            <a:extLst>
              <a:ext uri="{FF2B5EF4-FFF2-40B4-BE49-F238E27FC236}">
                <a16:creationId xmlns:a16="http://schemas.microsoft.com/office/drawing/2014/main" id="{046ABABC-1EAE-4EA8-8B34-C752049A02CA}"/>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768902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B7C58F67-20C6-4194-B8E8-0C5AAE00FF24}"/>
              </a:ext>
            </a:extLst>
          </p:cNvPr>
          <p:cNvPicPr>
            <a:picLocks noChangeAspect="1"/>
          </p:cNvPicPr>
          <p:nvPr/>
        </p:nvPicPr>
        <p:blipFill>
          <a:blip r:embed="rId3"/>
          <a:stretch>
            <a:fillRect/>
          </a:stretch>
        </p:blipFill>
        <p:spPr>
          <a:xfrm>
            <a:off x="5329550" y="997601"/>
            <a:ext cx="6801830" cy="5743767"/>
          </a:xfrm>
          <a:prstGeom prst="rect">
            <a:avLst/>
          </a:prstGeom>
        </p:spPr>
      </p:pic>
      <p:pic>
        <p:nvPicPr>
          <p:cNvPr id="2" name="Imagen 1">
            <a:extLst>
              <a:ext uri="{FF2B5EF4-FFF2-40B4-BE49-F238E27FC236}">
                <a16:creationId xmlns:a16="http://schemas.microsoft.com/office/drawing/2014/main" id="{6207BEC6-072A-4F5C-B654-7473AADF99FA}"/>
              </a:ext>
            </a:extLst>
          </p:cNvPr>
          <p:cNvPicPr>
            <a:picLocks noChangeAspect="1"/>
          </p:cNvPicPr>
          <p:nvPr/>
        </p:nvPicPr>
        <p:blipFill>
          <a:blip r:embed="rId4"/>
          <a:stretch>
            <a:fillRect/>
          </a:stretch>
        </p:blipFill>
        <p:spPr>
          <a:xfrm>
            <a:off x="78984" y="997601"/>
            <a:ext cx="5184577" cy="5743767"/>
          </a:xfrm>
          <a:prstGeom prst="rect">
            <a:avLst/>
          </a:prstGeom>
        </p:spPr>
      </p:pic>
      <p:sp>
        <p:nvSpPr>
          <p:cNvPr id="8" name="7 CuadroTexto"/>
          <p:cNvSpPr txBox="1"/>
          <p:nvPr/>
        </p:nvSpPr>
        <p:spPr>
          <a:xfrm>
            <a:off x="851716" y="456927"/>
            <a:ext cx="10488568" cy="338554"/>
          </a:xfrm>
          <a:prstGeom prst="rect">
            <a:avLst/>
          </a:prstGeom>
          <a:noFill/>
        </p:spPr>
        <p:txBody>
          <a:bodyPr wrap="square" rtlCol="0">
            <a:spAutoFit/>
          </a:bodyPr>
          <a:lstStyle/>
          <a:p>
            <a:pPr algn="ctr"/>
            <a:r>
              <a:rPr lang="en-US" sz="1600">
                <a:latin typeface="Segoe UI Light" panose="020B0502040204020203" pitchFamily="34" charset="0"/>
                <a:cs typeface="Segoe UI Light" panose="020B0502040204020203" pitchFamily="34" charset="0"/>
              </a:rPr>
              <a:t>Modelación Hidráulica</a:t>
            </a:r>
          </a:p>
        </p:txBody>
      </p:sp>
      <p:pic>
        <p:nvPicPr>
          <p:cNvPr id="17" name="Imagen 16">
            <a:extLst>
              <a:ext uri="{FF2B5EF4-FFF2-40B4-BE49-F238E27FC236}">
                <a16:creationId xmlns:a16="http://schemas.microsoft.com/office/drawing/2014/main" id="{C32A2BE3-021D-4446-83D2-D4D2F93172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3170" y="3014044"/>
            <a:ext cx="360000" cy="360000"/>
          </a:xfrm>
          <a:prstGeom prst="rect">
            <a:avLst/>
          </a:prstGeom>
        </p:spPr>
      </p:pic>
      <p:pic>
        <p:nvPicPr>
          <p:cNvPr id="10" name="Imagen 9">
            <a:extLst>
              <a:ext uri="{FF2B5EF4-FFF2-40B4-BE49-F238E27FC236}">
                <a16:creationId xmlns:a16="http://schemas.microsoft.com/office/drawing/2014/main" id="{2CBC36E6-BA25-40C7-A3DE-C6787DA3E6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51F2BE6A-9A59-4073-8BFF-2D3E288B48D0}"/>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19331914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58D79060-E9D0-45C5-93A3-D4F6DE0D4022}"/>
              </a:ext>
            </a:extLst>
          </p:cNvPr>
          <p:cNvPicPr>
            <a:picLocks noChangeAspect="1"/>
          </p:cNvPicPr>
          <p:nvPr/>
        </p:nvPicPr>
        <p:blipFill>
          <a:blip r:embed="rId3"/>
          <a:stretch>
            <a:fillRect/>
          </a:stretch>
        </p:blipFill>
        <p:spPr>
          <a:xfrm>
            <a:off x="-18301" y="1273384"/>
            <a:ext cx="12192000" cy="5599814"/>
          </a:xfrm>
          <a:prstGeom prst="rect">
            <a:avLst/>
          </a:prstGeom>
        </p:spPr>
      </p:pic>
      <p:sp>
        <p:nvSpPr>
          <p:cNvPr id="8" name="7 CuadroTexto"/>
          <p:cNvSpPr txBox="1"/>
          <p:nvPr/>
        </p:nvSpPr>
        <p:spPr>
          <a:xfrm>
            <a:off x="635692" y="252102"/>
            <a:ext cx="10932916"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Llanura de Inundación y Profundidad Máxima: Para el caudal combinado de 599 m³/s se producen aguas abajo inundaciones incluso en una parte del dique de protección propuesto (algunos centímetros). Se recomienda sobre elevar los diques de protección en la zona de entrega al menos 1 metro para preservar el borde libre. La zona izquierda conduce correctamente los excesos por los controles naturales existentes.</a:t>
            </a:r>
          </a:p>
        </p:txBody>
      </p:sp>
      <p:pic>
        <p:nvPicPr>
          <p:cNvPr id="17" name="Imagen 16">
            <a:extLst>
              <a:ext uri="{FF2B5EF4-FFF2-40B4-BE49-F238E27FC236}">
                <a16:creationId xmlns:a16="http://schemas.microsoft.com/office/drawing/2014/main" id="{C32A2BE3-021D-4446-83D2-D4D2F93172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52184" y="3713291"/>
            <a:ext cx="360000" cy="360000"/>
          </a:xfrm>
          <a:prstGeom prst="rect">
            <a:avLst/>
          </a:prstGeom>
        </p:spPr>
      </p:pic>
      <p:pic>
        <p:nvPicPr>
          <p:cNvPr id="12" name="Imagen 11">
            <a:extLst>
              <a:ext uri="{FF2B5EF4-FFF2-40B4-BE49-F238E27FC236}">
                <a16:creationId xmlns:a16="http://schemas.microsoft.com/office/drawing/2014/main" id="{DFCC0D76-4CA8-40E3-90D7-2B4A6AA1C2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7826" y="3290616"/>
            <a:ext cx="360000" cy="360000"/>
          </a:xfrm>
          <a:prstGeom prst="rect">
            <a:avLst/>
          </a:prstGeom>
        </p:spPr>
      </p:pic>
      <p:pic>
        <p:nvPicPr>
          <p:cNvPr id="10" name="Imagen 9">
            <a:extLst>
              <a:ext uri="{FF2B5EF4-FFF2-40B4-BE49-F238E27FC236}">
                <a16:creationId xmlns:a16="http://schemas.microsoft.com/office/drawing/2014/main" id="{323107AB-DC1C-47A5-A838-FCD357DF66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3" name="1 Título">
            <a:extLst>
              <a:ext uri="{FF2B5EF4-FFF2-40B4-BE49-F238E27FC236}">
                <a16:creationId xmlns:a16="http://schemas.microsoft.com/office/drawing/2014/main" id="{2A534106-AA7B-43A7-91F1-34EB035CBDFE}"/>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42684995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4400C43-BE89-4A7D-A254-50B4FA476FC7}"/>
              </a:ext>
            </a:extLst>
          </p:cNvPr>
          <p:cNvPicPr>
            <a:picLocks noChangeAspect="1"/>
          </p:cNvPicPr>
          <p:nvPr/>
        </p:nvPicPr>
        <p:blipFill>
          <a:blip r:embed="rId3"/>
          <a:stretch>
            <a:fillRect/>
          </a:stretch>
        </p:blipFill>
        <p:spPr>
          <a:xfrm>
            <a:off x="0" y="1265121"/>
            <a:ext cx="12194644" cy="5601028"/>
          </a:xfrm>
          <a:prstGeom prst="rect">
            <a:avLst/>
          </a:prstGeom>
        </p:spPr>
      </p:pic>
      <p:sp>
        <p:nvSpPr>
          <p:cNvPr id="8" name="7 CuadroTexto"/>
          <p:cNvSpPr txBox="1"/>
          <p:nvPr/>
        </p:nvSpPr>
        <p:spPr>
          <a:xfrm>
            <a:off x="851716" y="332656"/>
            <a:ext cx="10488568"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Llanura de Inundación y Profundidad Máxima: Para el caudal combinado de 599 m³/s se producen aguas arriba inundaciones producidas por el flujo del cauce lateral que son drenadas al interior del canal sin presentar riesgo para la márgen derecha donde se encontrará el proyecto minero.</a:t>
            </a:r>
          </a:p>
        </p:txBody>
      </p:sp>
      <p:pic>
        <p:nvPicPr>
          <p:cNvPr id="17" name="Imagen 16">
            <a:extLst>
              <a:ext uri="{FF2B5EF4-FFF2-40B4-BE49-F238E27FC236}">
                <a16:creationId xmlns:a16="http://schemas.microsoft.com/office/drawing/2014/main" id="{C32A2BE3-021D-4446-83D2-D4D2F93172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07968" y="6434096"/>
            <a:ext cx="360000" cy="360000"/>
          </a:xfrm>
          <a:prstGeom prst="rect">
            <a:avLst/>
          </a:prstGeom>
        </p:spPr>
      </p:pic>
      <p:pic>
        <p:nvPicPr>
          <p:cNvPr id="12" name="Imagen 11">
            <a:extLst>
              <a:ext uri="{FF2B5EF4-FFF2-40B4-BE49-F238E27FC236}">
                <a16:creationId xmlns:a16="http://schemas.microsoft.com/office/drawing/2014/main" id="{DFCC0D76-4CA8-40E3-90D7-2B4A6AA1C2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7826" y="3290616"/>
            <a:ext cx="360000" cy="360000"/>
          </a:xfrm>
          <a:prstGeom prst="rect">
            <a:avLst/>
          </a:prstGeom>
        </p:spPr>
      </p:pic>
      <p:pic>
        <p:nvPicPr>
          <p:cNvPr id="10" name="Imagen 9">
            <a:extLst>
              <a:ext uri="{FF2B5EF4-FFF2-40B4-BE49-F238E27FC236}">
                <a16:creationId xmlns:a16="http://schemas.microsoft.com/office/drawing/2014/main" id="{2FB8037E-5980-47DF-8751-7CD83A7A53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397BBD0E-277E-414E-804C-E9FDEF34E481}"/>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35308676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B8DB615-01C3-4EE4-8475-DB8AF8691B88}"/>
              </a:ext>
            </a:extLst>
          </p:cNvPr>
          <p:cNvPicPr>
            <a:picLocks noChangeAspect="1"/>
          </p:cNvPicPr>
          <p:nvPr/>
        </p:nvPicPr>
        <p:blipFill>
          <a:blip r:embed="rId3"/>
          <a:stretch>
            <a:fillRect/>
          </a:stretch>
        </p:blipFill>
        <p:spPr>
          <a:xfrm>
            <a:off x="-18301" y="1256433"/>
            <a:ext cx="12210301" cy="5608219"/>
          </a:xfrm>
          <a:prstGeom prst="rect">
            <a:avLst/>
          </a:prstGeom>
        </p:spPr>
      </p:pic>
      <p:sp>
        <p:nvSpPr>
          <p:cNvPr id="8" name="7 CuadroTexto"/>
          <p:cNvSpPr txBox="1"/>
          <p:nvPr/>
        </p:nvSpPr>
        <p:spPr>
          <a:xfrm>
            <a:off x="851716" y="235010"/>
            <a:ext cx="10488568"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Llanura de Inundación y Profundidad Máxima: Para el caudal de 76.99 m³/s transitado por el cauce lateral, se produce inundación de la llanura, tal como sucede normalmente en cauces no intervenidos para eventos de 100 años de recurrencia. Estos eventos deben ingresar lateralmente al cauce principal, tal como sucede a la izquierda y derecha sobre la huella de mecanización.</a:t>
            </a:r>
          </a:p>
        </p:txBody>
      </p:sp>
      <p:pic>
        <p:nvPicPr>
          <p:cNvPr id="17" name="Imagen 16">
            <a:extLst>
              <a:ext uri="{FF2B5EF4-FFF2-40B4-BE49-F238E27FC236}">
                <a16:creationId xmlns:a16="http://schemas.microsoft.com/office/drawing/2014/main" id="{C32A2BE3-021D-4446-83D2-D4D2F93172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39816" y="4149080"/>
            <a:ext cx="360000" cy="360000"/>
          </a:xfrm>
          <a:prstGeom prst="rect">
            <a:avLst/>
          </a:prstGeom>
        </p:spPr>
      </p:pic>
      <p:pic>
        <p:nvPicPr>
          <p:cNvPr id="12" name="Imagen 11">
            <a:extLst>
              <a:ext uri="{FF2B5EF4-FFF2-40B4-BE49-F238E27FC236}">
                <a16:creationId xmlns:a16="http://schemas.microsoft.com/office/drawing/2014/main" id="{DFCC0D76-4CA8-40E3-90D7-2B4A6AA1C2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2104" y="2996952"/>
            <a:ext cx="360000" cy="360000"/>
          </a:xfrm>
          <a:prstGeom prst="rect">
            <a:avLst/>
          </a:prstGeom>
        </p:spPr>
      </p:pic>
      <p:pic>
        <p:nvPicPr>
          <p:cNvPr id="10" name="Imagen 9">
            <a:extLst>
              <a:ext uri="{FF2B5EF4-FFF2-40B4-BE49-F238E27FC236}">
                <a16:creationId xmlns:a16="http://schemas.microsoft.com/office/drawing/2014/main" id="{ACD58F41-7BAF-4E44-8C90-F0B2AA98F5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2A3548CA-8631-4948-9478-12921E731E2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104716669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CE06224-1FC7-4AA2-B802-6BB96723A437}"/>
              </a:ext>
            </a:extLst>
          </p:cNvPr>
          <p:cNvPicPr>
            <a:picLocks noChangeAspect="1"/>
          </p:cNvPicPr>
          <p:nvPr/>
        </p:nvPicPr>
        <p:blipFill>
          <a:blip r:embed="rId3"/>
          <a:stretch>
            <a:fillRect/>
          </a:stretch>
        </p:blipFill>
        <p:spPr>
          <a:xfrm>
            <a:off x="35024" y="1268014"/>
            <a:ext cx="12157438" cy="5600278"/>
          </a:xfrm>
          <a:prstGeom prst="rect">
            <a:avLst/>
          </a:prstGeom>
        </p:spPr>
      </p:pic>
      <p:sp>
        <p:nvSpPr>
          <p:cNvPr id="8" name="7 CuadroTexto"/>
          <p:cNvSpPr txBox="1"/>
          <p:nvPr/>
        </p:nvSpPr>
        <p:spPr>
          <a:xfrm>
            <a:off x="851716" y="239916"/>
            <a:ext cx="10488568" cy="1077218"/>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Velocidad máxima en la unión: Para el caudal combinado de 599 m³/s se producen velocidades de alrededor de 3 m/s, sin embargo en el canal lateral y antes de su paso por el dique principal, se producen velocidades de 5.31 m/s. Es necesaria una obra de protección de fondo y lateral para controlar los efectos de la sobre energía cinética obtenida por la pendiente del cauce lateral.</a:t>
            </a:r>
          </a:p>
        </p:txBody>
      </p:sp>
      <p:pic>
        <p:nvPicPr>
          <p:cNvPr id="17" name="Imagen 16">
            <a:extLst>
              <a:ext uri="{FF2B5EF4-FFF2-40B4-BE49-F238E27FC236}">
                <a16:creationId xmlns:a16="http://schemas.microsoft.com/office/drawing/2014/main" id="{C32A2BE3-021D-4446-83D2-D4D2F93172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16366" y="3479630"/>
            <a:ext cx="360000" cy="360000"/>
          </a:xfrm>
          <a:prstGeom prst="rect">
            <a:avLst/>
          </a:prstGeom>
        </p:spPr>
      </p:pic>
      <p:pic>
        <p:nvPicPr>
          <p:cNvPr id="13" name="Imagen 12">
            <a:extLst>
              <a:ext uri="{FF2B5EF4-FFF2-40B4-BE49-F238E27FC236}">
                <a16:creationId xmlns:a16="http://schemas.microsoft.com/office/drawing/2014/main" id="{DC9D0184-1D3C-4F6A-9EC2-F9E8DD65FB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4570248">
            <a:off x="7526475" y="4362557"/>
            <a:ext cx="360000" cy="360000"/>
          </a:xfrm>
          <a:prstGeom prst="rect">
            <a:avLst/>
          </a:prstGeom>
        </p:spPr>
      </p:pic>
      <p:pic>
        <p:nvPicPr>
          <p:cNvPr id="10" name="Imagen 9">
            <a:extLst>
              <a:ext uri="{FF2B5EF4-FFF2-40B4-BE49-F238E27FC236}">
                <a16:creationId xmlns:a16="http://schemas.microsoft.com/office/drawing/2014/main" id="{7EA5253D-DFC1-4625-A3C4-64538B0B7E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86A5436D-399D-452E-87A3-68A0BE882EB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20362345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0DE75B4-F06B-426F-A420-D64E3BE73083}"/>
              </a:ext>
            </a:extLst>
          </p:cNvPr>
          <p:cNvPicPr>
            <a:picLocks noChangeAspect="1"/>
          </p:cNvPicPr>
          <p:nvPr/>
        </p:nvPicPr>
        <p:blipFill>
          <a:blip r:embed="rId3"/>
          <a:stretch>
            <a:fillRect/>
          </a:stretch>
        </p:blipFill>
        <p:spPr>
          <a:xfrm>
            <a:off x="-22471" y="1248028"/>
            <a:ext cx="12236941" cy="5616624"/>
          </a:xfrm>
          <a:prstGeom prst="rect">
            <a:avLst/>
          </a:prstGeom>
        </p:spPr>
      </p:pic>
      <p:sp>
        <p:nvSpPr>
          <p:cNvPr id="8" name="7 CuadroTexto"/>
          <p:cNvSpPr txBox="1"/>
          <p:nvPr/>
        </p:nvSpPr>
        <p:spPr>
          <a:xfrm>
            <a:off x="851716" y="338444"/>
            <a:ext cx="10488568" cy="830997"/>
          </a:xfrm>
          <a:prstGeom prst="rect">
            <a:avLst/>
          </a:prstGeom>
          <a:noFill/>
        </p:spPr>
        <p:txBody>
          <a:bodyPr wrap="square" rtlCol="0">
            <a:spAutoFit/>
          </a:bodyPr>
          <a:lstStyle/>
          <a:p>
            <a:pPr algn="just"/>
            <a:r>
              <a:rPr lang="en-US" sz="1600">
                <a:latin typeface="Segoe UI Light" panose="020B0502040204020203" pitchFamily="34" charset="0"/>
                <a:cs typeface="Segoe UI Light" panose="020B0502040204020203" pitchFamily="34" charset="0"/>
              </a:rPr>
              <a:t>Cortante máximo en la unión: Para el caudal combinado de 599 m³/s se producen cortantes de hasta 94.4 N/m². Es necesaria una obra de protección de fondo y lateral para controlar el corte de las paredes y la degradación del fondo por los efectos producidos por el paso de la creciente de 100 años. </a:t>
            </a:r>
          </a:p>
        </p:txBody>
      </p:sp>
      <p:pic>
        <p:nvPicPr>
          <p:cNvPr id="12" name="Imagen 11">
            <a:extLst>
              <a:ext uri="{FF2B5EF4-FFF2-40B4-BE49-F238E27FC236}">
                <a16:creationId xmlns:a16="http://schemas.microsoft.com/office/drawing/2014/main" id="{DFCC0D76-4CA8-40E3-90D7-2B4A6AA1C2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4570248">
            <a:off x="7526474" y="4499434"/>
            <a:ext cx="360000" cy="360000"/>
          </a:xfrm>
          <a:prstGeom prst="rect">
            <a:avLst/>
          </a:prstGeom>
        </p:spPr>
      </p:pic>
      <p:pic>
        <p:nvPicPr>
          <p:cNvPr id="9" name="Imagen 8">
            <a:extLst>
              <a:ext uri="{FF2B5EF4-FFF2-40B4-BE49-F238E27FC236}">
                <a16:creationId xmlns:a16="http://schemas.microsoft.com/office/drawing/2014/main" id="{8B593F00-A57E-4CB9-B1D5-BD586FBD8D9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295AAB28-0EBC-406F-BB2E-524C553C4519}"/>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7. Modelación hidráulica y análisis de resultados</a:t>
            </a:r>
          </a:p>
        </p:txBody>
      </p:sp>
    </p:spTree>
    <p:extLst>
      <p:ext uri="{BB962C8B-B14F-4D97-AF65-F5344CB8AC3E}">
        <p14:creationId xmlns:p14="http://schemas.microsoft.com/office/powerpoint/2010/main" val="26317276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14135</TotalTime>
  <Words>3764</Words>
  <Application>Microsoft Office PowerPoint</Application>
  <PresentationFormat>Widescreen</PresentationFormat>
  <Paragraphs>263</Paragraphs>
  <Slides>72</Slides>
  <Notes>70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HCMC_5_12</dc:title>
  <dc:creator>master</dc:creator>
  <cp:lastModifiedBy>WILLIAM RICARDO AGUILAR PIÑA</cp:lastModifiedBy>
  <cp:revision>875</cp:revision>
  <dcterms:created xsi:type="dcterms:W3CDTF">2010-05-17T13:13:34Z</dcterms:created>
  <dcterms:modified xsi:type="dcterms:W3CDTF">2021-11-23T17:05:56Z</dcterms:modified>
</cp:coreProperties>
</file>